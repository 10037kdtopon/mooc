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7">
  <p:sldMasterIdLst>
    <p:sldMasterId id="2147483816" r:id="rId1"/>
  </p:sldMasterIdLst>
  <p:notesMasterIdLst>
    <p:notesMasterId r:id="rId41"/>
  </p:notesMasterIdLst>
  <p:handoutMasterIdLst>
    <p:handoutMasterId r:id="rId42"/>
  </p:handoutMasterIdLst>
  <p:sldIdLst>
    <p:sldId id="311" r:id="rId2"/>
    <p:sldId id="463" r:id="rId3"/>
    <p:sldId id="278" r:id="rId4"/>
    <p:sldId id="485" r:id="rId5"/>
    <p:sldId id="482" r:id="rId6"/>
    <p:sldId id="481" r:id="rId7"/>
    <p:sldId id="486" r:id="rId8"/>
    <p:sldId id="483" r:id="rId9"/>
    <p:sldId id="487" r:id="rId10"/>
    <p:sldId id="484" r:id="rId11"/>
    <p:sldId id="490" r:id="rId12"/>
    <p:sldId id="491" r:id="rId13"/>
    <p:sldId id="492" r:id="rId14"/>
    <p:sldId id="488" r:id="rId15"/>
    <p:sldId id="469" r:id="rId16"/>
    <p:sldId id="493" r:id="rId17"/>
    <p:sldId id="494" r:id="rId18"/>
    <p:sldId id="495" r:id="rId19"/>
    <p:sldId id="489" r:id="rId20"/>
    <p:sldId id="496" r:id="rId21"/>
    <p:sldId id="497" r:id="rId22"/>
    <p:sldId id="498" r:id="rId23"/>
    <p:sldId id="499" r:id="rId24"/>
    <p:sldId id="500" r:id="rId25"/>
    <p:sldId id="501" r:id="rId26"/>
    <p:sldId id="502" r:id="rId27"/>
    <p:sldId id="503" r:id="rId28"/>
    <p:sldId id="504" r:id="rId29"/>
    <p:sldId id="468" r:id="rId30"/>
    <p:sldId id="505" r:id="rId31"/>
    <p:sldId id="506" r:id="rId32"/>
    <p:sldId id="507" r:id="rId33"/>
    <p:sldId id="508" r:id="rId34"/>
    <p:sldId id="509" r:id="rId35"/>
    <p:sldId id="510" r:id="rId36"/>
    <p:sldId id="511" r:id="rId37"/>
    <p:sldId id="512" r:id="rId38"/>
    <p:sldId id="393" r:id="rId39"/>
    <p:sldId id="275" r:id="rId40"/>
  </p:sldIdLst>
  <p:sldSz cx="9144000" cy="6858000" type="screen4x3"/>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89747" autoAdjust="0"/>
  </p:normalViewPr>
  <p:slideViewPr>
    <p:cSldViewPr>
      <p:cViewPr varScale="1">
        <p:scale>
          <a:sx n="77" d="100"/>
          <a:sy n="77" d="100"/>
        </p:scale>
        <p:origin x="1656" y="7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C"/>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E8ABEF8-F28B-4F1C-8604-95AA82841CB5}" type="datetimeFigureOut">
              <a:rPr lang="es-EC" smtClean="0"/>
              <a:t>30/12/2025</a:t>
            </a:fld>
            <a:endParaRPr lang="es-EC"/>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C"/>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CE161FD-F57C-4EC7-B46A-8ED034AFAD39}" type="slidenum">
              <a:rPr lang="es-EC" smtClean="0"/>
              <a:t>‹Nº›</a:t>
            </a:fld>
            <a:endParaRPr lang="es-EC"/>
          </a:p>
        </p:txBody>
      </p:sp>
    </p:spTree>
    <p:extLst>
      <p:ext uri="{BB962C8B-B14F-4D97-AF65-F5344CB8AC3E}">
        <p14:creationId xmlns:p14="http://schemas.microsoft.com/office/powerpoint/2010/main" val="23454050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C"/>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27D006-09F4-429A-BE8C-DBAF982511F0}" type="datetimeFigureOut">
              <a:rPr lang="es-EC" smtClean="0"/>
              <a:t>30/12/2025</a:t>
            </a:fld>
            <a:endParaRPr lang="es-EC"/>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C"/>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C"/>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8DD2930-2CA9-432A-8292-C602BD3CCB94}" type="slidenum">
              <a:rPr lang="es-EC" smtClean="0"/>
              <a:t>‹Nº›</a:t>
            </a:fld>
            <a:endParaRPr lang="es-EC"/>
          </a:p>
        </p:txBody>
      </p:sp>
    </p:spTree>
    <p:extLst>
      <p:ext uri="{BB962C8B-B14F-4D97-AF65-F5344CB8AC3E}">
        <p14:creationId xmlns:p14="http://schemas.microsoft.com/office/powerpoint/2010/main" val="3587641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C" dirty="0"/>
          </a:p>
        </p:txBody>
      </p:sp>
      <p:sp>
        <p:nvSpPr>
          <p:cNvPr id="4" name="3 Marcador de número de diapositiva"/>
          <p:cNvSpPr>
            <a:spLocks noGrp="1"/>
          </p:cNvSpPr>
          <p:nvPr>
            <p:ph type="sldNum" sz="quarter" idx="10"/>
          </p:nvPr>
        </p:nvSpPr>
        <p:spPr/>
        <p:txBody>
          <a:bodyPr/>
          <a:lstStyle/>
          <a:p>
            <a:fld id="{C8DD2930-2CA9-432A-8292-C602BD3CCB94}" type="slidenum">
              <a:rPr lang="es-EC" smtClean="0"/>
              <a:t>1</a:t>
            </a:fld>
            <a:endParaRPr lang="es-EC"/>
          </a:p>
        </p:txBody>
      </p:sp>
    </p:spTree>
    <p:extLst>
      <p:ext uri="{BB962C8B-B14F-4D97-AF65-F5344CB8AC3E}">
        <p14:creationId xmlns:p14="http://schemas.microsoft.com/office/powerpoint/2010/main" val="2391200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C" dirty="0"/>
          </a:p>
        </p:txBody>
      </p:sp>
      <p:sp>
        <p:nvSpPr>
          <p:cNvPr id="4" name="Marcador de número de diapositiva 3"/>
          <p:cNvSpPr>
            <a:spLocks noGrp="1"/>
          </p:cNvSpPr>
          <p:nvPr>
            <p:ph type="sldNum" sz="quarter" idx="5"/>
          </p:nvPr>
        </p:nvSpPr>
        <p:spPr/>
        <p:txBody>
          <a:bodyPr/>
          <a:lstStyle/>
          <a:p>
            <a:fld id="{C8DD2930-2CA9-432A-8292-C602BD3CCB94}" type="slidenum">
              <a:rPr lang="es-EC" smtClean="0"/>
              <a:t>12</a:t>
            </a:fld>
            <a:endParaRPr lang="es-EC"/>
          </a:p>
        </p:txBody>
      </p:sp>
    </p:spTree>
    <p:extLst>
      <p:ext uri="{BB962C8B-B14F-4D97-AF65-F5344CB8AC3E}">
        <p14:creationId xmlns:p14="http://schemas.microsoft.com/office/powerpoint/2010/main" val="33531793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C" dirty="0"/>
          </a:p>
        </p:txBody>
      </p:sp>
      <p:sp>
        <p:nvSpPr>
          <p:cNvPr id="4" name="Marcador de número de diapositiva 3"/>
          <p:cNvSpPr>
            <a:spLocks noGrp="1"/>
          </p:cNvSpPr>
          <p:nvPr>
            <p:ph type="sldNum" sz="quarter" idx="5"/>
          </p:nvPr>
        </p:nvSpPr>
        <p:spPr/>
        <p:txBody>
          <a:bodyPr/>
          <a:lstStyle/>
          <a:p>
            <a:fld id="{C8DD2930-2CA9-432A-8292-C602BD3CCB94}" type="slidenum">
              <a:rPr lang="es-EC" smtClean="0"/>
              <a:t>13</a:t>
            </a:fld>
            <a:endParaRPr lang="es-EC"/>
          </a:p>
        </p:txBody>
      </p:sp>
    </p:spTree>
    <p:extLst>
      <p:ext uri="{BB962C8B-B14F-4D97-AF65-F5344CB8AC3E}">
        <p14:creationId xmlns:p14="http://schemas.microsoft.com/office/powerpoint/2010/main" val="3167554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C" dirty="0"/>
          </a:p>
        </p:txBody>
      </p:sp>
      <p:sp>
        <p:nvSpPr>
          <p:cNvPr id="4" name="Marcador de número de diapositiva 3"/>
          <p:cNvSpPr>
            <a:spLocks noGrp="1"/>
          </p:cNvSpPr>
          <p:nvPr>
            <p:ph type="sldNum" sz="quarter" idx="5"/>
          </p:nvPr>
        </p:nvSpPr>
        <p:spPr/>
        <p:txBody>
          <a:bodyPr/>
          <a:lstStyle/>
          <a:p>
            <a:fld id="{C8DD2930-2CA9-432A-8292-C602BD3CCB94}" type="slidenum">
              <a:rPr lang="es-EC" smtClean="0"/>
              <a:t>18</a:t>
            </a:fld>
            <a:endParaRPr lang="es-EC"/>
          </a:p>
        </p:txBody>
      </p:sp>
    </p:spTree>
    <p:extLst>
      <p:ext uri="{BB962C8B-B14F-4D97-AF65-F5344CB8AC3E}">
        <p14:creationId xmlns:p14="http://schemas.microsoft.com/office/powerpoint/2010/main" val="3917836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7" name="Date Placeholder 6"/>
          <p:cNvSpPr>
            <a:spLocks noGrp="1"/>
          </p:cNvSpPr>
          <p:nvPr>
            <p:ph type="dt" sz="half" idx="10"/>
          </p:nvPr>
        </p:nvSpPr>
        <p:spPr/>
        <p:txBody>
          <a:bodyPr/>
          <a:lstStyle/>
          <a:p>
            <a:fld id="{E7C4E607-19DA-460D-873F-2665A632EB4B}" type="datetime1">
              <a:rPr lang="es-EC" smtClean="0"/>
              <a:t>30/12/2025</a:t>
            </a:fld>
            <a:endParaRPr lang="es-EC"/>
          </a:p>
        </p:txBody>
      </p:sp>
      <p:sp>
        <p:nvSpPr>
          <p:cNvPr id="8" name="Slide Number Placeholder 7"/>
          <p:cNvSpPr>
            <a:spLocks noGrp="1"/>
          </p:cNvSpPr>
          <p:nvPr>
            <p:ph type="sldNum" sz="quarter" idx="11"/>
          </p:nvPr>
        </p:nvSpPr>
        <p:spPr/>
        <p:txBody>
          <a:bodyPr/>
          <a:lstStyle/>
          <a:p>
            <a:fld id="{14B28EB2-3408-4757-A806-361BA67028B7}" type="slidenum">
              <a:rPr lang="es-EC" smtClean="0"/>
              <a:t>‹Nº›</a:t>
            </a:fld>
            <a:endParaRPr lang="es-EC"/>
          </a:p>
        </p:txBody>
      </p:sp>
      <p:sp>
        <p:nvSpPr>
          <p:cNvPr id="9" name="Footer Placeholder 8"/>
          <p:cNvSpPr>
            <a:spLocks noGrp="1"/>
          </p:cNvSpPr>
          <p:nvPr>
            <p:ph type="ftr" sz="quarter" idx="12"/>
          </p:nvPr>
        </p:nvSpPr>
        <p:spPr/>
        <p:txBody>
          <a:bodyPr/>
          <a:lstStyle/>
          <a:p>
            <a:endParaRPr lang="es-EC"/>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290B73B-B6A1-476A-B629-21320BBC12E2}" type="datetime1">
              <a:rPr lang="es-EC" smtClean="0"/>
              <a:t>30/12/2025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CDC2038A-D817-4671-8CB8-0981B299E92B}" type="datetime1">
              <a:rPr lang="es-EC" smtClean="0"/>
              <a:t>30/12/2025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DC4ADFD-670B-42AB-AA2D-8905C1A1B3E7}" type="datetime1">
              <a:rPr lang="es-EC" smtClean="0"/>
              <a:t>30/12/2025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
        <p:nvSpPr>
          <p:cNvPr id="9" name="Content Placeholder 8"/>
          <p:cNvSpPr>
            <a:spLocks noGrp="1"/>
          </p:cNvSpPr>
          <p:nvPr>
            <p:ph sz="quarter" idx="13"/>
          </p:nvPr>
        </p:nvSpPr>
        <p:spPr>
          <a:xfrm>
            <a:off x="365760" y="1600200"/>
            <a:ext cx="4041648" cy="452628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7" name="Date Placeholder 6"/>
          <p:cNvSpPr>
            <a:spLocks noGrp="1"/>
          </p:cNvSpPr>
          <p:nvPr>
            <p:ph type="dt" sz="half" idx="10"/>
          </p:nvPr>
        </p:nvSpPr>
        <p:spPr/>
        <p:txBody>
          <a:bodyPr/>
          <a:lstStyle/>
          <a:p>
            <a:fld id="{9891E5A2-5B64-4460-A741-AB3873F3AED1}" type="datetime1">
              <a:rPr lang="es-EC" smtClean="0"/>
              <a:t>30/12/2025</a:t>
            </a:fld>
            <a:endParaRPr lang="es-EC"/>
          </a:p>
        </p:txBody>
      </p:sp>
      <p:sp>
        <p:nvSpPr>
          <p:cNvPr id="8" name="Footer Placeholder 7"/>
          <p:cNvSpPr>
            <a:spLocks noGrp="1"/>
          </p:cNvSpPr>
          <p:nvPr>
            <p:ph type="ftr" sz="quarter" idx="11"/>
          </p:nvPr>
        </p:nvSpPr>
        <p:spPr/>
        <p:txBody>
          <a:bodyPr/>
          <a:lstStyle/>
          <a:p>
            <a:endParaRPr lang="es-EC"/>
          </a:p>
        </p:txBody>
      </p:sp>
      <p:sp>
        <p:nvSpPr>
          <p:cNvPr id="9" name="Slide Number Placeholder 8"/>
          <p:cNvSpPr>
            <a:spLocks noGrp="1"/>
          </p:cNvSpPr>
          <p:nvPr>
            <p:ph type="sldNum" sz="quarter" idx="12"/>
          </p:nvPr>
        </p:nvSpPr>
        <p:spPr/>
        <p:txBody>
          <a:bodyPr/>
          <a:lstStyle/>
          <a:p>
            <a:fld id="{14B28EB2-3408-4757-A806-361BA67028B7}" type="slidenum">
              <a:rPr lang="es-EC" smtClean="0"/>
              <a:t>‹Nº›</a:t>
            </a:fld>
            <a:endParaRPr lang="es-EC"/>
          </a:p>
        </p:txBody>
      </p:sp>
      <p:sp>
        <p:nvSpPr>
          <p:cNvPr id="11" name="Content Placeholder 10"/>
          <p:cNvSpPr>
            <a:spLocks noGrp="1"/>
          </p:cNvSpPr>
          <p:nvPr>
            <p:ph sz="quarter" idx="13"/>
          </p:nvPr>
        </p:nvSpPr>
        <p:spPr>
          <a:xfrm>
            <a:off x="457200" y="2212848"/>
            <a:ext cx="4041648" cy="391363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0B840B2-0BA1-4127-9E25-74D449B7ADFD}" type="datetime1">
              <a:rPr lang="es-EC" smtClean="0"/>
              <a:t>30/12/2025</a:t>
            </a:fld>
            <a:endParaRPr lang="es-EC"/>
          </a:p>
        </p:txBody>
      </p:sp>
      <p:sp>
        <p:nvSpPr>
          <p:cNvPr id="4" name="Footer Placeholder 3"/>
          <p:cNvSpPr>
            <a:spLocks noGrp="1"/>
          </p:cNvSpPr>
          <p:nvPr>
            <p:ph type="ftr" sz="quarter" idx="11"/>
          </p:nvPr>
        </p:nvSpPr>
        <p:spPr/>
        <p:txBody>
          <a:bodyPr/>
          <a:lstStyle/>
          <a:p>
            <a:endParaRPr lang="es-EC"/>
          </a:p>
        </p:txBody>
      </p:sp>
      <p:sp>
        <p:nvSpPr>
          <p:cNvPr id="5" name="Slide Number Placeholder 4"/>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E0FE62-E592-4B65-AFBD-C1CCC30A5FE7}" type="datetime1">
              <a:rPr lang="es-EC" smtClean="0"/>
              <a:t>30/12/2025</a:t>
            </a:fld>
            <a:endParaRPr lang="es-EC"/>
          </a:p>
        </p:txBody>
      </p:sp>
      <p:sp>
        <p:nvSpPr>
          <p:cNvPr id="3" name="Footer Placeholder 2"/>
          <p:cNvSpPr>
            <a:spLocks noGrp="1"/>
          </p:cNvSpPr>
          <p:nvPr>
            <p:ph type="ftr" sz="quarter" idx="11"/>
          </p:nvPr>
        </p:nvSpPr>
        <p:spPr/>
        <p:txBody>
          <a:bodyPr/>
          <a:lstStyle/>
          <a:p>
            <a:endParaRPr lang="es-EC"/>
          </a:p>
        </p:txBody>
      </p:sp>
      <p:sp>
        <p:nvSpPr>
          <p:cNvPr id="4" name="Slide Number Placeholder 3"/>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67F15ACB-451F-4A5F-BEC9-AE2F848845F3}" type="datetime1">
              <a:rPr lang="es-EC" smtClean="0"/>
              <a:t>30/12/2025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s-ES"/>
              <a:t>Haga clic para modificar el estilo de título del patrón</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4A422F84-0CF5-40B2-88A0-C1094D415436}" type="datetime1">
              <a:rPr lang="es-EC" smtClean="0"/>
              <a:t>30/12/2025</a:t>
            </a:fld>
            <a:endParaRPr lang="es-EC"/>
          </a:p>
        </p:txBody>
      </p:sp>
      <p:sp>
        <p:nvSpPr>
          <p:cNvPr id="6" name="Footer Placeholder 5"/>
          <p:cNvSpPr>
            <a:spLocks noGrp="1"/>
          </p:cNvSpPr>
          <p:nvPr>
            <p:ph type="ftr" sz="quarter" idx="11"/>
          </p:nvPr>
        </p:nvSpPr>
        <p:spPr/>
        <p:txBody>
          <a:bodyPr/>
          <a:lstStyle/>
          <a:p>
            <a:endParaRPr lang="es-EC"/>
          </a:p>
        </p:txBody>
      </p:sp>
      <p:sp>
        <p:nvSpPr>
          <p:cNvPr id="7" name="Slide Number Placeholder 6"/>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BD623C0-6495-45E5-AD9B-690C29EB2D28}" type="datetime1">
              <a:rPr lang="es-EC" smtClean="0"/>
              <a:t>30/12/2025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B4D8EE3C-3A2D-421B-8BCE-DCA3638F2800}" type="datetime1">
              <a:rPr lang="es-EC" smtClean="0"/>
              <a:t>30/12/2025</a:t>
            </a:fld>
            <a:endParaRPr lang="es-EC"/>
          </a:p>
        </p:txBody>
      </p:sp>
      <p:sp>
        <p:nvSpPr>
          <p:cNvPr id="5" name="Footer Placeholder 4"/>
          <p:cNvSpPr>
            <a:spLocks noGrp="1"/>
          </p:cNvSpPr>
          <p:nvPr>
            <p:ph type="ftr" sz="quarter" idx="11"/>
          </p:nvPr>
        </p:nvSpPr>
        <p:spPr/>
        <p:txBody>
          <a:bodyPr/>
          <a:lstStyle/>
          <a:p>
            <a:endParaRPr lang="es-EC"/>
          </a:p>
        </p:txBody>
      </p:sp>
      <p:sp>
        <p:nvSpPr>
          <p:cNvPr id="6" name="Slide Number Placeholder 5"/>
          <p:cNvSpPr>
            <a:spLocks noGrp="1"/>
          </p:cNvSpPr>
          <p:nvPr>
            <p:ph type="sldNum" sz="quarter" idx="12"/>
          </p:nvPr>
        </p:nvSpPr>
        <p:spPr/>
        <p:txBody>
          <a:bodyPr/>
          <a:lstStyle/>
          <a:p>
            <a:fld id="{14B28EB2-3408-4757-A806-361BA67028B7}" type="slidenum">
              <a:rPr lang="es-EC" smtClean="0"/>
              <a:t>‹Nº›</a:t>
            </a:fld>
            <a:endParaRPr lang="es-EC"/>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214FB16F-AFAA-44A5-84B2-773ABBFEBDB3}" type="datetime1">
              <a:rPr lang="es-EC" smtClean="0"/>
              <a:t>30/12/2025</a:t>
            </a:fld>
            <a:endParaRPr lang="es-EC"/>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s-EC"/>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14B28EB2-3408-4757-A806-361BA67028B7}" type="slidenum">
              <a:rPr lang="es-EC" smtClean="0"/>
              <a:t>‹Nº›</a:t>
            </a:fld>
            <a:endParaRPr lang="es-EC"/>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hf hdr="0" ftr="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35496" y="1844824"/>
            <a:ext cx="3562424" cy="1296144"/>
          </a:xfrm>
          <a:prstGeom prst="rect">
            <a:avLst/>
          </a:prstGeom>
        </p:spPr>
        <p:txBody>
          <a:bodyPr vert="horz" lIns="91440" tIns="45720" rIns="91440" bIns="45720" rtlCol="0" anchor="b">
            <a:noAutofit/>
          </a:bodyPr>
          <a:lstStyle>
            <a:lvl1pPr algn="ctr" defTabSz="914400" rtl="0" eaLnBrk="1" latinLnBrk="0" hangingPunct="1">
              <a:lnSpc>
                <a:spcPct val="100000"/>
              </a:lnSpc>
              <a:spcBef>
                <a:spcPct val="0"/>
              </a:spcBef>
              <a:buNone/>
              <a:defRPr sz="8000" kern="120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s-EC" sz="2400" b="1" dirty="0">
                <a:effectLst/>
                <a:latin typeface="Arial" pitchFamily="34" charset="0"/>
                <a:cs typeface="Arial" pitchFamily="34" charset="0"/>
              </a:rPr>
              <a:t>CAPÍTULO 5: FUNCIONES, REFERENCIAS Y PUNTEROS</a:t>
            </a:r>
            <a:endParaRPr lang="es-ES" sz="2400" b="1" dirty="0">
              <a:effectLst/>
              <a:latin typeface="Arial" pitchFamily="34" charset="0"/>
              <a:cs typeface="Arial" pitchFamily="34" charset="0"/>
            </a:endParaRPr>
          </a:p>
        </p:txBody>
      </p:sp>
      <p:sp>
        <p:nvSpPr>
          <p:cNvPr id="7" name="Rectangle 3"/>
          <p:cNvSpPr txBox="1">
            <a:spLocks noChangeArrowheads="1"/>
          </p:cNvSpPr>
          <p:nvPr/>
        </p:nvSpPr>
        <p:spPr>
          <a:xfrm>
            <a:off x="539552" y="4725144"/>
            <a:ext cx="8280400" cy="1814206"/>
          </a:xfrm>
          <a:prstGeom prst="rect">
            <a:avLst/>
          </a:prstGeom>
        </p:spPr>
        <p:txBody>
          <a:bodyPr vert="horz" lIns="91440" tIns="45720" rIns="91440" bIns="45720" rtlCol="0">
            <a:normAutofit fontScale="92500" lnSpcReduction="20000"/>
          </a:bodyPr>
          <a:lstStyle>
            <a:lvl1pPr marL="0" indent="0" algn="ctr" defTabSz="914400"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1pPr>
            <a:lvl2pPr marL="4572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2pPr>
            <a:lvl3pPr marL="9144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3pPr>
            <a:lvl4pPr marL="13716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4pPr>
            <a:lvl5pPr marL="18288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5pPr>
            <a:lvl6pPr marL="22860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6pPr>
            <a:lvl7pPr marL="27432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7pPr>
            <a:lvl8pPr marL="3200400" indent="0" algn="ctr" defTabSz="914400" rtl="0" eaLnBrk="1" latinLnBrk="0" hangingPunct="1">
              <a:spcBef>
                <a:spcPct val="20000"/>
              </a:spcBef>
              <a:buFont typeface="Courier New" pitchFamily="49" charset="0"/>
              <a:buNone/>
              <a:defRPr sz="1600" kern="1200">
                <a:solidFill>
                  <a:schemeClr val="tx1">
                    <a:tint val="75000"/>
                  </a:schemeClr>
                </a:solidFill>
                <a:latin typeface="+mj-lt"/>
                <a:ea typeface="+mn-ea"/>
                <a:cs typeface="+mn-cs"/>
              </a:defRPr>
            </a:lvl8pPr>
            <a:lvl9pPr marL="3657600" indent="0" algn="ctr" defTabSz="914400" rtl="0" eaLnBrk="1" latinLnBrk="0" hangingPunct="1">
              <a:spcBef>
                <a:spcPct val="20000"/>
              </a:spcBef>
              <a:buFont typeface="Arial" pitchFamily="34" charset="0"/>
              <a:buNone/>
              <a:defRPr sz="1600" kern="1200">
                <a:solidFill>
                  <a:schemeClr val="tx1">
                    <a:tint val="75000"/>
                  </a:schemeClr>
                </a:solidFill>
                <a:latin typeface="+mj-lt"/>
                <a:ea typeface="+mn-ea"/>
                <a:cs typeface="+mn-cs"/>
              </a:defRPr>
            </a:lvl9pPr>
          </a:lstStyle>
          <a:p>
            <a:pPr>
              <a:lnSpc>
                <a:spcPct val="80000"/>
              </a:lnSpc>
            </a:pPr>
            <a:r>
              <a:rPr lang="es-ES" dirty="0"/>
              <a:t>César Villacís, Margarita Zambrano, Sofía Bayona, Luis Pastor, David Alvarado, Luis García, Kevin Topón  </a:t>
            </a:r>
            <a:endParaRPr lang="en-US" b="1" dirty="0">
              <a:solidFill>
                <a:schemeClr val="tx2"/>
              </a:solidFill>
            </a:endParaRPr>
          </a:p>
          <a:p>
            <a:pPr>
              <a:lnSpc>
                <a:spcPct val="80000"/>
              </a:lnSpc>
            </a:pPr>
            <a:endParaRPr lang="en-US" b="1" dirty="0">
              <a:solidFill>
                <a:schemeClr val="tx2"/>
              </a:solidFill>
            </a:endParaRPr>
          </a:p>
          <a:p>
            <a:r>
              <a:rPr lang="es-EC" sz="1800" dirty="0"/>
              <a:t>Universidad de las Fueras Armadas – ESPE</a:t>
            </a:r>
          </a:p>
          <a:p>
            <a:r>
              <a:rPr lang="es-ES" sz="1800" dirty="0"/>
              <a:t>Quito, Ecuador</a:t>
            </a:r>
          </a:p>
          <a:p>
            <a:endParaRPr lang="es-EC" sz="1800" dirty="0"/>
          </a:p>
          <a:p>
            <a:r>
              <a:rPr lang="es-ES" sz="1800" dirty="0">
                <a:solidFill>
                  <a:srgbClr val="0070C0"/>
                </a:solidFill>
              </a:rPr>
              <a:t>e-mail: {</a:t>
            </a:r>
            <a:r>
              <a:rPr lang="es-ES" sz="1800" dirty="0" err="1">
                <a:solidFill>
                  <a:srgbClr val="0070C0"/>
                </a:solidFill>
              </a:rPr>
              <a:t>cjvillacis</a:t>
            </a:r>
            <a:r>
              <a:rPr lang="es-ES" sz="1800" dirty="0">
                <a:solidFill>
                  <a:srgbClr val="0070C0"/>
                </a:solidFill>
              </a:rPr>
              <a:t>, </a:t>
            </a:r>
            <a:r>
              <a:rPr lang="es-ES" sz="1800" dirty="0" err="1">
                <a:solidFill>
                  <a:srgbClr val="0070C0"/>
                </a:solidFill>
              </a:rPr>
              <a:t>mezambrano</a:t>
            </a:r>
            <a:r>
              <a:rPr lang="es-ES" sz="1800" dirty="0">
                <a:solidFill>
                  <a:srgbClr val="0070C0"/>
                </a:solidFill>
              </a:rPr>
              <a:t>}@espe.edu.ec</a:t>
            </a:r>
            <a:endParaRPr lang="en-US" sz="1800" b="1" dirty="0">
              <a:solidFill>
                <a:srgbClr val="0070C0"/>
              </a:solidFill>
            </a:endParaRPr>
          </a:p>
          <a:p>
            <a:pPr>
              <a:lnSpc>
                <a:spcPct val="80000"/>
              </a:lnSpc>
            </a:pPr>
            <a:endParaRPr lang="en-US" b="1" dirty="0">
              <a:solidFill>
                <a:schemeClr val="hlink"/>
              </a:solidFill>
            </a:endParaRPr>
          </a:p>
          <a:p>
            <a:pPr>
              <a:lnSpc>
                <a:spcPct val="80000"/>
              </a:lnSpc>
            </a:pPr>
            <a:endParaRPr lang="es-ES" b="1" dirty="0">
              <a:solidFill>
                <a:schemeClr val="hlink"/>
              </a:solidFill>
            </a:endParaRPr>
          </a:p>
          <a:p>
            <a:pPr>
              <a:lnSpc>
                <a:spcPct val="80000"/>
              </a:lnSpc>
            </a:pPr>
            <a:endParaRPr lang="es-ES" b="1" dirty="0"/>
          </a:p>
        </p:txBody>
      </p:sp>
      <p:sp>
        <p:nvSpPr>
          <p:cNvPr id="2" name="1 Marcador de fecha"/>
          <p:cNvSpPr>
            <a:spLocks noGrp="1"/>
          </p:cNvSpPr>
          <p:nvPr>
            <p:ph type="dt" sz="half" idx="10"/>
          </p:nvPr>
        </p:nvSpPr>
        <p:spPr/>
        <p:txBody>
          <a:bodyPr/>
          <a:lstStyle/>
          <a:p>
            <a:fld id="{CFABD442-A3C4-4850-B201-37432B5929C0}" type="datetime1">
              <a:rPr lang="es-EC" smtClean="0"/>
              <a:t>30/12/2025</a:t>
            </a:fld>
            <a:endParaRPr lang="es-EC"/>
          </a:p>
        </p:txBody>
      </p:sp>
      <p:sp>
        <p:nvSpPr>
          <p:cNvPr id="3" name="2 Marcador de número de diapositiva"/>
          <p:cNvSpPr>
            <a:spLocks noGrp="1"/>
          </p:cNvSpPr>
          <p:nvPr>
            <p:ph type="sldNum" sz="quarter" idx="11"/>
          </p:nvPr>
        </p:nvSpPr>
        <p:spPr/>
        <p:txBody>
          <a:bodyPr/>
          <a:lstStyle/>
          <a:p>
            <a:fld id="{14B28EB2-3408-4757-A806-361BA67028B7}" type="slidenum">
              <a:rPr lang="es-EC" smtClean="0"/>
              <a:t>1</a:t>
            </a:fld>
            <a:endParaRPr lang="es-EC"/>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552" y="281472"/>
            <a:ext cx="2967310" cy="927596"/>
          </a:xfrm>
          <a:prstGeom prst="rect">
            <a:avLst/>
          </a:prstGeom>
        </p:spPr>
      </p:pic>
      <p:pic>
        <p:nvPicPr>
          <p:cNvPr id="12" name="Imagen 11">
            <a:extLst>
              <a:ext uri="{FF2B5EF4-FFF2-40B4-BE49-F238E27FC236}">
                <a16:creationId xmlns:a16="http://schemas.microsoft.com/office/drawing/2014/main" id="{771F6278-F22F-1B52-5B3D-9A53240E0CCC}"/>
              </a:ext>
            </a:extLst>
          </p:cNvPr>
          <p:cNvPicPr>
            <a:picLocks noChangeAspect="1"/>
          </p:cNvPicPr>
          <p:nvPr/>
        </p:nvPicPr>
        <p:blipFill>
          <a:blip r:embed="rId4"/>
          <a:stretch>
            <a:fillRect/>
          </a:stretch>
        </p:blipFill>
        <p:spPr>
          <a:xfrm>
            <a:off x="3851920" y="1178049"/>
            <a:ext cx="3366640" cy="2755007"/>
          </a:xfrm>
          <a:prstGeom prst="rect">
            <a:avLst/>
          </a:prstGeom>
        </p:spPr>
      </p:pic>
    </p:spTree>
    <p:extLst>
      <p:ext uri="{BB962C8B-B14F-4D97-AF65-F5344CB8AC3E}">
        <p14:creationId xmlns:p14="http://schemas.microsoft.com/office/powerpoint/2010/main" val="1158697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a:xfrm>
            <a:off x="457200" y="1612760"/>
            <a:ext cx="8229600" cy="4525963"/>
          </a:xfrm>
        </p:spPr>
        <p:txBody>
          <a:bodyPr>
            <a:normAutofit fontScale="92500" lnSpcReduction="10000"/>
          </a:bodyPr>
          <a:lstStyle/>
          <a:p>
            <a:pPr marL="0" indent="0">
              <a:buNone/>
            </a:pPr>
            <a:endParaRPr lang="es-EC" sz="2400" dirty="0"/>
          </a:p>
          <a:p>
            <a:r>
              <a:rPr lang="es-EC" sz="3900" b="1" dirty="0">
                <a:solidFill>
                  <a:srgbClr val="FF0000"/>
                </a:solidFill>
              </a:rPr>
              <a:t>Punteros</a:t>
            </a:r>
          </a:p>
          <a:p>
            <a:r>
              <a:rPr lang="es-EC" sz="2400" dirty="0"/>
              <a:t>El Operador de Dirección (&amp;)</a:t>
            </a:r>
          </a:p>
          <a:p>
            <a:r>
              <a:rPr lang="es-EC" sz="2400" dirty="0"/>
              <a:t>El Operador de Indirección (*)</a:t>
            </a:r>
            <a:endParaRPr lang="es-EC" dirty="0"/>
          </a:p>
          <a:p>
            <a:r>
              <a:rPr lang="es-MX" sz="2400" dirty="0"/>
              <a:t>El '</a:t>
            </a:r>
            <a:r>
              <a:rPr lang="es-MX" sz="2400" dirty="0" err="1"/>
              <a:t>rvalue</a:t>
            </a:r>
            <a:r>
              <a:rPr lang="es-MX" sz="2400" dirty="0"/>
              <a:t>' y el '</a:t>
            </a:r>
            <a:r>
              <a:rPr lang="es-MX" sz="2400" dirty="0" err="1"/>
              <a:t>lvalue</a:t>
            </a:r>
            <a:r>
              <a:rPr lang="es-MX" sz="2400" dirty="0"/>
              <a:t>' de una Variable y de un Puntero</a:t>
            </a:r>
          </a:p>
          <a:p>
            <a:r>
              <a:rPr lang="es-EC" sz="2400" dirty="0"/>
              <a:t>Problema 5.12</a:t>
            </a:r>
          </a:p>
          <a:p>
            <a:r>
              <a:rPr lang="es-MX" sz="2400" dirty="0"/>
              <a:t>Paso de Parámetros por Dirección o Punteros </a:t>
            </a:r>
          </a:p>
          <a:p>
            <a:r>
              <a:rPr lang="es-EC" sz="2400" dirty="0"/>
              <a:t>Función </a:t>
            </a:r>
            <a:r>
              <a:rPr lang="es-EC" sz="2400" dirty="0" err="1"/>
              <a:t>LeerDatos</a:t>
            </a:r>
            <a:r>
              <a:rPr lang="es-EC" sz="2400" dirty="0"/>
              <a:t>()</a:t>
            </a:r>
          </a:p>
          <a:p>
            <a:r>
              <a:rPr lang="es-EC" sz="2400" dirty="0"/>
              <a:t>Función </a:t>
            </a:r>
            <a:r>
              <a:rPr lang="es-EC" sz="2400" dirty="0" err="1"/>
              <a:t>ImprimirDatos</a:t>
            </a:r>
            <a:r>
              <a:rPr lang="es-EC" sz="2400" dirty="0"/>
              <a:t>()</a:t>
            </a:r>
          </a:p>
          <a:p>
            <a:r>
              <a:rPr lang="es-EC" dirty="0"/>
              <a:t>Función </a:t>
            </a:r>
            <a:r>
              <a:rPr lang="es-EC" dirty="0" err="1"/>
              <a:t>InvertirDatos</a:t>
            </a:r>
            <a:r>
              <a:rPr lang="es-EC" dirty="0"/>
              <a:t>() </a:t>
            </a:r>
          </a:p>
          <a:p>
            <a:r>
              <a:rPr lang="es-EC" dirty="0"/>
              <a:t>Aplicaciones de Funciones Matemáticas </a:t>
            </a:r>
            <a:endParaRPr lang="es-EC" sz="3200" dirty="0"/>
          </a:p>
          <a:p>
            <a:pPr marL="0" indent="0">
              <a:buNone/>
            </a:pPr>
            <a:endParaRPr lang="es-EC" dirty="0"/>
          </a:p>
        </p:txBody>
      </p:sp>
      <p:sp>
        <p:nvSpPr>
          <p:cNvPr id="5" name="4 Marcador de fecha"/>
          <p:cNvSpPr>
            <a:spLocks noGrp="1"/>
          </p:cNvSpPr>
          <p:nvPr>
            <p:ph type="dt" sz="half" idx="10"/>
          </p:nvPr>
        </p:nvSpPr>
        <p:spPr/>
        <p:txBody>
          <a:bodyPr/>
          <a:lstStyle/>
          <a:p>
            <a:fld id="{85E4E129-A937-4BEE-8A17-D7969DFE55C2}"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a:t>
            </a:fld>
            <a:endParaRPr lang="es-EC"/>
          </a:p>
        </p:txBody>
      </p:sp>
    </p:spTree>
    <p:extLst>
      <p:ext uri="{BB962C8B-B14F-4D97-AF65-F5344CB8AC3E}">
        <p14:creationId xmlns:p14="http://schemas.microsoft.com/office/powerpoint/2010/main" val="2772052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26529" y="1484784"/>
            <a:ext cx="7427168" cy="335062"/>
          </a:xfrm>
        </p:spPr>
        <p:txBody>
          <a:bodyPr/>
          <a:lstStyle/>
          <a:p>
            <a:r>
              <a:rPr lang="es-EC" sz="4000" b="1" dirty="0"/>
              <a:t>PUNTEROS</a:t>
            </a:r>
            <a:br>
              <a:rPr lang="es-EC" sz="5400" b="1" dirty="0"/>
            </a:br>
            <a:endParaRPr lang="en-US" b="1" dirty="0"/>
          </a:p>
        </p:txBody>
      </p:sp>
      <p:sp>
        <p:nvSpPr>
          <p:cNvPr id="5" name="4 Marcador de contenido"/>
          <p:cNvSpPr>
            <a:spLocks noGrp="1"/>
          </p:cNvSpPr>
          <p:nvPr>
            <p:ph idx="1"/>
          </p:nvPr>
        </p:nvSpPr>
        <p:spPr>
          <a:xfrm>
            <a:off x="726529" y="1484784"/>
            <a:ext cx="7229847" cy="1584176"/>
          </a:xfrm>
        </p:spPr>
        <p:txBody>
          <a:bodyPr>
            <a:normAutofit fontScale="92500" lnSpcReduction="10000"/>
          </a:bodyPr>
          <a:lstStyle/>
          <a:p>
            <a:pPr marL="0" indent="0">
              <a:buNone/>
            </a:pPr>
            <a:r>
              <a:rPr lang="es-MX" sz="1800" dirty="0"/>
              <a:t>Un puntero es una variable especial que almacena la dirección de memoria de una variable, para poder manipular el contenido de la variable a la que apunta (Granizo, E., 2016). Como cualquier tipo de variable, un puntero debe haber sido declarado antes de que pueda ser utilizado y ocupa 4 bytes de memoria. Un puntero se declara de acuerdo con la siguiente sintaxis: </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a:t>
            </a:fld>
            <a:endParaRPr lang="es-EC"/>
          </a:p>
        </p:txBody>
      </p:sp>
      <p:pic>
        <p:nvPicPr>
          <p:cNvPr id="7" name="Imagen 6">
            <a:extLst>
              <a:ext uri="{FF2B5EF4-FFF2-40B4-BE49-F238E27FC236}">
                <a16:creationId xmlns:a16="http://schemas.microsoft.com/office/drawing/2014/main" id="{0FF679F1-5B4B-40D8-8161-ED88A6A82238}"/>
              </a:ext>
            </a:extLst>
          </p:cNvPr>
          <p:cNvPicPr>
            <a:picLocks noChangeAspect="1"/>
          </p:cNvPicPr>
          <p:nvPr/>
        </p:nvPicPr>
        <p:blipFill>
          <a:blip r:embed="rId2"/>
          <a:stretch>
            <a:fillRect/>
          </a:stretch>
        </p:blipFill>
        <p:spPr>
          <a:xfrm>
            <a:off x="726529" y="3429000"/>
            <a:ext cx="7039957" cy="2238687"/>
          </a:xfrm>
          <a:prstGeom prst="rect">
            <a:avLst/>
          </a:prstGeom>
        </p:spPr>
      </p:pic>
    </p:spTree>
    <p:extLst>
      <p:ext uri="{BB962C8B-B14F-4D97-AF65-F5344CB8AC3E}">
        <p14:creationId xmlns:p14="http://schemas.microsoft.com/office/powerpoint/2010/main" val="1641893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26529" y="1484784"/>
            <a:ext cx="7427168" cy="335062"/>
          </a:xfrm>
        </p:spPr>
        <p:txBody>
          <a:bodyPr/>
          <a:lstStyle/>
          <a:p>
            <a:r>
              <a:rPr lang="es-EC" sz="4000" b="1" dirty="0"/>
              <a:t>PUNTEROS</a:t>
            </a:r>
            <a:br>
              <a:rPr lang="es-EC" sz="5400" b="1" dirty="0"/>
            </a:br>
            <a:endParaRPr lang="en-US" b="1" dirty="0"/>
          </a:p>
        </p:txBody>
      </p:sp>
      <p:sp>
        <p:nvSpPr>
          <p:cNvPr id="5" name="4 Marcador de contenido"/>
          <p:cNvSpPr>
            <a:spLocks noGrp="1"/>
          </p:cNvSpPr>
          <p:nvPr>
            <p:ph idx="1"/>
          </p:nvPr>
        </p:nvSpPr>
        <p:spPr>
          <a:xfrm>
            <a:off x="726529" y="1484784"/>
            <a:ext cx="7229847" cy="1584176"/>
          </a:xfrm>
        </p:spPr>
        <p:txBody>
          <a:bodyPr>
            <a:normAutofit/>
          </a:bodyPr>
          <a:lstStyle/>
          <a:p>
            <a:pPr marL="0" indent="0">
              <a:buNone/>
            </a:pPr>
            <a:r>
              <a:rPr lang="es-MX" sz="2000" dirty="0"/>
              <a:t>A continuación, se presentan algunos ejemplos que muestran la creación de punteros que apuntan a variables: </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4</a:t>
            </a:fld>
            <a:endParaRPr lang="es-EC"/>
          </a:p>
        </p:txBody>
      </p:sp>
      <p:pic>
        <p:nvPicPr>
          <p:cNvPr id="8" name="Imagen 7">
            <a:extLst>
              <a:ext uri="{FF2B5EF4-FFF2-40B4-BE49-F238E27FC236}">
                <a16:creationId xmlns:a16="http://schemas.microsoft.com/office/drawing/2014/main" id="{3C554211-F0C0-42DC-ABE8-4CEBE81F1C5E}"/>
              </a:ext>
            </a:extLst>
          </p:cNvPr>
          <p:cNvPicPr>
            <a:picLocks noChangeAspect="1"/>
          </p:cNvPicPr>
          <p:nvPr/>
        </p:nvPicPr>
        <p:blipFill>
          <a:blip r:embed="rId2"/>
          <a:stretch>
            <a:fillRect/>
          </a:stretch>
        </p:blipFill>
        <p:spPr>
          <a:xfrm>
            <a:off x="2195736" y="2200251"/>
            <a:ext cx="3620005" cy="2152950"/>
          </a:xfrm>
          <a:prstGeom prst="rect">
            <a:avLst/>
          </a:prstGeom>
        </p:spPr>
      </p:pic>
      <p:sp>
        <p:nvSpPr>
          <p:cNvPr id="9" name="4 Marcador de contenido">
            <a:extLst>
              <a:ext uri="{FF2B5EF4-FFF2-40B4-BE49-F238E27FC236}">
                <a16:creationId xmlns:a16="http://schemas.microsoft.com/office/drawing/2014/main" id="{017A48BE-029C-4647-9E6F-1B061ACFEF79}"/>
              </a:ext>
            </a:extLst>
          </p:cNvPr>
          <p:cNvSpPr txBox="1">
            <a:spLocks/>
          </p:cNvSpPr>
          <p:nvPr/>
        </p:nvSpPr>
        <p:spPr>
          <a:xfrm>
            <a:off x="825189" y="4581128"/>
            <a:ext cx="7229847" cy="158417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pPr marL="0" indent="0">
              <a:buFont typeface="Arial" pitchFamily="34" charset="0"/>
              <a:buNone/>
            </a:pPr>
            <a:r>
              <a:rPr lang="es-MX" sz="2000" dirty="0"/>
              <a:t>También, se puede hacer que en una sola instrucción se realice la declaración e inicialización de un puntero, como se indica a continuación</a:t>
            </a:r>
            <a:r>
              <a:rPr lang="es-MX" sz="1800" dirty="0"/>
              <a:t>: </a:t>
            </a:r>
            <a:endParaRPr lang="es-ES" dirty="0"/>
          </a:p>
        </p:txBody>
      </p:sp>
      <p:pic>
        <p:nvPicPr>
          <p:cNvPr id="11" name="Imagen 10">
            <a:extLst>
              <a:ext uri="{FF2B5EF4-FFF2-40B4-BE49-F238E27FC236}">
                <a16:creationId xmlns:a16="http://schemas.microsoft.com/office/drawing/2014/main" id="{C30BBEAA-469E-4DF1-A81A-E4FC86DEE20A}"/>
              </a:ext>
            </a:extLst>
          </p:cNvPr>
          <p:cNvPicPr>
            <a:picLocks noChangeAspect="1"/>
          </p:cNvPicPr>
          <p:nvPr/>
        </p:nvPicPr>
        <p:blipFill>
          <a:blip r:embed="rId3"/>
          <a:stretch>
            <a:fillRect/>
          </a:stretch>
        </p:blipFill>
        <p:spPr>
          <a:xfrm>
            <a:off x="2411760" y="5641356"/>
            <a:ext cx="3534268" cy="1047896"/>
          </a:xfrm>
          <a:prstGeom prst="rect">
            <a:avLst/>
          </a:prstGeom>
        </p:spPr>
      </p:pic>
    </p:spTree>
    <p:extLst>
      <p:ext uri="{BB962C8B-B14F-4D97-AF65-F5344CB8AC3E}">
        <p14:creationId xmlns:p14="http://schemas.microsoft.com/office/powerpoint/2010/main" val="2928576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a:xfrm>
            <a:off x="457200" y="1612760"/>
            <a:ext cx="8229600" cy="4525963"/>
          </a:xfrm>
        </p:spPr>
        <p:txBody>
          <a:bodyPr>
            <a:normAutofit fontScale="92500" lnSpcReduction="10000"/>
          </a:bodyPr>
          <a:lstStyle/>
          <a:p>
            <a:pPr marL="0" indent="0">
              <a:buNone/>
            </a:pPr>
            <a:endParaRPr lang="es-EC" sz="2400" dirty="0"/>
          </a:p>
          <a:p>
            <a:r>
              <a:rPr lang="es-EC" sz="2400" dirty="0"/>
              <a:t>Punteros</a:t>
            </a:r>
          </a:p>
          <a:p>
            <a:r>
              <a:rPr lang="es-EC" sz="3900" b="1" dirty="0">
                <a:solidFill>
                  <a:srgbClr val="FF0000"/>
                </a:solidFill>
              </a:rPr>
              <a:t>El Operador de Dirección (&amp;)</a:t>
            </a:r>
          </a:p>
          <a:p>
            <a:r>
              <a:rPr lang="es-EC" sz="2400" dirty="0"/>
              <a:t>El Operador de Indirección (*)</a:t>
            </a:r>
            <a:endParaRPr lang="es-EC" dirty="0"/>
          </a:p>
          <a:p>
            <a:r>
              <a:rPr lang="es-MX" sz="2400" dirty="0"/>
              <a:t>El '</a:t>
            </a:r>
            <a:r>
              <a:rPr lang="es-MX" sz="2400" dirty="0" err="1"/>
              <a:t>rvalue</a:t>
            </a:r>
            <a:r>
              <a:rPr lang="es-MX" sz="2400" dirty="0"/>
              <a:t>' y el '</a:t>
            </a:r>
            <a:r>
              <a:rPr lang="es-MX" sz="2400" dirty="0" err="1"/>
              <a:t>lvalue</a:t>
            </a:r>
            <a:r>
              <a:rPr lang="es-MX" sz="2400" dirty="0"/>
              <a:t>' de una Variable y de un Puntero</a:t>
            </a:r>
          </a:p>
          <a:p>
            <a:r>
              <a:rPr lang="es-EC" sz="2400" dirty="0"/>
              <a:t>Problema 5.12</a:t>
            </a:r>
          </a:p>
          <a:p>
            <a:r>
              <a:rPr lang="es-MX" sz="2400" dirty="0"/>
              <a:t>Paso de Parámetros por Dirección o Punteros </a:t>
            </a:r>
          </a:p>
          <a:p>
            <a:r>
              <a:rPr lang="es-EC" sz="2400" dirty="0"/>
              <a:t>Función </a:t>
            </a:r>
            <a:r>
              <a:rPr lang="es-EC" sz="2400" dirty="0" err="1"/>
              <a:t>LeerDatos</a:t>
            </a:r>
            <a:r>
              <a:rPr lang="es-EC" sz="2400" dirty="0"/>
              <a:t>()</a:t>
            </a:r>
          </a:p>
          <a:p>
            <a:r>
              <a:rPr lang="es-EC" sz="2400" dirty="0"/>
              <a:t>Función </a:t>
            </a:r>
            <a:r>
              <a:rPr lang="es-EC" sz="2400" dirty="0" err="1"/>
              <a:t>ImprimirDatos</a:t>
            </a:r>
            <a:r>
              <a:rPr lang="es-EC" sz="2400" dirty="0"/>
              <a:t>()</a:t>
            </a:r>
          </a:p>
          <a:p>
            <a:r>
              <a:rPr lang="es-EC" dirty="0"/>
              <a:t>Función </a:t>
            </a:r>
            <a:r>
              <a:rPr lang="es-EC" dirty="0" err="1"/>
              <a:t>InvertirDatos</a:t>
            </a:r>
            <a:r>
              <a:rPr lang="es-EC" dirty="0"/>
              <a:t>() </a:t>
            </a:r>
          </a:p>
          <a:p>
            <a:r>
              <a:rPr lang="es-EC" dirty="0"/>
              <a:t>Aplicaciones de Funciones Matemáticas </a:t>
            </a:r>
            <a:endParaRPr lang="es-EC" sz="3200" dirty="0"/>
          </a:p>
          <a:p>
            <a:pPr marL="0" indent="0">
              <a:buNone/>
            </a:pPr>
            <a:endParaRPr lang="es-EC" dirty="0"/>
          </a:p>
        </p:txBody>
      </p:sp>
      <p:sp>
        <p:nvSpPr>
          <p:cNvPr id="5" name="4 Marcador de fecha"/>
          <p:cNvSpPr>
            <a:spLocks noGrp="1"/>
          </p:cNvSpPr>
          <p:nvPr>
            <p:ph type="dt" sz="half" idx="10"/>
          </p:nvPr>
        </p:nvSpPr>
        <p:spPr/>
        <p:txBody>
          <a:bodyPr/>
          <a:lstStyle/>
          <a:p>
            <a:fld id="{85E4E129-A937-4BEE-8A17-D7969DFE55C2}"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5</a:t>
            </a:fld>
            <a:endParaRPr lang="es-EC"/>
          </a:p>
        </p:txBody>
      </p:sp>
    </p:spTree>
    <p:extLst>
      <p:ext uri="{BB962C8B-B14F-4D97-AF65-F5344CB8AC3E}">
        <p14:creationId xmlns:p14="http://schemas.microsoft.com/office/powerpoint/2010/main" val="3427571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363706" y="1484784"/>
            <a:ext cx="7427168" cy="335062"/>
          </a:xfrm>
        </p:spPr>
        <p:txBody>
          <a:bodyPr/>
          <a:lstStyle/>
          <a:p>
            <a:r>
              <a:rPr lang="es-EC" sz="4000" b="1" dirty="0"/>
              <a:t>El Operador de Dirección (&amp;)</a:t>
            </a:r>
            <a:br>
              <a:rPr lang="es-EC" sz="5400" b="1" dirty="0"/>
            </a:br>
            <a:endParaRPr lang="en-US" b="1" dirty="0"/>
          </a:p>
        </p:txBody>
      </p:sp>
      <p:sp>
        <p:nvSpPr>
          <p:cNvPr id="5" name="4 Marcador de contenido"/>
          <p:cNvSpPr>
            <a:spLocks noGrp="1"/>
          </p:cNvSpPr>
          <p:nvPr>
            <p:ph idx="1"/>
          </p:nvPr>
        </p:nvSpPr>
        <p:spPr>
          <a:xfrm>
            <a:off x="957076" y="1189407"/>
            <a:ext cx="7229847" cy="1584176"/>
          </a:xfrm>
        </p:spPr>
        <p:txBody>
          <a:bodyPr>
            <a:normAutofit/>
          </a:bodyPr>
          <a:lstStyle/>
          <a:p>
            <a:pPr marL="0" indent="0">
              <a:lnSpc>
                <a:spcPct val="90000"/>
              </a:lnSpc>
              <a:buNone/>
            </a:pPr>
            <a:r>
              <a:rPr lang="es-MX" sz="1800" dirty="0"/>
              <a:t>El operador de dirección (&amp;) es un operador unario que se utiliza tanto para almacenar la dirección de memoria de una variable, así como también para devolver la dirección de memoria de su operando (Davies, P., 1995). Por ejemplo, considerando las siguientes instrucciones:</a:t>
            </a:r>
            <a:endParaRPr lang="es-ES" sz="1800"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6</a:t>
            </a:fld>
            <a:endParaRPr lang="es-EC"/>
          </a:p>
        </p:txBody>
      </p:sp>
      <p:pic>
        <p:nvPicPr>
          <p:cNvPr id="8" name="Imagen 7">
            <a:extLst>
              <a:ext uri="{FF2B5EF4-FFF2-40B4-BE49-F238E27FC236}">
                <a16:creationId xmlns:a16="http://schemas.microsoft.com/office/drawing/2014/main" id="{21D286D9-3FD1-4D8B-9C8F-72034D910EF6}"/>
              </a:ext>
            </a:extLst>
          </p:cNvPr>
          <p:cNvPicPr>
            <a:picLocks noChangeAspect="1"/>
          </p:cNvPicPr>
          <p:nvPr/>
        </p:nvPicPr>
        <p:blipFill>
          <a:blip r:embed="rId2"/>
          <a:stretch>
            <a:fillRect/>
          </a:stretch>
        </p:blipFill>
        <p:spPr>
          <a:xfrm>
            <a:off x="5868144" y="2331361"/>
            <a:ext cx="1857634" cy="858952"/>
          </a:xfrm>
          <a:prstGeom prst="rect">
            <a:avLst/>
          </a:prstGeom>
        </p:spPr>
      </p:pic>
      <p:sp>
        <p:nvSpPr>
          <p:cNvPr id="9" name="4 Marcador de contenido">
            <a:extLst>
              <a:ext uri="{FF2B5EF4-FFF2-40B4-BE49-F238E27FC236}">
                <a16:creationId xmlns:a16="http://schemas.microsoft.com/office/drawing/2014/main" id="{4CEE1665-0AD3-4733-BBFB-63EFDDC99146}"/>
              </a:ext>
            </a:extLst>
          </p:cNvPr>
          <p:cNvSpPr txBox="1">
            <a:spLocks/>
          </p:cNvSpPr>
          <p:nvPr/>
        </p:nvSpPr>
        <p:spPr>
          <a:xfrm>
            <a:off x="957076" y="3274855"/>
            <a:ext cx="7229847" cy="299695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a:lstStyle>
          <a:p>
            <a:pPr marL="457200" indent="-457200">
              <a:buFont typeface="Arial" pitchFamily="34" charset="0"/>
              <a:buAutoNum type="alphaLcPeriod"/>
            </a:pPr>
            <a:r>
              <a:rPr lang="es-MX" sz="1800" dirty="0"/>
              <a:t>Declaración e inicialización de la variable 'c' con el número ‘7’. </a:t>
            </a:r>
          </a:p>
          <a:p>
            <a:pPr marL="457200" indent="-457200">
              <a:buFont typeface="Arial" pitchFamily="34" charset="0"/>
              <a:buAutoNum type="alphaLcPeriod"/>
            </a:pPr>
            <a:r>
              <a:rPr lang="es-MX" sz="1800" dirty="0"/>
              <a:t>El identificador ‘</a:t>
            </a:r>
            <a:r>
              <a:rPr lang="es-MX" sz="1800" dirty="0" err="1"/>
              <a:t>ptr</a:t>
            </a:r>
            <a:r>
              <a:rPr lang="es-MX" sz="1800" dirty="0"/>
              <a:t>’ es el nombre del puntero. El operador ‘*’ significa que ‘</a:t>
            </a:r>
            <a:r>
              <a:rPr lang="es-MX" sz="1800" dirty="0" err="1"/>
              <a:t>ptr</a:t>
            </a:r>
            <a:r>
              <a:rPr lang="es-MX" sz="1800" dirty="0"/>
              <a:t>’ es un puntero. El puntero ‘</a:t>
            </a:r>
            <a:r>
              <a:rPr lang="es-MX" sz="1800" dirty="0" err="1"/>
              <a:t>ptr</a:t>
            </a:r>
            <a:r>
              <a:rPr lang="es-MX" sz="1800" dirty="0"/>
              <a:t>’ puede ser utilizado para apuntar variables de tipo ‘</a:t>
            </a:r>
            <a:r>
              <a:rPr lang="es-MX" sz="1800" dirty="0" err="1"/>
              <a:t>int</a:t>
            </a:r>
            <a:r>
              <a:rPr lang="es-MX" sz="1800" dirty="0"/>
              <a:t>’ (entero). </a:t>
            </a:r>
          </a:p>
          <a:p>
            <a:pPr marL="457200" indent="-457200">
              <a:buFont typeface="Arial" pitchFamily="34" charset="0"/>
              <a:buAutoNum type="alphaLcPeriod"/>
            </a:pPr>
            <a:r>
              <a:rPr lang="es-MX" sz="1800" dirty="0"/>
              <a:t>El puntero ‘</a:t>
            </a:r>
            <a:r>
              <a:rPr lang="es-MX" sz="1800" dirty="0" err="1"/>
              <a:t>ptr</a:t>
            </a:r>
            <a:r>
              <a:rPr lang="es-MX" sz="1800" dirty="0"/>
              <a:t>’ es un puntero a entero inicializado con la dirección de la variable ‘c’. Es muy común declarar y luego inicializar directamente al puntero, con lo que se obtienen las siguientes dos instrucciones en lugar de tres:</a:t>
            </a:r>
            <a:endParaRPr lang="es-ES" sz="1800" dirty="0"/>
          </a:p>
        </p:txBody>
      </p:sp>
    </p:spTree>
    <p:extLst>
      <p:ext uri="{BB962C8B-B14F-4D97-AF65-F5344CB8AC3E}">
        <p14:creationId xmlns:p14="http://schemas.microsoft.com/office/powerpoint/2010/main" val="2117652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363706" y="1484784"/>
            <a:ext cx="7427168" cy="335062"/>
          </a:xfrm>
        </p:spPr>
        <p:txBody>
          <a:bodyPr/>
          <a:lstStyle/>
          <a:p>
            <a:r>
              <a:rPr lang="es-EC" sz="4000" b="1" dirty="0"/>
              <a:t>El Operador de Dirección (&amp;)</a:t>
            </a:r>
            <a:br>
              <a:rPr lang="es-EC" sz="5400" b="1" dirty="0"/>
            </a:br>
            <a:endParaRPr lang="en-US" b="1" dirty="0"/>
          </a:p>
        </p:txBody>
      </p:sp>
      <p:sp>
        <p:nvSpPr>
          <p:cNvPr id="5" name="4 Marcador de contenido"/>
          <p:cNvSpPr>
            <a:spLocks noGrp="1"/>
          </p:cNvSpPr>
          <p:nvPr>
            <p:ph idx="1"/>
          </p:nvPr>
        </p:nvSpPr>
        <p:spPr>
          <a:xfrm>
            <a:off x="957076" y="3043161"/>
            <a:ext cx="7229847" cy="1584176"/>
          </a:xfrm>
        </p:spPr>
        <p:txBody>
          <a:bodyPr>
            <a:normAutofit fontScale="92500" lnSpcReduction="20000"/>
          </a:bodyPr>
          <a:lstStyle/>
          <a:p>
            <a:pPr>
              <a:lnSpc>
                <a:spcPct val="90000"/>
              </a:lnSpc>
              <a:buAutoNum type="alphaLcPeriod"/>
            </a:pPr>
            <a:r>
              <a:rPr lang="es-MX" sz="2000" dirty="0"/>
              <a:t>Declaración e inicialización de la variable 'c' con el número ‘7’.</a:t>
            </a:r>
          </a:p>
          <a:p>
            <a:pPr>
              <a:lnSpc>
                <a:spcPct val="90000"/>
              </a:lnSpc>
              <a:buAutoNum type="alphaLcPeriod"/>
            </a:pPr>
            <a:endParaRPr lang="es-MX" sz="2000" dirty="0"/>
          </a:p>
          <a:p>
            <a:pPr>
              <a:lnSpc>
                <a:spcPct val="90000"/>
              </a:lnSpc>
              <a:buAutoNum type="alphaLcPeriod"/>
            </a:pPr>
            <a:r>
              <a:rPr lang="es-MX" sz="2000" dirty="0"/>
              <a:t> Se crea un puntero a entero llamado ‘</a:t>
            </a:r>
            <a:r>
              <a:rPr lang="es-MX" sz="2000" dirty="0" err="1"/>
              <a:t>ptr</a:t>
            </a:r>
            <a:r>
              <a:rPr lang="es-MX" sz="2000" dirty="0"/>
              <a:t>’, utilizando el operador de indirección (*) y luego se lo inicializa con la dirección de la variable ‘c’. </a:t>
            </a:r>
            <a:endParaRPr lang="es-ES" sz="2800"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7</a:t>
            </a:fld>
            <a:endParaRPr lang="es-EC"/>
          </a:p>
        </p:txBody>
      </p:sp>
      <p:pic>
        <p:nvPicPr>
          <p:cNvPr id="7" name="Imagen 6">
            <a:extLst>
              <a:ext uri="{FF2B5EF4-FFF2-40B4-BE49-F238E27FC236}">
                <a16:creationId xmlns:a16="http://schemas.microsoft.com/office/drawing/2014/main" id="{EC6D9E8C-3949-4848-9953-D0DEA4624169}"/>
              </a:ext>
            </a:extLst>
          </p:cNvPr>
          <p:cNvPicPr>
            <a:picLocks noChangeAspect="1"/>
          </p:cNvPicPr>
          <p:nvPr/>
        </p:nvPicPr>
        <p:blipFill>
          <a:blip r:embed="rId2"/>
          <a:stretch>
            <a:fillRect/>
          </a:stretch>
        </p:blipFill>
        <p:spPr>
          <a:xfrm>
            <a:off x="3059832" y="945544"/>
            <a:ext cx="2527282" cy="1413541"/>
          </a:xfrm>
          <a:prstGeom prst="rect">
            <a:avLst/>
          </a:prstGeom>
        </p:spPr>
      </p:pic>
    </p:spTree>
    <p:extLst>
      <p:ext uri="{BB962C8B-B14F-4D97-AF65-F5344CB8AC3E}">
        <p14:creationId xmlns:p14="http://schemas.microsoft.com/office/powerpoint/2010/main" val="2421615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a:xfrm>
            <a:off x="457200" y="1612760"/>
            <a:ext cx="8229600" cy="4525963"/>
          </a:xfrm>
        </p:spPr>
        <p:txBody>
          <a:bodyPr>
            <a:normAutofit fontScale="92500" lnSpcReduction="10000"/>
          </a:bodyPr>
          <a:lstStyle/>
          <a:p>
            <a:pPr marL="0" indent="0">
              <a:buNone/>
            </a:pPr>
            <a:endParaRPr lang="es-EC" sz="2400" dirty="0"/>
          </a:p>
          <a:p>
            <a:r>
              <a:rPr lang="es-EC" sz="2400" dirty="0"/>
              <a:t>Punteros</a:t>
            </a:r>
          </a:p>
          <a:p>
            <a:r>
              <a:rPr lang="es-EC" sz="2400" dirty="0"/>
              <a:t>El Operador de Dirección (&amp;)</a:t>
            </a:r>
          </a:p>
          <a:p>
            <a:pPr>
              <a:lnSpc>
                <a:spcPct val="90000"/>
              </a:lnSpc>
            </a:pPr>
            <a:r>
              <a:rPr lang="es-EC" sz="3900" b="1" dirty="0">
                <a:solidFill>
                  <a:srgbClr val="FF0000"/>
                </a:solidFill>
              </a:rPr>
              <a:t>El Operador de Indirección (*)</a:t>
            </a:r>
          </a:p>
          <a:p>
            <a:r>
              <a:rPr lang="es-MX" sz="2400" dirty="0"/>
              <a:t>El '</a:t>
            </a:r>
            <a:r>
              <a:rPr lang="es-MX" sz="2400" dirty="0" err="1"/>
              <a:t>rvalue</a:t>
            </a:r>
            <a:r>
              <a:rPr lang="es-MX" sz="2400" dirty="0"/>
              <a:t>' y el '</a:t>
            </a:r>
            <a:r>
              <a:rPr lang="es-MX" sz="2400" dirty="0" err="1"/>
              <a:t>lvalue</a:t>
            </a:r>
            <a:r>
              <a:rPr lang="es-MX" sz="2400" dirty="0"/>
              <a:t>' de una Variable y de un Puntero</a:t>
            </a:r>
          </a:p>
          <a:p>
            <a:r>
              <a:rPr lang="es-EC" sz="2400" dirty="0"/>
              <a:t>Problema 5.12</a:t>
            </a:r>
          </a:p>
          <a:p>
            <a:r>
              <a:rPr lang="es-MX" sz="2400" dirty="0"/>
              <a:t>Paso de Parámetros por Dirección o Punteros </a:t>
            </a:r>
          </a:p>
          <a:p>
            <a:r>
              <a:rPr lang="es-EC" sz="2400" dirty="0"/>
              <a:t>Función </a:t>
            </a:r>
            <a:r>
              <a:rPr lang="es-EC" sz="2400" dirty="0" err="1"/>
              <a:t>LeerDatos</a:t>
            </a:r>
            <a:r>
              <a:rPr lang="es-EC" sz="2400" dirty="0"/>
              <a:t>()</a:t>
            </a:r>
          </a:p>
          <a:p>
            <a:r>
              <a:rPr lang="es-EC" sz="2400" dirty="0"/>
              <a:t>Función </a:t>
            </a:r>
            <a:r>
              <a:rPr lang="es-EC" sz="2400" dirty="0" err="1"/>
              <a:t>ImprimirDatos</a:t>
            </a:r>
            <a:r>
              <a:rPr lang="es-EC" sz="2400" dirty="0"/>
              <a:t>()</a:t>
            </a:r>
          </a:p>
          <a:p>
            <a:r>
              <a:rPr lang="es-EC" dirty="0"/>
              <a:t>Función </a:t>
            </a:r>
            <a:r>
              <a:rPr lang="es-EC" dirty="0" err="1"/>
              <a:t>InvertirDatos</a:t>
            </a:r>
            <a:r>
              <a:rPr lang="es-EC" dirty="0"/>
              <a:t>() </a:t>
            </a:r>
          </a:p>
          <a:p>
            <a:r>
              <a:rPr lang="es-EC" dirty="0"/>
              <a:t>Aplicaciones de Funciones Matemáticas </a:t>
            </a:r>
            <a:endParaRPr lang="es-EC" sz="3200" dirty="0"/>
          </a:p>
          <a:p>
            <a:pPr marL="0" indent="0">
              <a:buNone/>
            </a:pPr>
            <a:endParaRPr lang="es-EC" dirty="0"/>
          </a:p>
        </p:txBody>
      </p:sp>
      <p:sp>
        <p:nvSpPr>
          <p:cNvPr id="5" name="4 Marcador de fecha"/>
          <p:cNvSpPr>
            <a:spLocks noGrp="1"/>
          </p:cNvSpPr>
          <p:nvPr>
            <p:ph type="dt" sz="half" idx="10"/>
          </p:nvPr>
        </p:nvSpPr>
        <p:spPr/>
        <p:txBody>
          <a:bodyPr/>
          <a:lstStyle/>
          <a:p>
            <a:fld id="{85E4E129-A937-4BEE-8A17-D7969DFE55C2}"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8</a:t>
            </a:fld>
            <a:endParaRPr lang="es-EC"/>
          </a:p>
        </p:txBody>
      </p:sp>
    </p:spTree>
    <p:extLst>
      <p:ext uri="{BB962C8B-B14F-4D97-AF65-F5344CB8AC3E}">
        <p14:creationId xmlns:p14="http://schemas.microsoft.com/office/powerpoint/2010/main" val="1342819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26529" y="1484784"/>
            <a:ext cx="7427168" cy="335062"/>
          </a:xfrm>
        </p:spPr>
        <p:txBody>
          <a:bodyPr/>
          <a:lstStyle/>
          <a:p>
            <a:r>
              <a:rPr lang="es-EC" sz="4000" b="1" dirty="0"/>
              <a:t>El Operador de Indirección (*)</a:t>
            </a:r>
            <a:br>
              <a:rPr lang="es-EC" sz="5400" b="1" dirty="0"/>
            </a:br>
            <a:endParaRPr lang="en-US" b="1" dirty="0"/>
          </a:p>
        </p:txBody>
      </p:sp>
      <p:sp>
        <p:nvSpPr>
          <p:cNvPr id="5" name="4 Marcador de contenido"/>
          <p:cNvSpPr>
            <a:spLocks noGrp="1"/>
          </p:cNvSpPr>
          <p:nvPr>
            <p:ph idx="1"/>
          </p:nvPr>
        </p:nvSpPr>
        <p:spPr>
          <a:xfrm>
            <a:off x="726529" y="1484783"/>
            <a:ext cx="8309967" cy="5236691"/>
          </a:xfrm>
        </p:spPr>
        <p:txBody>
          <a:bodyPr>
            <a:normAutofit lnSpcReduction="10000"/>
          </a:bodyPr>
          <a:lstStyle/>
          <a:p>
            <a:pPr marL="0" indent="0">
              <a:buNone/>
            </a:pPr>
            <a:r>
              <a:rPr lang="es-MX" sz="1800" dirty="0"/>
              <a:t>De acuerdo con (Davies, P., 1995), el operador de indirección (*) es un operador unario que, a más de ser utilizado como el operador de multiplicación, cumple con otras dos funciones muy importantes:</a:t>
            </a:r>
          </a:p>
          <a:p>
            <a:r>
              <a:rPr lang="es-MX" sz="1800" dirty="0"/>
              <a:t>Se utiliza para declarar o crear un puntero. Por ejemplo:</a:t>
            </a:r>
          </a:p>
          <a:p>
            <a:pPr marL="0" indent="0">
              <a:buNone/>
            </a:pPr>
            <a:endParaRPr lang="es-MX" sz="1800" dirty="0"/>
          </a:p>
          <a:p>
            <a:endParaRPr lang="es-MX" sz="1800" dirty="0"/>
          </a:p>
          <a:p>
            <a:r>
              <a:rPr lang="es-MX" sz="1800" dirty="0"/>
              <a:t>Se utiliza para devolver una expresión equivalente al valor contenido en la dirección apuntada por un puntero. Esta operación recibe el nombre de “</a:t>
            </a:r>
            <a:r>
              <a:rPr lang="es-MX" sz="1800" dirty="0" err="1"/>
              <a:t>desreferencia</a:t>
            </a:r>
            <a:r>
              <a:rPr lang="es-MX" sz="1800" dirty="0"/>
              <a:t>” ya que permite que un puntero pueda acceder y modificar el valor contenido actual de la variable apuntada por dicho puntero, por lo que se dice que el puntero está </a:t>
            </a:r>
            <a:r>
              <a:rPr lang="es-MX" sz="1800" dirty="0" err="1"/>
              <a:t>desreferenciado</a:t>
            </a:r>
            <a:r>
              <a:rPr lang="es-MX" sz="1800" dirty="0"/>
              <a:t>. Por ejemplo:</a:t>
            </a:r>
          </a:p>
          <a:p>
            <a:endParaRPr lang="es-MX" sz="1800" dirty="0"/>
          </a:p>
          <a:p>
            <a:endParaRPr lang="es-MX" sz="1800" dirty="0"/>
          </a:p>
          <a:p>
            <a:r>
              <a:rPr lang="es-MX" sz="1800" dirty="0"/>
              <a:t>En esta instrucción se asigna al contenido de lo que apunta el puntero '</a:t>
            </a:r>
            <a:r>
              <a:rPr lang="es-MX" sz="1800" dirty="0" err="1"/>
              <a:t>ptr</a:t>
            </a:r>
            <a:r>
              <a:rPr lang="es-MX" sz="1800" dirty="0"/>
              <a:t>' el valor de 70, utilizando el operador de indirección (*). Debido a que el puntero '</a:t>
            </a:r>
            <a:r>
              <a:rPr lang="es-MX" sz="1800" dirty="0" err="1"/>
              <a:t>ptr</a:t>
            </a:r>
            <a:r>
              <a:rPr lang="es-MX" sz="1800" dirty="0"/>
              <a:t>' apunta a una variable, puede modificar el contenido de esa variable, utilizando el operador de indirección (*).</a:t>
            </a:r>
            <a:endParaRPr lang="es-ES" sz="1800"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9</a:t>
            </a:fld>
            <a:endParaRPr lang="es-EC"/>
          </a:p>
        </p:txBody>
      </p:sp>
      <p:pic>
        <p:nvPicPr>
          <p:cNvPr id="8" name="Imagen 7">
            <a:extLst>
              <a:ext uri="{FF2B5EF4-FFF2-40B4-BE49-F238E27FC236}">
                <a16:creationId xmlns:a16="http://schemas.microsoft.com/office/drawing/2014/main" id="{BFDDD540-0940-404E-8E4F-D18388E42621}"/>
              </a:ext>
            </a:extLst>
          </p:cNvPr>
          <p:cNvPicPr>
            <a:picLocks noChangeAspect="1"/>
          </p:cNvPicPr>
          <p:nvPr/>
        </p:nvPicPr>
        <p:blipFill>
          <a:blip r:embed="rId2"/>
          <a:stretch>
            <a:fillRect/>
          </a:stretch>
        </p:blipFill>
        <p:spPr>
          <a:xfrm>
            <a:off x="1259632" y="2564904"/>
            <a:ext cx="962159" cy="648072"/>
          </a:xfrm>
          <a:prstGeom prst="rect">
            <a:avLst/>
          </a:prstGeom>
        </p:spPr>
      </p:pic>
      <p:pic>
        <p:nvPicPr>
          <p:cNvPr id="10" name="Imagen 9">
            <a:extLst>
              <a:ext uri="{FF2B5EF4-FFF2-40B4-BE49-F238E27FC236}">
                <a16:creationId xmlns:a16="http://schemas.microsoft.com/office/drawing/2014/main" id="{ECE3CA44-B5DD-4F25-9A49-4C96D4C798B5}"/>
              </a:ext>
            </a:extLst>
          </p:cNvPr>
          <p:cNvPicPr>
            <a:picLocks noChangeAspect="1"/>
          </p:cNvPicPr>
          <p:nvPr/>
        </p:nvPicPr>
        <p:blipFill>
          <a:blip r:embed="rId3"/>
          <a:stretch>
            <a:fillRect/>
          </a:stretch>
        </p:blipFill>
        <p:spPr>
          <a:xfrm>
            <a:off x="1088158" y="4723607"/>
            <a:ext cx="1133633" cy="505593"/>
          </a:xfrm>
          <a:prstGeom prst="rect">
            <a:avLst/>
          </a:prstGeom>
        </p:spPr>
      </p:pic>
    </p:spTree>
    <p:extLst>
      <p:ext uri="{BB962C8B-B14F-4D97-AF65-F5344CB8AC3E}">
        <p14:creationId xmlns:p14="http://schemas.microsoft.com/office/powerpoint/2010/main" val="156721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a:xfrm>
            <a:off x="457200" y="1612760"/>
            <a:ext cx="8229600" cy="4525963"/>
          </a:xfrm>
        </p:spPr>
        <p:txBody>
          <a:bodyPr>
            <a:normAutofit fontScale="92500" lnSpcReduction="20000"/>
          </a:bodyPr>
          <a:lstStyle/>
          <a:p>
            <a:pPr marL="0" indent="0">
              <a:buNone/>
            </a:pPr>
            <a:endParaRPr lang="es-EC" sz="2400" dirty="0"/>
          </a:p>
          <a:p>
            <a:r>
              <a:rPr lang="es-EC" sz="2400" dirty="0"/>
              <a:t>Punteros</a:t>
            </a:r>
          </a:p>
          <a:p>
            <a:r>
              <a:rPr lang="es-EC" sz="2400" dirty="0"/>
              <a:t>El Operador de Dirección (&amp;)</a:t>
            </a:r>
          </a:p>
          <a:p>
            <a:r>
              <a:rPr lang="es-EC" sz="2400" dirty="0"/>
              <a:t>El Operador de Indirección (*)</a:t>
            </a:r>
            <a:endParaRPr lang="es-EC" dirty="0"/>
          </a:p>
          <a:p>
            <a:r>
              <a:rPr lang="es-MX" sz="3900" b="1" dirty="0">
                <a:solidFill>
                  <a:srgbClr val="FF0000"/>
                </a:solidFill>
              </a:rPr>
              <a:t>El '</a:t>
            </a:r>
            <a:r>
              <a:rPr lang="es-MX" sz="3900" b="1" dirty="0" err="1">
                <a:solidFill>
                  <a:srgbClr val="FF0000"/>
                </a:solidFill>
              </a:rPr>
              <a:t>rvalue</a:t>
            </a:r>
            <a:r>
              <a:rPr lang="es-MX" sz="3900" b="1" dirty="0">
                <a:solidFill>
                  <a:srgbClr val="FF0000"/>
                </a:solidFill>
              </a:rPr>
              <a:t>' y el '</a:t>
            </a:r>
            <a:r>
              <a:rPr lang="es-MX" sz="3900" b="1" dirty="0" err="1">
                <a:solidFill>
                  <a:srgbClr val="FF0000"/>
                </a:solidFill>
              </a:rPr>
              <a:t>lvalue</a:t>
            </a:r>
            <a:r>
              <a:rPr lang="es-MX" sz="3900" b="1" dirty="0">
                <a:solidFill>
                  <a:srgbClr val="FF0000"/>
                </a:solidFill>
              </a:rPr>
              <a:t>' de una Variable y de un Puntero</a:t>
            </a:r>
          </a:p>
          <a:p>
            <a:r>
              <a:rPr lang="es-EC" sz="2400" dirty="0"/>
              <a:t>Problema 5.12</a:t>
            </a:r>
          </a:p>
          <a:p>
            <a:r>
              <a:rPr lang="es-MX" sz="2400" dirty="0"/>
              <a:t>Paso de Parámetros por Dirección o Punteros </a:t>
            </a:r>
          </a:p>
          <a:p>
            <a:r>
              <a:rPr lang="es-EC" sz="2400" dirty="0"/>
              <a:t>Función </a:t>
            </a:r>
            <a:r>
              <a:rPr lang="es-EC" sz="2400" dirty="0" err="1"/>
              <a:t>LeerDatos</a:t>
            </a:r>
            <a:r>
              <a:rPr lang="es-EC" sz="2400" dirty="0"/>
              <a:t>()</a:t>
            </a:r>
          </a:p>
          <a:p>
            <a:r>
              <a:rPr lang="es-EC" sz="2400" dirty="0"/>
              <a:t>Función </a:t>
            </a:r>
            <a:r>
              <a:rPr lang="es-EC" sz="2400" dirty="0" err="1"/>
              <a:t>ImprimirDatos</a:t>
            </a:r>
            <a:r>
              <a:rPr lang="es-EC" sz="2400" dirty="0"/>
              <a:t>()</a:t>
            </a:r>
          </a:p>
          <a:p>
            <a:r>
              <a:rPr lang="es-EC" dirty="0"/>
              <a:t>Función </a:t>
            </a:r>
            <a:r>
              <a:rPr lang="es-EC" dirty="0" err="1"/>
              <a:t>InvertirDatos</a:t>
            </a:r>
            <a:r>
              <a:rPr lang="es-EC" dirty="0"/>
              <a:t>() </a:t>
            </a:r>
          </a:p>
          <a:p>
            <a:r>
              <a:rPr lang="es-EC" dirty="0"/>
              <a:t>Aplicaciones de Funciones Matemáticas </a:t>
            </a:r>
            <a:endParaRPr lang="es-EC" sz="3200" dirty="0"/>
          </a:p>
          <a:p>
            <a:pPr marL="0" indent="0">
              <a:buNone/>
            </a:pPr>
            <a:endParaRPr lang="es-EC" dirty="0"/>
          </a:p>
        </p:txBody>
      </p:sp>
      <p:sp>
        <p:nvSpPr>
          <p:cNvPr id="5" name="4 Marcador de fecha"/>
          <p:cNvSpPr>
            <a:spLocks noGrp="1"/>
          </p:cNvSpPr>
          <p:nvPr>
            <p:ph type="dt" sz="half" idx="10"/>
          </p:nvPr>
        </p:nvSpPr>
        <p:spPr/>
        <p:txBody>
          <a:bodyPr/>
          <a:lstStyle/>
          <a:p>
            <a:fld id="{85E4E129-A937-4BEE-8A17-D7969DFE55C2}"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10</a:t>
            </a:fld>
            <a:endParaRPr lang="es-EC"/>
          </a:p>
        </p:txBody>
      </p:sp>
    </p:spTree>
    <p:extLst>
      <p:ext uri="{BB962C8B-B14F-4D97-AF65-F5344CB8AC3E}">
        <p14:creationId xmlns:p14="http://schemas.microsoft.com/office/powerpoint/2010/main" val="991382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965042" y="2636912"/>
            <a:ext cx="7427168" cy="335062"/>
          </a:xfrm>
        </p:spPr>
        <p:txBody>
          <a:bodyPr/>
          <a:lstStyle/>
          <a:p>
            <a:r>
              <a:rPr lang="es-MX" sz="4000" b="1" dirty="0"/>
              <a:t>El '</a:t>
            </a:r>
            <a:r>
              <a:rPr lang="es-MX" sz="4000" b="1" dirty="0" err="1"/>
              <a:t>rvalue</a:t>
            </a:r>
            <a:r>
              <a:rPr lang="es-MX" sz="4000" b="1" dirty="0"/>
              <a:t>' y el '</a:t>
            </a:r>
            <a:r>
              <a:rPr lang="es-MX" sz="4000" b="1" dirty="0" err="1"/>
              <a:t>lvalue</a:t>
            </a:r>
            <a:r>
              <a:rPr lang="es-MX" sz="4000" b="1" dirty="0"/>
              <a:t>' de una Variable y de un Puntero</a:t>
            </a:r>
            <a:br>
              <a:rPr lang="es-MX" sz="4000" b="1" dirty="0"/>
            </a:br>
            <a:br>
              <a:rPr lang="es-EC" sz="5400" b="1" dirty="0"/>
            </a:br>
            <a:endParaRPr lang="en-US" b="1" dirty="0"/>
          </a:p>
        </p:txBody>
      </p:sp>
      <p:sp>
        <p:nvSpPr>
          <p:cNvPr id="5" name="4 Marcador de contenido"/>
          <p:cNvSpPr>
            <a:spLocks noGrp="1"/>
          </p:cNvSpPr>
          <p:nvPr>
            <p:ph idx="1"/>
          </p:nvPr>
        </p:nvSpPr>
        <p:spPr>
          <a:xfrm>
            <a:off x="726529" y="1484783"/>
            <a:ext cx="8309967" cy="5236691"/>
          </a:xfrm>
        </p:spPr>
        <p:txBody>
          <a:bodyPr>
            <a:normAutofit/>
          </a:bodyPr>
          <a:lstStyle/>
          <a:p>
            <a:pPr marL="0" indent="0">
              <a:buNone/>
            </a:pPr>
            <a:r>
              <a:rPr lang="es-MX" sz="1800" dirty="0"/>
              <a:t>De acuerdo con (Davies, P., 1995), cuando en el lenguaje C/C++ se trabajan con variables y punteros se puede hablar del '</a:t>
            </a:r>
            <a:r>
              <a:rPr lang="es-MX" sz="1800" dirty="0" err="1"/>
              <a:t>rvalue</a:t>
            </a:r>
            <a:r>
              <a:rPr lang="es-MX" sz="1800" dirty="0"/>
              <a:t>' y del '</a:t>
            </a:r>
            <a:r>
              <a:rPr lang="es-MX" sz="1800" dirty="0" err="1"/>
              <a:t>lvalue</a:t>
            </a:r>
            <a:r>
              <a:rPr lang="es-MX" sz="1800" dirty="0"/>
              <a:t>' de una variable. </a:t>
            </a:r>
          </a:p>
          <a:p>
            <a:pPr marL="0" indent="0">
              <a:buNone/>
            </a:pPr>
            <a:endParaRPr lang="es-MX" sz="1800" dirty="0"/>
          </a:p>
          <a:p>
            <a:pPr>
              <a:buAutoNum type="alphaLcPeriod"/>
            </a:pPr>
            <a:r>
              <a:rPr lang="es-MX" sz="1800" dirty="0"/>
              <a:t>El '</a:t>
            </a:r>
            <a:r>
              <a:rPr lang="es-MX" sz="1800" dirty="0" err="1"/>
              <a:t>lvalue</a:t>
            </a:r>
            <a:r>
              <a:rPr lang="es-MX" sz="1800" dirty="0"/>
              <a:t>' de una variable es la dirección de memoria (localidad) donde la variable está almacenada. </a:t>
            </a:r>
          </a:p>
          <a:p>
            <a:pPr>
              <a:buAutoNum type="alphaLcPeriod"/>
            </a:pPr>
            <a:r>
              <a:rPr lang="es-MX" sz="1800" dirty="0"/>
              <a:t>El '</a:t>
            </a:r>
            <a:r>
              <a:rPr lang="es-MX" sz="1800" dirty="0" err="1"/>
              <a:t>rvalue</a:t>
            </a:r>
            <a:r>
              <a:rPr lang="es-MX" sz="1800" dirty="0"/>
              <a:t>' de una variable es el dato (contenido real) que la variable tiene. En otras palabras, es el valor de la variable. </a:t>
            </a:r>
          </a:p>
          <a:p>
            <a:pPr marL="0" indent="0">
              <a:buNone/>
            </a:pPr>
            <a:endParaRPr lang="es-MX" sz="1800" dirty="0"/>
          </a:p>
          <a:p>
            <a:pPr marL="0" indent="0">
              <a:buNone/>
            </a:pPr>
            <a:r>
              <a:rPr lang="es-MX" sz="1800" dirty="0"/>
              <a:t>Como se habló en la sección 1.4. la dirección de memoria donde se ubica una variable se representa en formato hexadecimal (</a:t>
            </a:r>
            <a:r>
              <a:rPr lang="es-MX" sz="1800" dirty="0" err="1"/>
              <a:t>hex</a:t>
            </a:r>
            <a:r>
              <a:rPr lang="es-MX" sz="1800" dirty="0"/>
              <a:t>). Por cuestiones didácticas vamos a utilizar valores en formato decimal (</a:t>
            </a:r>
            <a:r>
              <a:rPr lang="es-MX" sz="1800" dirty="0" err="1"/>
              <a:t>dec</a:t>
            </a:r>
            <a:r>
              <a:rPr lang="es-MX" sz="1800" dirty="0"/>
              <a:t>) para representar las direcciones de memoria de las variables. </a:t>
            </a:r>
          </a:p>
          <a:p>
            <a:pPr marL="0" indent="0">
              <a:buNone/>
            </a:pPr>
            <a:r>
              <a:rPr lang="es-MX" sz="1800" dirty="0"/>
              <a:t>Considerando las siguientes dos instrucciones explicadas anteriormente, vamos a analizar el '</a:t>
            </a:r>
            <a:r>
              <a:rPr lang="es-MX" sz="1800" dirty="0" err="1"/>
              <a:t>rvalue</a:t>
            </a:r>
            <a:r>
              <a:rPr lang="es-MX" sz="1800" dirty="0"/>
              <a:t>' y el '</a:t>
            </a:r>
            <a:r>
              <a:rPr lang="es-MX" sz="1800" dirty="0" err="1"/>
              <a:t>lvalue</a:t>
            </a:r>
            <a:r>
              <a:rPr lang="es-MX" sz="1800" dirty="0"/>
              <a:t>' de cada una de las variables:</a:t>
            </a:r>
          </a:p>
          <a:p>
            <a:pPr marL="0" indent="0">
              <a:buNone/>
            </a:pPr>
            <a:endParaRPr lang="es-MX" sz="1400" dirty="0"/>
          </a:p>
          <a:p>
            <a:pPr marL="0" indent="0">
              <a:buNone/>
            </a:pPr>
            <a:r>
              <a:rPr lang="es-MX" sz="1400" dirty="0"/>
              <a:t> </a:t>
            </a:r>
            <a:endParaRPr lang="es-ES" sz="1800"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11</a:t>
            </a:fld>
            <a:endParaRPr lang="es-EC"/>
          </a:p>
        </p:txBody>
      </p:sp>
      <p:pic>
        <p:nvPicPr>
          <p:cNvPr id="11" name="Imagen 10">
            <a:extLst>
              <a:ext uri="{FF2B5EF4-FFF2-40B4-BE49-F238E27FC236}">
                <a16:creationId xmlns:a16="http://schemas.microsoft.com/office/drawing/2014/main" id="{01ECD862-AC01-4E2B-BC74-E2F640310900}"/>
              </a:ext>
            </a:extLst>
          </p:cNvPr>
          <p:cNvPicPr>
            <a:picLocks noChangeAspect="1"/>
          </p:cNvPicPr>
          <p:nvPr/>
        </p:nvPicPr>
        <p:blipFill>
          <a:blip r:embed="rId2"/>
          <a:stretch>
            <a:fillRect/>
          </a:stretch>
        </p:blipFill>
        <p:spPr>
          <a:xfrm>
            <a:off x="2787595" y="6031674"/>
            <a:ext cx="1514686" cy="649352"/>
          </a:xfrm>
          <a:prstGeom prst="rect">
            <a:avLst/>
          </a:prstGeom>
        </p:spPr>
      </p:pic>
    </p:spTree>
    <p:extLst>
      <p:ext uri="{BB962C8B-B14F-4D97-AF65-F5344CB8AC3E}">
        <p14:creationId xmlns:p14="http://schemas.microsoft.com/office/powerpoint/2010/main" val="673247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920134" y="1077714"/>
            <a:ext cx="7427168" cy="335062"/>
          </a:xfrm>
        </p:spPr>
        <p:txBody>
          <a:bodyPr/>
          <a:lstStyle/>
          <a:p>
            <a:r>
              <a:rPr lang="es-MX" sz="3600" b="1" dirty="0"/>
              <a:t>El '</a:t>
            </a:r>
            <a:r>
              <a:rPr lang="es-MX" sz="3600" b="1" dirty="0" err="1"/>
              <a:t>rvalue</a:t>
            </a:r>
            <a:r>
              <a:rPr lang="es-MX" sz="3600" b="1" dirty="0"/>
              <a:t>' y el '</a:t>
            </a:r>
            <a:r>
              <a:rPr lang="es-MX" sz="3600" b="1" dirty="0" err="1"/>
              <a:t>lvalue</a:t>
            </a:r>
            <a:r>
              <a:rPr lang="es-MX" sz="3600" b="1" dirty="0"/>
              <a:t>' de una Variable y de un Puntero</a:t>
            </a:r>
            <a:endParaRPr lang="en-US" sz="3600" b="1" dirty="0"/>
          </a:p>
        </p:txBody>
      </p:sp>
      <p:sp>
        <p:nvSpPr>
          <p:cNvPr id="5" name="4 Marcador de contenido"/>
          <p:cNvSpPr>
            <a:spLocks noGrp="1"/>
          </p:cNvSpPr>
          <p:nvPr>
            <p:ph idx="1"/>
          </p:nvPr>
        </p:nvSpPr>
        <p:spPr>
          <a:xfrm>
            <a:off x="795286" y="1412776"/>
            <a:ext cx="8309967" cy="5236691"/>
          </a:xfrm>
        </p:spPr>
        <p:txBody>
          <a:bodyPr>
            <a:normAutofit/>
          </a:bodyPr>
          <a:lstStyle/>
          <a:p>
            <a:pPr marL="0" indent="0">
              <a:buNone/>
            </a:pPr>
            <a:r>
              <a:rPr lang="es-MX" sz="1800" dirty="0"/>
              <a:t>▪ La variable ‘c’ tiene un </a:t>
            </a:r>
            <a:r>
              <a:rPr lang="es-MX" sz="1800" dirty="0" err="1"/>
              <a:t>rvalue</a:t>
            </a:r>
            <a:r>
              <a:rPr lang="es-MX" sz="1800" dirty="0"/>
              <a:t> igual a 7 y reside en la dirección de memoria o </a:t>
            </a:r>
            <a:r>
              <a:rPr lang="es-MX" sz="1800" dirty="0" err="1"/>
              <a:t>lvalue</a:t>
            </a:r>
            <a:r>
              <a:rPr lang="es-MX" sz="1800" dirty="0"/>
              <a:t> igual a </a:t>
            </a:r>
            <a:r>
              <a:rPr lang="es-MX" sz="1800" dirty="0" err="1"/>
              <a:t>hex</a:t>
            </a:r>
            <a:r>
              <a:rPr lang="es-MX" sz="1800" dirty="0"/>
              <a:t> 1000.</a:t>
            </a:r>
          </a:p>
          <a:p>
            <a:pPr marL="0" indent="0">
              <a:buNone/>
            </a:pPr>
            <a:r>
              <a:rPr lang="es-MX" sz="1800" dirty="0"/>
              <a:t> ▪ El puntero ‘</a:t>
            </a:r>
            <a:r>
              <a:rPr lang="es-MX" sz="1800" dirty="0" err="1"/>
              <a:t>ptr</a:t>
            </a:r>
            <a:r>
              <a:rPr lang="es-MX" sz="1800" dirty="0"/>
              <a:t>’ reside en la dirección de memoria o </a:t>
            </a:r>
            <a:r>
              <a:rPr lang="es-MX" sz="1800" dirty="0" err="1"/>
              <a:t>lvalue</a:t>
            </a:r>
            <a:r>
              <a:rPr lang="es-MX" sz="1800" dirty="0"/>
              <a:t> igual a </a:t>
            </a:r>
            <a:r>
              <a:rPr lang="es-MX" sz="1800" dirty="0" err="1"/>
              <a:t>hex</a:t>
            </a:r>
            <a:r>
              <a:rPr lang="es-MX" sz="1800" dirty="0"/>
              <a:t> 3000 y en su </a:t>
            </a:r>
            <a:r>
              <a:rPr lang="es-MX" sz="1800" dirty="0" err="1"/>
              <a:t>rvalue</a:t>
            </a:r>
            <a:r>
              <a:rPr lang="es-MX" sz="1800" dirty="0"/>
              <a:t> tiene asignado la dirección de memoria de la variable ‘c’ que es igual a </a:t>
            </a:r>
            <a:r>
              <a:rPr lang="es-MX" sz="1800" dirty="0" err="1"/>
              <a:t>hex</a:t>
            </a:r>
            <a:r>
              <a:rPr lang="es-MX" sz="1800" dirty="0"/>
              <a:t> 1000. A continuación, se presenta en la Figura 5.5. el diagrama de bloques de los valores reales (</a:t>
            </a:r>
            <a:r>
              <a:rPr lang="es-MX" sz="1800" dirty="0" err="1"/>
              <a:t>rvalues</a:t>
            </a:r>
            <a:r>
              <a:rPr lang="es-MX" sz="1800" dirty="0"/>
              <a:t>) y de las localidades de la memoria (</a:t>
            </a:r>
            <a:r>
              <a:rPr lang="es-MX" sz="1800" dirty="0" err="1"/>
              <a:t>lvalues</a:t>
            </a:r>
            <a:r>
              <a:rPr lang="es-MX" sz="1800" dirty="0"/>
              <a:t>) de la variable ‘c’ y del puntero ‘</a:t>
            </a:r>
            <a:r>
              <a:rPr lang="es-MX" sz="1800" dirty="0" err="1"/>
              <a:t>ptr</a:t>
            </a:r>
            <a:r>
              <a:rPr lang="es-MX" sz="1800" dirty="0"/>
              <a:t>’.</a:t>
            </a:r>
            <a:endParaRPr lang="es-MX" dirty="0"/>
          </a:p>
          <a:p>
            <a:pPr marL="0" indent="0">
              <a:buNone/>
            </a:pPr>
            <a:r>
              <a:rPr lang="es-MX" dirty="0"/>
              <a:t> </a:t>
            </a:r>
            <a:endParaRPr lang="es-ES" sz="3200"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12</a:t>
            </a:fld>
            <a:endParaRPr lang="es-EC"/>
          </a:p>
        </p:txBody>
      </p:sp>
      <p:pic>
        <p:nvPicPr>
          <p:cNvPr id="7" name="Imagen 6">
            <a:extLst>
              <a:ext uri="{FF2B5EF4-FFF2-40B4-BE49-F238E27FC236}">
                <a16:creationId xmlns:a16="http://schemas.microsoft.com/office/drawing/2014/main" id="{A90692AC-CA17-4CA0-9597-2AA3621F2F33}"/>
              </a:ext>
            </a:extLst>
          </p:cNvPr>
          <p:cNvPicPr>
            <a:picLocks noChangeAspect="1"/>
          </p:cNvPicPr>
          <p:nvPr/>
        </p:nvPicPr>
        <p:blipFill>
          <a:blip r:embed="rId3"/>
          <a:stretch>
            <a:fillRect/>
          </a:stretch>
        </p:blipFill>
        <p:spPr>
          <a:xfrm>
            <a:off x="1113740" y="3806418"/>
            <a:ext cx="7039957" cy="1943371"/>
          </a:xfrm>
          <a:prstGeom prst="rect">
            <a:avLst/>
          </a:prstGeom>
        </p:spPr>
      </p:pic>
      <p:sp>
        <p:nvSpPr>
          <p:cNvPr id="12" name="CuadroTexto 11">
            <a:extLst>
              <a:ext uri="{FF2B5EF4-FFF2-40B4-BE49-F238E27FC236}">
                <a16:creationId xmlns:a16="http://schemas.microsoft.com/office/drawing/2014/main" id="{720C07BF-182A-467C-9CDF-EC5FEFD5AF46}"/>
              </a:ext>
            </a:extLst>
          </p:cNvPr>
          <p:cNvSpPr txBox="1"/>
          <p:nvPr/>
        </p:nvSpPr>
        <p:spPr>
          <a:xfrm>
            <a:off x="1763688" y="5912466"/>
            <a:ext cx="5052749" cy="830997"/>
          </a:xfrm>
          <a:prstGeom prst="rect">
            <a:avLst/>
          </a:prstGeom>
          <a:noFill/>
        </p:spPr>
        <p:txBody>
          <a:bodyPr wrap="square">
            <a:spAutoFit/>
          </a:bodyPr>
          <a:lstStyle/>
          <a:p>
            <a:pPr algn="just"/>
            <a:r>
              <a:rPr lang="es-ES" sz="1200" b="1" dirty="0">
                <a:solidFill>
                  <a:schemeClr val="tx1">
                    <a:lumMod val="50000"/>
                    <a:lumOff val="50000"/>
                  </a:schemeClr>
                </a:solidFill>
                <a:latin typeface="+mj-lt"/>
              </a:rPr>
              <a:t>Figura 5.5 </a:t>
            </a:r>
            <a:r>
              <a:rPr lang="es-MX" sz="1200" dirty="0">
                <a:solidFill>
                  <a:schemeClr val="tx1">
                    <a:lumMod val="50000"/>
                    <a:lumOff val="50000"/>
                  </a:schemeClr>
                </a:solidFill>
                <a:latin typeface="+mj-lt"/>
              </a:rPr>
              <a:t>Diagrama de Bloques de los '</a:t>
            </a:r>
            <a:r>
              <a:rPr lang="es-MX" sz="1200" dirty="0" err="1">
                <a:solidFill>
                  <a:schemeClr val="tx1">
                    <a:lumMod val="50000"/>
                    <a:lumOff val="50000"/>
                  </a:schemeClr>
                </a:solidFill>
                <a:latin typeface="+mj-lt"/>
              </a:rPr>
              <a:t>rvalue</a:t>
            </a:r>
            <a:r>
              <a:rPr lang="es-MX" sz="1200" dirty="0">
                <a:solidFill>
                  <a:schemeClr val="tx1">
                    <a:lumMod val="50000"/>
                    <a:lumOff val="50000"/>
                  </a:schemeClr>
                </a:solidFill>
                <a:latin typeface="+mj-lt"/>
              </a:rPr>
              <a:t>' y '</a:t>
            </a:r>
            <a:r>
              <a:rPr lang="es-MX" sz="1200" dirty="0" err="1">
                <a:solidFill>
                  <a:schemeClr val="tx1">
                    <a:lumMod val="50000"/>
                    <a:lumOff val="50000"/>
                  </a:schemeClr>
                </a:solidFill>
                <a:latin typeface="+mj-lt"/>
              </a:rPr>
              <a:t>lvalue</a:t>
            </a:r>
            <a:r>
              <a:rPr lang="es-MX" sz="1200" dirty="0">
                <a:solidFill>
                  <a:schemeClr val="tx1">
                    <a:lumMod val="50000"/>
                    <a:lumOff val="50000"/>
                  </a:schemeClr>
                </a:solidFill>
                <a:latin typeface="+mj-lt"/>
              </a:rPr>
              <a:t>' de las variables.</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2690349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58416" y="1700808"/>
            <a:ext cx="7427168" cy="335062"/>
          </a:xfrm>
        </p:spPr>
        <p:txBody>
          <a:bodyPr/>
          <a:lstStyle/>
          <a:p>
            <a:r>
              <a:rPr lang="es-MX" sz="3200" b="1" dirty="0"/>
              <a:t>El '</a:t>
            </a:r>
            <a:r>
              <a:rPr lang="es-MX" sz="3200" b="1" dirty="0" err="1"/>
              <a:t>rvalue</a:t>
            </a:r>
            <a:r>
              <a:rPr lang="es-MX" sz="3200" b="1" dirty="0"/>
              <a:t>' y el '</a:t>
            </a:r>
            <a:r>
              <a:rPr lang="es-MX" sz="3200" b="1" dirty="0" err="1"/>
              <a:t>lvalue</a:t>
            </a:r>
            <a:r>
              <a:rPr lang="es-MX" sz="3200" b="1" dirty="0"/>
              <a:t>' de una Variable y de un Puntero</a:t>
            </a:r>
            <a:br>
              <a:rPr lang="es-EC" sz="4800" b="1" dirty="0"/>
            </a:br>
            <a:endParaRPr lang="en-US" sz="4800" b="1" dirty="0"/>
          </a:p>
        </p:txBody>
      </p:sp>
      <p:sp>
        <p:nvSpPr>
          <p:cNvPr id="5" name="4 Marcador de contenido"/>
          <p:cNvSpPr>
            <a:spLocks noGrp="1"/>
          </p:cNvSpPr>
          <p:nvPr>
            <p:ph idx="1"/>
          </p:nvPr>
        </p:nvSpPr>
        <p:spPr>
          <a:xfrm>
            <a:off x="726529" y="1124745"/>
            <a:ext cx="8309967" cy="5596730"/>
          </a:xfrm>
        </p:spPr>
        <p:txBody>
          <a:bodyPr>
            <a:normAutofit/>
          </a:bodyPr>
          <a:lstStyle/>
          <a:p>
            <a:pPr marL="0" indent="0">
              <a:buNone/>
            </a:pPr>
            <a:r>
              <a:rPr lang="es-MX" sz="1800" dirty="0"/>
              <a:t>En la Figura 5.6. se presenta el mapa de la memoria RAM de la variable ‘c’ y del puntero ‘</a:t>
            </a:r>
            <a:r>
              <a:rPr lang="es-MX" sz="1800" dirty="0" err="1"/>
              <a:t>ptr</a:t>
            </a:r>
            <a:r>
              <a:rPr lang="es-MX" sz="1800" dirty="0"/>
              <a:t>’ </a:t>
            </a:r>
          </a:p>
          <a:p>
            <a:pPr marL="0" indent="0">
              <a:buNone/>
            </a:pPr>
            <a:endParaRPr lang="es-MX" sz="1800" dirty="0"/>
          </a:p>
          <a:p>
            <a:pPr marL="0" indent="0">
              <a:buNone/>
            </a:pPr>
            <a:endParaRPr lang="es-MX" sz="1800" dirty="0"/>
          </a:p>
          <a:p>
            <a:pPr marL="0" indent="0">
              <a:buNone/>
            </a:pPr>
            <a:endParaRPr lang="es-MX" sz="1800" dirty="0"/>
          </a:p>
          <a:p>
            <a:pPr marL="0" indent="0">
              <a:buNone/>
            </a:pPr>
            <a:endParaRPr lang="es-MX" sz="1800" dirty="0"/>
          </a:p>
          <a:p>
            <a:pPr marL="0" indent="0">
              <a:buNone/>
            </a:pPr>
            <a:endParaRPr lang="es-MX" sz="1800" dirty="0"/>
          </a:p>
          <a:p>
            <a:pPr marL="0" indent="0">
              <a:buNone/>
            </a:pPr>
            <a:endParaRPr lang="es-MX" sz="1800" dirty="0"/>
          </a:p>
          <a:p>
            <a:pPr marL="0" indent="0">
              <a:buNone/>
            </a:pPr>
            <a:endParaRPr lang="es-MX" sz="1800" dirty="0"/>
          </a:p>
          <a:p>
            <a:pPr marL="0" indent="0">
              <a:buNone/>
            </a:pPr>
            <a:r>
              <a:rPr lang="es-MX" sz="1800" dirty="0"/>
              <a:t>Como se puede ver en el mapa de la memoria RAM la variable ‘c’ de tipo entero ocupa 2 bytes de memoria desde la dirección 1000 a la dirección 1002. El puntero ‘</a:t>
            </a:r>
            <a:r>
              <a:rPr lang="es-MX" sz="1800" dirty="0" err="1"/>
              <a:t>ptr</a:t>
            </a:r>
            <a:r>
              <a:rPr lang="es-MX" sz="1800" dirty="0"/>
              <a:t>’ en cambio ocupa 4 bytes de memoria desde la dirección 3000 a la dirección 3004 y apunta a la variable ‘c’. El número de bytes que necesita una variable de tipo puntero (apuntador) no depende del tipo de dato al que apunta, por lo que un puntero siempre necesitará 4 bytes de memoria en plataformas de 32 bits, en cambio en plataformas de 6</a:t>
            </a:r>
            <a:endParaRPr lang="es-ES" sz="1800"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13</a:t>
            </a:fld>
            <a:endParaRPr lang="es-EC"/>
          </a:p>
        </p:txBody>
      </p:sp>
      <p:sp>
        <p:nvSpPr>
          <p:cNvPr id="12" name="CuadroTexto 11">
            <a:extLst>
              <a:ext uri="{FF2B5EF4-FFF2-40B4-BE49-F238E27FC236}">
                <a16:creationId xmlns:a16="http://schemas.microsoft.com/office/drawing/2014/main" id="{720C07BF-182A-467C-9CDF-EC5FEFD5AF46}"/>
              </a:ext>
            </a:extLst>
          </p:cNvPr>
          <p:cNvSpPr txBox="1"/>
          <p:nvPr/>
        </p:nvSpPr>
        <p:spPr>
          <a:xfrm>
            <a:off x="2699792" y="3663906"/>
            <a:ext cx="5052749" cy="646331"/>
          </a:xfrm>
          <a:prstGeom prst="rect">
            <a:avLst/>
          </a:prstGeom>
          <a:noFill/>
        </p:spPr>
        <p:txBody>
          <a:bodyPr wrap="square">
            <a:spAutoFit/>
          </a:bodyPr>
          <a:lstStyle/>
          <a:p>
            <a:pPr algn="just"/>
            <a:r>
              <a:rPr lang="es-ES" sz="1200" dirty="0">
                <a:solidFill>
                  <a:schemeClr val="tx1">
                    <a:lumMod val="50000"/>
                    <a:lumOff val="50000"/>
                  </a:schemeClr>
                </a:solidFill>
                <a:latin typeface="+mj-lt"/>
              </a:rPr>
              <a:t>Figura 5.6 </a:t>
            </a:r>
            <a:r>
              <a:rPr lang="es-MX" sz="1200" dirty="0">
                <a:solidFill>
                  <a:schemeClr val="tx1">
                    <a:lumMod val="50000"/>
                    <a:lumOff val="50000"/>
                  </a:schemeClr>
                </a:solidFill>
                <a:latin typeface="+mj-lt"/>
              </a:rPr>
              <a:t>M</a:t>
            </a:r>
            <a:r>
              <a:rPr lang="es-EC" sz="1200" dirty="0">
                <a:solidFill>
                  <a:schemeClr val="tx1">
                    <a:lumMod val="50000"/>
                    <a:lumOff val="50000"/>
                  </a:schemeClr>
                </a:solidFill>
                <a:latin typeface="+mj-lt"/>
              </a:rPr>
              <a:t>apa de la memoria RAM. </a:t>
            </a:r>
            <a:r>
              <a:rPr lang="es-ES_tradnl" sz="1200" dirty="0">
                <a:solidFill>
                  <a:schemeClr val="tx1">
                    <a:lumMod val="50000"/>
                    <a:lumOff val="50000"/>
                  </a:schemeClr>
                </a:solidFill>
                <a:latin typeface="+mj-lt"/>
              </a:rPr>
              <a:t>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pic>
        <p:nvPicPr>
          <p:cNvPr id="8" name="Imagen 7">
            <a:extLst>
              <a:ext uri="{FF2B5EF4-FFF2-40B4-BE49-F238E27FC236}">
                <a16:creationId xmlns:a16="http://schemas.microsoft.com/office/drawing/2014/main" id="{69DC6E31-1210-47BE-8ACB-B21A2EACA462}"/>
              </a:ext>
            </a:extLst>
          </p:cNvPr>
          <p:cNvPicPr>
            <a:picLocks noChangeAspect="1"/>
          </p:cNvPicPr>
          <p:nvPr/>
        </p:nvPicPr>
        <p:blipFill>
          <a:blip r:embed="rId3"/>
          <a:stretch>
            <a:fillRect/>
          </a:stretch>
        </p:blipFill>
        <p:spPr>
          <a:xfrm>
            <a:off x="3244649" y="1494225"/>
            <a:ext cx="4234735" cy="2160240"/>
          </a:xfrm>
          <a:prstGeom prst="rect">
            <a:avLst/>
          </a:prstGeom>
        </p:spPr>
      </p:pic>
    </p:spTree>
    <p:extLst>
      <p:ext uri="{BB962C8B-B14F-4D97-AF65-F5344CB8AC3E}">
        <p14:creationId xmlns:p14="http://schemas.microsoft.com/office/powerpoint/2010/main" val="19919196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a:xfrm>
            <a:off x="457200" y="1612760"/>
            <a:ext cx="8229600" cy="4525963"/>
          </a:xfrm>
        </p:spPr>
        <p:txBody>
          <a:bodyPr>
            <a:normAutofit fontScale="92500" lnSpcReduction="10000"/>
          </a:bodyPr>
          <a:lstStyle/>
          <a:p>
            <a:pPr marL="0" indent="0">
              <a:buNone/>
            </a:pPr>
            <a:endParaRPr lang="es-EC" sz="2400" dirty="0"/>
          </a:p>
          <a:p>
            <a:r>
              <a:rPr lang="es-EC" sz="2400" dirty="0"/>
              <a:t>Punteros</a:t>
            </a:r>
          </a:p>
          <a:p>
            <a:r>
              <a:rPr lang="es-EC" sz="2400" dirty="0"/>
              <a:t>El Operador de Dirección (&amp;)</a:t>
            </a:r>
          </a:p>
          <a:p>
            <a:r>
              <a:rPr lang="es-EC" sz="2400" dirty="0"/>
              <a:t>El Operador de Indirección (*)</a:t>
            </a:r>
            <a:endParaRPr lang="es-EC" dirty="0"/>
          </a:p>
          <a:p>
            <a:r>
              <a:rPr lang="es-MX" sz="2400" dirty="0"/>
              <a:t>El '</a:t>
            </a:r>
            <a:r>
              <a:rPr lang="es-MX" sz="2400" dirty="0" err="1"/>
              <a:t>rvalue</a:t>
            </a:r>
            <a:r>
              <a:rPr lang="es-MX" sz="2400" dirty="0"/>
              <a:t>' y el '</a:t>
            </a:r>
            <a:r>
              <a:rPr lang="es-MX" sz="2400" dirty="0" err="1"/>
              <a:t>lvalue</a:t>
            </a:r>
            <a:r>
              <a:rPr lang="es-MX" sz="2400" dirty="0"/>
              <a:t>' de una Variable y de un Puntero</a:t>
            </a:r>
          </a:p>
          <a:p>
            <a:r>
              <a:rPr lang="es-EC" sz="3900" b="1" dirty="0">
                <a:solidFill>
                  <a:srgbClr val="FF0000"/>
                </a:solidFill>
              </a:rPr>
              <a:t>Problema 5.12</a:t>
            </a:r>
          </a:p>
          <a:p>
            <a:r>
              <a:rPr lang="es-MX" sz="2400" dirty="0"/>
              <a:t>Paso de Parámetros por Dirección o Punteros </a:t>
            </a:r>
          </a:p>
          <a:p>
            <a:r>
              <a:rPr lang="es-EC" sz="2400" dirty="0"/>
              <a:t>Función </a:t>
            </a:r>
            <a:r>
              <a:rPr lang="es-EC" sz="2400" dirty="0" err="1"/>
              <a:t>LeerDatos</a:t>
            </a:r>
            <a:r>
              <a:rPr lang="es-EC" sz="2400" dirty="0"/>
              <a:t>()</a:t>
            </a:r>
          </a:p>
          <a:p>
            <a:r>
              <a:rPr lang="es-EC" sz="2400" dirty="0"/>
              <a:t>Función </a:t>
            </a:r>
            <a:r>
              <a:rPr lang="es-EC" sz="2400" dirty="0" err="1"/>
              <a:t>ImprimirDatos</a:t>
            </a:r>
            <a:r>
              <a:rPr lang="es-EC" sz="2400" dirty="0"/>
              <a:t>()</a:t>
            </a:r>
          </a:p>
          <a:p>
            <a:r>
              <a:rPr lang="es-EC" dirty="0"/>
              <a:t>Función </a:t>
            </a:r>
            <a:r>
              <a:rPr lang="es-EC" dirty="0" err="1"/>
              <a:t>InvertirDatos</a:t>
            </a:r>
            <a:r>
              <a:rPr lang="es-EC" dirty="0"/>
              <a:t>() </a:t>
            </a:r>
          </a:p>
          <a:p>
            <a:r>
              <a:rPr lang="es-EC" dirty="0"/>
              <a:t>Aplicaciones de Funciones Matemáticas </a:t>
            </a:r>
            <a:endParaRPr lang="es-EC" sz="3200" dirty="0"/>
          </a:p>
          <a:p>
            <a:pPr marL="0" indent="0">
              <a:buNone/>
            </a:pPr>
            <a:endParaRPr lang="es-EC" dirty="0"/>
          </a:p>
        </p:txBody>
      </p:sp>
      <p:sp>
        <p:nvSpPr>
          <p:cNvPr id="5" name="4 Marcador de fecha"/>
          <p:cNvSpPr>
            <a:spLocks noGrp="1"/>
          </p:cNvSpPr>
          <p:nvPr>
            <p:ph type="dt" sz="half" idx="10"/>
          </p:nvPr>
        </p:nvSpPr>
        <p:spPr/>
        <p:txBody>
          <a:bodyPr/>
          <a:lstStyle/>
          <a:p>
            <a:fld id="{85E4E129-A937-4BEE-8A17-D7969DFE55C2}"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14</a:t>
            </a:fld>
            <a:endParaRPr lang="es-EC"/>
          </a:p>
        </p:txBody>
      </p:sp>
    </p:spTree>
    <p:extLst>
      <p:ext uri="{BB962C8B-B14F-4D97-AF65-F5344CB8AC3E}">
        <p14:creationId xmlns:p14="http://schemas.microsoft.com/office/powerpoint/2010/main" val="35455460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620688"/>
            <a:ext cx="8229600" cy="980728"/>
          </a:xfrm>
        </p:spPr>
        <p:txBody>
          <a:bodyPr/>
          <a:lstStyle/>
          <a:p>
            <a:r>
              <a:rPr lang="es-EC" b="1" dirty="0"/>
              <a:t>Problema 5.12</a:t>
            </a:r>
            <a:br>
              <a:rPr lang="es-EC" sz="5400" b="1" dirty="0">
                <a:solidFill>
                  <a:srgbClr val="FF0000"/>
                </a:solidFill>
              </a:rPr>
            </a:br>
            <a:endParaRPr lang="en-US" b="1" dirty="0"/>
          </a:p>
        </p:txBody>
      </p:sp>
      <p:sp>
        <p:nvSpPr>
          <p:cNvPr id="5" name="4 Marcador de contenido"/>
          <p:cNvSpPr>
            <a:spLocks noGrp="1"/>
          </p:cNvSpPr>
          <p:nvPr>
            <p:ph idx="1"/>
          </p:nvPr>
        </p:nvSpPr>
        <p:spPr>
          <a:xfrm>
            <a:off x="726529" y="1484784"/>
            <a:ext cx="4277519" cy="2520280"/>
          </a:xfrm>
        </p:spPr>
        <p:txBody>
          <a:bodyPr>
            <a:normAutofit fontScale="77500" lnSpcReduction="20000"/>
          </a:bodyPr>
          <a:lstStyle/>
          <a:p>
            <a:pPr marL="0" indent="0">
              <a:buNone/>
            </a:pPr>
            <a:r>
              <a:rPr lang="es-MX" sz="2000" dirty="0"/>
              <a:t>Problema 5.12: Escribir un programa donde se crea una variable con el valor de 7 y a continuación se crea un puntero que apunta a esa variable. Luego, imprimir el valor de la variable y el contenido de lo que apunta el puntero. Después, modificar el contenido de lo que apunta el puntero con el número 70. Finalmente, imprimir nuevamente el contenido de la variable y el contenido de lo que apunta el puntero:</a:t>
            </a:r>
            <a:endParaRPr lang="es-ES" sz="2800"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15</a:t>
            </a:fld>
            <a:endParaRPr lang="es-EC"/>
          </a:p>
        </p:txBody>
      </p:sp>
      <p:pic>
        <p:nvPicPr>
          <p:cNvPr id="8" name="Imagen 7">
            <a:extLst>
              <a:ext uri="{FF2B5EF4-FFF2-40B4-BE49-F238E27FC236}">
                <a16:creationId xmlns:a16="http://schemas.microsoft.com/office/drawing/2014/main" id="{344E0591-E859-4B8E-98F4-27FB2785F238}"/>
              </a:ext>
            </a:extLst>
          </p:cNvPr>
          <p:cNvPicPr>
            <a:picLocks noChangeAspect="1"/>
          </p:cNvPicPr>
          <p:nvPr/>
        </p:nvPicPr>
        <p:blipFill>
          <a:blip r:embed="rId2"/>
          <a:stretch>
            <a:fillRect/>
          </a:stretch>
        </p:blipFill>
        <p:spPr>
          <a:xfrm>
            <a:off x="726529" y="3792092"/>
            <a:ext cx="6233391" cy="2412423"/>
          </a:xfrm>
          <a:prstGeom prst="rect">
            <a:avLst/>
          </a:prstGeom>
        </p:spPr>
      </p:pic>
    </p:spTree>
    <p:extLst>
      <p:ext uri="{BB962C8B-B14F-4D97-AF65-F5344CB8AC3E}">
        <p14:creationId xmlns:p14="http://schemas.microsoft.com/office/powerpoint/2010/main" val="19422233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16</a:t>
            </a:fld>
            <a:endParaRPr lang="es-EC"/>
          </a:p>
        </p:txBody>
      </p:sp>
      <p:pic>
        <p:nvPicPr>
          <p:cNvPr id="10" name="Imagen 9">
            <a:extLst>
              <a:ext uri="{FF2B5EF4-FFF2-40B4-BE49-F238E27FC236}">
                <a16:creationId xmlns:a16="http://schemas.microsoft.com/office/drawing/2014/main" id="{E4CD93E0-6473-443C-8C8B-AE3E28933D3A}"/>
              </a:ext>
            </a:extLst>
          </p:cNvPr>
          <p:cNvPicPr>
            <a:picLocks noChangeAspect="1"/>
          </p:cNvPicPr>
          <p:nvPr/>
        </p:nvPicPr>
        <p:blipFill>
          <a:blip r:embed="rId2"/>
          <a:stretch>
            <a:fillRect/>
          </a:stretch>
        </p:blipFill>
        <p:spPr>
          <a:xfrm>
            <a:off x="1259632" y="0"/>
            <a:ext cx="6888944" cy="6139263"/>
          </a:xfrm>
          <a:prstGeom prst="rect">
            <a:avLst/>
          </a:prstGeom>
        </p:spPr>
      </p:pic>
      <p:sp>
        <p:nvSpPr>
          <p:cNvPr id="13" name="CuadroTexto 12">
            <a:extLst>
              <a:ext uri="{FF2B5EF4-FFF2-40B4-BE49-F238E27FC236}">
                <a16:creationId xmlns:a16="http://schemas.microsoft.com/office/drawing/2014/main" id="{5927D18F-DC0B-4C53-B417-3B210F424849}"/>
              </a:ext>
            </a:extLst>
          </p:cNvPr>
          <p:cNvSpPr txBox="1"/>
          <p:nvPr/>
        </p:nvSpPr>
        <p:spPr>
          <a:xfrm>
            <a:off x="1276421" y="6215746"/>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Programa 5.12</a:t>
            </a:r>
            <a:r>
              <a:rPr lang="es-ES" sz="1200" dirty="0">
                <a:solidFill>
                  <a:schemeClr val="tx1">
                    <a:lumMod val="50000"/>
                    <a:lumOff val="50000"/>
                  </a:schemeClr>
                </a:solidFill>
                <a:latin typeface="+mj-lt"/>
              </a:rPr>
              <a:t>. Código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739000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620688"/>
            <a:ext cx="8229600" cy="980728"/>
          </a:xfrm>
        </p:spPr>
        <p:txBody>
          <a:bodyPr/>
          <a:lstStyle/>
          <a:p>
            <a:r>
              <a:rPr lang="es-EC" b="1" dirty="0"/>
              <a:t>Problema 5.12</a:t>
            </a:r>
            <a:br>
              <a:rPr lang="es-EC" sz="5400" b="1" dirty="0">
                <a:solidFill>
                  <a:srgbClr val="FF0000"/>
                </a:solidFill>
              </a:rPr>
            </a:br>
            <a:endParaRPr lang="en-US" b="1" dirty="0"/>
          </a:p>
        </p:txBody>
      </p:sp>
      <p:sp>
        <p:nvSpPr>
          <p:cNvPr id="5" name="4 Marcador de contenido"/>
          <p:cNvSpPr>
            <a:spLocks noGrp="1"/>
          </p:cNvSpPr>
          <p:nvPr>
            <p:ph idx="1"/>
          </p:nvPr>
        </p:nvSpPr>
        <p:spPr>
          <a:xfrm>
            <a:off x="1043608" y="3012605"/>
            <a:ext cx="7283646" cy="2520280"/>
          </a:xfrm>
        </p:spPr>
        <p:txBody>
          <a:bodyPr>
            <a:normAutofit/>
          </a:bodyPr>
          <a:lstStyle/>
          <a:p>
            <a:pPr marL="0" indent="0">
              <a:buNone/>
            </a:pPr>
            <a:r>
              <a:rPr lang="es-MX" sz="1600" dirty="0"/>
              <a:t>Como se puede ver en el programa 5.11, al apuntar el puntero ‘</a:t>
            </a:r>
            <a:r>
              <a:rPr lang="es-MX" sz="1600" dirty="0" err="1"/>
              <a:t>ptr</a:t>
            </a:r>
            <a:r>
              <a:rPr lang="es-MX" sz="1600" dirty="0"/>
              <a:t>’ a la variable ‘c’, este puntero puede acceder a la variable ‘c’ y modificar el contenido de la misma. El momento en que el puntero ‘</a:t>
            </a:r>
            <a:r>
              <a:rPr lang="es-MX" sz="1600" dirty="0" err="1"/>
              <a:t>ptr</a:t>
            </a:r>
            <a:r>
              <a:rPr lang="es-MX" sz="1600" dirty="0"/>
              <a:t>’ modifica el contenido de la variable ‘c’, la variable ‘c’ tiene un nuevo valor. En la Figura 5.12.1, se muestra el mapa de la memoria RAM de este programa.</a:t>
            </a:r>
            <a:endParaRPr lang="es-ES" sz="1600"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17</a:t>
            </a:fld>
            <a:endParaRPr lang="es-EC"/>
          </a:p>
        </p:txBody>
      </p:sp>
      <p:pic>
        <p:nvPicPr>
          <p:cNvPr id="7" name="Imagen 6">
            <a:extLst>
              <a:ext uri="{FF2B5EF4-FFF2-40B4-BE49-F238E27FC236}">
                <a16:creationId xmlns:a16="http://schemas.microsoft.com/office/drawing/2014/main" id="{641186FB-B5D7-4074-92AC-F93E4D035A2A}"/>
              </a:ext>
            </a:extLst>
          </p:cNvPr>
          <p:cNvPicPr>
            <a:picLocks noChangeAspect="1"/>
          </p:cNvPicPr>
          <p:nvPr/>
        </p:nvPicPr>
        <p:blipFill>
          <a:blip r:embed="rId2"/>
          <a:stretch>
            <a:fillRect/>
          </a:stretch>
        </p:blipFill>
        <p:spPr>
          <a:xfrm>
            <a:off x="1043608" y="1043226"/>
            <a:ext cx="6973273" cy="1476581"/>
          </a:xfrm>
          <a:prstGeom prst="rect">
            <a:avLst/>
          </a:prstGeom>
        </p:spPr>
      </p:pic>
      <p:sp>
        <p:nvSpPr>
          <p:cNvPr id="9" name="CuadroTexto 8">
            <a:extLst>
              <a:ext uri="{FF2B5EF4-FFF2-40B4-BE49-F238E27FC236}">
                <a16:creationId xmlns:a16="http://schemas.microsoft.com/office/drawing/2014/main" id="{BF3ACE9B-86FA-4F1A-9C95-D8B716EA1D0F}"/>
              </a:ext>
            </a:extLst>
          </p:cNvPr>
          <p:cNvSpPr txBox="1"/>
          <p:nvPr/>
        </p:nvSpPr>
        <p:spPr>
          <a:xfrm>
            <a:off x="1072208" y="2550191"/>
            <a:ext cx="5052749" cy="646331"/>
          </a:xfrm>
          <a:prstGeom prst="rect">
            <a:avLst/>
          </a:prstGeom>
          <a:noFill/>
        </p:spPr>
        <p:txBody>
          <a:bodyPr wrap="square">
            <a:spAutoFit/>
          </a:bodyPr>
          <a:lstStyle/>
          <a:p>
            <a:pPr algn="just"/>
            <a:r>
              <a:rPr lang="es-ES" sz="1200" b="1" dirty="0">
                <a:solidFill>
                  <a:schemeClr val="tx1">
                    <a:lumMod val="50000"/>
                    <a:lumOff val="50000"/>
                  </a:schemeClr>
                </a:solidFill>
                <a:latin typeface="+mj-lt"/>
              </a:rPr>
              <a:t>Salida 5.12</a:t>
            </a:r>
            <a:r>
              <a:rPr lang="es-ES" sz="1200" dirty="0">
                <a:solidFill>
                  <a:schemeClr val="tx1">
                    <a:lumMod val="50000"/>
                    <a:lumOff val="50000"/>
                  </a:schemeClr>
                </a:solidFill>
                <a:latin typeface="+mj-lt"/>
              </a:rPr>
              <a:t>. Salida del Programa.</a:t>
            </a:r>
            <a:r>
              <a:rPr lang="es-ES_tradnl" sz="1200" dirty="0">
                <a:solidFill>
                  <a:schemeClr val="tx1">
                    <a:lumMod val="50000"/>
                    <a:lumOff val="50000"/>
                  </a:schemeClr>
                </a:solidFill>
                <a:latin typeface="+mj-lt"/>
              </a:rPr>
              <a:t> 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pic>
        <p:nvPicPr>
          <p:cNvPr id="11" name="Imagen 10">
            <a:extLst>
              <a:ext uri="{FF2B5EF4-FFF2-40B4-BE49-F238E27FC236}">
                <a16:creationId xmlns:a16="http://schemas.microsoft.com/office/drawing/2014/main" id="{444BF4AD-07CB-4B79-ACF5-FF26E15A4CA1}"/>
              </a:ext>
            </a:extLst>
          </p:cNvPr>
          <p:cNvPicPr>
            <a:picLocks noChangeAspect="1"/>
          </p:cNvPicPr>
          <p:nvPr/>
        </p:nvPicPr>
        <p:blipFill>
          <a:blip r:embed="rId3"/>
          <a:stretch>
            <a:fillRect/>
          </a:stretch>
        </p:blipFill>
        <p:spPr>
          <a:xfrm>
            <a:off x="2804121" y="4486436"/>
            <a:ext cx="4202486" cy="2021348"/>
          </a:xfrm>
          <a:prstGeom prst="rect">
            <a:avLst/>
          </a:prstGeom>
        </p:spPr>
      </p:pic>
      <p:sp>
        <p:nvSpPr>
          <p:cNvPr id="12" name="CuadroTexto 11">
            <a:extLst>
              <a:ext uri="{FF2B5EF4-FFF2-40B4-BE49-F238E27FC236}">
                <a16:creationId xmlns:a16="http://schemas.microsoft.com/office/drawing/2014/main" id="{BEE95F23-6401-47CF-B4D0-F443061450B9}"/>
              </a:ext>
            </a:extLst>
          </p:cNvPr>
          <p:cNvSpPr txBox="1"/>
          <p:nvPr/>
        </p:nvSpPr>
        <p:spPr>
          <a:xfrm>
            <a:off x="2353585" y="6360385"/>
            <a:ext cx="5052749" cy="646331"/>
          </a:xfrm>
          <a:prstGeom prst="rect">
            <a:avLst/>
          </a:prstGeom>
          <a:noFill/>
        </p:spPr>
        <p:txBody>
          <a:bodyPr wrap="square">
            <a:spAutoFit/>
          </a:bodyPr>
          <a:lstStyle/>
          <a:p>
            <a:pPr algn="just"/>
            <a:r>
              <a:rPr lang="es-ES" sz="1200" dirty="0">
                <a:solidFill>
                  <a:schemeClr val="tx1">
                    <a:lumMod val="50000"/>
                    <a:lumOff val="50000"/>
                  </a:schemeClr>
                </a:solidFill>
                <a:latin typeface="+mj-lt"/>
              </a:rPr>
              <a:t>Figura 5.12.1 </a:t>
            </a:r>
            <a:r>
              <a:rPr lang="es-MX" sz="1200" dirty="0">
                <a:solidFill>
                  <a:schemeClr val="tx1">
                    <a:lumMod val="50000"/>
                    <a:lumOff val="50000"/>
                  </a:schemeClr>
                </a:solidFill>
                <a:latin typeface="+mj-lt"/>
              </a:rPr>
              <a:t>M</a:t>
            </a:r>
            <a:r>
              <a:rPr lang="es-EC" sz="1200" dirty="0">
                <a:solidFill>
                  <a:schemeClr val="tx1">
                    <a:lumMod val="50000"/>
                    <a:lumOff val="50000"/>
                  </a:schemeClr>
                </a:solidFill>
                <a:latin typeface="+mj-lt"/>
              </a:rPr>
              <a:t>apa de la memoria RAM. </a:t>
            </a:r>
            <a:r>
              <a:rPr lang="es-ES_tradnl" sz="1200" dirty="0">
                <a:solidFill>
                  <a:schemeClr val="tx1">
                    <a:lumMod val="50000"/>
                    <a:lumOff val="50000"/>
                  </a:schemeClr>
                </a:solidFill>
                <a:latin typeface="+mj-lt"/>
              </a:rPr>
              <a:t>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1809217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620688"/>
            <a:ext cx="8229600" cy="980728"/>
          </a:xfrm>
        </p:spPr>
        <p:txBody>
          <a:bodyPr/>
          <a:lstStyle/>
          <a:p>
            <a:r>
              <a:rPr lang="es-EC" b="1" dirty="0"/>
              <a:t>Problema 5.12</a:t>
            </a:r>
            <a:br>
              <a:rPr lang="es-EC" sz="5400" b="1" dirty="0">
                <a:solidFill>
                  <a:srgbClr val="FF0000"/>
                </a:solidFill>
              </a:rPr>
            </a:br>
            <a:endParaRPr lang="en-US" b="1" dirty="0"/>
          </a:p>
        </p:txBody>
      </p:sp>
      <p:sp>
        <p:nvSpPr>
          <p:cNvPr id="5" name="4 Marcador de contenido"/>
          <p:cNvSpPr>
            <a:spLocks noGrp="1"/>
          </p:cNvSpPr>
          <p:nvPr>
            <p:ph idx="1"/>
          </p:nvPr>
        </p:nvSpPr>
        <p:spPr>
          <a:xfrm>
            <a:off x="782770" y="1147056"/>
            <a:ext cx="7283646" cy="2520280"/>
          </a:xfrm>
        </p:spPr>
        <p:txBody>
          <a:bodyPr>
            <a:normAutofit/>
          </a:bodyPr>
          <a:lstStyle/>
          <a:p>
            <a:pPr marL="0" indent="0">
              <a:buNone/>
            </a:pPr>
            <a:r>
              <a:rPr lang="es-MX" sz="2000" dirty="0"/>
              <a:t>En la Figura 5.12.2, se muestra el diagrama de bloques de los valores ‘</a:t>
            </a:r>
            <a:r>
              <a:rPr lang="es-MX" sz="2000" dirty="0" err="1"/>
              <a:t>rvalues</a:t>
            </a:r>
            <a:r>
              <a:rPr lang="es-MX" sz="2000" dirty="0"/>
              <a:t>’ y ‘</a:t>
            </a:r>
            <a:r>
              <a:rPr lang="es-MX" sz="2000" dirty="0" err="1"/>
              <a:t>lvalues</a:t>
            </a:r>
            <a:r>
              <a:rPr lang="es-MX" sz="2000" dirty="0"/>
              <a:t>’ de este programa, donde se pude ver claramente que el puntero ‘</a:t>
            </a:r>
            <a:r>
              <a:rPr lang="es-MX" sz="2000" dirty="0" err="1"/>
              <a:t>ptr</a:t>
            </a:r>
            <a:r>
              <a:rPr lang="es-MX" sz="2000" dirty="0"/>
              <a:t>’ modifica el contenido de la variable ‘c’. </a:t>
            </a:r>
            <a:endParaRPr lang="es-ES" sz="2800"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18</a:t>
            </a:fld>
            <a:endParaRPr lang="es-EC"/>
          </a:p>
        </p:txBody>
      </p:sp>
      <p:sp>
        <p:nvSpPr>
          <p:cNvPr id="12" name="CuadroTexto 11">
            <a:extLst>
              <a:ext uri="{FF2B5EF4-FFF2-40B4-BE49-F238E27FC236}">
                <a16:creationId xmlns:a16="http://schemas.microsoft.com/office/drawing/2014/main" id="{BEE95F23-6401-47CF-B4D0-F443061450B9}"/>
              </a:ext>
            </a:extLst>
          </p:cNvPr>
          <p:cNvSpPr txBox="1"/>
          <p:nvPr/>
        </p:nvSpPr>
        <p:spPr>
          <a:xfrm>
            <a:off x="899592" y="4916204"/>
            <a:ext cx="5052749" cy="646331"/>
          </a:xfrm>
          <a:prstGeom prst="rect">
            <a:avLst/>
          </a:prstGeom>
          <a:noFill/>
        </p:spPr>
        <p:txBody>
          <a:bodyPr wrap="square">
            <a:spAutoFit/>
          </a:bodyPr>
          <a:lstStyle/>
          <a:p>
            <a:pPr algn="just"/>
            <a:r>
              <a:rPr lang="es-ES" sz="1200" dirty="0">
                <a:solidFill>
                  <a:schemeClr val="tx1">
                    <a:lumMod val="50000"/>
                    <a:lumOff val="50000"/>
                  </a:schemeClr>
                </a:solidFill>
                <a:latin typeface="+mj-lt"/>
              </a:rPr>
              <a:t>Figura 5.12.1 </a:t>
            </a:r>
            <a:r>
              <a:rPr lang="es-MX" sz="1200" dirty="0">
                <a:solidFill>
                  <a:schemeClr val="tx1">
                    <a:lumMod val="50000"/>
                    <a:lumOff val="50000"/>
                  </a:schemeClr>
                </a:solidFill>
                <a:latin typeface="+mj-lt"/>
              </a:rPr>
              <a:t>M</a:t>
            </a:r>
            <a:r>
              <a:rPr lang="es-EC" sz="1200" dirty="0">
                <a:solidFill>
                  <a:schemeClr val="tx1">
                    <a:lumMod val="50000"/>
                    <a:lumOff val="50000"/>
                  </a:schemeClr>
                </a:solidFill>
                <a:latin typeface="+mj-lt"/>
              </a:rPr>
              <a:t>apa de la memoria RAM. </a:t>
            </a:r>
            <a:r>
              <a:rPr lang="es-ES_tradnl" sz="1200" dirty="0">
                <a:solidFill>
                  <a:schemeClr val="tx1">
                    <a:lumMod val="50000"/>
                    <a:lumOff val="50000"/>
                  </a:schemeClr>
                </a:solidFill>
                <a:latin typeface="+mj-lt"/>
              </a:rPr>
              <a:t>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pic>
        <p:nvPicPr>
          <p:cNvPr id="8" name="Imagen 7">
            <a:extLst>
              <a:ext uri="{FF2B5EF4-FFF2-40B4-BE49-F238E27FC236}">
                <a16:creationId xmlns:a16="http://schemas.microsoft.com/office/drawing/2014/main" id="{534CF00E-98A8-4242-A063-F5497FDC92E1}"/>
              </a:ext>
            </a:extLst>
          </p:cNvPr>
          <p:cNvPicPr>
            <a:picLocks noChangeAspect="1"/>
          </p:cNvPicPr>
          <p:nvPr/>
        </p:nvPicPr>
        <p:blipFill>
          <a:blip r:embed="rId3"/>
          <a:stretch>
            <a:fillRect/>
          </a:stretch>
        </p:blipFill>
        <p:spPr>
          <a:xfrm>
            <a:off x="683568" y="2852936"/>
            <a:ext cx="5963482" cy="1781424"/>
          </a:xfrm>
          <a:prstGeom prst="rect">
            <a:avLst/>
          </a:prstGeom>
        </p:spPr>
      </p:pic>
    </p:spTree>
    <p:extLst>
      <p:ext uri="{BB962C8B-B14F-4D97-AF65-F5344CB8AC3E}">
        <p14:creationId xmlns:p14="http://schemas.microsoft.com/office/powerpoint/2010/main" val="18187652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a:xfrm>
            <a:off x="457200" y="1612760"/>
            <a:ext cx="8229600" cy="4525963"/>
          </a:xfrm>
        </p:spPr>
        <p:txBody>
          <a:bodyPr>
            <a:normAutofit fontScale="92500"/>
          </a:bodyPr>
          <a:lstStyle/>
          <a:p>
            <a:pPr marL="0" indent="0">
              <a:buNone/>
            </a:pPr>
            <a:endParaRPr lang="es-EC" sz="2400" dirty="0"/>
          </a:p>
          <a:p>
            <a:r>
              <a:rPr lang="es-EC" sz="2400" dirty="0"/>
              <a:t>Punteros</a:t>
            </a:r>
          </a:p>
          <a:p>
            <a:r>
              <a:rPr lang="es-EC" sz="2400" dirty="0"/>
              <a:t>El Operador de Dirección (&amp;)</a:t>
            </a:r>
          </a:p>
          <a:p>
            <a:r>
              <a:rPr lang="es-EC" sz="2400" dirty="0"/>
              <a:t>El Operador de Indirección (*)</a:t>
            </a:r>
            <a:endParaRPr lang="es-EC" dirty="0"/>
          </a:p>
          <a:p>
            <a:r>
              <a:rPr lang="es-MX" sz="2400" dirty="0"/>
              <a:t>El '</a:t>
            </a:r>
            <a:r>
              <a:rPr lang="es-MX" sz="2400" dirty="0" err="1"/>
              <a:t>rvalue</a:t>
            </a:r>
            <a:r>
              <a:rPr lang="es-MX" sz="2400" dirty="0"/>
              <a:t>' y el '</a:t>
            </a:r>
            <a:r>
              <a:rPr lang="es-MX" sz="2400" dirty="0" err="1"/>
              <a:t>lvalue</a:t>
            </a:r>
            <a:r>
              <a:rPr lang="es-MX" sz="2400" dirty="0"/>
              <a:t>' de una Variable y de un Puntero</a:t>
            </a:r>
          </a:p>
          <a:p>
            <a:r>
              <a:rPr lang="es-EC" sz="2400" dirty="0"/>
              <a:t>Problema 5.12</a:t>
            </a:r>
          </a:p>
          <a:p>
            <a:r>
              <a:rPr lang="es-MX" sz="2400" dirty="0"/>
              <a:t>Paso de Parámetros por Dirección o Punteros </a:t>
            </a:r>
          </a:p>
          <a:p>
            <a:r>
              <a:rPr lang="es-EC" sz="2400" dirty="0"/>
              <a:t>Función </a:t>
            </a:r>
            <a:r>
              <a:rPr lang="es-EC" sz="2400" dirty="0" err="1"/>
              <a:t>LeerDatos</a:t>
            </a:r>
            <a:r>
              <a:rPr lang="es-EC" sz="2400" dirty="0"/>
              <a:t>()</a:t>
            </a:r>
          </a:p>
          <a:p>
            <a:r>
              <a:rPr lang="es-EC" sz="2400" dirty="0"/>
              <a:t>Función </a:t>
            </a:r>
            <a:r>
              <a:rPr lang="es-EC" sz="2400" dirty="0" err="1"/>
              <a:t>ImprimirDatos</a:t>
            </a:r>
            <a:r>
              <a:rPr lang="es-EC" sz="2400" dirty="0"/>
              <a:t>()</a:t>
            </a:r>
          </a:p>
          <a:p>
            <a:r>
              <a:rPr lang="es-EC" dirty="0"/>
              <a:t>Función </a:t>
            </a:r>
            <a:r>
              <a:rPr lang="es-EC" dirty="0" err="1"/>
              <a:t>InvertirDatos</a:t>
            </a:r>
            <a:r>
              <a:rPr lang="es-EC" dirty="0"/>
              <a:t>() </a:t>
            </a:r>
          </a:p>
          <a:p>
            <a:r>
              <a:rPr lang="es-EC" dirty="0"/>
              <a:t>Aplicaciones de Funciones Matemáticas </a:t>
            </a:r>
            <a:endParaRPr lang="es-EC" sz="3200" dirty="0"/>
          </a:p>
          <a:p>
            <a:pPr marL="0" indent="0">
              <a:buNone/>
            </a:pPr>
            <a:endParaRPr lang="es-EC" dirty="0"/>
          </a:p>
        </p:txBody>
      </p:sp>
      <p:sp>
        <p:nvSpPr>
          <p:cNvPr id="5" name="4 Marcador de fecha"/>
          <p:cNvSpPr>
            <a:spLocks noGrp="1"/>
          </p:cNvSpPr>
          <p:nvPr>
            <p:ph type="dt" sz="half" idx="10"/>
          </p:nvPr>
        </p:nvSpPr>
        <p:spPr/>
        <p:txBody>
          <a:bodyPr/>
          <a:lstStyle/>
          <a:p>
            <a:fld id="{85E4E129-A937-4BEE-8A17-D7969DFE55C2}"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19</a:t>
            </a:fld>
            <a:endParaRPr lang="es-EC"/>
          </a:p>
        </p:txBody>
      </p:sp>
    </p:spTree>
    <p:extLst>
      <p:ext uri="{BB962C8B-B14F-4D97-AF65-F5344CB8AC3E}">
        <p14:creationId xmlns:p14="http://schemas.microsoft.com/office/powerpoint/2010/main" val="17368945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a:xfrm>
            <a:off x="457200" y="1612760"/>
            <a:ext cx="8229600" cy="4525963"/>
          </a:xfrm>
        </p:spPr>
        <p:txBody>
          <a:bodyPr>
            <a:normAutofit fontScale="92500" lnSpcReduction="20000"/>
          </a:bodyPr>
          <a:lstStyle/>
          <a:p>
            <a:pPr marL="0" indent="0">
              <a:buNone/>
            </a:pPr>
            <a:endParaRPr lang="es-EC" sz="2400" dirty="0"/>
          </a:p>
          <a:p>
            <a:r>
              <a:rPr lang="es-EC" sz="2400" dirty="0"/>
              <a:t>Punteros</a:t>
            </a:r>
          </a:p>
          <a:p>
            <a:r>
              <a:rPr lang="es-EC" sz="2400" dirty="0"/>
              <a:t>El Operador de Dirección (&amp;)</a:t>
            </a:r>
          </a:p>
          <a:p>
            <a:r>
              <a:rPr lang="es-EC" sz="2400" dirty="0"/>
              <a:t>El Operador de Indirección (*)</a:t>
            </a:r>
            <a:endParaRPr lang="es-EC" dirty="0"/>
          </a:p>
          <a:p>
            <a:r>
              <a:rPr lang="es-MX" sz="2400" dirty="0"/>
              <a:t>El '</a:t>
            </a:r>
            <a:r>
              <a:rPr lang="es-MX" sz="2400" dirty="0" err="1"/>
              <a:t>rvalue</a:t>
            </a:r>
            <a:r>
              <a:rPr lang="es-MX" sz="2400" dirty="0"/>
              <a:t>' y el '</a:t>
            </a:r>
            <a:r>
              <a:rPr lang="es-MX" sz="2400" dirty="0" err="1"/>
              <a:t>lvalue</a:t>
            </a:r>
            <a:r>
              <a:rPr lang="es-MX" sz="2400" dirty="0"/>
              <a:t>' de una Variable y de un Puntero</a:t>
            </a:r>
          </a:p>
          <a:p>
            <a:r>
              <a:rPr lang="es-EC" sz="2400" dirty="0"/>
              <a:t>Problema 5.12</a:t>
            </a:r>
          </a:p>
          <a:p>
            <a:r>
              <a:rPr lang="es-MX" sz="4300" b="1" dirty="0">
                <a:solidFill>
                  <a:srgbClr val="FF0000"/>
                </a:solidFill>
              </a:rPr>
              <a:t>Paso de Parámetros por Dirección o Punteros </a:t>
            </a:r>
          </a:p>
          <a:p>
            <a:r>
              <a:rPr lang="es-EC" sz="2400" dirty="0"/>
              <a:t>Función </a:t>
            </a:r>
            <a:r>
              <a:rPr lang="es-EC" sz="2400" dirty="0" err="1"/>
              <a:t>LeerDatos</a:t>
            </a:r>
            <a:r>
              <a:rPr lang="es-EC" sz="2400" dirty="0"/>
              <a:t>()</a:t>
            </a:r>
          </a:p>
          <a:p>
            <a:r>
              <a:rPr lang="es-EC" sz="2400" dirty="0"/>
              <a:t>Función </a:t>
            </a:r>
            <a:r>
              <a:rPr lang="es-EC" sz="2400" dirty="0" err="1"/>
              <a:t>ImprimirDatos</a:t>
            </a:r>
            <a:r>
              <a:rPr lang="es-EC" sz="2400" dirty="0"/>
              <a:t>()</a:t>
            </a:r>
          </a:p>
          <a:p>
            <a:r>
              <a:rPr lang="es-EC" dirty="0"/>
              <a:t>Función </a:t>
            </a:r>
            <a:r>
              <a:rPr lang="es-EC" dirty="0" err="1"/>
              <a:t>InvertirDatos</a:t>
            </a:r>
            <a:r>
              <a:rPr lang="es-EC" dirty="0"/>
              <a:t>() </a:t>
            </a:r>
          </a:p>
          <a:p>
            <a:r>
              <a:rPr lang="es-EC" dirty="0"/>
              <a:t>Aplicaciones de Funciones Matemáticas </a:t>
            </a:r>
            <a:endParaRPr lang="es-EC" sz="3200" dirty="0"/>
          </a:p>
          <a:p>
            <a:pPr marL="0" indent="0">
              <a:buNone/>
            </a:pPr>
            <a:endParaRPr lang="es-EC" dirty="0"/>
          </a:p>
        </p:txBody>
      </p:sp>
      <p:sp>
        <p:nvSpPr>
          <p:cNvPr id="5" name="4 Marcador de fecha"/>
          <p:cNvSpPr>
            <a:spLocks noGrp="1"/>
          </p:cNvSpPr>
          <p:nvPr>
            <p:ph type="dt" sz="half" idx="10"/>
          </p:nvPr>
        </p:nvSpPr>
        <p:spPr/>
        <p:txBody>
          <a:bodyPr/>
          <a:lstStyle/>
          <a:p>
            <a:fld id="{85E4E129-A937-4BEE-8A17-D7969DFE55C2}"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20</a:t>
            </a:fld>
            <a:endParaRPr lang="es-EC"/>
          </a:p>
        </p:txBody>
      </p:sp>
    </p:spTree>
    <p:extLst>
      <p:ext uri="{BB962C8B-B14F-4D97-AF65-F5344CB8AC3E}">
        <p14:creationId xmlns:p14="http://schemas.microsoft.com/office/powerpoint/2010/main" val="15041347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94665" y="2132856"/>
            <a:ext cx="8229600" cy="980728"/>
          </a:xfrm>
        </p:spPr>
        <p:txBody>
          <a:bodyPr/>
          <a:lstStyle/>
          <a:p>
            <a:r>
              <a:rPr lang="es-MX" b="1" dirty="0"/>
              <a:t>Paso de Parámetros por Dirección o Punteros </a:t>
            </a:r>
            <a:br>
              <a:rPr lang="es-MX" b="1" dirty="0"/>
            </a:br>
            <a:br>
              <a:rPr lang="es-EC" sz="5400" b="1" dirty="0">
                <a:solidFill>
                  <a:srgbClr val="FF0000"/>
                </a:solidFill>
              </a:rPr>
            </a:br>
            <a:endParaRPr lang="en-US" b="1" dirty="0"/>
          </a:p>
        </p:txBody>
      </p:sp>
      <p:sp>
        <p:nvSpPr>
          <p:cNvPr id="5" name="4 Marcador de contenido"/>
          <p:cNvSpPr>
            <a:spLocks noGrp="1"/>
          </p:cNvSpPr>
          <p:nvPr>
            <p:ph idx="1"/>
          </p:nvPr>
        </p:nvSpPr>
        <p:spPr>
          <a:xfrm>
            <a:off x="574724" y="1844824"/>
            <a:ext cx="8229600" cy="3672408"/>
          </a:xfrm>
        </p:spPr>
        <p:txBody>
          <a:bodyPr>
            <a:normAutofit/>
          </a:bodyPr>
          <a:lstStyle/>
          <a:p>
            <a:pPr marL="0" indent="0">
              <a:buNone/>
            </a:pPr>
            <a:r>
              <a:rPr lang="es-MX" dirty="0"/>
              <a:t>Se pueden retornar múltiples valores con punteros, por lo que los punteros permiten manipular las variables a las cuales apuntan, lo que se conoce como paso de parámetros por dirección o por punteros (Davies, P., 1995). En esta sección se realizarán algunos ejercicios para realizar operaciones de lectura y cálculos matemáticos para modificar los valores de las variables originales utilizando punteros. </a:t>
            </a:r>
            <a:endParaRPr lang="es-ES" sz="3200"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21</a:t>
            </a:fld>
            <a:endParaRPr lang="es-EC"/>
          </a:p>
        </p:txBody>
      </p:sp>
    </p:spTree>
    <p:extLst>
      <p:ext uri="{BB962C8B-B14F-4D97-AF65-F5344CB8AC3E}">
        <p14:creationId xmlns:p14="http://schemas.microsoft.com/office/powerpoint/2010/main" val="9188652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a:xfrm>
            <a:off x="457200" y="1612760"/>
            <a:ext cx="8229600" cy="4525963"/>
          </a:xfrm>
        </p:spPr>
        <p:txBody>
          <a:bodyPr>
            <a:normAutofit fontScale="85000" lnSpcReduction="20000"/>
          </a:bodyPr>
          <a:lstStyle/>
          <a:p>
            <a:pPr marL="0" indent="0">
              <a:buNone/>
            </a:pPr>
            <a:endParaRPr lang="es-EC" sz="2400" dirty="0"/>
          </a:p>
          <a:p>
            <a:r>
              <a:rPr lang="es-EC" sz="2400" dirty="0"/>
              <a:t>Punteros</a:t>
            </a:r>
          </a:p>
          <a:p>
            <a:r>
              <a:rPr lang="es-EC" sz="2400" dirty="0"/>
              <a:t>El Operador de Dirección (&amp;)</a:t>
            </a:r>
          </a:p>
          <a:p>
            <a:r>
              <a:rPr lang="es-EC" sz="2400" dirty="0"/>
              <a:t>El Operador de Indirección (*)</a:t>
            </a:r>
            <a:endParaRPr lang="es-EC" dirty="0"/>
          </a:p>
          <a:p>
            <a:r>
              <a:rPr lang="es-MX" sz="2400" dirty="0"/>
              <a:t>El '</a:t>
            </a:r>
            <a:r>
              <a:rPr lang="es-MX" sz="2400" dirty="0" err="1"/>
              <a:t>rvalue</a:t>
            </a:r>
            <a:r>
              <a:rPr lang="es-MX" sz="2400" dirty="0"/>
              <a:t>' y el '</a:t>
            </a:r>
            <a:r>
              <a:rPr lang="es-MX" sz="2400" dirty="0" err="1"/>
              <a:t>lvalue</a:t>
            </a:r>
            <a:r>
              <a:rPr lang="es-MX" sz="2400" dirty="0"/>
              <a:t>' de una Variable y de un Puntero</a:t>
            </a:r>
          </a:p>
          <a:p>
            <a:r>
              <a:rPr lang="es-EC" dirty="0"/>
              <a:t>Problema 5.12</a:t>
            </a:r>
          </a:p>
          <a:p>
            <a:r>
              <a:rPr lang="es-MX" dirty="0"/>
              <a:t>Paso de Parámetros por Dirección o Punteros </a:t>
            </a:r>
          </a:p>
          <a:p>
            <a:r>
              <a:rPr lang="es-EC" sz="4300" b="1" dirty="0">
                <a:solidFill>
                  <a:srgbClr val="FF0000"/>
                </a:solidFill>
              </a:rPr>
              <a:t>Función </a:t>
            </a:r>
            <a:r>
              <a:rPr lang="es-EC" sz="4300" b="1" dirty="0" err="1">
                <a:solidFill>
                  <a:srgbClr val="FF0000"/>
                </a:solidFill>
              </a:rPr>
              <a:t>LeerDatos</a:t>
            </a:r>
            <a:r>
              <a:rPr lang="es-EC" sz="4300" b="1" dirty="0">
                <a:solidFill>
                  <a:srgbClr val="FF0000"/>
                </a:solidFill>
              </a:rPr>
              <a:t>()</a:t>
            </a:r>
          </a:p>
          <a:p>
            <a:r>
              <a:rPr lang="es-EC" sz="4300" b="1" dirty="0">
                <a:solidFill>
                  <a:srgbClr val="FF0000"/>
                </a:solidFill>
              </a:rPr>
              <a:t>Función </a:t>
            </a:r>
            <a:r>
              <a:rPr lang="es-EC" sz="4300" b="1" dirty="0" err="1">
                <a:solidFill>
                  <a:srgbClr val="FF0000"/>
                </a:solidFill>
              </a:rPr>
              <a:t>ImprimirDatos</a:t>
            </a:r>
            <a:r>
              <a:rPr lang="es-EC" sz="4300" b="1" dirty="0">
                <a:solidFill>
                  <a:srgbClr val="FF0000"/>
                </a:solidFill>
              </a:rPr>
              <a:t>()</a:t>
            </a:r>
          </a:p>
          <a:p>
            <a:r>
              <a:rPr lang="es-EC" sz="4300" b="1" dirty="0">
                <a:solidFill>
                  <a:srgbClr val="FF0000"/>
                </a:solidFill>
              </a:rPr>
              <a:t>Función </a:t>
            </a:r>
            <a:r>
              <a:rPr lang="es-EC" sz="4300" b="1" dirty="0" err="1">
                <a:solidFill>
                  <a:srgbClr val="FF0000"/>
                </a:solidFill>
              </a:rPr>
              <a:t>InvertirDatos</a:t>
            </a:r>
            <a:r>
              <a:rPr lang="es-EC" sz="4300" b="1" dirty="0">
                <a:solidFill>
                  <a:srgbClr val="FF0000"/>
                </a:solidFill>
              </a:rPr>
              <a:t>() </a:t>
            </a:r>
          </a:p>
          <a:p>
            <a:r>
              <a:rPr lang="es-EC" dirty="0"/>
              <a:t>Aplicaciones de Funciones Matemáticas </a:t>
            </a:r>
            <a:endParaRPr lang="es-EC" sz="3200" dirty="0"/>
          </a:p>
          <a:p>
            <a:pPr marL="0" indent="0">
              <a:buNone/>
            </a:pPr>
            <a:endParaRPr lang="es-EC" dirty="0"/>
          </a:p>
        </p:txBody>
      </p:sp>
      <p:sp>
        <p:nvSpPr>
          <p:cNvPr id="5" name="4 Marcador de fecha"/>
          <p:cNvSpPr>
            <a:spLocks noGrp="1"/>
          </p:cNvSpPr>
          <p:nvPr>
            <p:ph type="dt" sz="half" idx="10"/>
          </p:nvPr>
        </p:nvSpPr>
        <p:spPr/>
        <p:txBody>
          <a:bodyPr/>
          <a:lstStyle/>
          <a:p>
            <a:fld id="{85E4E129-A937-4BEE-8A17-D7969DFE55C2}"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22</a:t>
            </a:fld>
            <a:endParaRPr lang="es-EC"/>
          </a:p>
        </p:txBody>
      </p:sp>
    </p:spTree>
    <p:extLst>
      <p:ext uri="{BB962C8B-B14F-4D97-AF65-F5344CB8AC3E}">
        <p14:creationId xmlns:p14="http://schemas.microsoft.com/office/powerpoint/2010/main" val="28072433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94665" y="2132856"/>
            <a:ext cx="8229600" cy="980728"/>
          </a:xfrm>
        </p:spPr>
        <p:txBody>
          <a:bodyPr/>
          <a:lstStyle/>
          <a:p>
            <a:r>
              <a:rPr lang="es-EC" b="1" dirty="0"/>
              <a:t>Función </a:t>
            </a:r>
            <a:r>
              <a:rPr lang="es-EC" b="1" dirty="0" err="1"/>
              <a:t>LeerDatos</a:t>
            </a:r>
            <a:r>
              <a:rPr lang="es-EC" b="1" dirty="0"/>
              <a:t>()</a:t>
            </a:r>
            <a:br>
              <a:rPr lang="es-MX" b="1" dirty="0"/>
            </a:br>
            <a:br>
              <a:rPr lang="es-EC" b="1" dirty="0"/>
            </a:br>
            <a:endParaRPr lang="en-US" b="1" dirty="0"/>
          </a:p>
        </p:txBody>
      </p:sp>
      <p:sp>
        <p:nvSpPr>
          <p:cNvPr id="5" name="4 Marcador de contenido"/>
          <p:cNvSpPr>
            <a:spLocks noGrp="1"/>
          </p:cNvSpPr>
          <p:nvPr>
            <p:ph idx="1"/>
          </p:nvPr>
        </p:nvSpPr>
        <p:spPr>
          <a:xfrm>
            <a:off x="1090647" y="2132856"/>
            <a:ext cx="7237636" cy="4032448"/>
          </a:xfrm>
        </p:spPr>
        <p:txBody>
          <a:bodyPr>
            <a:normAutofit/>
          </a:bodyPr>
          <a:lstStyle/>
          <a:p>
            <a:pPr marL="0" indent="0">
              <a:buNone/>
            </a:pPr>
            <a:r>
              <a:rPr lang="es-MX" sz="2400" dirty="0"/>
              <a:t>La Figura 5.13.1 muestra cómo trabaja la función ‘</a:t>
            </a:r>
            <a:r>
              <a:rPr lang="es-MX" sz="2400" dirty="0" err="1"/>
              <a:t>LeerDatos</a:t>
            </a:r>
            <a:r>
              <a:rPr lang="es-MX" sz="2400" dirty="0"/>
              <a:t>()’, luego de ser declarada y definida. La llamada a la función ‘</a:t>
            </a:r>
            <a:r>
              <a:rPr lang="es-MX" sz="2400" dirty="0" err="1"/>
              <a:t>LeerDatos</a:t>
            </a:r>
            <a:r>
              <a:rPr lang="es-MX" sz="2400" dirty="0"/>
              <a:t>()’ envía dos argumentos por dirección a los parámetros (punteros) de la función, la misma que cumple con las tareas de lectura de datos y no retorna ningún valor.</a:t>
            </a:r>
            <a:endParaRPr lang="es-ES" sz="3200"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23</a:t>
            </a:fld>
            <a:endParaRPr lang="es-EC"/>
          </a:p>
        </p:txBody>
      </p:sp>
    </p:spTree>
    <p:extLst>
      <p:ext uri="{BB962C8B-B14F-4D97-AF65-F5344CB8AC3E}">
        <p14:creationId xmlns:p14="http://schemas.microsoft.com/office/powerpoint/2010/main" val="1649321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13678" y="1556792"/>
            <a:ext cx="8229600" cy="980728"/>
          </a:xfrm>
        </p:spPr>
        <p:txBody>
          <a:bodyPr/>
          <a:lstStyle/>
          <a:p>
            <a:r>
              <a:rPr lang="es-EC" b="1" dirty="0"/>
              <a:t>Función </a:t>
            </a:r>
            <a:r>
              <a:rPr lang="es-EC" b="1" dirty="0" err="1"/>
              <a:t>LeerDatos</a:t>
            </a:r>
            <a:r>
              <a:rPr lang="es-EC" b="1" dirty="0"/>
              <a:t>()</a:t>
            </a:r>
            <a:br>
              <a:rPr lang="es-MX" b="1" dirty="0"/>
            </a:br>
            <a:br>
              <a:rPr lang="es-EC" b="1" dirty="0"/>
            </a:br>
            <a:endParaRPr lang="en-US" b="1"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24</a:t>
            </a:fld>
            <a:endParaRPr lang="es-EC"/>
          </a:p>
        </p:txBody>
      </p:sp>
      <p:pic>
        <p:nvPicPr>
          <p:cNvPr id="7" name="Imagen 6">
            <a:extLst>
              <a:ext uri="{FF2B5EF4-FFF2-40B4-BE49-F238E27FC236}">
                <a16:creationId xmlns:a16="http://schemas.microsoft.com/office/drawing/2014/main" id="{7A65C0C9-0D4B-4AE1-B164-16A95457D055}"/>
              </a:ext>
            </a:extLst>
          </p:cNvPr>
          <p:cNvPicPr>
            <a:picLocks noChangeAspect="1"/>
          </p:cNvPicPr>
          <p:nvPr/>
        </p:nvPicPr>
        <p:blipFill>
          <a:blip r:embed="rId2"/>
          <a:stretch>
            <a:fillRect/>
          </a:stretch>
        </p:blipFill>
        <p:spPr>
          <a:xfrm>
            <a:off x="971600" y="1532529"/>
            <a:ext cx="7348934" cy="4050033"/>
          </a:xfrm>
          <a:prstGeom prst="rect">
            <a:avLst/>
          </a:prstGeom>
        </p:spPr>
      </p:pic>
      <p:sp>
        <p:nvSpPr>
          <p:cNvPr id="9" name="CuadroTexto 8">
            <a:extLst>
              <a:ext uri="{FF2B5EF4-FFF2-40B4-BE49-F238E27FC236}">
                <a16:creationId xmlns:a16="http://schemas.microsoft.com/office/drawing/2014/main" id="{ED0B14BE-6F05-412D-97D0-17ECA06EF2F9}"/>
              </a:ext>
            </a:extLst>
          </p:cNvPr>
          <p:cNvSpPr txBox="1"/>
          <p:nvPr/>
        </p:nvSpPr>
        <p:spPr>
          <a:xfrm>
            <a:off x="1619672" y="5710019"/>
            <a:ext cx="5052749" cy="646331"/>
          </a:xfrm>
          <a:prstGeom prst="rect">
            <a:avLst/>
          </a:prstGeom>
          <a:noFill/>
        </p:spPr>
        <p:txBody>
          <a:bodyPr wrap="square">
            <a:spAutoFit/>
          </a:bodyPr>
          <a:lstStyle/>
          <a:p>
            <a:pPr algn="just"/>
            <a:r>
              <a:rPr lang="es-ES" sz="1200" dirty="0">
                <a:solidFill>
                  <a:schemeClr val="tx1">
                    <a:lumMod val="50000"/>
                    <a:lumOff val="50000"/>
                  </a:schemeClr>
                </a:solidFill>
                <a:latin typeface="+mj-lt"/>
              </a:rPr>
              <a:t>Figura 5.12.1 </a:t>
            </a:r>
            <a:r>
              <a:rPr lang="es-MX" sz="1200" dirty="0"/>
              <a:t>. </a:t>
            </a:r>
            <a:r>
              <a:rPr lang="es-MX" sz="1200" dirty="0">
                <a:solidFill>
                  <a:schemeClr val="tx1">
                    <a:lumMod val="50000"/>
                    <a:lumOff val="50000"/>
                  </a:schemeClr>
                </a:solidFill>
                <a:latin typeface="+mj-lt"/>
              </a:rPr>
              <a:t>Llamada a la función con parámetros y retorno de un </a:t>
            </a:r>
            <a:r>
              <a:rPr lang="es-MX" sz="1200" dirty="0" err="1">
                <a:solidFill>
                  <a:schemeClr val="tx1">
                    <a:lumMod val="50000"/>
                    <a:lumOff val="50000"/>
                  </a:schemeClr>
                </a:solidFill>
                <a:latin typeface="+mj-lt"/>
              </a:rPr>
              <a:t>void</a:t>
            </a:r>
            <a:r>
              <a:rPr lang="es-MX" sz="1200" dirty="0">
                <a:solidFill>
                  <a:schemeClr val="tx1">
                    <a:lumMod val="50000"/>
                    <a:lumOff val="50000"/>
                  </a:schemeClr>
                </a:solidFill>
                <a:latin typeface="+mj-lt"/>
              </a:rPr>
              <a:t>.</a:t>
            </a:r>
            <a:r>
              <a:rPr lang="es-EC" sz="1200" dirty="0">
                <a:solidFill>
                  <a:schemeClr val="tx1">
                    <a:lumMod val="50000"/>
                    <a:lumOff val="50000"/>
                  </a:schemeClr>
                </a:solidFill>
                <a:latin typeface="+mj-lt"/>
              </a:rPr>
              <a:t> </a:t>
            </a:r>
            <a:r>
              <a:rPr lang="es-ES_tradnl" sz="1200" dirty="0">
                <a:solidFill>
                  <a:schemeClr val="tx1">
                    <a:lumMod val="50000"/>
                    <a:lumOff val="50000"/>
                  </a:schemeClr>
                </a:solidFill>
                <a:latin typeface="+mj-lt"/>
              </a:rPr>
              <a:t>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32442337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94665" y="2132856"/>
            <a:ext cx="8229600" cy="980728"/>
          </a:xfrm>
        </p:spPr>
        <p:txBody>
          <a:bodyPr/>
          <a:lstStyle/>
          <a:p>
            <a:r>
              <a:rPr lang="es-EC" b="1" dirty="0"/>
              <a:t>Función </a:t>
            </a:r>
            <a:r>
              <a:rPr lang="es-EC" b="1" dirty="0" err="1"/>
              <a:t>LeerDatos</a:t>
            </a:r>
            <a:r>
              <a:rPr lang="es-EC" b="1" dirty="0"/>
              <a:t>()</a:t>
            </a:r>
            <a:br>
              <a:rPr lang="es-MX" b="1" dirty="0"/>
            </a:br>
            <a:br>
              <a:rPr lang="es-EC" b="1" dirty="0"/>
            </a:br>
            <a:endParaRPr lang="en-US" b="1" dirty="0"/>
          </a:p>
        </p:txBody>
      </p:sp>
      <p:sp>
        <p:nvSpPr>
          <p:cNvPr id="5" name="4 Marcador de contenido"/>
          <p:cNvSpPr>
            <a:spLocks noGrp="1"/>
          </p:cNvSpPr>
          <p:nvPr>
            <p:ph idx="1"/>
          </p:nvPr>
        </p:nvSpPr>
        <p:spPr>
          <a:xfrm>
            <a:off x="505314" y="2135461"/>
            <a:ext cx="3841393" cy="2736304"/>
          </a:xfrm>
        </p:spPr>
        <p:txBody>
          <a:bodyPr>
            <a:normAutofit lnSpcReduction="10000"/>
          </a:bodyPr>
          <a:lstStyle/>
          <a:p>
            <a:pPr marL="0" indent="0">
              <a:buNone/>
            </a:pPr>
            <a:r>
              <a:rPr lang="es-MX" sz="2400" dirty="0"/>
              <a:t>En la Figura 5.13.1 se presenta el mapa de la memoria RAM de la función ‘</a:t>
            </a:r>
            <a:r>
              <a:rPr lang="es-MX" sz="2400" dirty="0" err="1"/>
              <a:t>LeerDatos</a:t>
            </a:r>
            <a:r>
              <a:rPr lang="es-MX" sz="2400" dirty="0"/>
              <a:t>()’, antes de que los punteros modifiquen los valores contenidos en las variables ‘a’ y ‘b’. </a:t>
            </a:r>
            <a:endParaRPr lang="es-ES" sz="3200"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25</a:t>
            </a:fld>
            <a:endParaRPr lang="es-EC"/>
          </a:p>
        </p:txBody>
      </p:sp>
      <p:pic>
        <p:nvPicPr>
          <p:cNvPr id="7" name="Imagen 6">
            <a:extLst>
              <a:ext uri="{FF2B5EF4-FFF2-40B4-BE49-F238E27FC236}">
                <a16:creationId xmlns:a16="http://schemas.microsoft.com/office/drawing/2014/main" id="{DA9B2DB4-D6B0-4E77-85EB-7B8C3F022E2D}"/>
              </a:ext>
            </a:extLst>
          </p:cNvPr>
          <p:cNvPicPr>
            <a:picLocks noChangeAspect="1"/>
          </p:cNvPicPr>
          <p:nvPr/>
        </p:nvPicPr>
        <p:blipFill>
          <a:blip r:embed="rId2"/>
          <a:stretch>
            <a:fillRect/>
          </a:stretch>
        </p:blipFill>
        <p:spPr>
          <a:xfrm>
            <a:off x="4346707" y="1988840"/>
            <a:ext cx="4104456" cy="3362239"/>
          </a:xfrm>
          <a:prstGeom prst="rect">
            <a:avLst/>
          </a:prstGeom>
        </p:spPr>
      </p:pic>
      <p:sp>
        <p:nvSpPr>
          <p:cNvPr id="8" name="CuadroTexto 7">
            <a:extLst>
              <a:ext uri="{FF2B5EF4-FFF2-40B4-BE49-F238E27FC236}">
                <a16:creationId xmlns:a16="http://schemas.microsoft.com/office/drawing/2014/main" id="{166292B4-2535-4017-9DBF-912EC7BD5CF5}"/>
              </a:ext>
            </a:extLst>
          </p:cNvPr>
          <p:cNvSpPr txBox="1"/>
          <p:nvPr/>
        </p:nvSpPr>
        <p:spPr>
          <a:xfrm>
            <a:off x="3736300" y="5303412"/>
            <a:ext cx="5052749" cy="646331"/>
          </a:xfrm>
          <a:prstGeom prst="rect">
            <a:avLst/>
          </a:prstGeom>
          <a:noFill/>
        </p:spPr>
        <p:txBody>
          <a:bodyPr wrap="square">
            <a:spAutoFit/>
          </a:bodyPr>
          <a:lstStyle/>
          <a:p>
            <a:pPr algn="just"/>
            <a:r>
              <a:rPr lang="es-ES" sz="1200" dirty="0">
                <a:solidFill>
                  <a:schemeClr val="tx1">
                    <a:lumMod val="50000"/>
                    <a:lumOff val="50000"/>
                  </a:schemeClr>
                </a:solidFill>
                <a:latin typeface="+mj-lt"/>
              </a:rPr>
              <a:t>Figura 5.12.1 </a:t>
            </a:r>
            <a:r>
              <a:rPr lang="es-MX" sz="1200" dirty="0">
                <a:solidFill>
                  <a:schemeClr val="tx1">
                    <a:lumMod val="50000"/>
                    <a:lumOff val="50000"/>
                  </a:schemeClr>
                </a:solidFill>
                <a:latin typeface="+mj-lt"/>
              </a:rPr>
              <a:t>. Mapa de la memoria RAM antes de modificar los valores de las variables.</a:t>
            </a:r>
            <a:r>
              <a:rPr lang="es-ES_tradnl" sz="1200" dirty="0">
                <a:solidFill>
                  <a:schemeClr val="tx1">
                    <a:lumMod val="50000"/>
                    <a:lumOff val="50000"/>
                  </a:schemeClr>
                </a:solidFill>
                <a:latin typeface="+mj-lt"/>
              </a:rPr>
              <a:t>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spTree>
    <p:extLst>
      <p:ext uri="{BB962C8B-B14F-4D97-AF65-F5344CB8AC3E}">
        <p14:creationId xmlns:p14="http://schemas.microsoft.com/office/powerpoint/2010/main" val="40787222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94665" y="2132856"/>
            <a:ext cx="8229600" cy="980728"/>
          </a:xfrm>
        </p:spPr>
        <p:txBody>
          <a:bodyPr/>
          <a:lstStyle/>
          <a:p>
            <a:r>
              <a:rPr lang="es-EC" b="1" dirty="0"/>
              <a:t>Función </a:t>
            </a:r>
            <a:r>
              <a:rPr lang="es-EC" b="1" dirty="0" err="1"/>
              <a:t>LeerDatos</a:t>
            </a:r>
            <a:r>
              <a:rPr lang="es-EC" b="1" dirty="0"/>
              <a:t>()</a:t>
            </a:r>
            <a:br>
              <a:rPr lang="es-MX" b="1" dirty="0"/>
            </a:br>
            <a:br>
              <a:rPr lang="es-EC" b="1" dirty="0"/>
            </a:br>
            <a:endParaRPr lang="en-US" b="1" dirty="0"/>
          </a:p>
        </p:txBody>
      </p:sp>
      <p:sp>
        <p:nvSpPr>
          <p:cNvPr id="5" name="4 Marcador de contenido"/>
          <p:cNvSpPr>
            <a:spLocks noGrp="1"/>
          </p:cNvSpPr>
          <p:nvPr>
            <p:ph idx="1"/>
          </p:nvPr>
        </p:nvSpPr>
        <p:spPr>
          <a:xfrm>
            <a:off x="990484" y="1747214"/>
            <a:ext cx="7163029" cy="2736304"/>
          </a:xfrm>
        </p:spPr>
        <p:txBody>
          <a:bodyPr>
            <a:normAutofit/>
          </a:bodyPr>
          <a:lstStyle/>
          <a:p>
            <a:pPr marL="0" indent="0">
              <a:buNone/>
            </a:pPr>
            <a:r>
              <a:rPr lang="es-MX" sz="2400" dirty="0"/>
              <a:t>En la Figura 5.13.2 se presenta el mapa de la memoria RAM de la función ‘</a:t>
            </a:r>
            <a:r>
              <a:rPr lang="es-MX" sz="2400" dirty="0" err="1"/>
              <a:t>LeerDatos</a:t>
            </a:r>
            <a:r>
              <a:rPr lang="es-MX" sz="2400" dirty="0"/>
              <a:t>()’, después de que los punteros modifican los valores contenidos en las variables ‘a’ y ‘b’, donde cada puntero accede al contenido de cada variable utilizando el operador de indirección (*)</a:t>
            </a:r>
            <a:endParaRPr lang="es-ES" sz="3200"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26</a:t>
            </a:fld>
            <a:endParaRPr lang="es-EC"/>
          </a:p>
        </p:txBody>
      </p:sp>
      <p:sp>
        <p:nvSpPr>
          <p:cNvPr id="8" name="CuadroTexto 7">
            <a:extLst>
              <a:ext uri="{FF2B5EF4-FFF2-40B4-BE49-F238E27FC236}">
                <a16:creationId xmlns:a16="http://schemas.microsoft.com/office/drawing/2014/main" id="{166292B4-2535-4017-9DBF-912EC7BD5CF5}"/>
              </a:ext>
            </a:extLst>
          </p:cNvPr>
          <p:cNvSpPr txBox="1"/>
          <p:nvPr/>
        </p:nvSpPr>
        <p:spPr>
          <a:xfrm>
            <a:off x="2074935" y="6356350"/>
            <a:ext cx="5052749" cy="646331"/>
          </a:xfrm>
          <a:prstGeom prst="rect">
            <a:avLst/>
          </a:prstGeom>
          <a:noFill/>
        </p:spPr>
        <p:txBody>
          <a:bodyPr wrap="square">
            <a:spAutoFit/>
          </a:bodyPr>
          <a:lstStyle/>
          <a:p>
            <a:pPr algn="just"/>
            <a:r>
              <a:rPr lang="es-ES" sz="1200" dirty="0">
                <a:solidFill>
                  <a:schemeClr val="tx1">
                    <a:lumMod val="50000"/>
                    <a:lumOff val="50000"/>
                  </a:schemeClr>
                </a:solidFill>
                <a:latin typeface="+mj-lt"/>
              </a:rPr>
              <a:t>Figura 5.12.12 </a:t>
            </a:r>
            <a:r>
              <a:rPr lang="es-MX" sz="1200" dirty="0">
                <a:solidFill>
                  <a:schemeClr val="tx1">
                    <a:lumMod val="50000"/>
                    <a:lumOff val="50000"/>
                  </a:schemeClr>
                </a:solidFill>
                <a:latin typeface="+mj-lt"/>
              </a:rPr>
              <a:t>. Mapa de la memoria RAM </a:t>
            </a:r>
            <a:r>
              <a:rPr lang="es-MX" sz="1200" dirty="0" err="1">
                <a:solidFill>
                  <a:schemeClr val="tx1">
                    <a:lumMod val="50000"/>
                    <a:lumOff val="50000"/>
                  </a:schemeClr>
                </a:solidFill>
                <a:latin typeface="+mj-lt"/>
              </a:rPr>
              <a:t>despúes</a:t>
            </a:r>
            <a:r>
              <a:rPr lang="es-MX" sz="1200" dirty="0">
                <a:solidFill>
                  <a:schemeClr val="tx1">
                    <a:lumMod val="50000"/>
                    <a:lumOff val="50000"/>
                  </a:schemeClr>
                </a:solidFill>
                <a:latin typeface="+mj-lt"/>
              </a:rPr>
              <a:t> de modificar los valores de las variables.</a:t>
            </a:r>
            <a:r>
              <a:rPr lang="es-ES_tradnl" sz="1200" dirty="0">
                <a:solidFill>
                  <a:schemeClr val="tx1">
                    <a:lumMod val="50000"/>
                    <a:lumOff val="50000"/>
                  </a:schemeClr>
                </a:solidFill>
                <a:latin typeface="+mj-lt"/>
              </a:rPr>
              <a:t>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pic>
        <p:nvPicPr>
          <p:cNvPr id="9" name="Imagen 8">
            <a:extLst>
              <a:ext uri="{FF2B5EF4-FFF2-40B4-BE49-F238E27FC236}">
                <a16:creationId xmlns:a16="http://schemas.microsoft.com/office/drawing/2014/main" id="{DC7EE805-BC7F-43F0-9133-0E40B32AFDDE}"/>
              </a:ext>
            </a:extLst>
          </p:cNvPr>
          <p:cNvPicPr>
            <a:picLocks noChangeAspect="1"/>
          </p:cNvPicPr>
          <p:nvPr/>
        </p:nvPicPr>
        <p:blipFill>
          <a:blip r:embed="rId2"/>
          <a:stretch>
            <a:fillRect/>
          </a:stretch>
        </p:blipFill>
        <p:spPr>
          <a:xfrm>
            <a:off x="2483768" y="4293096"/>
            <a:ext cx="5125165" cy="1914792"/>
          </a:xfrm>
          <a:prstGeom prst="rect">
            <a:avLst/>
          </a:prstGeom>
        </p:spPr>
      </p:pic>
    </p:spTree>
    <p:extLst>
      <p:ext uri="{BB962C8B-B14F-4D97-AF65-F5344CB8AC3E}">
        <p14:creationId xmlns:p14="http://schemas.microsoft.com/office/powerpoint/2010/main" val="39750086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94665" y="2132856"/>
            <a:ext cx="8229600" cy="980728"/>
          </a:xfrm>
        </p:spPr>
        <p:txBody>
          <a:bodyPr/>
          <a:lstStyle/>
          <a:p>
            <a:r>
              <a:rPr lang="es-EC" b="1" dirty="0"/>
              <a:t>Función </a:t>
            </a:r>
            <a:r>
              <a:rPr lang="es-EC" b="1" dirty="0" err="1"/>
              <a:t>LeerDatos</a:t>
            </a:r>
            <a:r>
              <a:rPr lang="es-EC" b="1" dirty="0"/>
              <a:t>()</a:t>
            </a:r>
            <a:br>
              <a:rPr lang="es-MX" b="1" dirty="0"/>
            </a:br>
            <a:br>
              <a:rPr lang="es-EC" b="1" dirty="0"/>
            </a:br>
            <a:endParaRPr lang="en-US" b="1" dirty="0"/>
          </a:p>
        </p:txBody>
      </p:sp>
      <p:sp>
        <p:nvSpPr>
          <p:cNvPr id="5" name="4 Marcador de contenido"/>
          <p:cNvSpPr>
            <a:spLocks noGrp="1"/>
          </p:cNvSpPr>
          <p:nvPr>
            <p:ph idx="1"/>
          </p:nvPr>
        </p:nvSpPr>
        <p:spPr>
          <a:xfrm>
            <a:off x="990484" y="1747214"/>
            <a:ext cx="7163029" cy="2736304"/>
          </a:xfrm>
        </p:spPr>
        <p:txBody>
          <a:bodyPr>
            <a:normAutofit/>
          </a:bodyPr>
          <a:lstStyle/>
          <a:p>
            <a:pPr marL="0" indent="0">
              <a:buNone/>
            </a:pPr>
            <a:r>
              <a:rPr lang="es-MX" sz="2400" dirty="0"/>
              <a:t>En la Figura 5.13.2 se presenta el mapa de la memoria RAM de la función ‘</a:t>
            </a:r>
            <a:r>
              <a:rPr lang="es-MX" sz="2400" dirty="0" err="1"/>
              <a:t>LeerDatos</a:t>
            </a:r>
            <a:r>
              <a:rPr lang="es-MX" sz="2400" dirty="0"/>
              <a:t>()’, después de que los punteros modifican los valores contenidos en las variables ‘a’ y ‘b’, donde cada puntero accede al contenido de cada variable utilizando el operador de indirección (*)</a:t>
            </a:r>
            <a:endParaRPr lang="es-ES" sz="3200"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27</a:t>
            </a:fld>
            <a:endParaRPr lang="es-EC"/>
          </a:p>
        </p:txBody>
      </p:sp>
      <p:sp>
        <p:nvSpPr>
          <p:cNvPr id="8" name="CuadroTexto 7">
            <a:extLst>
              <a:ext uri="{FF2B5EF4-FFF2-40B4-BE49-F238E27FC236}">
                <a16:creationId xmlns:a16="http://schemas.microsoft.com/office/drawing/2014/main" id="{166292B4-2535-4017-9DBF-912EC7BD5CF5}"/>
              </a:ext>
            </a:extLst>
          </p:cNvPr>
          <p:cNvSpPr txBox="1"/>
          <p:nvPr/>
        </p:nvSpPr>
        <p:spPr>
          <a:xfrm>
            <a:off x="2074935" y="6356350"/>
            <a:ext cx="5052749" cy="646331"/>
          </a:xfrm>
          <a:prstGeom prst="rect">
            <a:avLst/>
          </a:prstGeom>
          <a:noFill/>
        </p:spPr>
        <p:txBody>
          <a:bodyPr wrap="square">
            <a:spAutoFit/>
          </a:bodyPr>
          <a:lstStyle/>
          <a:p>
            <a:pPr algn="just"/>
            <a:r>
              <a:rPr lang="es-ES" sz="1200" dirty="0">
                <a:solidFill>
                  <a:schemeClr val="tx1">
                    <a:lumMod val="50000"/>
                    <a:lumOff val="50000"/>
                  </a:schemeClr>
                </a:solidFill>
                <a:latin typeface="+mj-lt"/>
              </a:rPr>
              <a:t>Figura 5.12.12 </a:t>
            </a:r>
            <a:r>
              <a:rPr lang="es-MX" sz="1200" dirty="0">
                <a:solidFill>
                  <a:schemeClr val="tx1">
                    <a:lumMod val="50000"/>
                    <a:lumOff val="50000"/>
                  </a:schemeClr>
                </a:solidFill>
                <a:latin typeface="+mj-lt"/>
              </a:rPr>
              <a:t>. Mapa de la memoria RAM </a:t>
            </a:r>
            <a:r>
              <a:rPr lang="es-MX" sz="1200" dirty="0" err="1">
                <a:solidFill>
                  <a:schemeClr val="tx1">
                    <a:lumMod val="50000"/>
                    <a:lumOff val="50000"/>
                  </a:schemeClr>
                </a:solidFill>
                <a:latin typeface="+mj-lt"/>
              </a:rPr>
              <a:t>despúes</a:t>
            </a:r>
            <a:r>
              <a:rPr lang="es-MX" sz="1200" dirty="0">
                <a:solidFill>
                  <a:schemeClr val="tx1">
                    <a:lumMod val="50000"/>
                    <a:lumOff val="50000"/>
                  </a:schemeClr>
                </a:solidFill>
                <a:latin typeface="+mj-lt"/>
              </a:rPr>
              <a:t> de modificar los valores de las variables.</a:t>
            </a:r>
            <a:r>
              <a:rPr lang="es-ES_tradnl" sz="1200" dirty="0">
                <a:solidFill>
                  <a:schemeClr val="tx1">
                    <a:lumMod val="50000"/>
                    <a:lumOff val="50000"/>
                  </a:schemeClr>
                </a:solidFill>
                <a:latin typeface="+mj-lt"/>
              </a:rPr>
              <a:t>Fuente: Zambrano M., et al., 2025.</a:t>
            </a:r>
            <a:endParaRPr lang="es-EC" sz="1200" dirty="0">
              <a:solidFill>
                <a:schemeClr val="tx1">
                  <a:lumMod val="50000"/>
                  <a:lumOff val="50000"/>
                </a:schemeClr>
              </a:solidFill>
              <a:latin typeface="+mj-lt"/>
            </a:endParaRPr>
          </a:p>
          <a:p>
            <a:pPr algn="just"/>
            <a:endParaRPr lang="es-EC" sz="1200" dirty="0">
              <a:solidFill>
                <a:schemeClr val="tx1">
                  <a:lumMod val="50000"/>
                  <a:lumOff val="50000"/>
                </a:schemeClr>
              </a:solidFill>
              <a:latin typeface="+mj-lt"/>
            </a:endParaRPr>
          </a:p>
        </p:txBody>
      </p:sp>
      <p:pic>
        <p:nvPicPr>
          <p:cNvPr id="9" name="Imagen 8">
            <a:extLst>
              <a:ext uri="{FF2B5EF4-FFF2-40B4-BE49-F238E27FC236}">
                <a16:creationId xmlns:a16="http://schemas.microsoft.com/office/drawing/2014/main" id="{DC7EE805-BC7F-43F0-9133-0E40B32AFDDE}"/>
              </a:ext>
            </a:extLst>
          </p:cNvPr>
          <p:cNvPicPr>
            <a:picLocks noChangeAspect="1"/>
          </p:cNvPicPr>
          <p:nvPr/>
        </p:nvPicPr>
        <p:blipFill>
          <a:blip r:embed="rId2"/>
          <a:stretch>
            <a:fillRect/>
          </a:stretch>
        </p:blipFill>
        <p:spPr>
          <a:xfrm>
            <a:off x="2483768" y="4293096"/>
            <a:ext cx="5125165" cy="1914792"/>
          </a:xfrm>
          <a:prstGeom prst="rect">
            <a:avLst/>
          </a:prstGeom>
        </p:spPr>
      </p:pic>
    </p:spTree>
    <p:extLst>
      <p:ext uri="{BB962C8B-B14F-4D97-AF65-F5344CB8AC3E}">
        <p14:creationId xmlns:p14="http://schemas.microsoft.com/office/powerpoint/2010/main" val="33653639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94665" y="2132856"/>
            <a:ext cx="8229600" cy="980728"/>
          </a:xfrm>
        </p:spPr>
        <p:txBody>
          <a:bodyPr/>
          <a:lstStyle/>
          <a:p>
            <a:r>
              <a:rPr lang="es-EC" b="1" dirty="0"/>
              <a:t>Función </a:t>
            </a:r>
            <a:r>
              <a:rPr lang="es-EC" b="1" dirty="0" err="1"/>
              <a:t>LeerDatos</a:t>
            </a:r>
            <a:r>
              <a:rPr lang="es-EC" b="1" dirty="0"/>
              <a:t>()</a:t>
            </a:r>
            <a:br>
              <a:rPr lang="es-MX" b="1" dirty="0"/>
            </a:br>
            <a:br>
              <a:rPr lang="es-EC" b="1" dirty="0"/>
            </a:br>
            <a:endParaRPr lang="en-US" b="1"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28</a:t>
            </a:fld>
            <a:endParaRPr lang="es-EC"/>
          </a:p>
        </p:txBody>
      </p:sp>
      <p:pic>
        <p:nvPicPr>
          <p:cNvPr id="11" name="Imagen 10">
            <a:extLst>
              <a:ext uri="{FF2B5EF4-FFF2-40B4-BE49-F238E27FC236}">
                <a16:creationId xmlns:a16="http://schemas.microsoft.com/office/drawing/2014/main" id="{62F50DFF-E6D0-41DE-893D-89D821AE95C8}"/>
              </a:ext>
            </a:extLst>
          </p:cNvPr>
          <p:cNvPicPr>
            <a:picLocks noChangeAspect="1"/>
          </p:cNvPicPr>
          <p:nvPr/>
        </p:nvPicPr>
        <p:blipFill>
          <a:blip r:embed="rId2"/>
          <a:stretch>
            <a:fillRect/>
          </a:stretch>
        </p:blipFill>
        <p:spPr>
          <a:xfrm>
            <a:off x="928179" y="1476102"/>
            <a:ext cx="7287642" cy="4689202"/>
          </a:xfrm>
          <a:prstGeom prst="rect">
            <a:avLst/>
          </a:prstGeom>
        </p:spPr>
      </p:pic>
    </p:spTree>
    <p:extLst>
      <p:ext uri="{BB962C8B-B14F-4D97-AF65-F5344CB8AC3E}">
        <p14:creationId xmlns:p14="http://schemas.microsoft.com/office/powerpoint/2010/main" val="3743043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99592" y="1844824"/>
            <a:ext cx="7139630" cy="1138436"/>
          </a:xfrm>
        </p:spPr>
        <p:txBody>
          <a:bodyPr/>
          <a:lstStyle/>
          <a:p>
            <a:r>
              <a:rPr lang="es-EC" b="1" dirty="0"/>
              <a:t>Función </a:t>
            </a:r>
            <a:r>
              <a:rPr lang="es-EC" b="1" dirty="0" err="1"/>
              <a:t>ImprimirDatos</a:t>
            </a:r>
            <a:r>
              <a:rPr lang="es-EC" b="1" dirty="0"/>
              <a:t>()</a:t>
            </a:r>
            <a:br>
              <a:rPr lang="es-EC" sz="5400" b="1" dirty="0">
                <a:solidFill>
                  <a:srgbClr val="FF0000"/>
                </a:solidFill>
              </a:rPr>
            </a:br>
            <a:br>
              <a:rPr lang="es-EC" b="1" dirty="0"/>
            </a:br>
            <a:endParaRPr lang="en-US" b="1" dirty="0"/>
          </a:p>
        </p:txBody>
      </p:sp>
      <p:sp>
        <p:nvSpPr>
          <p:cNvPr id="5" name="4 Marcador de contenido"/>
          <p:cNvSpPr>
            <a:spLocks noGrp="1"/>
          </p:cNvSpPr>
          <p:nvPr>
            <p:ph idx="1"/>
          </p:nvPr>
        </p:nvSpPr>
        <p:spPr>
          <a:xfrm>
            <a:off x="726529" y="1475703"/>
            <a:ext cx="7517879" cy="3096344"/>
          </a:xfrm>
        </p:spPr>
        <p:txBody>
          <a:bodyPr>
            <a:normAutofit lnSpcReduction="10000"/>
          </a:bodyPr>
          <a:lstStyle/>
          <a:p>
            <a:pPr marL="0" indent="0">
              <a:buNone/>
            </a:pPr>
            <a:r>
              <a:rPr lang="es-MX" sz="1800" dirty="0"/>
              <a:t>La Figura 5.13.3 muestra cómo trabaja la función ‘</a:t>
            </a:r>
            <a:r>
              <a:rPr lang="es-MX" sz="1800" dirty="0" err="1"/>
              <a:t>ImprimirDatos</a:t>
            </a:r>
            <a:r>
              <a:rPr lang="es-MX" sz="1800" dirty="0"/>
              <a:t>()’, luego de ser declarada y definida. La llamada a la función ‘</a:t>
            </a:r>
            <a:r>
              <a:rPr lang="es-MX" sz="1800" dirty="0" err="1"/>
              <a:t>ImprimirDatos</a:t>
            </a:r>
            <a:r>
              <a:rPr lang="es-MX" sz="1800" dirty="0"/>
              <a:t>()’ envía dos argumentos por valor a los parámetros de la función, la misma que cumple con las tareas de impresión de datos y no retorna ningún valor. En este caso la función ‘</a:t>
            </a:r>
            <a:r>
              <a:rPr lang="es-MX" sz="1800" dirty="0" err="1"/>
              <a:t>ImprimirDatos</a:t>
            </a:r>
            <a:r>
              <a:rPr lang="es-MX" sz="1800" dirty="0"/>
              <a:t>()’, imprime los valores de los números originales antes de ser invertidos. </a:t>
            </a:r>
          </a:p>
          <a:p>
            <a:pPr marL="0" indent="0">
              <a:buNone/>
            </a:pPr>
            <a:endParaRPr lang="es-MX" sz="1800" dirty="0"/>
          </a:p>
          <a:p>
            <a:pPr marL="0" indent="0">
              <a:buNone/>
            </a:pPr>
            <a:r>
              <a:rPr lang="es-MX" sz="1800" dirty="0"/>
              <a:t>En la Figura 5.13.4 se presenta el mapa de la memoria RAM de la función ‘</a:t>
            </a:r>
            <a:r>
              <a:rPr lang="es-MX" sz="1800" dirty="0" err="1"/>
              <a:t>ImprimirDatos</a:t>
            </a:r>
            <a:r>
              <a:rPr lang="es-MX" sz="1800" dirty="0"/>
              <a:t>()’, donde las variables ‘x’ e ‘y’ reciben los valores por copia de las variables ‘a’ y ‘b’. </a:t>
            </a:r>
            <a:endParaRPr lang="es-ES" sz="1800"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29</a:t>
            </a:fld>
            <a:endParaRPr lang="es-EC"/>
          </a:p>
        </p:txBody>
      </p:sp>
      <p:pic>
        <p:nvPicPr>
          <p:cNvPr id="9" name="Imagen 8">
            <a:extLst>
              <a:ext uri="{FF2B5EF4-FFF2-40B4-BE49-F238E27FC236}">
                <a16:creationId xmlns:a16="http://schemas.microsoft.com/office/drawing/2014/main" id="{19DC8D41-D94C-4845-A10B-D55162CDD197}"/>
              </a:ext>
            </a:extLst>
          </p:cNvPr>
          <p:cNvPicPr>
            <a:picLocks noChangeAspect="1"/>
          </p:cNvPicPr>
          <p:nvPr/>
        </p:nvPicPr>
        <p:blipFill>
          <a:blip r:embed="rId2"/>
          <a:stretch>
            <a:fillRect/>
          </a:stretch>
        </p:blipFill>
        <p:spPr>
          <a:xfrm>
            <a:off x="1547664" y="4485944"/>
            <a:ext cx="5620534" cy="2372056"/>
          </a:xfrm>
          <a:prstGeom prst="rect">
            <a:avLst/>
          </a:prstGeom>
        </p:spPr>
      </p:pic>
    </p:spTree>
    <p:extLst>
      <p:ext uri="{BB962C8B-B14F-4D97-AF65-F5344CB8AC3E}">
        <p14:creationId xmlns:p14="http://schemas.microsoft.com/office/powerpoint/2010/main" val="29933742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99592" y="1844824"/>
            <a:ext cx="7139630" cy="1138436"/>
          </a:xfrm>
        </p:spPr>
        <p:txBody>
          <a:bodyPr/>
          <a:lstStyle/>
          <a:p>
            <a:r>
              <a:rPr lang="es-EC" b="1" dirty="0"/>
              <a:t>Función </a:t>
            </a:r>
            <a:r>
              <a:rPr lang="es-EC" b="1" dirty="0" err="1"/>
              <a:t>ImprimirDatos</a:t>
            </a:r>
            <a:r>
              <a:rPr lang="es-EC" b="1" dirty="0"/>
              <a:t>()</a:t>
            </a:r>
            <a:br>
              <a:rPr lang="es-EC" sz="5400" b="1" dirty="0">
                <a:solidFill>
                  <a:srgbClr val="FF0000"/>
                </a:solidFill>
              </a:rPr>
            </a:br>
            <a:br>
              <a:rPr lang="es-EC" b="1" dirty="0"/>
            </a:br>
            <a:endParaRPr lang="en-US" b="1" dirty="0"/>
          </a:p>
        </p:txBody>
      </p:sp>
      <p:sp>
        <p:nvSpPr>
          <p:cNvPr id="5" name="4 Marcador de contenido"/>
          <p:cNvSpPr>
            <a:spLocks noGrp="1"/>
          </p:cNvSpPr>
          <p:nvPr>
            <p:ph idx="1"/>
          </p:nvPr>
        </p:nvSpPr>
        <p:spPr>
          <a:xfrm>
            <a:off x="726529" y="1475703"/>
            <a:ext cx="7517879" cy="3096344"/>
          </a:xfrm>
        </p:spPr>
        <p:txBody>
          <a:bodyPr>
            <a:normAutofit/>
          </a:bodyPr>
          <a:lstStyle/>
          <a:p>
            <a:pPr marL="0" indent="0">
              <a:buNone/>
            </a:pPr>
            <a:r>
              <a:rPr lang="es-MX" sz="1600" dirty="0"/>
              <a:t>La Figura 5.13.5 muestra el proceso de impresión de los valores de los números invertidos, para lo cual se llama a la función ‘</a:t>
            </a:r>
            <a:r>
              <a:rPr lang="es-MX" sz="1600" dirty="0" err="1"/>
              <a:t>ImprimirDatos</a:t>
            </a:r>
            <a:r>
              <a:rPr lang="es-MX" sz="1600" dirty="0"/>
              <a:t>()’ la misma que envía dos argumentos por valor a los parámetros de la función.</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30</a:t>
            </a:fld>
            <a:endParaRPr lang="es-EC"/>
          </a:p>
        </p:txBody>
      </p:sp>
      <p:pic>
        <p:nvPicPr>
          <p:cNvPr id="7" name="Imagen 6">
            <a:extLst>
              <a:ext uri="{FF2B5EF4-FFF2-40B4-BE49-F238E27FC236}">
                <a16:creationId xmlns:a16="http://schemas.microsoft.com/office/drawing/2014/main" id="{5B0C771D-2A28-4BD2-96DC-1D7A1DE18359}"/>
              </a:ext>
            </a:extLst>
          </p:cNvPr>
          <p:cNvPicPr>
            <a:picLocks noChangeAspect="1"/>
          </p:cNvPicPr>
          <p:nvPr/>
        </p:nvPicPr>
        <p:blipFill>
          <a:blip r:embed="rId2"/>
          <a:stretch>
            <a:fillRect/>
          </a:stretch>
        </p:blipFill>
        <p:spPr>
          <a:xfrm>
            <a:off x="585231" y="2684471"/>
            <a:ext cx="7659177" cy="3806711"/>
          </a:xfrm>
          <a:prstGeom prst="rect">
            <a:avLst/>
          </a:prstGeom>
        </p:spPr>
      </p:pic>
    </p:spTree>
    <p:extLst>
      <p:ext uri="{BB962C8B-B14F-4D97-AF65-F5344CB8AC3E}">
        <p14:creationId xmlns:p14="http://schemas.microsoft.com/office/powerpoint/2010/main" val="13953444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99592" y="1844824"/>
            <a:ext cx="7139630" cy="1138436"/>
          </a:xfrm>
        </p:spPr>
        <p:txBody>
          <a:bodyPr/>
          <a:lstStyle/>
          <a:p>
            <a:r>
              <a:rPr lang="es-EC" b="1" dirty="0"/>
              <a:t>Función </a:t>
            </a:r>
            <a:r>
              <a:rPr lang="es-EC" b="1" dirty="0" err="1"/>
              <a:t>ImprimirDatos</a:t>
            </a:r>
            <a:r>
              <a:rPr lang="es-EC" b="1" dirty="0"/>
              <a:t>()</a:t>
            </a:r>
            <a:br>
              <a:rPr lang="es-EC" sz="5400" b="1" dirty="0">
                <a:solidFill>
                  <a:srgbClr val="FF0000"/>
                </a:solidFill>
              </a:rPr>
            </a:br>
            <a:br>
              <a:rPr lang="es-EC" b="1" dirty="0"/>
            </a:br>
            <a:endParaRPr lang="en-US" b="1" dirty="0"/>
          </a:p>
        </p:txBody>
      </p:sp>
      <p:sp>
        <p:nvSpPr>
          <p:cNvPr id="5" name="4 Marcador de contenido"/>
          <p:cNvSpPr>
            <a:spLocks noGrp="1"/>
          </p:cNvSpPr>
          <p:nvPr>
            <p:ph idx="1"/>
          </p:nvPr>
        </p:nvSpPr>
        <p:spPr>
          <a:xfrm>
            <a:off x="755576" y="1872597"/>
            <a:ext cx="3485431" cy="2673377"/>
          </a:xfrm>
        </p:spPr>
        <p:txBody>
          <a:bodyPr>
            <a:normAutofit/>
          </a:bodyPr>
          <a:lstStyle/>
          <a:p>
            <a:pPr marL="0" indent="0">
              <a:buNone/>
            </a:pPr>
            <a:r>
              <a:rPr lang="es-MX" sz="1600" dirty="0"/>
              <a:t>En la Figura 5.13.6 se presenta el mapa de la memoria RAM de la función ‘</a:t>
            </a:r>
            <a:r>
              <a:rPr lang="es-MX" sz="1600" dirty="0" err="1"/>
              <a:t>ImprimirDatos</a:t>
            </a:r>
            <a:r>
              <a:rPr lang="es-MX" sz="1600" dirty="0"/>
              <a:t>()’, donde las variables ‘x’ e ‘y’ reciben los valores por copia de las variables ‘a’ y ‘b’. </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31</a:t>
            </a:fld>
            <a:endParaRPr lang="es-EC"/>
          </a:p>
        </p:txBody>
      </p:sp>
      <p:pic>
        <p:nvPicPr>
          <p:cNvPr id="8" name="Imagen 7">
            <a:extLst>
              <a:ext uri="{FF2B5EF4-FFF2-40B4-BE49-F238E27FC236}">
                <a16:creationId xmlns:a16="http://schemas.microsoft.com/office/drawing/2014/main" id="{FB5257CE-4A81-4104-8FCD-33962C9DDDB2}"/>
              </a:ext>
            </a:extLst>
          </p:cNvPr>
          <p:cNvPicPr>
            <a:picLocks noChangeAspect="1"/>
          </p:cNvPicPr>
          <p:nvPr/>
        </p:nvPicPr>
        <p:blipFill>
          <a:blip r:embed="rId2"/>
          <a:stretch>
            <a:fillRect/>
          </a:stretch>
        </p:blipFill>
        <p:spPr>
          <a:xfrm>
            <a:off x="755576" y="3852117"/>
            <a:ext cx="5687219" cy="2305372"/>
          </a:xfrm>
          <a:prstGeom prst="rect">
            <a:avLst/>
          </a:prstGeom>
        </p:spPr>
      </p:pic>
    </p:spTree>
    <p:extLst>
      <p:ext uri="{BB962C8B-B14F-4D97-AF65-F5344CB8AC3E}">
        <p14:creationId xmlns:p14="http://schemas.microsoft.com/office/powerpoint/2010/main" val="9985345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99592" y="1844824"/>
            <a:ext cx="7139630" cy="1138436"/>
          </a:xfrm>
        </p:spPr>
        <p:txBody>
          <a:bodyPr/>
          <a:lstStyle/>
          <a:p>
            <a:r>
              <a:rPr lang="es-EC" b="1" dirty="0"/>
              <a:t>Función </a:t>
            </a:r>
            <a:r>
              <a:rPr lang="es-EC" b="1" dirty="0" err="1"/>
              <a:t>InvertirDatos</a:t>
            </a:r>
            <a:r>
              <a:rPr lang="es-EC" b="1" dirty="0"/>
              <a:t>() </a:t>
            </a:r>
            <a:br>
              <a:rPr lang="es-EC" b="1" dirty="0"/>
            </a:br>
            <a:br>
              <a:rPr lang="es-EC" b="1" dirty="0"/>
            </a:br>
            <a:endParaRPr lang="en-US" b="1" dirty="0"/>
          </a:p>
        </p:txBody>
      </p:sp>
      <p:sp>
        <p:nvSpPr>
          <p:cNvPr id="5" name="4 Marcador de contenido"/>
          <p:cNvSpPr>
            <a:spLocks noGrp="1"/>
          </p:cNvSpPr>
          <p:nvPr>
            <p:ph idx="1"/>
          </p:nvPr>
        </p:nvSpPr>
        <p:spPr>
          <a:xfrm>
            <a:off x="755576" y="1872597"/>
            <a:ext cx="8136904" cy="1138437"/>
          </a:xfrm>
        </p:spPr>
        <p:txBody>
          <a:bodyPr>
            <a:normAutofit/>
          </a:bodyPr>
          <a:lstStyle/>
          <a:p>
            <a:pPr marL="0" indent="0">
              <a:buNone/>
            </a:pPr>
            <a:r>
              <a:rPr lang="es-MX" sz="1600" dirty="0"/>
              <a:t>La Figura 5.13.7 muestra cómo trabaja la función ‘</a:t>
            </a:r>
            <a:r>
              <a:rPr lang="es-MX" sz="1600" dirty="0" err="1"/>
              <a:t>InvertirDatos</a:t>
            </a:r>
            <a:r>
              <a:rPr lang="es-MX" sz="1600" dirty="0"/>
              <a:t>()’, luego de ser declarada y definida. La llamada a la función ‘</a:t>
            </a:r>
            <a:r>
              <a:rPr lang="es-MX" sz="1600" dirty="0" err="1"/>
              <a:t>InvertirDatos</a:t>
            </a:r>
            <a:r>
              <a:rPr lang="es-MX" sz="1600" dirty="0"/>
              <a:t>()’ envía dos argumentos por dirección a los parámetros (punteros) de la función, la misma que cumple con la tarea de invertir los datos y no retorna ningún valor.</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32</a:t>
            </a:fld>
            <a:endParaRPr lang="es-EC"/>
          </a:p>
        </p:txBody>
      </p:sp>
      <p:pic>
        <p:nvPicPr>
          <p:cNvPr id="7" name="Imagen 6">
            <a:extLst>
              <a:ext uri="{FF2B5EF4-FFF2-40B4-BE49-F238E27FC236}">
                <a16:creationId xmlns:a16="http://schemas.microsoft.com/office/drawing/2014/main" id="{7653F2A9-BB5E-4C78-80C0-84ADC3EED27E}"/>
              </a:ext>
            </a:extLst>
          </p:cNvPr>
          <p:cNvPicPr>
            <a:picLocks noChangeAspect="1"/>
          </p:cNvPicPr>
          <p:nvPr/>
        </p:nvPicPr>
        <p:blipFill>
          <a:blip r:embed="rId2"/>
          <a:stretch>
            <a:fillRect/>
          </a:stretch>
        </p:blipFill>
        <p:spPr>
          <a:xfrm>
            <a:off x="1475656" y="3049068"/>
            <a:ext cx="6372153" cy="3425631"/>
          </a:xfrm>
          <a:prstGeom prst="rect">
            <a:avLst/>
          </a:prstGeom>
        </p:spPr>
      </p:pic>
    </p:spTree>
    <p:extLst>
      <p:ext uri="{BB962C8B-B14F-4D97-AF65-F5344CB8AC3E}">
        <p14:creationId xmlns:p14="http://schemas.microsoft.com/office/powerpoint/2010/main" val="23663503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99592" y="1844824"/>
            <a:ext cx="7139630" cy="1138436"/>
          </a:xfrm>
        </p:spPr>
        <p:txBody>
          <a:bodyPr/>
          <a:lstStyle/>
          <a:p>
            <a:r>
              <a:rPr lang="es-EC" b="1" dirty="0"/>
              <a:t>Función </a:t>
            </a:r>
            <a:r>
              <a:rPr lang="es-EC" b="1" dirty="0" err="1"/>
              <a:t>InvertirDatos</a:t>
            </a:r>
            <a:r>
              <a:rPr lang="es-EC" b="1" dirty="0"/>
              <a:t>() </a:t>
            </a:r>
            <a:br>
              <a:rPr lang="es-EC" b="1" dirty="0"/>
            </a:br>
            <a:br>
              <a:rPr lang="es-EC" b="1" dirty="0"/>
            </a:br>
            <a:endParaRPr lang="en-US" b="1" dirty="0"/>
          </a:p>
        </p:txBody>
      </p:sp>
      <p:sp>
        <p:nvSpPr>
          <p:cNvPr id="5" name="4 Marcador de contenido"/>
          <p:cNvSpPr>
            <a:spLocks noGrp="1"/>
          </p:cNvSpPr>
          <p:nvPr>
            <p:ph idx="1"/>
          </p:nvPr>
        </p:nvSpPr>
        <p:spPr>
          <a:xfrm>
            <a:off x="755576" y="1872597"/>
            <a:ext cx="8136904" cy="1138437"/>
          </a:xfrm>
        </p:spPr>
        <p:txBody>
          <a:bodyPr>
            <a:normAutofit/>
          </a:bodyPr>
          <a:lstStyle/>
          <a:p>
            <a:pPr marL="0" indent="0">
              <a:buNone/>
            </a:pPr>
            <a:r>
              <a:rPr lang="es-MX" sz="1600" dirty="0"/>
              <a:t>En la Figura 5.13.8 se presenta el mapa de la memoria RAM de la función ‘</a:t>
            </a:r>
            <a:r>
              <a:rPr lang="es-MX" sz="1600" dirty="0" err="1"/>
              <a:t>InvertirDatos</a:t>
            </a:r>
            <a:r>
              <a:rPr lang="es-MX" sz="1600" dirty="0"/>
              <a:t>()’, antes de que los punteros modifiquen los valores contenidos en las variables ‘a’ y ‘b’, con la ayuda de la variable ‘</a:t>
            </a:r>
            <a:r>
              <a:rPr lang="es-MX" sz="1600" dirty="0" err="1"/>
              <a:t>temp</a:t>
            </a:r>
            <a:r>
              <a:rPr lang="es-MX" sz="1600" dirty="0"/>
              <a:t>’.</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33</a:t>
            </a:fld>
            <a:endParaRPr lang="es-EC"/>
          </a:p>
        </p:txBody>
      </p:sp>
      <p:pic>
        <p:nvPicPr>
          <p:cNvPr id="8" name="Imagen 7">
            <a:extLst>
              <a:ext uri="{FF2B5EF4-FFF2-40B4-BE49-F238E27FC236}">
                <a16:creationId xmlns:a16="http://schemas.microsoft.com/office/drawing/2014/main" id="{37AFF704-0502-41A3-843D-B32543A5F0C2}"/>
              </a:ext>
            </a:extLst>
          </p:cNvPr>
          <p:cNvPicPr>
            <a:picLocks noChangeAspect="1"/>
          </p:cNvPicPr>
          <p:nvPr/>
        </p:nvPicPr>
        <p:blipFill>
          <a:blip r:embed="rId2"/>
          <a:stretch>
            <a:fillRect/>
          </a:stretch>
        </p:blipFill>
        <p:spPr>
          <a:xfrm>
            <a:off x="1523155" y="3011033"/>
            <a:ext cx="6601746" cy="2619741"/>
          </a:xfrm>
          <a:prstGeom prst="rect">
            <a:avLst/>
          </a:prstGeom>
        </p:spPr>
      </p:pic>
    </p:spTree>
    <p:extLst>
      <p:ext uri="{BB962C8B-B14F-4D97-AF65-F5344CB8AC3E}">
        <p14:creationId xmlns:p14="http://schemas.microsoft.com/office/powerpoint/2010/main" val="1998736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99592" y="1844824"/>
            <a:ext cx="7139630" cy="1138436"/>
          </a:xfrm>
        </p:spPr>
        <p:txBody>
          <a:bodyPr/>
          <a:lstStyle/>
          <a:p>
            <a:r>
              <a:rPr lang="es-EC" b="1" dirty="0"/>
              <a:t>Función </a:t>
            </a:r>
            <a:r>
              <a:rPr lang="es-EC" b="1" dirty="0" err="1"/>
              <a:t>InvertirDatos</a:t>
            </a:r>
            <a:r>
              <a:rPr lang="es-EC" b="1" dirty="0"/>
              <a:t>() </a:t>
            </a:r>
            <a:br>
              <a:rPr lang="es-EC" b="1" dirty="0"/>
            </a:br>
            <a:br>
              <a:rPr lang="es-EC" b="1" dirty="0"/>
            </a:br>
            <a:endParaRPr lang="en-US" b="1" dirty="0"/>
          </a:p>
        </p:txBody>
      </p:sp>
      <p:sp>
        <p:nvSpPr>
          <p:cNvPr id="5" name="4 Marcador de contenido"/>
          <p:cNvSpPr>
            <a:spLocks noGrp="1"/>
          </p:cNvSpPr>
          <p:nvPr>
            <p:ph idx="1"/>
          </p:nvPr>
        </p:nvSpPr>
        <p:spPr>
          <a:xfrm>
            <a:off x="755576" y="1872597"/>
            <a:ext cx="8136904" cy="1138437"/>
          </a:xfrm>
        </p:spPr>
        <p:txBody>
          <a:bodyPr>
            <a:normAutofit fontScale="92500"/>
          </a:bodyPr>
          <a:lstStyle/>
          <a:p>
            <a:pPr marL="0" indent="0">
              <a:buNone/>
            </a:pPr>
            <a:r>
              <a:rPr lang="es-MX" sz="1600" dirty="0"/>
              <a:t>En la Figura 5.13.9 se presenta el mapa de la memoria RAM de la función ‘</a:t>
            </a:r>
            <a:r>
              <a:rPr lang="es-MX" sz="1600" dirty="0" err="1"/>
              <a:t>InvertirDatos</a:t>
            </a:r>
            <a:r>
              <a:rPr lang="es-MX" sz="1600" dirty="0"/>
              <a:t>()’, después de que los punteros modifican los valores contenidos en las variables ‘a’ y ‘b’, con la ayuda de la variable ‘</a:t>
            </a:r>
            <a:r>
              <a:rPr lang="es-MX" sz="1600" dirty="0" err="1"/>
              <a:t>temp</a:t>
            </a:r>
            <a:r>
              <a:rPr lang="es-MX" sz="1600" dirty="0"/>
              <a:t>’, donde cada puntero accede al contenido de cada variable utilizando el operador de indirección (*).</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34</a:t>
            </a:fld>
            <a:endParaRPr lang="es-EC"/>
          </a:p>
        </p:txBody>
      </p:sp>
      <p:pic>
        <p:nvPicPr>
          <p:cNvPr id="7" name="Imagen 6">
            <a:extLst>
              <a:ext uri="{FF2B5EF4-FFF2-40B4-BE49-F238E27FC236}">
                <a16:creationId xmlns:a16="http://schemas.microsoft.com/office/drawing/2014/main" id="{5A3674E9-6730-4B72-8BF0-1B8B07D67CF7}"/>
              </a:ext>
            </a:extLst>
          </p:cNvPr>
          <p:cNvPicPr>
            <a:picLocks noChangeAspect="1"/>
          </p:cNvPicPr>
          <p:nvPr/>
        </p:nvPicPr>
        <p:blipFill>
          <a:blip r:embed="rId2"/>
          <a:stretch>
            <a:fillRect/>
          </a:stretch>
        </p:blipFill>
        <p:spPr>
          <a:xfrm>
            <a:off x="1187624" y="3061354"/>
            <a:ext cx="6992326" cy="2762636"/>
          </a:xfrm>
          <a:prstGeom prst="rect">
            <a:avLst/>
          </a:prstGeom>
        </p:spPr>
      </p:pic>
    </p:spTree>
    <p:extLst>
      <p:ext uri="{BB962C8B-B14F-4D97-AF65-F5344CB8AC3E}">
        <p14:creationId xmlns:p14="http://schemas.microsoft.com/office/powerpoint/2010/main" val="10178789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99592" y="1844824"/>
            <a:ext cx="7139630" cy="1138436"/>
          </a:xfrm>
        </p:spPr>
        <p:txBody>
          <a:bodyPr/>
          <a:lstStyle/>
          <a:p>
            <a:r>
              <a:rPr lang="es-EC" b="1" dirty="0"/>
              <a:t>Función </a:t>
            </a:r>
            <a:r>
              <a:rPr lang="es-EC" b="1" dirty="0" err="1"/>
              <a:t>InvertirDatos</a:t>
            </a:r>
            <a:r>
              <a:rPr lang="es-EC" b="1" dirty="0"/>
              <a:t>() </a:t>
            </a:r>
            <a:br>
              <a:rPr lang="es-EC" b="1" dirty="0"/>
            </a:br>
            <a:br>
              <a:rPr lang="es-EC" b="1" dirty="0"/>
            </a:br>
            <a:endParaRPr lang="en-US" b="1" dirty="0"/>
          </a:p>
        </p:txBody>
      </p:sp>
      <p:sp>
        <p:nvSpPr>
          <p:cNvPr id="5" name="4 Marcador de contenido"/>
          <p:cNvSpPr>
            <a:spLocks noGrp="1"/>
          </p:cNvSpPr>
          <p:nvPr>
            <p:ph idx="1"/>
          </p:nvPr>
        </p:nvSpPr>
        <p:spPr>
          <a:xfrm>
            <a:off x="755576" y="1872597"/>
            <a:ext cx="8136904" cy="1138437"/>
          </a:xfrm>
        </p:spPr>
        <p:txBody>
          <a:bodyPr>
            <a:normAutofit fontScale="92500"/>
          </a:bodyPr>
          <a:lstStyle/>
          <a:p>
            <a:pPr marL="0" indent="0">
              <a:buNone/>
            </a:pPr>
            <a:r>
              <a:rPr lang="es-MX" sz="1600" dirty="0"/>
              <a:t>En la Figura 5.13.9 se presenta el mapa de la memoria RAM de la función ‘</a:t>
            </a:r>
            <a:r>
              <a:rPr lang="es-MX" sz="1600" dirty="0" err="1"/>
              <a:t>InvertirDatos</a:t>
            </a:r>
            <a:r>
              <a:rPr lang="es-MX" sz="1600" dirty="0"/>
              <a:t>()’, después de que los punteros modifican los valores contenidos en las variables ‘a’ y ‘b’, con la ayuda de la variable ‘</a:t>
            </a:r>
            <a:r>
              <a:rPr lang="es-MX" sz="1600" dirty="0" err="1"/>
              <a:t>temp</a:t>
            </a:r>
            <a:r>
              <a:rPr lang="es-MX" sz="1600" dirty="0"/>
              <a:t>’, donde cada puntero accede al contenido de cada variable utilizando el operador de indirección (*).</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35</a:t>
            </a:fld>
            <a:endParaRPr lang="es-EC"/>
          </a:p>
        </p:txBody>
      </p:sp>
      <p:pic>
        <p:nvPicPr>
          <p:cNvPr id="7" name="Imagen 6">
            <a:extLst>
              <a:ext uri="{FF2B5EF4-FFF2-40B4-BE49-F238E27FC236}">
                <a16:creationId xmlns:a16="http://schemas.microsoft.com/office/drawing/2014/main" id="{5A3674E9-6730-4B72-8BF0-1B8B07D67CF7}"/>
              </a:ext>
            </a:extLst>
          </p:cNvPr>
          <p:cNvPicPr>
            <a:picLocks noChangeAspect="1"/>
          </p:cNvPicPr>
          <p:nvPr/>
        </p:nvPicPr>
        <p:blipFill>
          <a:blip r:embed="rId2"/>
          <a:stretch>
            <a:fillRect/>
          </a:stretch>
        </p:blipFill>
        <p:spPr>
          <a:xfrm>
            <a:off x="1187624" y="3061354"/>
            <a:ext cx="6992326" cy="2762636"/>
          </a:xfrm>
          <a:prstGeom prst="rect">
            <a:avLst/>
          </a:prstGeom>
        </p:spPr>
      </p:pic>
    </p:spTree>
    <p:extLst>
      <p:ext uri="{BB962C8B-B14F-4D97-AF65-F5344CB8AC3E}">
        <p14:creationId xmlns:p14="http://schemas.microsoft.com/office/powerpoint/2010/main" val="14393396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n-US" b="1" dirty="0"/>
              <a:t>Contenido</a:t>
            </a:r>
            <a:endParaRPr lang="es-EC" dirty="0"/>
          </a:p>
        </p:txBody>
      </p:sp>
      <p:sp>
        <p:nvSpPr>
          <p:cNvPr id="3" name="2 Marcador de contenido"/>
          <p:cNvSpPr>
            <a:spLocks noGrp="1"/>
          </p:cNvSpPr>
          <p:nvPr>
            <p:ph idx="1"/>
          </p:nvPr>
        </p:nvSpPr>
        <p:spPr>
          <a:xfrm>
            <a:off x="457200" y="1612760"/>
            <a:ext cx="8229600" cy="4525963"/>
          </a:xfrm>
        </p:spPr>
        <p:txBody>
          <a:bodyPr>
            <a:normAutofit fontScale="85000" lnSpcReduction="20000"/>
          </a:bodyPr>
          <a:lstStyle/>
          <a:p>
            <a:pPr marL="0" indent="0">
              <a:buNone/>
            </a:pPr>
            <a:endParaRPr lang="es-EC" sz="2400" dirty="0"/>
          </a:p>
          <a:p>
            <a:r>
              <a:rPr lang="es-EC" sz="2400" dirty="0"/>
              <a:t>Punteros</a:t>
            </a:r>
          </a:p>
          <a:p>
            <a:r>
              <a:rPr lang="es-EC" sz="2400" dirty="0"/>
              <a:t>El Operador de Dirección (&amp;)</a:t>
            </a:r>
          </a:p>
          <a:p>
            <a:r>
              <a:rPr lang="es-EC" sz="2400" dirty="0"/>
              <a:t>El Operador de Indirección (*)</a:t>
            </a:r>
            <a:endParaRPr lang="es-EC" dirty="0"/>
          </a:p>
          <a:p>
            <a:r>
              <a:rPr lang="es-MX" sz="2400" dirty="0"/>
              <a:t>El '</a:t>
            </a:r>
            <a:r>
              <a:rPr lang="es-MX" sz="2400" dirty="0" err="1"/>
              <a:t>rvalue</a:t>
            </a:r>
            <a:r>
              <a:rPr lang="es-MX" sz="2400" dirty="0"/>
              <a:t>' y el '</a:t>
            </a:r>
            <a:r>
              <a:rPr lang="es-MX" sz="2400" dirty="0" err="1"/>
              <a:t>lvalue</a:t>
            </a:r>
            <a:r>
              <a:rPr lang="es-MX" sz="2400" dirty="0"/>
              <a:t>' de una Variable y de un Puntero</a:t>
            </a:r>
          </a:p>
          <a:p>
            <a:r>
              <a:rPr lang="es-EC" dirty="0"/>
              <a:t>Problema 5.12</a:t>
            </a:r>
          </a:p>
          <a:p>
            <a:r>
              <a:rPr lang="es-MX" dirty="0"/>
              <a:t>Paso de Parámetros por Dirección o Punteros </a:t>
            </a:r>
          </a:p>
          <a:p>
            <a:r>
              <a:rPr lang="es-EC" sz="2500" dirty="0"/>
              <a:t>Función </a:t>
            </a:r>
            <a:r>
              <a:rPr lang="es-EC" sz="2500" dirty="0" err="1"/>
              <a:t>LeerDatos</a:t>
            </a:r>
            <a:r>
              <a:rPr lang="es-EC" sz="2500" dirty="0"/>
              <a:t>()</a:t>
            </a:r>
          </a:p>
          <a:p>
            <a:r>
              <a:rPr lang="es-EC" sz="2500" dirty="0"/>
              <a:t>Función </a:t>
            </a:r>
            <a:r>
              <a:rPr lang="es-EC" sz="2500" dirty="0" err="1"/>
              <a:t>ImprimirDatos</a:t>
            </a:r>
            <a:r>
              <a:rPr lang="es-EC" sz="2500" dirty="0"/>
              <a:t>()</a:t>
            </a:r>
          </a:p>
          <a:p>
            <a:r>
              <a:rPr lang="es-EC" sz="2500" dirty="0"/>
              <a:t>Función </a:t>
            </a:r>
            <a:r>
              <a:rPr lang="es-EC" sz="2500" dirty="0" err="1"/>
              <a:t>InvertirDatos</a:t>
            </a:r>
            <a:r>
              <a:rPr lang="es-EC" sz="2500" dirty="0"/>
              <a:t>() </a:t>
            </a:r>
          </a:p>
          <a:p>
            <a:r>
              <a:rPr lang="es-EC" sz="4400" b="1" dirty="0">
                <a:solidFill>
                  <a:srgbClr val="FF0000"/>
                </a:solidFill>
              </a:rPr>
              <a:t>Aplicaciones de Funciones Matemáticas </a:t>
            </a:r>
          </a:p>
          <a:p>
            <a:pPr marL="0" indent="0">
              <a:buNone/>
            </a:pPr>
            <a:endParaRPr lang="es-EC" dirty="0"/>
          </a:p>
        </p:txBody>
      </p:sp>
      <p:sp>
        <p:nvSpPr>
          <p:cNvPr id="5" name="4 Marcador de fecha"/>
          <p:cNvSpPr>
            <a:spLocks noGrp="1"/>
          </p:cNvSpPr>
          <p:nvPr>
            <p:ph type="dt" sz="half" idx="10"/>
          </p:nvPr>
        </p:nvSpPr>
        <p:spPr/>
        <p:txBody>
          <a:bodyPr/>
          <a:lstStyle/>
          <a:p>
            <a:fld id="{85E4E129-A937-4BEE-8A17-D7969DFE55C2}"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36</a:t>
            </a:fld>
            <a:endParaRPr lang="es-EC"/>
          </a:p>
        </p:txBody>
      </p:sp>
    </p:spTree>
    <p:extLst>
      <p:ext uri="{BB962C8B-B14F-4D97-AF65-F5344CB8AC3E}">
        <p14:creationId xmlns:p14="http://schemas.microsoft.com/office/powerpoint/2010/main" val="20381871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218742" y="2708920"/>
            <a:ext cx="7139630" cy="1138436"/>
          </a:xfrm>
        </p:spPr>
        <p:txBody>
          <a:bodyPr/>
          <a:lstStyle/>
          <a:p>
            <a:r>
              <a:rPr lang="es-EC" sz="4400" b="1" dirty="0"/>
              <a:t>Aplicaciones de Funciones Matemáticas </a:t>
            </a:r>
            <a:br>
              <a:rPr lang="es-EC" sz="5400" b="1" dirty="0">
                <a:solidFill>
                  <a:srgbClr val="FF0000"/>
                </a:solidFill>
              </a:rPr>
            </a:br>
            <a:br>
              <a:rPr lang="es-EC" b="1" dirty="0"/>
            </a:br>
            <a:br>
              <a:rPr lang="es-EC" b="1" dirty="0"/>
            </a:br>
            <a:endParaRPr lang="en-US" b="1" dirty="0"/>
          </a:p>
        </p:txBody>
      </p:sp>
      <p:sp>
        <p:nvSpPr>
          <p:cNvPr id="5" name="4 Marcador de contenido"/>
          <p:cNvSpPr>
            <a:spLocks noGrp="1"/>
          </p:cNvSpPr>
          <p:nvPr>
            <p:ph idx="1"/>
          </p:nvPr>
        </p:nvSpPr>
        <p:spPr>
          <a:xfrm>
            <a:off x="755576" y="1872597"/>
            <a:ext cx="8136904" cy="4652747"/>
          </a:xfrm>
        </p:spPr>
        <p:txBody>
          <a:bodyPr>
            <a:normAutofit lnSpcReduction="10000"/>
          </a:bodyPr>
          <a:lstStyle/>
          <a:p>
            <a:pPr marL="0" indent="0">
              <a:buNone/>
            </a:pPr>
            <a:r>
              <a:rPr lang="es-MX" sz="1600" dirty="0"/>
              <a:t>Así, como existe una gran variedad de funciones matemáticas en la librería de Encabezado de Funciones Matemáticas (</a:t>
            </a:r>
            <a:r>
              <a:rPr lang="es-MX" sz="1600" dirty="0" err="1"/>
              <a:t>Math</a:t>
            </a:r>
            <a:r>
              <a:rPr lang="es-MX" sz="1600" dirty="0"/>
              <a:t> Library </a:t>
            </a:r>
            <a:r>
              <a:rPr lang="es-MX" sz="1600" dirty="0" err="1"/>
              <a:t>Header</a:t>
            </a:r>
            <a:r>
              <a:rPr lang="es-MX" sz="1600" dirty="0"/>
              <a:t>), como se mencionó en la sección 1.2.1 y luego se aplicó varias de estas funciones en la resolución de problemas como se puede ver en la sección 1.8.1, este número de funciones son limitadas, por lo que se pueden crear librerías propias de funciones matemáticas aplicadas a la vida real y a otras áreas de las ciencias del saber. </a:t>
            </a:r>
          </a:p>
          <a:p>
            <a:pPr marL="0" indent="0">
              <a:buNone/>
            </a:pPr>
            <a:r>
              <a:rPr lang="es-MX" sz="1600" dirty="0"/>
              <a:t>Uno de los conceptos más importantes en las Matemáticas es la función, ya que se puede aplicar en numerosas situaciones de la vida cotidiana y determinar las relaciones que existen entre magnitudes tanto en Matemáticas, Física, Química, Biología, Economía, etc., y poder calcular el valor de una de ellas en función de otras de las que depende (Ballester, S., 2009). </a:t>
            </a:r>
          </a:p>
          <a:p>
            <a:pPr marL="0" indent="0">
              <a:buNone/>
            </a:pPr>
            <a:endParaRPr lang="es-MX" sz="1600" dirty="0"/>
          </a:p>
          <a:p>
            <a:pPr marL="0" indent="0">
              <a:buNone/>
            </a:pPr>
            <a:r>
              <a:rPr lang="es-MX" sz="1600" dirty="0"/>
              <a:t>El famoso matemático Euler fue el primero en emplear la expresión y = f(x) para representar una función ‘f’ asociada a un valor ‘x’. Con esta representación que es empleada hoy en el Cálculo Diferencial e Integral, se comenzó a utilizar el concepto de función en las Matemáticas. En esta sección se presentarán algunas funciones aplicadas a varias áreas del saber tales como: Cinemática, Dinámica, Energía, Química, Acústica, Economía, Termodinámica y Física Clásica. </a:t>
            </a:r>
            <a:endParaRPr lang="es-ES" sz="2000"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dirty="0"/>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37</a:t>
            </a:fld>
            <a:endParaRPr lang="es-EC"/>
          </a:p>
        </p:txBody>
      </p:sp>
    </p:spTree>
    <p:extLst>
      <p:ext uri="{BB962C8B-B14F-4D97-AF65-F5344CB8AC3E}">
        <p14:creationId xmlns:p14="http://schemas.microsoft.com/office/powerpoint/2010/main" val="9965986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 y="-1"/>
            <a:ext cx="9105252" cy="954107"/>
          </a:xfrm>
        </p:spPr>
        <p:txBody>
          <a:bodyPr/>
          <a:lstStyle/>
          <a:p>
            <a:r>
              <a:rPr lang="es-ES" sz="4800" b="1" dirty="0"/>
              <a:t>Pensamiento</a:t>
            </a:r>
            <a:endParaRPr lang="en-US" sz="4800" b="1" dirty="0"/>
          </a:p>
        </p:txBody>
      </p:sp>
      <p:sp>
        <p:nvSpPr>
          <p:cNvPr id="5" name="4 Marcador de contenido"/>
          <p:cNvSpPr>
            <a:spLocks noGrp="1"/>
          </p:cNvSpPr>
          <p:nvPr>
            <p:ph idx="1"/>
          </p:nvPr>
        </p:nvSpPr>
        <p:spPr>
          <a:xfrm>
            <a:off x="106385" y="3004125"/>
            <a:ext cx="4755908" cy="2459009"/>
          </a:xfrm>
        </p:spPr>
        <p:txBody>
          <a:bodyPr>
            <a:normAutofit/>
          </a:bodyPr>
          <a:lstStyle/>
          <a:p>
            <a:r>
              <a:rPr lang="es-EC" b="1" dirty="0"/>
              <a:t>“</a:t>
            </a:r>
            <a:r>
              <a:rPr lang="es-ES" b="1" dirty="0"/>
              <a:t>Todo el mundo debería saber programar”</a:t>
            </a:r>
            <a:endParaRPr lang="es-ES" dirty="0"/>
          </a:p>
        </p:txBody>
      </p:sp>
      <p:sp>
        <p:nvSpPr>
          <p:cNvPr id="3" name="2 Marcador de fecha"/>
          <p:cNvSpPr>
            <a:spLocks noGrp="1"/>
          </p:cNvSpPr>
          <p:nvPr>
            <p:ph type="dt" sz="half" idx="10"/>
          </p:nvPr>
        </p:nvSpPr>
        <p:spPr/>
        <p:txBody>
          <a:bodyPr/>
          <a:lstStyle/>
          <a:p>
            <a:fld id="{44C3288D-7DAC-4DD2-9022-6C6BA4238517}" type="datetime1">
              <a:rPr lang="es-EC" smtClean="0"/>
              <a:t>30/12/2025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38</a:t>
            </a:fld>
            <a:endParaRPr lang="es-EC"/>
          </a:p>
        </p:txBody>
      </p:sp>
      <p:sp>
        <p:nvSpPr>
          <p:cNvPr id="8" name="7 CuadroTexto"/>
          <p:cNvSpPr txBox="1"/>
          <p:nvPr/>
        </p:nvSpPr>
        <p:spPr>
          <a:xfrm>
            <a:off x="106385" y="1587689"/>
            <a:ext cx="9241702" cy="523220"/>
          </a:xfrm>
          <a:prstGeom prst="rect">
            <a:avLst/>
          </a:prstGeom>
          <a:noFill/>
        </p:spPr>
        <p:txBody>
          <a:bodyPr wrap="square" rtlCol="0">
            <a:spAutoFit/>
          </a:bodyPr>
          <a:lstStyle/>
          <a:p>
            <a:r>
              <a:rPr lang="es-EC" sz="2800" dirty="0">
                <a:solidFill>
                  <a:schemeClr val="bg1">
                    <a:lumMod val="50000"/>
                  </a:schemeClr>
                </a:solidFill>
              </a:rPr>
              <a:t>Científico de la Computación</a:t>
            </a:r>
          </a:p>
        </p:txBody>
      </p:sp>
      <p:sp>
        <p:nvSpPr>
          <p:cNvPr id="9" name="12 CuadroTexto"/>
          <p:cNvSpPr txBox="1"/>
          <p:nvPr/>
        </p:nvSpPr>
        <p:spPr>
          <a:xfrm>
            <a:off x="4572000" y="5105587"/>
            <a:ext cx="4264624" cy="646331"/>
          </a:xfrm>
          <a:prstGeom prst="rect">
            <a:avLst/>
          </a:prstGeom>
          <a:noFill/>
        </p:spPr>
        <p:txBody>
          <a:bodyPr wrap="square" rtlCol="0">
            <a:spAutoFit/>
          </a:bodyPr>
          <a:lstStyle/>
          <a:p>
            <a:r>
              <a:rPr lang="es-ES_tradnl" sz="1200" dirty="0">
                <a:solidFill>
                  <a:schemeClr val="tx1">
                    <a:lumMod val="50000"/>
                    <a:lumOff val="50000"/>
                  </a:schemeClr>
                </a:solidFill>
                <a:latin typeface="+mj-lt"/>
              </a:rPr>
              <a:t>Figura 32. </a:t>
            </a:r>
            <a:r>
              <a:rPr lang="es-EC" sz="1200" dirty="0">
                <a:solidFill>
                  <a:schemeClr val="tx1">
                    <a:lumMod val="50000"/>
                    <a:lumOff val="50000"/>
                  </a:schemeClr>
                </a:solidFill>
                <a:latin typeface="+mj-lt"/>
              </a:rPr>
              <a:t>Universidad de las Fuerzas Armadas - ESPE</a:t>
            </a:r>
            <a:r>
              <a:rPr lang="es-ES_tradnl" sz="1200" dirty="0">
                <a:solidFill>
                  <a:schemeClr val="tx1">
                    <a:lumMod val="50000"/>
                    <a:lumOff val="50000"/>
                  </a:schemeClr>
                </a:solidFill>
                <a:latin typeface="+mj-lt"/>
              </a:rPr>
              <a:t>. </a:t>
            </a:r>
          </a:p>
          <a:p>
            <a:r>
              <a:rPr lang="es-ES_tradnl" sz="1200" dirty="0">
                <a:solidFill>
                  <a:schemeClr val="tx1">
                    <a:lumMod val="50000"/>
                    <a:lumOff val="50000"/>
                  </a:schemeClr>
                </a:solidFill>
                <a:latin typeface="+mj-lt"/>
              </a:rPr>
              <a:t>Fuente: https://economipedia.com/definiciones/steve-jobs.html</a:t>
            </a:r>
            <a:endParaRPr lang="es-EC" sz="1200" dirty="0">
              <a:solidFill>
                <a:schemeClr val="tx1">
                  <a:lumMod val="50000"/>
                  <a:lumOff val="50000"/>
                </a:schemeClr>
              </a:solidFill>
              <a:latin typeface="+mj-lt"/>
            </a:endParaRPr>
          </a:p>
        </p:txBody>
      </p:sp>
      <p:pic>
        <p:nvPicPr>
          <p:cNvPr id="10" name="Imagen 9">
            <a:extLst>
              <a:ext uri="{FF2B5EF4-FFF2-40B4-BE49-F238E27FC236}">
                <a16:creationId xmlns:a16="http://schemas.microsoft.com/office/drawing/2014/main" id="{F0B58358-E067-4062-8B4C-9A21F65546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6878" y="2222286"/>
            <a:ext cx="4232938" cy="2638134"/>
          </a:xfrm>
          <a:prstGeom prst="rect">
            <a:avLst/>
          </a:prstGeom>
        </p:spPr>
      </p:pic>
    </p:spTree>
    <p:extLst>
      <p:ext uri="{BB962C8B-B14F-4D97-AF65-F5344CB8AC3E}">
        <p14:creationId xmlns:p14="http://schemas.microsoft.com/office/powerpoint/2010/main" val="10817259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39552" y="2060848"/>
            <a:ext cx="8229600" cy="836712"/>
          </a:xfrm>
        </p:spPr>
        <p:txBody>
          <a:bodyPr/>
          <a:lstStyle/>
          <a:p>
            <a:r>
              <a:rPr lang="en-US" b="1" dirty="0"/>
              <a:t>¿</a:t>
            </a:r>
            <a:r>
              <a:rPr lang="en-US" b="1" dirty="0" err="1"/>
              <a:t>Preguntas</a:t>
            </a:r>
            <a:r>
              <a:rPr lang="en-US" b="1" dirty="0"/>
              <a:t>?</a:t>
            </a:r>
          </a:p>
        </p:txBody>
      </p:sp>
      <p:sp>
        <p:nvSpPr>
          <p:cNvPr id="5" name="4 Marcador de contenido"/>
          <p:cNvSpPr>
            <a:spLocks noGrp="1"/>
          </p:cNvSpPr>
          <p:nvPr>
            <p:ph idx="1"/>
          </p:nvPr>
        </p:nvSpPr>
        <p:spPr>
          <a:xfrm>
            <a:off x="2771800" y="3501008"/>
            <a:ext cx="5760640" cy="792088"/>
          </a:xfrm>
        </p:spPr>
        <p:txBody>
          <a:bodyPr>
            <a:normAutofit/>
          </a:bodyPr>
          <a:lstStyle/>
          <a:p>
            <a:pPr marL="0" indent="0">
              <a:buNone/>
            </a:pPr>
            <a:r>
              <a:rPr lang="es-EC" sz="4000" dirty="0"/>
              <a:t>!Gracias!</a:t>
            </a:r>
          </a:p>
        </p:txBody>
      </p:sp>
      <p:sp>
        <p:nvSpPr>
          <p:cNvPr id="3" name="2 Marcador de fecha"/>
          <p:cNvSpPr>
            <a:spLocks noGrp="1"/>
          </p:cNvSpPr>
          <p:nvPr>
            <p:ph type="dt" sz="half" idx="10"/>
          </p:nvPr>
        </p:nvSpPr>
        <p:spPr/>
        <p:txBody>
          <a:bodyPr/>
          <a:lstStyle/>
          <a:p>
            <a:fld id="{EA350481-F057-463F-9522-14A55A4D5C62}" type="datetime1">
              <a:rPr lang="es-EC" smtClean="0"/>
              <a:t>30/12/2025</a:t>
            </a:fld>
            <a:endParaRPr lang="es-EC"/>
          </a:p>
        </p:txBody>
      </p:sp>
      <p:sp>
        <p:nvSpPr>
          <p:cNvPr id="6" name="5 Marcador de número de diapositiva"/>
          <p:cNvSpPr>
            <a:spLocks noGrp="1"/>
          </p:cNvSpPr>
          <p:nvPr>
            <p:ph type="sldNum" sz="quarter" idx="12"/>
          </p:nvPr>
        </p:nvSpPr>
        <p:spPr/>
        <p:txBody>
          <a:bodyPr/>
          <a:lstStyle/>
          <a:p>
            <a:fld id="{14B28EB2-3408-4757-A806-361BA67028B7}" type="slidenum">
              <a:rPr lang="es-EC" smtClean="0"/>
              <a:t>39</a:t>
            </a:fld>
            <a:endParaRPr lang="es-EC"/>
          </a:p>
        </p:txBody>
      </p:sp>
    </p:spTree>
    <p:extLst>
      <p:ext uri="{BB962C8B-B14F-4D97-AF65-F5344CB8AC3E}">
        <p14:creationId xmlns:p14="http://schemas.microsoft.com/office/powerpoint/2010/main" val="10934712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jecutivo">
  <a:themeElements>
    <a:clrScheme name="Ejecutivo">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jecutivo">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jecutiv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7218</TotalTime>
  <Words>3025</Words>
  <Application>Microsoft Office PowerPoint</Application>
  <PresentationFormat>Presentación en pantalla (4:3)</PresentationFormat>
  <Paragraphs>301</Paragraphs>
  <Slides>39</Slides>
  <Notes>4</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39</vt:i4>
      </vt:variant>
    </vt:vector>
  </HeadingPairs>
  <TitlesOfParts>
    <vt:vector size="45" baseType="lpstr">
      <vt:lpstr>Arial</vt:lpstr>
      <vt:lpstr>Calibri</vt:lpstr>
      <vt:lpstr>Century Gothic</vt:lpstr>
      <vt:lpstr>Courier New</vt:lpstr>
      <vt:lpstr>Palatino Linotype</vt:lpstr>
      <vt:lpstr>Ejecutivo</vt:lpstr>
      <vt:lpstr>Presentación de PowerPoint</vt:lpstr>
      <vt:lpstr>Contenido</vt:lpstr>
      <vt:lpstr>PUNTEROS </vt:lpstr>
      <vt:lpstr>PUNTEROS </vt:lpstr>
      <vt:lpstr>Contenido</vt:lpstr>
      <vt:lpstr>El Operador de Dirección (&amp;) </vt:lpstr>
      <vt:lpstr>El Operador de Dirección (&amp;) </vt:lpstr>
      <vt:lpstr>Contenido</vt:lpstr>
      <vt:lpstr>El Operador de Indirección (*) </vt:lpstr>
      <vt:lpstr>Contenido</vt:lpstr>
      <vt:lpstr>El 'rvalue' y el 'lvalue' de una Variable y de un Puntero  </vt:lpstr>
      <vt:lpstr>El 'rvalue' y el 'lvalue' de una Variable y de un Puntero</vt:lpstr>
      <vt:lpstr>El 'rvalue' y el 'lvalue' de una Variable y de un Puntero </vt:lpstr>
      <vt:lpstr>Contenido</vt:lpstr>
      <vt:lpstr>Problema 5.12 </vt:lpstr>
      <vt:lpstr>Presentación de PowerPoint</vt:lpstr>
      <vt:lpstr>Problema 5.12 </vt:lpstr>
      <vt:lpstr>Problema 5.12 </vt:lpstr>
      <vt:lpstr>Contenido</vt:lpstr>
      <vt:lpstr>Contenido</vt:lpstr>
      <vt:lpstr>Paso de Parámetros por Dirección o Punteros   </vt:lpstr>
      <vt:lpstr>Contenido</vt:lpstr>
      <vt:lpstr>Función LeerDatos()  </vt:lpstr>
      <vt:lpstr>Función LeerDatos()  </vt:lpstr>
      <vt:lpstr>Función LeerDatos()  </vt:lpstr>
      <vt:lpstr>Función LeerDatos()  </vt:lpstr>
      <vt:lpstr>Función LeerDatos()  </vt:lpstr>
      <vt:lpstr>Función LeerDatos()  </vt:lpstr>
      <vt:lpstr>Función ImprimirDatos()  </vt:lpstr>
      <vt:lpstr>Función ImprimirDatos()  </vt:lpstr>
      <vt:lpstr>Función ImprimirDatos()  </vt:lpstr>
      <vt:lpstr>Función InvertirDatos()   </vt:lpstr>
      <vt:lpstr>Función InvertirDatos()   </vt:lpstr>
      <vt:lpstr>Función InvertirDatos()   </vt:lpstr>
      <vt:lpstr>Función InvertirDatos()   </vt:lpstr>
      <vt:lpstr>Contenido</vt:lpstr>
      <vt:lpstr>Aplicaciones de Funciones Matemáticas    </vt:lpstr>
      <vt:lpstr>Pensamiento</vt:lpstr>
      <vt:lpstr>¿Preguntas?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dc:creator>
  <cp:lastModifiedBy>KEVIN TOPÓN SALAZAR</cp:lastModifiedBy>
  <cp:revision>299</cp:revision>
  <cp:lastPrinted>2014-11-12T14:27:29Z</cp:lastPrinted>
  <dcterms:created xsi:type="dcterms:W3CDTF">2014-09-28T12:26:51Z</dcterms:created>
  <dcterms:modified xsi:type="dcterms:W3CDTF">2025-12-30T16:12:36Z</dcterms:modified>
</cp:coreProperties>
</file>