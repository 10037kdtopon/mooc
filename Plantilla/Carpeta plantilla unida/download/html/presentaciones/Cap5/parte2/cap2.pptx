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816" r:id="rId1"/>
  </p:sldMasterIdLst>
  <p:notesMasterIdLst>
    <p:notesMasterId r:id="rId22"/>
  </p:notesMasterIdLst>
  <p:handoutMasterIdLst>
    <p:handoutMasterId r:id="rId23"/>
  </p:handoutMasterIdLst>
  <p:sldIdLst>
    <p:sldId id="311" r:id="rId2"/>
    <p:sldId id="463" r:id="rId3"/>
    <p:sldId id="278" r:id="rId4"/>
    <p:sldId id="469" r:id="rId5"/>
    <p:sldId id="467" r:id="rId6"/>
    <p:sldId id="468" r:id="rId7"/>
    <p:sldId id="470" r:id="rId8"/>
    <p:sldId id="420" r:id="rId9"/>
    <p:sldId id="425" r:id="rId10"/>
    <p:sldId id="426" r:id="rId11"/>
    <p:sldId id="471" r:id="rId12"/>
    <p:sldId id="472" r:id="rId13"/>
    <p:sldId id="473" r:id="rId14"/>
    <p:sldId id="474" r:id="rId15"/>
    <p:sldId id="475" r:id="rId16"/>
    <p:sldId id="476" r:id="rId17"/>
    <p:sldId id="477" r:id="rId18"/>
    <p:sldId id="478" r:id="rId19"/>
    <p:sldId id="393" r:id="rId20"/>
    <p:sldId id="275" r:id="rId21"/>
  </p:sldIdLst>
  <p:sldSz cx="9144000" cy="6858000" type="screen4x3"/>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9747" autoAdjust="0"/>
  </p:normalViewPr>
  <p:slideViewPr>
    <p:cSldViewPr>
      <p:cViewPr varScale="1">
        <p:scale>
          <a:sx n="76" d="100"/>
          <a:sy n="76" d="100"/>
        </p:scale>
        <p:origin x="1680"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8ABEF8-F28B-4F1C-8604-95AA82841CB5}" type="datetimeFigureOut">
              <a:rPr lang="es-EC" smtClean="0"/>
              <a:t>10/12/2025</a:t>
            </a:fld>
            <a:endParaRPr lang="es-EC"/>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E161FD-F57C-4EC7-B46A-8ED034AFAD39}" type="slidenum">
              <a:rPr lang="es-EC" smtClean="0"/>
              <a:t>‹Nº›</a:t>
            </a:fld>
            <a:endParaRPr lang="es-EC"/>
          </a:p>
        </p:txBody>
      </p:sp>
    </p:spTree>
    <p:extLst>
      <p:ext uri="{BB962C8B-B14F-4D97-AF65-F5344CB8AC3E}">
        <p14:creationId xmlns:p14="http://schemas.microsoft.com/office/powerpoint/2010/main" val="2345405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7D006-09F4-429A-BE8C-DBAF982511F0}" type="datetimeFigureOut">
              <a:rPr lang="es-EC" smtClean="0"/>
              <a:t>10/12/2025</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DD2930-2CA9-432A-8292-C602BD3CCB94}" type="slidenum">
              <a:rPr lang="es-EC" smtClean="0"/>
              <a:t>‹Nº›</a:t>
            </a:fld>
            <a:endParaRPr lang="es-EC"/>
          </a:p>
        </p:txBody>
      </p:sp>
    </p:spTree>
    <p:extLst>
      <p:ext uri="{BB962C8B-B14F-4D97-AF65-F5344CB8AC3E}">
        <p14:creationId xmlns:p14="http://schemas.microsoft.com/office/powerpoint/2010/main" val="35876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10/12/2025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10/12/2025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10/12/2025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10/12/2025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365760" y="1600200"/>
            <a:ext cx="4041648"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10/12/2025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457200" y="2212848"/>
            <a:ext cx="4041648"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10/12/2025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10/12/2025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10/12/2025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10/12/2025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10/12/2025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10/12/2025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10/12/2025</a:t>
            </a:fld>
            <a:endParaRPr lang="es-EC"/>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35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5: FUNCIONES, REFERENCIAS Y PUNTEROS</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539552" y="4725144"/>
            <a:ext cx="8280400" cy="1814206"/>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César Villacís, Margarita Zambrano, Sofía Bayona, Luis Pastor, David Alvarado, Luis García, Kevin Topón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endParaRPr lang="es-EC" sz="1800" dirty="0"/>
          </a:p>
          <a:p>
            <a:r>
              <a:rPr lang="es-ES" sz="1800" dirty="0">
                <a:solidFill>
                  <a:srgbClr val="0070C0"/>
                </a:solidFill>
              </a:rPr>
              <a:t>e-mail: {</a:t>
            </a:r>
            <a:r>
              <a:rPr lang="es-ES" sz="1800" dirty="0" err="1">
                <a:solidFill>
                  <a:srgbClr val="0070C0"/>
                </a:solidFill>
              </a:rPr>
              <a:t>cjvillacis</a:t>
            </a:r>
            <a:r>
              <a:rPr lang="es-ES" sz="1800" dirty="0">
                <a:solidFill>
                  <a:srgbClr val="0070C0"/>
                </a:solidFill>
              </a:rPr>
              <a:t>, </a:t>
            </a:r>
            <a:r>
              <a:rPr lang="es-ES" sz="1800" dirty="0" err="1">
                <a:solidFill>
                  <a:srgbClr val="0070C0"/>
                </a:solidFill>
              </a:rPr>
              <a:t>mezambrano</a:t>
            </a:r>
            <a:r>
              <a:rPr lang="es-ES" sz="1800" dirty="0">
                <a:solidFill>
                  <a:srgbClr val="0070C0"/>
                </a:solidFill>
              </a:rPr>
              <a:t>}@espe.edu.ec</a:t>
            </a:r>
            <a:endParaRPr lang="en-US" sz="1800" b="1" dirty="0">
              <a:solidFill>
                <a:srgbClr val="0070C0"/>
              </a:solidFill>
            </a:endParaRPr>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10/12/2025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3851920" y="1178049"/>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r>
              <a:rPr lang="es-EC" sz="4000" b="1" dirty="0">
                <a:solidFill>
                  <a:srgbClr val="FF0000"/>
                </a:solidFill>
              </a:rPr>
              <a:t>Referencias </a:t>
            </a:r>
          </a:p>
          <a:p>
            <a:r>
              <a:rPr lang="es-EC" sz="3200" dirty="0"/>
              <a:t>Problema 5.9</a:t>
            </a:r>
          </a:p>
          <a:p>
            <a:r>
              <a:rPr lang="es-EC" sz="3200" dirty="0"/>
              <a:t>Paso de Parámetros por Referencias </a:t>
            </a:r>
          </a:p>
          <a:p>
            <a:r>
              <a:rPr lang="es-EC" sz="3200" dirty="0"/>
              <a:t>Problema 5.10</a:t>
            </a:r>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a:t>
            </a:fld>
            <a:endParaRPr lang="es-EC"/>
          </a:p>
        </p:txBody>
      </p:sp>
    </p:spTree>
    <p:extLst>
      <p:ext uri="{BB962C8B-B14F-4D97-AF65-F5344CB8AC3E}">
        <p14:creationId xmlns:p14="http://schemas.microsoft.com/office/powerpoint/2010/main" val="2772052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Referencias</a:t>
            </a:r>
            <a:endParaRPr lang="en-US" b="1" dirty="0"/>
          </a:p>
        </p:txBody>
      </p:sp>
      <p:sp>
        <p:nvSpPr>
          <p:cNvPr id="5" name="4 Marcador de contenido"/>
          <p:cNvSpPr>
            <a:spLocks noGrp="1"/>
          </p:cNvSpPr>
          <p:nvPr>
            <p:ph idx="1"/>
          </p:nvPr>
        </p:nvSpPr>
        <p:spPr>
          <a:xfrm>
            <a:off x="726529" y="1484784"/>
            <a:ext cx="8132859" cy="4680520"/>
          </a:xfrm>
        </p:spPr>
        <p:txBody>
          <a:bodyPr>
            <a:normAutofit/>
          </a:bodyPr>
          <a:lstStyle/>
          <a:p>
            <a:pPr marL="0" indent="0">
              <a:buNone/>
            </a:pPr>
            <a:r>
              <a:rPr lang="es-MX" sz="1800" dirty="0"/>
              <a:t>Una referencia es un alias de una variable (Luna, F., 2004). Por ejemplo, dada una referencia R a una variable A, se puede directamente acceder a la variable A con la referencia R, por lo que se dice que la referencia R se refiere a la variable A. Para crear una referencia se debe considerar los siguientes puntos:</a:t>
            </a:r>
          </a:p>
          <a:p>
            <a:pPr marL="0" indent="0">
              <a:buNone/>
            </a:pPr>
            <a:endParaRPr lang="es-MX" sz="1800" dirty="0"/>
          </a:p>
          <a:p>
            <a:pPr marL="0" indent="0">
              <a:buNone/>
            </a:pPr>
            <a:r>
              <a:rPr lang="es-MX" sz="1800" dirty="0"/>
              <a:t>A)Especificar el tipo de la variable a la cual se referirá la referencia. </a:t>
            </a:r>
          </a:p>
          <a:p>
            <a:pPr marL="0" indent="0">
              <a:buNone/>
            </a:pPr>
            <a:endParaRPr lang="es-MX" sz="1800" dirty="0"/>
          </a:p>
          <a:p>
            <a:pPr marL="0" indent="0">
              <a:buNone/>
            </a:pPr>
            <a:r>
              <a:rPr lang="es-MX" sz="1800" dirty="0"/>
              <a:t>B)Utilizar el operador unario de dirección (&amp;). </a:t>
            </a:r>
          </a:p>
          <a:p>
            <a:pPr marL="0" indent="0">
              <a:buNone/>
            </a:pPr>
            <a:endParaRPr lang="es-MX" sz="1800" dirty="0"/>
          </a:p>
          <a:p>
            <a:pPr marL="0" indent="0">
              <a:buNone/>
            </a:pPr>
            <a:r>
              <a:rPr lang="es-MX" sz="1800" dirty="0"/>
              <a:t>C)Utilizar un nombre para la referencia. </a:t>
            </a:r>
          </a:p>
          <a:p>
            <a:pPr marL="0" indent="0">
              <a:buNone/>
            </a:pPr>
            <a:endParaRPr lang="es-MX" sz="1800" dirty="0"/>
          </a:p>
          <a:p>
            <a:pPr marL="0" indent="0">
              <a:buNone/>
            </a:pPr>
            <a:r>
              <a:rPr lang="es-MX" sz="1800" dirty="0"/>
              <a:t>D)Seguida con una inicialización, la cual especifica la variable a la cual la referencia se referirá.</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Referencias</a:t>
            </a:r>
            <a:endParaRPr lang="en-US" b="1" dirty="0"/>
          </a:p>
        </p:txBody>
      </p:sp>
      <p:sp>
        <p:nvSpPr>
          <p:cNvPr id="5" name="4 Marcador de contenido"/>
          <p:cNvSpPr>
            <a:spLocks noGrp="1"/>
          </p:cNvSpPr>
          <p:nvPr>
            <p:ph idx="1"/>
          </p:nvPr>
        </p:nvSpPr>
        <p:spPr>
          <a:xfrm>
            <a:off x="726529" y="1484784"/>
            <a:ext cx="7229847" cy="2952328"/>
          </a:xfrm>
        </p:spPr>
        <p:txBody>
          <a:bodyPr>
            <a:normAutofit/>
          </a:bodyPr>
          <a:lstStyle/>
          <a:p>
            <a:pPr marL="0" indent="0">
              <a:buNone/>
            </a:pPr>
            <a:r>
              <a:rPr lang="es-MX" sz="2000" dirty="0"/>
              <a:t>Una referencia permite manipular la variable original a la cual se refiere, por lo tanto, puede ser utilizada para modificar el valor de la variable original para realizar operaciones de lectura y diferentes cálculos. A continuación, se presentan algunos ejemplos que muestran la creación de referencias referenciadas a variables:</a:t>
            </a:r>
            <a:endParaRPr lang="es-ES" sz="2800" dirty="0"/>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a:t>
            </a:fld>
            <a:endParaRPr lang="es-EC"/>
          </a:p>
        </p:txBody>
      </p:sp>
      <p:pic>
        <p:nvPicPr>
          <p:cNvPr id="7" name="Imagen 6">
            <a:extLst>
              <a:ext uri="{FF2B5EF4-FFF2-40B4-BE49-F238E27FC236}">
                <a16:creationId xmlns:a16="http://schemas.microsoft.com/office/drawing/2014/main" id="{DBD3349B-586C-4F16-B25A-905D53095E17}"/>
              </a:ext>
            </a:extLst>
          </p:cNvPr>
          <p:cNvPicPr>
            <a:picLocks noChangeAspect="1"/>
          </p:cNvPicPr>
          <p:nvPr/>
        </p:nvPicPr>
        <p:blipFill>
          <a:blip r:embed="rId2"/>
          <a:stretch>
            <a:fillRect/>
          </a:stretch>
        </p:blipFill>
        <p:spPr>
          <a:xfrm>
            <a:off x="899592" y="4360062"/>
            <a:ext cx="2734057" cy="1162212"/>
          </a:xfrm>
          <a:prstGeom prst="rect">
            <a:avLst/>
          </a:prstGeom>
        </p:spPr>
      </p:pic>
      <p:pic>
        <p:nvPicPr>
          <p:cNvPr id="9" name="Imagen 8">
            <a:extLst>
              <a:ext uri="{FF2B5EF4-FFF2-40B4-BE49-F238E27FC236}">
                <a16:creationId xmlns:a16="http://schemas.microsoft.com/office/drawing/2014/main" id="{09A65B84-59DF-4E6F-A130-DBC496B56C34}"/>
              </a:ext>
            </a:extLst>
          </p:cNvPr>
          <p:cNvPicPr>
            <a:picLocks noChangeAspect="1"/>
          </p:cNvPicPr>
          <p:nvPr/>
        </p:nvPicPr>
        <p:blipFill>
          <a:blip r:embed="rId3"/>
          <a:stretch>
            <a:fillRect/>
          </a:stretch>
        </p:blipFill>
        <p:spPr>
          <a:xfrm>
            <a:off x="3851920" y="4386008"/>
            <a:ext cx="3762900" cy="1076475"/>
          </a:xfrm>
          <a:prstGeom prst="rect">
            <a:avLst/>
          </a:prstGeom>
        </p:spPr>
      </p:pic>
    </p:spTree>
    <p:extLst>
      <p:ext uri="{BB962C8B-B14F-4D97-AF65-F5344CB8AC3E}">
        <p14:creationId xmlns:p14="http://schemas.microsoft.com/office/powerpoint/2010/main" val="1942223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r>
              <a:rPr lang="es-EC" sz="3200" dirty="0"/>
              <a:t>Referencias </a:t>
            </a:r>
          </a:p>
          <a:p>
            <a:r>
              <a:rPr lang="es-EC" sz="4000" b="1" dirty="0">
                <a:solidFill>
                  <a:srgbClr val="FF0000"/>
                </a:solidFill>
              </a:rPr>
              <a:t>Problema 5.9</a:t>
            </a:r>
          </a:p>
          <a:p>
            <a:r>
              <a:rPr lang="es-EC" sz="3200" dirty="0"/>
              <a:t>Paso de Parámetros por Referencias </a:t>
            </a:r>
          </a:p>
          <a:p>
            <a:r>
              <a:rPr lang="es-EC" sz="3200" dirty="0"/>
              <a:t>Problema 5.10</a:t>
            </a:r>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Tree>
    <p:extLst>
      <p:ext uri="{BB962C8B-B14F-4D97-AF65-F5344CB8AC3E}">
        <p14:creationId xmlns:p14="http://schemas.microsoft.com/office/powerpoint/2010/main" val="3630823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403648" y="562372"/>
            <a:ext cx="7139630" cy="1138436"/>
          </a:xfrm>
        </p:spPr>
        <p:txBody>
          <a:bodyPr/>
          <a:lstStyle/>
          <a:p>
            <a:r>
              <a:rPr lang="es-EC" b="1" dirty="0"/>
              <a:t>Problema 5.9</a:t>
            </a:r>
            <a:br>
              <a:rPr lang="es-EC" b="1" dirty="0"/>
            </a:br>
            <a:endParaRPr lang="en-US" b="1" dirty="0"/>
          </a:p>
        </p:txBody>
      </p:sp>
      <p:sp>
        <p:nvSpPr>
          <p:cNvPr id="5" name="4 Marcador de contenido"/>
          <p:cNvSpPr>
            <a:spLocks noGrp="1"/>
          </p:cNvSpPr>
          <p:nvPr>
            <p:ph idx="1"/>
          </p:nvPr>
        </p:nvSpPr>
        <p:spPr>
          <a:xfrm>
            <a:off x="726529" y="1484784"/>
            <a:ext cx="2981375" cy="4320480"/>
          </a:xfrm>
        </p:spPr>
        <p:txBody>
          <a:bodyPr>
            <a:normAutofit lnSpcReduction="10000"/>
          </a:bodyPr>
          <a:lstStyle/>
          <a:p>
            <a:pPr marL="0" indent="0">
              <a:buNone/>
            </a:pPr>
            <a:r>
              <a:rPr lang="es-MX" sz="1800" dirty="0"/>
              <a:t>Escribir un programa donde se crea una variable con el valor de 7 y a continuación se crea una referencia a esa variable. Luego, imprimir el valor de la variable y el contenido de la referencia. Después, modificar el contenido de la referencia con el número 70. Finalmente, imprimir nuevamente el contenido de la variable y el contenido de la referencia: </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pic>
        <p:nvPicPr>
          <p:cNvPr id="7" name="Imagen 6">
            <a:extLst>
              <a:ext uri="{FF2B5EF4-FFF2-40B4-BE49-F238E27FC236}">
                <a16:creationId xmlns:a16="http://schemas.microsoft.com/office/drawing/2014/main" id="{C424F04B-3970-4E50-9B23-771499715B4B}"/>
              </a:ext>
            </a:extLst>
          </p:cNvPr>
          <p:cNvPicPr>
            <a:picLocks noChangeAspect="1"/>
          </p:cNvPicPr>
          <p:nvPr/>
        </p:nvPicPr>
        <p:blipFill>
          <a:blip r:embed="rId2"/>
          <a:stretch>
            <a:fillRect/>
          </a:stretch>
        </p:blipFill>
        <p:spPr>
          <a:xfrm>
            <a:off x="3613803" y="1238398"/>
            <a:ext cx="5210462" cy="4918856"/>
          </a:xfrm>
          <a:prstGeom prst="rect">
            <a:avLst/>
          </a:prstGeom>
        </p:spPr>
      </p:pic>
      <p:sp>
        <p:nvSpPr>
          <p:cNvPr id="8" name="CuadroTexto 7">
            <a:extLst>
              <a:ext uri="{FF2B5EF4-FFF2-40B4-BE49-F238E27FC236}">
                <a16:creationId xmlns:a16="http://schemas.microsoft.com/office/drawing/2014/main" id="{B5156A4E-8AF8-4311-8E36-B34774D5EE16}"/>
              </a:ext>
            </a:extLst>
          </p:cNvPr>
          <p:cNvSpPr txBox="1"/>
          <p:nvPr/>
        </p:nvSpPr>
        <p:spPr>
          <a:xfrm>
            <a:off x="3691053" y="6295628"/>
            <a:ext cx="396295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5.9</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993374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403648" y="562372"/>
            <a:ext cx="7139630" cy="1138436"/>
          </a:xfrm>
        </p:spPr>
        <p:txBody>
          <a:bodyPr/>
          <a:lstStyle/>
          <a:p>
            <a:r>
              <a:rPr lang="es-EC" b="1" dirty="0"/>
              <a:t>Problema 5.9</a:t>
            </a:r>
            <a:br>
              <a:rPr lang="es-EC" b="1" dirty="0"/>
            </a:br>
            <a:endParaRPr lang="en-US" b="1" dirty="0"/>
          </a:p>
        </p:txBody>
      </p:sp>
      <p:sp>
        <p:nvSpPr>
          <p:cNvPr id="5" name="4 Marcador de contenido"/>
          <p:cNvSpPr>
            <a:spLocks noGrp="1"/>
          </p:cNvSpPr>
          <p:nvPr>
            <p:ph idx="1"/>
          </p:nvPr>
        </p:nvSpPr>
        <p:spPr>
          <a:xfrm>
            <a:off x="726529" y="1484784"/>
            <a:ext cx="6509767" cy="4320480"/>
          </a:xfrm>
        </p:spPr>
        <p:txBody>
          <a:bodyPr>
            <a:normAutofit/>
          </a:bodyPr>
          <a:lstStyle/>
          <a:p>
            <a:pPr marL="0" indent="0">
              <a:buNone/>
            </a:pPr>
            <a:r>
              <a:rPr lang="es-MX" dirty="0"/>
              <a:t>Como se puede ver en el programa 5.9, al ser la referencia un alias de una variable, el momento en que se modifica el contenido de la referencia, automáticamente se modifica el valor de la variable referenciada por esa referencia.</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pic>
        <p:nvPicPr>
          <p:cNvPr id="8" name="Imagen 7">
            <a:extLst>
              <a:ext uri="{FF2B5EF4-FFF2-40B4-BE49-F238E27FC236}">
                <a16:creationId xmlns:a16="http://schemas.microsoft.com/office/drawing/2014/main" id="{C976F43F-288D-4393-A035-99FEB49B4099}"/>
              </a:ext>
            </a:extLst>
          </p:cNvPr>
          <p:cNvPicPr>
            <a:picLocks noChangeAspect="1"/>
          </p:cNvPicPr>
          <p:nvPr/>
        </p:nvPicPr>
        <p:blipFill>
          <a:blip r:embed="rId2"/>
          <a:stretch>
            <a:fillRect/>
          </a:stretch>
        </p:blipFill>
        <p:spPr>
          <a:xfrm>
            <a:off x="971600" y="4365104"/>
            <a:ext cx="3686132" cy="1557276"/>
          </a:xfrm>
          <a:prstGeom prst="rect">
            <a:avLst/>
          </a:prstGeom>
        </p:spPr>
      </p:pic>
      <p:sp>
        <p:nvSpPr>
          <p:cNvPr id="9" name="CuadroTexto 8">
            <a:extLst>
              <a:ext uri="{FF2B5EF4-FFF2-40B4-BE49-F238E27FC236}">
                <a16:creationId xmlns:a16="http://schemas.microsoft.com/office/drawing/2014/main" id="{5E54EAC3-40EF-45CD-8A17-193BC4624129}"/>
              </a:ext>
            </a:extLst>
          </p:cNvPr>
          <p:cNvSpPr txBox="1"/>
          <p:nvPr/>
        </p:nvSpPr>
        <p:spPr>
          <a:xfrm>
            <a:off x="917177" y="6075144"/>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5.9</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363739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67544" y="1196752"/>
            <a:ext cx="3250210" cy="3096344"/>
          </a:xfrm>
        </p:spPr>
        <p:txBody>
          <a:bodyPr>
            <a:normAutofit fontScale="70000" lnSpcReduction="20000"/>
          </a:bodyPr>
          <a:lstStyle/>
          <a:p>
            <a:r>
              <a:rPr lang="es-MX" dirty="0"/>
              <a:t>Escribir un programa sin utilizar funciones que calcule el área de un rectángulo para los siguientes valores de ancho y largo: a) ancho: 7; largo: 2; b) ancho: 9; largo: 5; c) ancho: 8; largo: 4; ingresados desde el teclado en forma seguida, es decir, uno a continuación de otro.</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5.9</a:t>
            </a:r>
            <a:br>
              <a:rPr lang="es-EC" sz="1000" b="1" dirty="0">
                <a:solidFill>
                  <a:srgbClr val="FF0000"/>
                </a:solidFill>
              </a:rPr>
            </a:br>
            <a:endParaRPr lang="en-US" sz="2000" dirty="0"/>
          </a:p>
        </p:txBody>
      </p:sp>
      <p:pic>
        <p:nvPicPr>
          <p:cNvPr id="8" name="Imagen 7">
            <a:extLst>
              <a:ext uri="{FF2B5EF4-FFF2-40B4-BE49-F238E27FC236}">
                <a16:creationId xmlns:a16="http://schemas.microsoft.com/office/drawing/2014/main" id="{C217E0B1-E8BF-401A-AFD6-3C1200BF3D61}"/>
              </a:ext>
            </a:extLst>
          </p:cNvPr>
          <p:cNvPicPr>
            <a:picLocks noChangeAspect="1"/>
          </p:cNvPicPr>
          <p:nvPr/>
        </p:nvPicPr>
        <p:blipFill>
          <a:blip r:embed="rId2"/>
          <a:stretch>
            <a:fillRect/>
          </a:stretch>
        </p:blipFill>
        <p:spPr>
          <a:xfrm>
            <a:off x="3841532" y="1196752"/>
            <a:ext cx="4268830" cy="4879057"/>
          </a:xfrm>
          <a:prstGeom prst="rect">
            <a:avLst/>
          </a:prstGeom>
        </p:spPr>
      </p:pic>
    </p:spTree>
    <p:extLst>
      <p:ext uri="{BB962C8B-B14F-4D97-AF65-F5344CB8AC3E}">
        <p14:creationId xmlns:p14="http://schemas.microsoft.com/office/powerpoint/2010/main" val="490258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67544" y="1196752"/>
            <a:ext cx="3250210" cy="3096344"/>
          </a:xfrm>
        </p:spPr>
        <p:txBody>
          <a:bodyPr>
            <a:normAutofit fontScale="70000" lnSpcReduction="20000"/>
          </a:bodyPr>
          <a:lstStyle/>
          <a:p>
            <a:r>
              <a:rPr lang="es-MX" dirty="0"/>
              <a:t>Escribir un programa sin utilizar funciones que calcule el área de un rectángulo para los siguientes valores de ancho y largo: a) ancho: 7; largo: 2; b) ancho: 9; largo: 5; c) ancho: 8; largo: 4; ingresados desde el teclado en forma seguida, es decir, uno a continuación de otro.</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5.9</a:t>
            </a:r>
            <a:br>
              <a:rPr lang="es-EC" sz="1000" b="1" dirty="0">
                <a:solidFill>
                  <a:srgbClr val="FF0000"/>
                </a:solidFill>
              </a:rPr>
            </a:br>
            <a:endParaRPr lang="en-US" sz="2000" dirty="0"/>
          </a:p>
        </p:txBody>
      </p:sp>
      <p:pic>
        <p:nvPicPr>
          <p:cNvPr id="4" name="Imagen 3">
            <a:extLst>
              <a:ext uri="{FF2B5EF4-FFF2-40B4-BE49-F238E27FC236}">
                <a16:creationId xmlns:a16="http://schemas.microsoft.com/office/drawing/2014/main" id="{C048A090-7953-4DAF-BEC8-1ABDA37C5FC4}"/>
              </a:ext>
            </a:extLst>
          </p:cNvPr>
          <p:cNvPicPr>
            <a:picLocks noChangeAspect="1"/>
          </p:cNvPicPr>
          <p:nvPr/>
        </p:nvPicPr>
        <p:blipFill>
          <a:blip r:embed="rId2"/>
          <a:stretch>
            <a:fillRect/>
          </a:stretch>
        </p:blipFill>
        <p:spPr>
          <a:xfrm>
            <a:off x="3635896" y="1340768"/>
            <a:ext cx="4552848" cy="4320480"/>
          </a:xfrm>
          <a:prstGeom prst="rect">
            <a:avLst/>
          </a:prstGeom>
        </p:spPr>
      </p:pic>
      <p:sp>
        <p:nvSpPr>
          <p:cNvPr id="9" name="CuadroTexto 8">
            <a:extLst>
              <a:ext uri="{FF2B5EF4-FFF2-40B4-BE49-F238E27FC236}">
                <a16:creationId xmlns:a16="http://schemas.microsoft.com/office/drawing/2014/main" id="{208BDC02-3BFD-42A5-9A73-90443A45DDDA}"/>
              </a:ext>
            </a:extLst>
          </p:cNvPr>
          <p:cNvSpPr txBox="1"/>
          <p:nvPr/>
        </p:nvSpPr>
        <p:spPr>
          <a:xfrm>
            <a:off x="2915816" y="594928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5.9</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349124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67544" y="1196752"/>
            <a:ext cx="3250210" cy="3096344"/>
          </a:xfrm>
        </p:spPr>
        <p:txBody>
          <a:bodyPr>
            <a:normAutofit fontScale="70000" lnSpcReduction="20000"/>
          </a:bodyPr>
          <a:lstStyle/>
          <a:p>
            <a:r>
              <a:rPr lang="es-MX" dirty="0"/>
              <a:t>Escribir un programa sin utilizar funciones que calcule el área de un rectángulo para los siguientes valores de ancho y largo: a) ancho: 7; largo: 2; b) ancho: 9; largo: 5; c) ancho: 8; largo: 4; ingresados desde el teclado en forma seguida, es decir, uno a continuación de otro.</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5.9</a:t>
            </a:r>
            <a:br>
              <a:rPr lang="es-EC" sz="1000" b="1" dirty="0">
                <a:solidFill>
                  <a:srgbClr val="FF0000"/>
                </a:solidFill>
              </a:rPr>
            </a:br>
            <a:endParaRPr lang="en-US" sz="2000" dirty="0"/>
          </a:p>
        </p:txBody>
      </p:sp>
      <p:sp>
        <p:nvSpPr>
          <p:cNvPr id="9" name="CuadroTexto 8">
            <a:extLst>
              <a:ext uri="{FF2B5EF4-FFF2-40B4-BE49-F238E27FC236}">
                <a16:creationId xmlns:a16="http://schemas.microsoft.com/office/drawing/2014/main" id="{208BDC02-3BFD-42A5-9A73-90443A45DDDA}"/>
              </a:ext>
            </a:extLst>
          </p:cNvPr>
          <p:cNvSpPr txBox="1"/>
          <p:nvPr/>
        </p:nvSpPr>
        <p:spPr>
          <a:xfrm>
            <a:off x="3059832" y="532559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5.9</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B69B0C93-1EC6-45FB-B835-32E0B4AC3CB0}"/>
              </a:ext>
            </a:extLst>
          </p:cNvPr>
          <p:cNvPicPr>
            <a:picLocks noChangeAspect="1"/>
          </p:cNvPicPr>
          <p:nvPr/>
        </p:nvPicPr>
        <p:blipFill rotWithShape="1">
          <a:blip r:embed="rId2"/>
          <a:srcRect r="56339"/>
          <a:stretch/>
        </p:blipFill>
        <p:spPr>
          <a:xfrm>
            <a:off x="4388052" y="1149021"/>
            <a:ext cx="3950590" cy="3744416"/>
          </a:xfrm>
          <a:prstGeom prst="rect">
            <a:avLst/>
          </a:prstGeom>
        </p:spPr>
      </p:pic>
    </p:spTree>
    <p:extLst>
      <p:ext uri="{BB962C8B-B14F-4D97-AF65-F5344CB8AC3E}">
        <p14:creationId xmlns:p14="http://schemas.microsoft.com/office/powerpoint/2010/main" val="426318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r>
              <a:rPr lang="es-EC" sz="3200" dirty="0"/>
              <a:t>Referencias </a:t>
            </a:r>
          </a:p>
          <a:p>
            <a:r>
              <a:rPr lang="es-EC" sz="3200" dirty="0"/>
              <a:t>Problema 5.9</a:t>
            </a:r>
          </a:p>
          <a:p>
            <a:r>
              <a:rPr lang="es-EC" sz="4000" b="1" dirty="0">
                <a:solidFill>
                  <a:srgbClr val="FF0000"/>
                </a:solidFill>
              </a:rPr>
              <a:t>Paso de Parámetros por Referencias </a:t>
            </a:r>
          </a:p>
          <a:p>
            <a:r>
              <a:rPr lang="es-EC" sz="3200" dirty="0"/>
              <a:t>Problema 5.10</a:t>
            </a:r>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spTree>
    <p:extLst>
      <p:ext uri="{BB962C8B-B14F-4D97-AF65-F5344CB8AC3E}">
        <p14:creationId xmlns:p14="http://schemas.microsoft.com/office/powerpoint/2010/main" val="681742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522544" y="1772816"/>
            <a:ext cx="7981778" cy="3096344"/>
          </a:xfrm>
        </p:spPr>
        <p:txBody>
          <a:bodyPr>
            <a:normAutofit lnSpcReduction="10000"/>
          </a:bodyPr>
          <a:lstStyle/>
          <a:p>
            <a:r>
              <a:rPr lang="es-MX" dirty="0"/>
              <a:t>Se pueden retornar múltiples valores con referencias, por lo que las referencias permiten manipular las variables originales a las cuales se refieren, lo que se conoce como paso de parámetros por referencias (Luna, F., 2004). En esta sección se realizarán algunos ejercicios para realizar operaciones de lectura y cálculos matemáticos para modificar los valores de las variables originales utilizando referencias. </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564707" y="1196752"/>
            <a:ext cx="8229600" cy="1340768"/>
          </a:xfrm>
        </p:spPr>
        <p:txBody>
          <a:bodyPr/>
          <a:lstStyle/>
          <a:p>
            <a:pPr>
              <a:lnSpc>
                <a:spcPts val="4000"/>
              </a:lnSpc>
            </a:pPr>
            <a:r>
              <a:rPr lang="es-EC" sz="4800" dirty="0"/>
              <a:t>Paso de Parámetros por Referencias </a:t>
            </a:r>
            <a:br>
              <a:rPr lang="es-EC" sz="1000" b="1" dirty="0">
                <a:solidFill>
                  <a:srgbClr val="FF0000"/>
                </a:solidFill>
              </a:rPr>
            </a:br>
            <a:br>
              <a:rPr lang="es-EC" sz="1000" b="1" dirty="0">
                <a:solidFill>
                  <a:srgbClr val="FF0000"/>
                </a:solidFill>
              </a:rPr>
            </a:br>
            <a:endParaRPr lang="en-US" sz="2000" dirty="0"/>
          </a:p>
        </p:txBody>
      </p:sp>
    </p:spTree>
    <p:extLst>
      <p:ext uri="{BB962C8B-B14F-4D97-AF65-F5344CB8AC3E}">
        <p14:creationId xmlns:p14="http://schemas.microsoft.com/office/powerpoint/2010/main" val="2300366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r>
              <a:rPr lang="es-EC" sz="3200" dirty="0"/>
              <a:t>Referencias </a:t>
            </a:r>
          </a:p>
          <a:p>
            <a:r>
              <a:rPr lang="es-EC" sz="3200" dirty="0"/>
              <a:t>Problema 5.9</a:t>
            </a:r>
          </a:p>
          <a:p>
            <a:r>
              <a:rPr lang="es-EC" sz="3200" dirty="0"/>
              <a:t>Paso de Parámetros por Referencias </a:t>
            </a:r>
          </a:p>
          <a:p>
            <a:r>
              <a:rPr lang="es-EC" sz="4000" b="1" dirty="0">
                <a:solidFill>
                  <a:srgbClr val="FF0000"/>
                </a:solidFill>
              </a:rPr>
              <a:t>Problema 5.10</a:t>
            </a:r>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10/12/2025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Tree>
    <p:extLst>
      <p:ext uri="{BB962C8B-B14F-4D97-AF65-F5344CB8AC3E}">
        <p14:creationId xmlns:p14="http://schemas.microsoft.com/office/powerpoint/2010/main" val="1846184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74004" y="1316388"/>
            <a:ext cx="7981778" cy="5039962"/>
          </a:xfrm>
        </p:spPr>
        <p:txBody>
          <a:bodyPr>
            <a:normAutofit lnSpcReduction="10000"/>
          </a:bodyPr>
          <a:lstStyle/>
          <a:p>
            <a:r>
              <a:rPr lang="es-MX" sz="1800" dirty="0"/>
              <a:t>Escribir un programa con funciones y referencias que permita invertir dos números utilizando una variable auxiliar. Los prototipos de las funciones son:</a:t>
            </a:r>
          </a:p>
          <a:p>
            <a:endParaRPr lang="es-MX" sz="1800" dirty="0">
              <a:solidFill>
                <a:schemeClr val="bg1">
                  <a:lumMod val="50000"/>
                </a:schemeClr>
              </a:solidFill>
            </a:endParaRPr>
          </a:p>
          <a:p>
            <a:endParaRPr lang="es-MX" sz="1800" dirty="0">
              <a:solidFill>
                <a:schemeClr val="bg1">
                  <a:lumMod val="50000"/>
                </a:schemeClr>
              </a:solidFill>
            </a:endParaRPr>
          </a:p>
          <a:p>
            <a:endParaRPr lang="es-MX" sz="1800" dirty="0">
              <a:solidFill>
                <a:schemeClr val="bg1">
                  <a:lumMod val="50000"/>
                </a:schemeClr>
              </a:solidFill>
            </a:endParaRPr>
          </a:p>
          <a:p>
            <a:pPr marL="0" indent="0">
              <a:buNone/>
            </a:pPr>
            <a:r>
              <a:rPr lang="es-MX" sz="1800" dirty="0"/>
              <a:t>a. El programa utilizará la función </a:t>
            </a:r>
            <a:r>
              <a:rPr lang="es-MX" sz="1800" dirty="0" err="1"/>
              <a:t>LeerDatos</a:t>
            </a:r>
            <a:r>
              <a:rPr lang="es-MX" sz="1800" dirty="0"/>
              <a:t>(</a:t>
            </a:r>
            <a:r>
              <a:rPr lang="es-MX" sz="1800" dirty="0" err="1"/>
              <a:t>Lista_Parámetros</a:t>
            </a:r>
            <a:r>
              <a:rPr lang="es-MX" sz="1800" dirty="0"/>
              <a:t>), que permitirá leer dos valores enteros utilizando 2 referencias para manipular las variables. </a:t>
            </a:r>
          </a:p>
          <a:p>
            <a:pPr marL="0" indent="0">
              <a:buNone/>
            </a:pPr>
            <a:endParaRPr lang="es-MX" sz="1800" dirty="0"/>
          </a:p>
          <a:p>
            <a:pPr marL="0" indent="0">
              <a:buNone/>
            </a:pPr>
            <a:r>
              <a:rPr lang="es-MX" sz="1800" dirty="0"/>
              <a:t>b. El programa utilizará la función Invertir(</a:t>
            </a:r>
            <a:r>
              <a:rPr lang="es-MX" sz="1800" dirty="0" err="1"/>
              <a:t>Lista_Parámetros</a:t>
            </a:r>
            <a:r>
              <a:rPr lang="es-MX" sz="1800" dirty="0"/>
              <a:t>), que permitirá invertir dos valores numéricos utilizando 2 referencias y una variable auxiliar. </a:t>
            </a:r>
          </a:p>
          <a:p>
            <a:pPr marL="0" indent="0">
              <a:buNone/>
            </a:pPr>
            <a:endParaRPr lang="es-MX" sz="1800" dirty="0"/>
          </a:p>
          <a:p>
            <a:pPr marL="0" indent="0">
              <a:buNone/>
            </a:pPr>
            <a:r>
              <a:rPr lang="es-MX" sz="1800" dirty="0"/>
              <a:t>c. El programa utilizará la función </a:t>
            </a:r>
            <a:r>
              <a:rPr lang="es-MX" sz="1800" dirty="0" err="1"/>
              <a:t>ImprimirDatos</a:t>
            </a:r>
            <a:r>
              <a:rPr lang="es-MX" sz="1800" dirty="0"/>
              <a:t>(</a:t>
            </a:r>
            <a:r>
              <a:rPr lang="es-MX" sz="1800" dirty="0" err="1"/>
              <a:t>Lista_Parámetros</a:t>
            </a:r>
            <a:r>
              <a:rPr lang="es-MX" sz="1800" dirty="0"/>
              <a:t>), que permitirá imprimir dos valores numéricos, utilizando paso de parámetros por valor o por copia. </a:t>
            </a:r>
            <a:endParaRPr lang="es-ES" sz="18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5.10</a:t>
            </a:r>
            <a:br>
              <a:rPr lang="es-EC" sz="1000" b="1" dirty="0">
                <a:solidFill>
                  <a:srgbClr val="FF0000"/>
                </a:solidFill>
              </a:rPr>
            </a:br>
            <a:endParaRPr lang="en-US" sz="2000" dirty="0"/>
          </a:p>
        </p:txBody>
      </p:sp>
      <p:pic>
        <p:nvPicPr>
          <p:cNvPr id="4" name="Imagen 3">
            <a:extLst>
              <a:ext uri="{FF2B5EF4-FFF2-40B4-BE49-F238E27FC236}">
                <a16:creationId xmlns:a16="http://schemas.microsoft.com/office/drawing/2014/main" id="{64C5DA30-4B4A-4EED-85CB-C66E56A5CA07}"/>
              </a:ext>
            </a:extLst>
          </p:cNvPr>
          <p:cNvPicPr>
            <a:picLocks noChangeAspect="1"/>
          </p:cNvPicPr>
          <p:nvPr/>
        </p:nvPicPr>
        <p:blipFill>
          <a:blip r:embed="rId2"/>
          <a:stretch>
            <a:fillRect/>
          </a:stretch>
        </p:blipFill>
        <p:spPr>
          <a:xfrm>
            <a:off x="2681905" y="2060848"/>
            <a:ext cx="3553321" cy="838317"/>
          </a:xfrm>
          <a:prstGeom prst="rect">
            <a:avLst/>
          </a:prstGeom>
        </p:spPr>
      </p:pic>
    </p:spTree>
    <p:extLst>
      <p:ext uri="{BB962C8B-B14F-4D97-AF65-F5344CB8AC3E}">
        <p14:creationId xmlns:p14="http://schemas.microsoft.com/office/powerpoint/2010/main" val="3240087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5.10</a:t>
            </a:r>
            <a:br>
              <a:rPr lang="es-EC" sz="1000" b="1" dirty="0">
                <a:solidFill>
                  <a:srgbClr val="FF0000"/>
                </a:solidFill>
              </a:rPr>
            </a:br>
            <a:endParaRPr lang="en-US" sz="2000" dirty="0"/>
          </a:p>
        </p:txBody>
      </p:sp>
      <p:pic>
        <p:nvPicPr>
          <p:cNvPr id="16" name="Imagen 15">
            <a:extLst>
              <a:ext uri="{FF2B5EF4-FFF2-40B4-BE49-F238E27FC236}">
                <a16:creationId xmlns:a16="http://schemas.microsoft.com/office/drawing/2014/main" id="{814C3C5A-72A0-452D-B75F-7EEBFD155C53}"/>
              </a:ext>
            </a:extLst>
          </p:cNvPr>
          <p:cNvPicPr>
            <a:picLocks noChangeAspect="1"/>
          </p:cNvPicPr>
          <p:nvPr/>
        </p:nvPicPr>
        <p:blipFill>
          <a:blip r:embed="rId2"/>
          <a:stretch>
            <a:fillRect/>
          </a:stretch>
        </p:blipFill>
        <p:spPr>
          <a:xfrm>
            <a:off x="2396679" y="3554752"/>
            <a:ext cx="6039693" cy="3305636"/>
          </a:xfrm>
          <a:prstGeom prst="rect">
            <a:avLst/>
          </a:prstGeom>
        </p:spPr>
      </p:pic>
      <p:pic>
        <p:nvPicPr>
          <p:cNvPr id="18" name="Imagen 17">
            <a:extLst>
              <a:ext uri="{FF2B5EF4-FFF2-40B4-BE49-F238E27FC236}">
                <a16:creationId xmlns:a16="http://schemas.microsoft.com/office/drawing/2014/main" id="{9925AA5C-244C-42F6-A669-8F707C9DDBA0}"/>
              </a:ext>
            </a:extLst>
          </p:cNvPr>
          <p:cNvPicPr>
            <a:picLocks noChangeAspect="1"/>
          </p:cNvPicPr>
          <p:nvPr/>
        </p:nvPicPr>
        <p:blipFill>
          <a:blip r:embed="rId3"/>
          <a:stretch>
            <a:fillRect/>
          </a:stretch>
        </p:blipFill>
        <p:spPr>
          <a:xfrm>
            <a:off x="2542997" y="990910"/>
            <a:ext cx="5220429" cy="2400635"/>
          </a:xfrm>
          <a:prstGeom prst="rect">
            <a:avLst/>
          </a:prstGeom>
        </p:spPr>
      </p:pic>
    </p:spTree>
    <p:extLst>
      <p:ext uri="{BB962C8B-B14F-4D97-AF65-F5344CB8AC3E}">
        <p14:creationId xmlns:p14="http://schemas.microsoft.com/office/powerpoint/2010/main" val="2635657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5.10</a:t>
            </a:r>
            <a:br>
              <a:rPr lang="es-EC" sz="1000" b="1" dirty="0">
                <a:solidFill>
                  <a:srgbClr val="FF0000"/>
                </a:solidFill>
              </a:rPr>
            </a:br>
            <a:endParaRPr lang="en-US" sz="2000" dirty="0"/>
          </a:p>
        </p:txBody>
      </p:sp>
      <p:pic>
        <p:nvPicPr>
          <p:cNvPr id="4" name="Imagen 3">
            <a:extLst>
              <a:ext uri="{FF2B5EF4-FFF2-40B4-BE49-F238E27FC236}">
                <a16:creationId xmlns:a16="http://schemas.microsoft.com/office/drawing/2014/main" id="{0F3EC99C-2BF0-48BA-B9DF-F79BFE63323D}"/>
              </a:ext>
            </a:extLst>
          </p:cNvPr>
          <p:cNvPicPr>
            <a:picLocks noChangeAspect="1"/>
          </p:cNvPicPr>
          <p:nvPr/>
        </p:nvPicPr>
        <p:blipFill rotWithShape="1">
          <a:blip r:embed="rId2"/>
          <a:srcRect l="1173" r="17511"/>
          <a:stretch/>
        </p:blipFill>
        <p:spPr>
          <a:xfrm>
            <a:off x="1763688" y="1124744"/>
            <a:ext cx="5976664" cy="5133561"/>
          </a:xfrm>
          <a:prstGeom prst="rect">
            <a:avLst/>
          </a:prstGeom>
        </p:spPr>
      </p:pic>
    </p:spTree>
    <p:extLst>
      <p:ext uri="{BB962C8B-B14F-4D97-AF65-F5344CB8AC3E}">
        <p14:creationId xmlns:p14="http://schemas.microsoft.com/office/powerpoint/2010/main" val="2625429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5.10</a:t>
            </a:r>
            <a:br>
              <a:rPr lang="es-EC" sz="1000" b="1" dirty="0">
                <a:solidFill>
                  <a:srgbClr val="FF0000"/>
                </a:solidFill>
              </a:rPr>
            </a:br>
            <a:endParaRPr lang="en-US" sz="2000" dirty="0"/>
          </a:p>
        </p:txBody>
      </p:sp>
      <p:pic>
        <p:nvPicPr>
          <p:cNvPr id="5" name="Imagen 4">
            <a:extLst>
              <a:ext uri="{FF2B5EF4-FFF2-40B4-BE49-F238E27FC236}">
                <a16:creationId xmlns:a16="http://schemas.microsoft.com/office/drawing/2014/main" id="{89BF7D37-37D0-40CF-A797-7A13F5DCF421}"/>
              </a:ext>
            </a:extLst>
          </p:cNvPr>
          <p:cNvPicPr>
            <a:picLocks noChangeAspect="1"/>
          </p:cNvPicPr>
          <p:nvPr/>
        </p:nvPicPr>
        <p:blipFill>
          <a:blip r:embed="rId2"/>
          <a:stretch>
            <a:fillRect/>
          </a:stretch>
        </p:blipFill>
        <p:spPr>
          <a:xfrm>
            <a:off x="2195736" y="1340768"/>
            <a:ext cx="5839640" cy="1381318"/>
          </a:xfrm>
          <a:prstGeom prst="rect">
            <a:avLst/>
          </a:prstGeom>
        </p:spPr>
      </p:pic>
      <p:pic>
        <p:nvPicPr>
          <p:cNvPr id="8" name="Imagen 7">
            <a:extLst>
              <a:ext uri="{FF2B5EF4-FFF2-40B4-BE49-F238E27FC236}">
                <a16:creationId xmlns:a16="http://schemas.microsoft.com/office/drawing/2014/main" id="{C43EA542-3409-4BA5-AEF8-6263AE568E7D}"/>
              </a:ext>
            </a:extLst>
          </p:cNvPr>
          <p:cNvPicPr>
            <a:picLocks noChangeAspect="1"/>
          </p:cNvPicPr>
          <p:nvPr/>
        </p:nvPicPr>
        <p:blipFill>
          <a:blip r:embed="rId3"/>
          <a:stretch>
            <a:fillRect/>
          </a:stretch>
        </p:blipFill>
        <p:spPr>
          <a:xfrm>
            <a:off x="2214789" y="2852936"/>
            <a:ext cx="5820587" cy="2972215"/>
          </a:xfrm>
          <a:prstGeom prst="rect">
            <a:avLst/>
          </a:prstGeom>
        </p:spPr>
      </p:pic>
      <p:sp>
        <p:nvSpPr>
          <p:cNvPr id="10" name="CuadroTexto 9">
            <a:extLst>
              <a:ext uri="{FF2B5EF4-FFF2-40B4-BE49-F238E27FC236}">
                <a16:creationId xmlns:a16="http://schemas.microsoft.com/office/drawing/2014/main" id="{A45D03CA-F84F-4F7E-A495-9201B9D217D8}"/>
              </a:ext>
            </a:extLst>
          </p:cNvPr>
          <p:cNvSpPr txBox="1"/>
          <p:nvPr/>
        </p:nvSpPr>
        <p:spPr>
          <a:xfrm>
            <a:off x="2189120" y="607580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5.10</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931445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43766" y="136525"/>
            <a:ext cx="8229600" cy="1340768"/>
          </a:xfrm>
        </p:spPr>
        <p:txBody>
          <a:bodyPr/>
          <a:lstStyle/>
          <a:p>
            <a:pPr>
              <a:lnSpc>
                <a:spcPts val="4000"/>
              </a:lnSpc>
            </a:pPr>
            <a:r>
              <a:rPr lang="es-EC" sz="4800" dirty="0"/>
              <a:t>Problema 5.10</a:t>
            </a:r>
            <a:br>
              <a:rPr lang="es-EC" sz="1000" b="1" dirty="0">
                <a:solidFill>
                  <a:srgbClr val="FF0000"/>
                </a:solidFill>
              </a:rPr>
            </a:br>
            <a:endParaRPr lang="en-US" sz="2000" dirty="0"/>
          </a:p>
        </p:txBody>
      </p:sp>
      <p:pic>
        <p:nvPicPr>
          <p:cNvPr id="4" name="Imagen 3">
            <a:extLst>
              <a:ext uri="{FF2B5EF4-FFF2-40B4-BE49-F238E27FC236}">
                <a16:creationId xmlns:a16="http://schemas.microsoft.com/office/drawing/2014/main" id="{5304543F-17B1-4CF4-9928-315425E7D769}"/>
              </a:ext>
            </a:extLst>
          </p:cNvPr>
          <p:cNvPicPr>
            <a:picLocks noChangeAspect="1"/>
          </p:cNvPicPr>
          <p:nvPr/>
        </p:nvPicPr>
        <p:blipFill>
          <a:blip r:embed="rId2"/>
          <a:stretch>
            <a:fillRect/>
          </a:stretch>
        </p:blipFill>
        <p:spPr>
          <a:xfrm>
            <a:off x="2610457" y="3940414"/>
            <a:ext cx="3696216" cy="1743318"/>
          </a:xfrm>
          <a:prstGeom prst="rect">
            <a:avLst/>
          </a:prstGeom>
        </p:spPr>
      </p:pic>
      <p:sp>
        <p:nvSpPr>
          <p:cNvPr id="11" name="CuadroTexto 10">
            <a:extLst>
              <a:ext uri="{FF2B5EF4-FFF2-40B4-BE49-F238E27FC236}">
                <a16:creationId xmlns:a16="http://schemas.microsoft.com/office/drawing/2014/main" id="{C166C51A-014A-424E-8D79-D9639270AE37}"/>
              </a:ext>
            </a:extLst>
          </p:cNvPr>
          <p:cNvSpPr txBox="1"/>
          <p:nvPr/>
        </p:nvSpPr>
        <p:spPr>
          <a:xfrm>
            <a:off x="2107514" y="6033184"/>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5.10</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3" name="4 Marcador de contenido">
            <a:extLst>
              <a:ext uri="{FF2B5EF4-FFF2-40B4-BE49-F238E27FC236}">
                <a16:creationId xmlns:a16="http://schemas.microsoft.com/office/drawing/2014/main" id="{C2E00CE1-AF17-408C-8CEA-6DE34D1D913C}"/>
              </a:ext>
            </a:extLst>
          </p:cNvPr>
          <p:cNvSpPr>
            <a:spLocks noGrp="1"/>
          </p:cNvSpPr>
          <p:nvPr>
            <p:ph idx="1"/>
          </p:nvPr>
        </p:nvSpPr>
        <p:spPr>
          <a:xfrm>
            <a:off x="467544" y="1196752"/>
            <a:ext cx="8332690" cy="3096344"/>
          </a:xfrm>
        </p:spPr>
        <p:txBody>
          <a:bodyPr>
            <a:normAutofit/>
          </a:bodyPr>
          <a:lstStyle/>
          <a:p>
            <a:r>
              <a:rPr lang="es-MX" dirty="0"/>
              <a:t>Como se puede ver en el programa 5.10, se implementaron dos funciones que utilizan el paso de parámetros por referencia: a) </a:t>
            </a:r>
            <a:r>
              <a:rPr lang="es-MX" dirty="0" err="1"/>
              <a:t>void</a:t>
            </a:r>
            <a:r>
              <a:rPr lang="es-MX" dirty="0"/>
              <a:t> </a:t>
            </a:r>
            <a:r>
              <a:rPr lang="es-MX" dirty="0" err="1"/>
              <a:t>LeerDatos</a:t>
            </a:r>
            <a:r>
              <a:rPr lang="es-MX" dirty="0"/>
              <a:t>(</a:t>
            </a:r>
            <a:r>
              <a:rPr lang="es-MX" dirty="0" err="1"/>
              <a:t>int</a:t>
            </a:r>
            <a:r>
              <a:rPr lang="es-MX" dirty="0"/>
              <a:t> &amp;x, </a:t>
            </a:r>
            <a:r>
              <a:rPr lang="es-MX" dirty="0" err="1"/>
              <a:t>int</a:t>
            </a:r>
            <a:r>
              <a:rPr lang="es-MX" dirty="0"/>
              <a:t> &amp;y); b) </a:t>
            </a:r>
            <a:r>
              <a:rPr lang="es-MX" dirty="0" err="1"/>
              <a:t>void</a:t>
            </a:r>
            <a:r>
              <a:rPr lang="es-MX" dirty="0"/>
              <a:t> Invertir(</a:t>
            </a:r>
            <a:r>
              <a:rPr lang="es-MX" dirty="0" err="1"/>
              <a:t>int</a:t>
            </a:r>
            <a:r>
              <a:rPr lang="es-MX" dirty="0"/>
              <a:t> &amp;x, </a:t>
            </a:r>
            <a:r>
              <a:rPr lang="es-MX" dirty="0" err="1"/>
              <a:t>int</a:t>
            </a:r>
            <a:r>
              <a:rPr lang="es-MX" dirty="0"/>
              <a:t> &amp;y); y se implementó una función que utiliza el paso de parámetros por valor: a) </a:t>
            </a:r>
            <a:r>
              <a:rPr lang="es-MX" dirty="0" err="1"/>
              <a:t>void</a:t>
            </a:r>
            <a:r>
              <a:rPr lang="es-MX" dirty="0"/>
              <a:t> </a:t>
            </a:r>
            <a:r>
              <a:rPr lang="es-MX" dirty="0" err="1"/>
              <a:t>ImprimirDatos</a:t>
            </a:r>
            <a:r>
              <a:rPr lang="es-MX" dirty="0"/>
              <a:t>(</a:t>
            </a:r>
            <a:r>
              <a:rPr lang="es-MX" dirty="0" err="1"/>
              <a:t>int</a:t>
            </a:r>
            <a:r>
              <a:rPr lang="es-MX" dirty="0"/>
              <a:t> x, </a:t>
            </a:r>
            <a:r>
              <a:rPr lang="es-MX" dirty="0" err="1"/>
              <a:t>int</a:t>
            </a:r>
            <a:r>
              <a:rPr lang="es-MX" dirty="0"/>
              <a:t> y). </a:t>
            </a:r>
            <a:endParaRPr lang="es-ES" dirty="0">
              <a:solidFill>
                <a:schemeClr val="bg1">
                  <a:lumMod val="50000"/>
                </a:schemeClr>
              </a:solidFill>
            </a:endParaRPr>
          </a:p>
        </p:txBody>
      </p:sp>
    </p:spTree>
    <p:extLst>
      <p:ext uri="{BB962C8B-B14F-4D97-AF65-F5344CB8AC3E}">
        <p14:creationId xmlns:p14="http://schemas.microsoft.com/office/powerpoint/2010/main" val="2518711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06385" y="3004125"/>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
        <p:nvSpPr>
          <p:cNvPr id="8" name="7 CuadroTexto"/>
          <p:cNvSpPr txBox="1"/>
          <p:nvPr/>
        </p:nvSpPr>
        <p:spPr>
          <a:xfrm>
            <a:off x="106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4572000" y="5105587"/>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6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2771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10/12/2025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7145</TotalTime>
  <Words>1061</Words>
  <Application>Microsoft Office PowerPoint</Application>
  <PresentationFormat>Presentación en pantalla (4:3)</PresentationFormat>
  <Paragraphs>121</Paragraphs>
  <Slides>20</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Century Gothic</vt:lpstr>
      <vt:lpstr>Courier New</vt:lpstr>
      <vt:lpstr>Palatino Linotype</vt:lpstr>
      <vt:lpstr>Ejecutivo</vt:lpstr>
      <vt:lpstr>Presentación de PowerPoint</vt:lpstr>
      <vt:lpstr>Contenido</vt:lpstr>
      <vt:lpstr>Referencias</vt:lpstr>
      <vt:lpstr>Referencias</vt:lpstr>
      <vt:lpstr>Contenido</vt:lpstr>
      <vt:lpstr>Problema 5.9 </vt:lpstr>
      <vt:lpstr>Problema 5.9 </vt:lpstr>
      <vt:lpstr>Problema 5.9 </vt:lpstr>
      <vt:lpstr>Problema 5.9 </vt:lpstr>
      <vt:lpstr>Problema 5.9 </vt:lpstr>
      <vt:lpstr>Contenido</vt:lpstr>
      <vt:lpstr>Paso de Parámetros por Referencias   </vt:lpstr>
      <vt:lpstr>Contenido</vt:lpstr>
      <vt:lpstr>Problema 5.10 </vt:lpstr>
      <vt:lpstr>Problema 5.10 </vt:lpstr>
      <vt:lpstr>Problema 5.10 </vt:lpstr>
      <vt:lpstr>Problema 5.10 </vt:lpstr>
      <vt:lpstr>Problema 5.10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HP</cp:lastModifiedBy>
  <cp:revision>298</cp:revision>
  <cp:lastPrinted>2014-11-12T14:27:29Z</cp:lastPrinted>
  <dcterms:created xsi:type="dcterms:W3CDTF">2014-09-28T12:26:51Z</dcterms:created>
  <dcterms:modified xsi:type="dcterms:W3CDTF">2025-12-10T17:10:01Z</dcterms:modified>
</cp:coreProperties>
</file>