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7">
  <p:sldMasterIdLst>
    <p:sldMasterId id="2147483816" r:id="rId1"/>
  </p:sldMasterIdLst>
  <p:notesMasterIdLst>
    <p:notesMasterId r:id="rId50"/>
  </p:notesMasterIdLst>
  <p:handoutMasterIdLst>
    <p:handoutMasterId r:id="rId51"/>
  </p:handoutMasterIdLst>
  <p:sldIdLst>
    <p:sldId id="311" r:id="rId2"/>
    <p:sldId id="463" r:id="rId3"/>
    <p:sldId id="278" r:id="rId4"/>
    <p:sldId id="464" r:id="rId5"/>
    <p:sldId id="417" r:id="rId6"/>
    <p:sldId id="465" r:id="rId7"/>
    <p:sldId id="358" r:id="rId8"/>
    <p:sldId id="466" r:id="rId9"/>
    <p:sldId id="420" r:id="rId10"/>
    <p:sldId id="425" r:id="rId11"/>
    <p:sldId id="426" r:id="rId12"/>
    <p:sldId id="427" r:id="rId13"/>
    <p:sldId id="428" r:id="rId14"/>
    <p:sldId id="429" r:id="rId15"/>
    <p:sldId id="430" r:id="rId16"/>
    <p:sldId id="431" r:id="rId17"/>
    <p:sldId id="432" r:id="rId18"/>
    <p:sldId id="434" r:id="rId19"/>
    <p:sldId id="433" r:id="rId20"/>
    <p:sldId id="435" r:id="rId21"/>
    <p:sldId id="436" r:id="rId22"/>
    <p:sldId id="437" r:id="rId23"/>
    <p:sldId id="438" r:id="rId24"/>
    <p:sldId id="439" r:id="rId25"/>
    <p:sldId id="440" r:id="rId26"/>
    <p:sldId id="441" r:id="rId27"/>
    <p:sldId id="442" r:id="rId28"/>
    <p:sldId id="443" r:id="rId29"/>
    <p:sldId id="444" r:id="rId30"/>
    <p:sldId id="445" r:id="rId31"/>
    <p:sldId id="446" r:id="rId32"/>
    <p:sldId id="447" r:id="rId33"/>
    <p:sldId id="448" r:id="rId34"/>
    <p:sldId id="449" r:id="rId35"/>
    <p:sldId id="450" r:id="rId36"/>
    <p:sldId id="451" r:id="rId37"/>
    <p:sldId id="452" r:id="rId38"/>
    <p:sldId id="453" r:id="rId39"/>
    <p:sldId id="454" r:id="rId40"/>
    <p:sldId id="455" r:id="rId41"/>
    <p:sldId id="456" r:id="rId42"/>
    <p:sldId id="457" r:id="rId43"/>
    <p:sldId id="459" r:id="rId44"/>
    <p:sldId id="460" r:id="rId45"/>
    <p:sldId id="461" r:id="rId46"/>
    <p:sldId id="462" r:id="rId47"/>
    <p:sldId id="393" r:id="rId48"/>
    <p:sldId id="275" r:id="rId49"/>
  </p:sldIdLst>
  <p:sldSz cx="9144000" cy="6858000" type="screen4x3"/>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89747" autoAdjust="0"/>
  </p:normalViewPr>
  <p:slideViewPr>
    <p:cSldViewPr>
      <p:cViewPr varScale="1">
        <p:scale>
          <a:sx n="76" d="100"/>
          <a:sy n="76" d="100"/>
        </p:scale>
        <p:origin x="1666" y="6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C"/>
          </a:p>
        </p:txBody>
      </p:sp>
      <p:sp>
        <p:nvSpPr>
          <p:cNvPr id="3" name="2 Marcador de fecha"/>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E8ABEF8-F28B-4F1C-8604-95AA82841CB5}" type="datetimeFigureOut">
              <a:rPr lang="es-EC" smtClean="0"/>
              <a:t>9/12/2025</a:t>
            </a:fld>
            <a:endParaRPr lang="es-EC"/>
          </a:p>
        </p:txBody>
      </p:sp>
      <p:sp>
        <p:nvSpPr>
          <p:cNvPr id="4" name="3 Marcador de pie de página"/>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s-EC"/>
          </a:p>
        </p:txBody>
      </p:sp>
      <p:sp>
        <p:nvSpPr>
          <p:cNvPr id="5" name="4 Marcador de número de diapositiva"/>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CE161FD-F57C-4EC7-B46A-8ED034AFAD39}" type="slidenum">
              <a:rPr lang="es-EC" smtClean="0"/>
              <a:t>‹Nº›</a:t>
            </a:fld>
            <a:endParaRPr lang="es-EC"/>
          </a:p>
        </p:txBody>
      </p:sp>
    </p:spTree>
    <p:extLst>
      <p:ext uri="{BB962C8B-B14F-4D97-AF65-F5344CB8AC3E}">
        <p14:creationId xmlns:p14="http://schemas.microsoft.com/office/powerpoint/2010/main" val="23454050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C"/>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27D006-09F4-429A-BE8C-DBAF982511F0}" type="datetimeFigureOut">
              <a:rPr lang="es-EC" smtClean="0"/>
              <a:t>9/12/2025</a:t>
            </a:fld>
            <a:endParaRPr lang="es-EC"/>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C"/>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C"/>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8DD2930-2CA9-432A-8292-C602BD3CCB94}" type="slidenum">
              <a:rPr lang="es-EC" smtClean="0"/>
              <a:t>‹Nº›</a:t>
            </a:fld>
            <a:endParaRPr lang="es-EC"/>
          </a:p>
        </p:txBody>
      </p:sp>
    </p:spTree>
    <p:extLst>
      <p:ext uri="{BB962C8B-B14F-4D97-AF65-F5344CB8AC3E}">
        <p14:creationId xmlns:p14="http://schemas.microsoft.com/office/powerpoint/2010/main" val="3587641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C" dirty="0"/>
          </a:p>
        </p:txBody>
      </p:sp>
      <p:sp>
        <p:nvSpPr>
          <p:cNvPr id="4" name="3 Marcador de número de diapositiva"/>
          <p:cNvSpPr>
            <a:spLocks noGrp="1"/>
          </p:cNvSpPr>
          <p:nvPr>
            <p:ph type="sldNum" sz="quarter" idx="10"/>
          </p:nvPr>
        </p:nvSpPr>
        <p:spPr/>
        <p:txBody>
          <a:bodyPr/>
          <a:lstStyle/>
          <a:p>
            <a:fld id="{C8DD2930-2CA9-432A-8292-C602BD3CCB94}" type="slidenum">
              <a:rPr lang="es-EC" smtClean="0"/>
              <a:t>1</a:t>
            </a:fld>
            <a:endParaRPr lang="es-EC"/>
          </a:p>
        </p:txBody>
      </p:sp>
    </p:spTree>
    <p:extLst>
      <p:ext uri="{BB962C8B-B14F-4D97-AF65-F5344CB8AC3E}">
        <p14:creationId xmlns:p14="http://schemas.microsoft.com/office/powerpoint/2010/main" val="2391200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p>
            <a:fld id="{E7C4E607-19DA-460D-873F-2665A632EB4B}" type="datetime1">
              <a:rPr lang="es-EC" smtClean="0"/>
              <a:t>9/12/2025</a:t>
            </a:fld>
            <a:endParaRPr lang="es-EC"/>
          </a:p>
        </p:txBody>
      </p:sp>
      <p:sp>
        <p:nvSpPr>
          <p:cNvPr id="8" name="Slide Number Placeholder 7"/>
          <p:cNvSpPr>
            <a:spLocks noGrp="1"/>
          </p:cNvSpPr>
          <p:nvPr>
            <p:ph type="sldNum" sz="quarter" idx="11"/>
          </p:nvPr>
        </p:nvSpPr>
        <p:spPr/>
        <p:txBody>
          <a:bodyPr/>
          <a:lstStyle/>
          <a:p>
            <a:fld id="{14B28EB2-3408-4757-A806-361BA67028B7}" type="slidenum">
              <a:rPr lang="es-EC" smtClean="0"/>
              <a:t>‹Nº›</a:t>
            </a:fld>
            <a:endParaRPr lang="es-EC"/>
          </a:p>
        </p:txBody>
      </p:sp>
      <p:sp>
        <p:nvSpPr>
          <p:cNvPr id="9" name="Footer Placeholder 8"/>
          <p:cNvSpPr>
            <a:spLocks noGrp="1"/>
          </p:cNvSpPr>
          <p:nvPr>
            <p:ph type="ftr" sz="quarter" idx="12"/>
          </p:nvPr>
        </p:nvSpPr>
        <p:spPr/>
        <p:txBody>
          <a:bodyPr/>
          <a:lstStyle/>
          <a:p>
            <a:endParaRPr lang="es-EC"/>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290B73B-B6A1-476A-B629-21320BBC12E2}" type="datetime1">
              <a:rPr lang="es-EC" smtClean="0"/>
              <a:t>9/12/2025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CDC2038A-D817-4671-8CB8-0981B299E92B}" type="datetime1">
              <a:rPr lang="es-EC" smtClean="0"/>
              <a:t>9/12/2025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DC4ADFD-670B-42AB-AA2D-8905C1A1B3E7}" type="datetime1">
              <a:rPr lang="es-EC" smtClean="0"/>
              <a:t>9/12/2025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
        <p:nvSpPr>
          <p:cNvPr id="9" name="Content Placeholder 8"/>
          <p:cNvSpPr>
            <a:spLocks noGrp="1"/>
          </p:cNvSpPr>
          <p:nvPr>
            <p:ph sz="quarter" idx="13"/>
          </p:nvPr>
        </p:nvSpPr>
        <p:spPr>
          <a:xfrm>
            <a:off x="365760" y="1600200"/>
            <a:ext cx="4041648" cy="452628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7" name="Date Placeholder 6"/>
          <p:cNvSpPr>
            <a:spLocks noGrp="1"/>
          </p:cNvSpPr>
          <p:nvPr>
            <p:ph type="dt" sz="half" idx="10"/>
          </p:nvPr>
        </p:nvSpPr>
        <p:spPr/>
        <p:txBody>
          <a:bodyPr/>
          <a:lstStyle/>
          <a:p>
            <a:fld id="{9891E5A2-5B64-4460-A741-AB3873F3AED1}" type="datetime1">
              <a:rPr lang="es-EC" smtClean="0"/>
              <a:t>9/12/2025</a:t>
            </a:fld>
            <a:endParaRPr lang="es-EC"/>
          </a:p>
        </p:txBody>
      </p:sp>
      <p:sp>
        <p:nvSpPr>
          <p:cNvPr id="8" name="Footer Placeholder 7"/>
          <p:cNvSpPr>
            <a:spLocks noGrp="1"/>
          </p:cNvSpPr>
          <p:nvPr>
            <p:ph type="ftr" sz="quarter" idx="11"/>
          </p:nvPr>
        </p:nvSpPr>
        <p:spPr/>
        <p:txBody>
          <a:bodyPr/>
          <a:lstStyle/>
          <a:p>
            <a:endParaRPr lang="es-EC"/>
          </a:p>
        </p:txBody>
      </p:sp>
      <p:sp>
        <p:nvSpPr>
          <p:cNvPr id="9" name="Slide Number Placeholder 8"/>
          <p:cNvSpPr>
            <a:spLocks noGrp="1"/>
          </p:cNvSpPr>
          <p:nvPr>
            <p:ph type="sldNum" sz="quarter" idx="12"/>
          </p:nvPr>
        </p:nvSpPr>
        <p:spPr/>
        <p:txBody>
          <a:bodyPr/>
          <a:lstStyle/>
          <a:p>
            <a:fld id="{14B28EB2-3408-4757-A806-361BA67028B7}" type="slidenum">
              <a:rPr lang="es-EC" smtClean="0"/>
              <a:t>‹Nº›</a:t>
            </a:fld>
            <a:endParaRPr lang="es-EC"/>
          </a:p>
        </p:txBody>
      </p:sp>
      <p:sp>
        <p:nvSpPr>
          <p:cNvPr id="11" name="Content Placeholder 10"/>
          <p:cNvSpPr>
            <a:spLocks noGrp="1"/>
          </p:cNvSpPr>
          <p:nvPr>
            <p:ph sz="quarter" idx="13"/>
          </p:nvPr>
        </p:nvSpPr>
        <p:spPr>
          <a:xfrm>
            <a:off x="457200" y="2212848"/>
            <a:ext cx="4041648" cy="391363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0B840B2-0BA1-4127-9E25-74D449B7ADFD}" type="datetime1">
              <a:rPr lang="es-EC" smtClean="0"/>
              <a:t>9/12/2025</a:t>
            </a:fld>
            <a:endParaRPr lang="es-EC"/>
          </a:p>
        </p:txBody>
      </p:sp>
      <p:sp>
        <p:nvSpPr>
          <p:cNvPr id="4" name="Footer Placeholder 3"/>
          <p:cNvSpPr>
            <a:spLocks noGrp="1"/>
          </p:cNvSpPr>
          <p:nvPr>
            <p:ph type="ftr" sz="quarter" idx="11"/>
          </p:nvPr>
        </p:nvSpPr>
        <p:spPr/>
        <p:txBody>
          <a:bodyPr/>
          <a:lstStyle/>
          <a:p>
            <a:endParaRPr lang="es-EC"/>
          </a:p>
        </p:txBody>
      </p:sp>
      <p:sp>
        <p:nvSpPr>
          <p:cNvPr id="5" name="Slide Number Placeholder 4"/>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E0FE62-E592-4B65-AFBD-C1CCC30A5FE7}" type="datetime1">
              <a:rPr lang="es-EC" smtClean="0"/>
              <a:t>9/12/2025</a:t>
            </a:fld>
            <a:endParaRPr lang="es-EC"/>
          </a:p>
        </p:txBody>
      </p:sp>
      <p:sp>
        <p:nvSpPr>
          <p:cNvPr id="3" name="Footer Placeholder 2"/>
          <p:cNvSpPr>
            <a:spLocks noGrp="1"/>
          </p:cNvSpPr>
          <p:nvPr>
            <p:ph type="ftr" sz="quarter" idx="11"/>
          </p:nvPr>
        </p:nvSpPr>
        <p:spPr/>
        <p:txBody>
          <a:bodyPr/>
          <a:lstStyle/>
          <a:p>
            <a:endParaRPr lang="es-EC"/>
          </a:p>
        </p:txBody>
      </p:sp>
      <p:sp>
        <p:nvSpPr>
          <p:cNvPr id="4" name="Slide Number Placeholder 3"/>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67F15ACB-451F-4A5F-BEC9-AE2F848845F3}" type="datetime1">
              <a:rPr lang="es-EC" smtClean="0"/>
              <a:t>9/12/2025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s-ES"/>
              <a:t>Haga clic para modificar el estilo de título del patrón</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4A422F84-0CF5-40B2-88A0-C1094D415436}" type="datetime1">
              <a:rPr lang="es-EC" smtClean="0"/>
              <a:t>9/12/2025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BD623C0-6495-45E5-AD9B-690C29EB2D28}" type="datetime1">
              <a:rPr lang="es-EC" smtClean="0"/>
              <a:t>9/12/2025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4D8EE3C-3A2D-421B-8BCE-DCA3638F2800}" type="datetime1">
              <a:rPr lang="es-EC" smtClean="0"/>
              <a:t>9/12/2025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214FB16F-AFAA-44A5-84B2-773ABBFEBDB3}" type="datetime1">
              <a:rPr lang="es-EC" smtClean="0"/>
              <a:t>9/12/2025</a:t>
            </a:fld>
            <a:endParaRPr lang="es-EC"/>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s-EC"/>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14B28EB2-3408-4757-A806-361BA67028B7}" type="slidenum">
              <a:rPr lang="es-EC" smtClean="0"/>
              <a:t>‹Nº›</a:t>
            </a:fld>
            <a:endParaRPr lang="es-EC"/>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hf hdr="0" ftr="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35496" y="1844824"/>
            <a:ext cx="3562424" cy="1296144"/>
          </a:xfrm>
          <a:prstGeom prst="rect">
            <a:avLst/>
          </a:prstGeom>
        </p:spPr>
        <p:txBody>
          <a:bodyPr vert="horz" lIns="91440" tIns="45720" rIns="91440" bIns="45720" rtlCol="0" anchor="b">
            <a:noAutofit/>
          </a:bodyPr>
          <a:lstStyle>
            <a:lvl1pPr algn="ctr" defTabSz="914400" rtl="0" eaLnBrk="1" latinLnBrk="0" hangingPunct="1">
              <a:lnSpc>
                <a:spcPct val="100000"/>
              </a:lnSpc>
              <a:spcBef>
                <a:spcPct val="0"/>
              </a:spcBef>
              <a:buNone/>
              <a:defRPr sz="8000" kern="120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EC" sz="2400" b="1" dirty="0">
                <a:effectLst/>
                <a:latin typeface="Arial" pitchFamily="34" charset="0"/>
                <a:cs typeface="Arial" pitchFamily="34" charset="0"/>
              </a:rPr>
              <a:t>CAPÍTULO 5: FUNCIONES, REFERENCIAS Y PUNTEROS</a:t>
            </a:r>
            <a:endParaRPr lang="es-ES" sz="2400" b="1" dirty="0">
              <a:effectLst/>
              <a:latin typeface="Arial" pitchFamily="34" charset="0"/>
              <a:cs typeface="Arial" pitchFamily="34" charset="0"/>
            </a:endParaRPr>
          </a:p>
        </p:txBody>
      </p:sp>
      <p:sp>
        <p:nvSpPr>
          <p:cNvPr id="7" name="Rectangle 3"/>
          <p:cNvSpPr txBox="1">
            <a:spLocks noChangeArrowheads="1"/>
          </p:cNvSpPr>
          <p:nvPr/>
        </p:nvSpPr>
        <p:spPr>
          <a:xfrm>
            <a:off x="539552" y="4725144"/>
            <a:ext cx="8280400" cy="1814206"/>
          </a:xfrm>
          <a:prstGeom prst="rect">
            <a:avLst/>
          </a:prstGeom>
        </p:spPr>
        <p:txBody>
          <a:bodyPr vert="horz" lIns="91440" tIns="45720" rIns="91440" bIns="45720" rtlCol="0">
            <a:normAutofit fontScale="92500" lnSpcReduction="20000"/>
          </a:bodyPr>
          <a:lstStyle>
            <a:lvl1pPr marL="0" indent="0" algn="ctr" defTabSz="914400"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1pPr>
            <a:lvl2pPr marL="4572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2pPr>
            <a:lvl3pPr marL="9144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3pPr>
            <a:lvl4pPr marL="13716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5pPr>
            <a:lvl6pPr marL="22860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7pPr>
            <a:lvl8pPr marL="32004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9pPr>
          </a:lstStyle>
          <a:p>
            <a:pPr>
              <a:lnSpc>
                <a:spcPct val="80000"/>
              </a:lnSpc>
            </a:pPr>
            <a:r>
              <a:rPr lang="es-ES" dirty="0"/>
              <a:t>César Villacís, Margarita Zambrano, Sofía Bayona, Luis Pastor, David Alvarado, Luis García, Kevin Topón  </a:t>
            </a:r>
            <a:endParaRPr lang="en-US" b="1" dirty="0">
              <a:solidFill>
                <a:schemeClr val="tx2"/>
              </a:solidFill>
            </a:endParaRPr>
          </a:p>
          <a:p>
            <a:pPr>
              <a:lnSpc>
                <a:spcPct val="80000"/>
              </a:lnSpc>
            </a:pPr>
            <a:endParaRPr lang="en-US" b="1" dirty="0">
              <a:solidFill>
                <a:schemeClr val="tx2"/>
              </a:solidFill>
            </a:endParaRPr>
          </a:p>
          <a:p>
            <a:r>
              <a:rPr lang="es-EC" sz="1800" dirty="0"/>
              <a:t>Universidad de las Fueras Armadas – ESPE</a:t>
            </a:r>
          </a:p>
          <a:p>
            <a:r>
              <a:rPr lang="es-ES" sz="1800" dirty="0"/>
              <a:t>Quito, Ecuador</a:t>
            </a:r>
          </a:p>
          <a:p>
            <a:endParaRPr lang="es-EC" sz="1800" dirty="0"/>
          </a:p>
          <a:p>
            <a:r>
              <a:rPr lang="es-ES" sz="1800" dirty="0">
                <a:solidFill>
                  <a:srgbClr val="0070C0"/>
                </a:solidFill>
              </a:rPr>
              <a:t>e-mail: {</a:t>
            </a:r>
            <a:r>
              <a:rPr lang="es-ES" sz="1800" dirty="0" err="1">
                <a:solidFill>
                  <a:srgbClr val="0070C0"/>
                </a:solidFill>
              </a:rPr>
              <a:t>cjvillacis</a:t>
            </a:r>
            <a:r>
              <a:rPr lang="es-ES" sz="1800" dirty="0">
                <a:solidFill>
                  <a:srgbClr val="0070C0"/>
                </a:solidFill>
              </a:rPr>
              <a:t>, </a:t>
            </a:r>
            <a:r>
              <a:rPr lang="es-ES" sz="1800" dirty="0" err="1">
                <a:solidFill>
                  <a:srgbClr val="0070C0"/>
                </a:solidFill>
              </a:rPr>
              <a:t>mezambrano</a:t>
            </a:r>
            <a:r>
              <a:rPr lang="es-ES" sz="1800" dirty="0">
                <a:solidFill>
                  <a:srgbClr val="0070C0"/>
                </a:solidFill>
              </a:rPr>
              <a:t>}@espe.edu.ec</a:t>
            </a:r>
            <a:endParaRPr lang="en-US" sz="1800" b="1" dirty="0">
              <a:solidFill>
                <a:srgbClr val="0070C0"/>
              </a:solidFill>
            </a:endParaRPr>
          </a:p>
          <a:p>
            <a:pPr>
              <a:lnSpc>
                <a:spcPct val="80000"/>
              </a:lnSpc>
            </a:pPr>
            <a:endParaRPr lang="en-US" b="1" dirty="0">
              <a:solidFill>
                <a:schemeClr val="hlink"/>
              </a:solidFill>
            </a:endParaRPr>
          </a:p>
          <a:p>
            <a:pPr>
              <a:lnSpc>
                <a:spcPct val="80000"/>
              </a:lnSpc>
            </a:pPr>
            <a:endParaRPr lang="es-ES" b="1" dirty="0">
              <a:solidFill>
                <a:schemeClr val="hlink"/>
              </a:solidFill>
            </a:endParaRPr>
          </a:p>
          <a:p>
            <a:pPr>
              <a:lnSpc>
                <a:spcPct val="80000"/>
              </a:lnSpc>
            </a:pPr>
            <a:endParaRPr lang="es-ES" b="1" dirty="0"/>
          </a:p>
        </p:txBody>
      </p:sp>
      <p:sp>
        <p:nvSpPr>
          <p:cNvPr id="2" name="1 Marcador de fecha"/>
          <p:cNvSpPr>
            <a:spLocks noGrp="1"/>
          </p:cNvSpPr>
          <p:nvPr>
            <p:ph type="dt" sz="half" idx="10"/>
          </p:nvPr>
        </p:nvSpPr>
        <p:spPr/>
        <p:txBody>
          <a:bodyPr/>
          <a:lstStyle/>
          <a:p>
            <a:fld id="{CFABD442-A3C4-4850-B201-37432B5929C0}" type="datetime1">
              <a:rPr lang="es-EC" smtClean="0"/>
              <a:t>9/12/2025</a:t>
            </a:fld>
            <a:endParaRPr lang="es-EC"/>
          </a:p>
        </p:txBody>
      </p:sp>
      <p:sp>
        <p:nvSpPr>
          <p:cNvPr id="3" name="2 Marcador de número de diapositiva"/>
          <p:cNvSpPr>
            <a:spLocks noGrp="1"/>
          </p:cNvSpPr>
          <p:nvPr>
            <p:ph type="sldNum" sz="quarter" idx="11"/>
          </p:nvPr>
        </p:nvSpPr>
        <p:spPr/>
        <p:txBody>
          <a:bodyPr/>
          <a:lstStyle/>
          <a:p>
            <a:fld id="{14B28EB2-3408-4757-A806-361BA67028B7}" type="slidenum">
              <a:rPr lang="es-EC" smtClean="0"/>
              <a:t>1</a:t>
            </a:fld>
            <a:endParaRPr lang="es-EC"/>
          </a:p>
        </p:txBody>
      </p:sp>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552" y="281472"/>
            <a:ext cx="2967310" cy="927596"/>
          </a:xfrm>
          <a:prstGeom prst="rect">
            <a:avLst/>
          </a:prstGeom>
        </p:spPr>
      </p:pic>
      <p:pic>
        <p:nvPicPr>
          <p:cNvPr id="12" name="Imagen 11">
            <a:extLst>
              <a:ext uri="{FF2B5EF4-FFF2-40B4-BE49-F238E27FC236}">
                <a16:creationId xmlns:a16="http://schemas.microsoft.com/office/drawing/2014/main" id="{771F6278-F22F-1B52-5B3D-9A53240E0CCC}"/>
              </a:ext>
            </a:extLst>
          </p:cNvPr>
          <p:cNvPicPr>
            <a:picLocks noChangeAspect="1"/>
          </p:cNvPicPr>
          <p:nvPr/>
        </p:nvPicPr>
        <p:blipFill>
          <a:blip r:embed="rId4"/>
          <a:stretch>
            <a:fillRect/>
          </a:stretch>
        </p:blipFill>
        <p:spPr>
          <a:xfrm>
            <a:off x="3851920" y="1178049"/>
            <a:ext cx="3366640" cy="2755007"/>
          </a:xfrm>
          <a:prstGeom prst="rect">
            <a:avLst/>
          </a:prstGeom>
        </p:spPr>
      </p:pic>
    </p:spTree>
    <p:extLst>
      <p:ext uri="{BB962C8B-B14F-4D97-AF65-F5344CB8AC3E}">
        <p14:creationId xmlns:p14="http://schemas.microsoft.com/office/powerpoint/2010/main" val="1158697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EC" b="1" dirty="0">
                <a:solidFill>
                  <a:srgbClr val="FF0000"/>
                </a:solidFill>
              </a:rPr>
              <a:t>Introducción</a:t>
            </a:r>
            <a:endParaRPr lang="en-US" b="1" dirty="0">
              <a:solidFill>
                <a:srgbClr val="FF0000"/>
              </a:solidFill>
            </a:endParaRPr>
          </a:p>
          <a:p>
            <a:r>
              <a:rPr lang="es-EC" b="1" dirty="0">
                <a:solidFill>
                  <a:schemeClr val="bg1">
                    <a:lumMod val="50000"/>
                  </a:schemeClr>
                </a:solidFill>
              </a:rPr>
              <a:t>Objetivos</a:t>
            </a:r>
          </a:p>
          <a:p>
            <a:r>
              <a:rPr lang="es-ES" b="1" dirty="0">
                <a:solidFill>
                  <a:schemeClr val="bg1">
                    <a:lumMod val="50000"/>
                  </a:schemeClr>
                </a:solidFill>
              </a:rPr>
              <a:t>Función </a:t>
            </a:r>
            <a:endParaRPr lang="es-EC" b="1" dirty="0">
              <a:solidFill>
                <a:schemeClr val="bg1">
                  <a:lumMod val="50000"/>
                </a:schemeClr>
              </a:solidFill>
            </a:endParaRPr>
          </a:p>
          <a:p>
            <a:r>
              <a:rPr lang="es-EC" b="1" dirty="0">
                <a:solidFill>
                  <a:schemeClr val="bg1">
                    <a:lumMod val="50000"/>
                  </a:schemeClr>
                </a:solidFill>
              </a:rPr>
              <a:t>Problema 5.1</a:t>
            </a:r>
          </a:p>
          <a:p>
            <a:r>
              <a:rPr lang="es-EC" b="1" dirty="0">
                <a:solidFill>
                  <a:schemeClr val="bg1">
                    <a:lumMod val="50000"/>
                  </a:schemeClr>
                </a:solidFill>
              </a:rPr>
              <a:t>Estructura de una Función</a:t>
            </a:r>
          </a:p>
          <a:p>
            <a:r>
              <a:rPr lang="es-EC" b="1" dirty="0">
                <a:solidFill>
                  <a:schemeClr val="bg1">
                    <a:lumMod val="50000"/>
                  </a:schemeClr>
                </a:solidFill>
              </a:rPr>
              <a:t>Implementación de una Función</a:t>
            </a:r>
          </a:p>
          <a:p>
            <a:r>
              <a:rPr lang="es-EC" b="1" dirty="0">
                <a:solidFill>
                  <a:schemeClr val="bg1">
                    <a:lumMod val="50000"/>
                  </a:schemeClr>
                </a:solidFill>
              </a:rPr>
              <a:t>Problema 5.2</a:t>
            </a:r>
          </a:p>
          <a:p>
            <a:r>
              <a:rPr lang="es-MX" b="1" dirty="0">
                <a:solidFill>
                  <a:schemeClr val="bg1">
                    <a:lumMod val="50000"/>
                  </a:schemeClr>
                </a:solidFill>
              </a:rPr>
              <a:t>Problemas que Resuelven las Funciones </a:t>
            </a:r>
            <a:endParaRPr lang="es-EC" b="1" dirty="0">
              <a:solidFill>
                <a:schemeClr val="bg1">
                  <a:lumMod val="50000"/>
                </a:schemeClr>
              </a:solidFill>
            </a:endParaRPr>
          </a:p>
          <a:p>
            <a:r>
              <a:rPr lang="es-EC" b="1" dirty="0">
                <a:solidFill>
                  <a:schemeClr val="bg1">
                    <a:lumMod val="50000"/>
                  </a:schemeClr>
                </a:solidFill>
              </a:rPr>
              <a:t>Uso de Funciones </a:t>
            </a:r>
          </a:p>
          <a:p>
            <a:r>
              <a:rPr lang="es-MX" b="1" dirty="0">
                <a:solidFill>
                  <a:schemeClr val="bg1">
                    <a:lumMod val="50000"/>
                  </a:schemeClr>
                </a:solidFill>
              </a:rPr>
              <a:t>Paso de Parámetros por Valor</a:t>
            </a:r>
            <a:endParaRPr lang="es-EC" b="1" dirty="0">
              <a:solidFill>
                <a:schemeClr val="bg1">
                  <a:lumMod val="50000"/>
                </a:schemeClr>
              </a:solidFill>
            </a:endParaRPr>
          </a:p>
          <a:p>
            <a:r>
              <a:rPr lang="es-EC" b="1" dirty="0">
                <a:solidFill>
                  <a:schemeClr val="bg1">
                    <a:lumMod val="50000"/>
                  </a:schemeClr>
                </a:solidFill>
              </a:rPr>
              <a:t>Funciones sin Parámetros</a:t>
            </a:r>
          </a:p>
          <a:p>
            <a:r>
              <a:rPr lang="es-EC" b="1" dirty="0">
                <a:solidFill>
                  <a:schemeClr val="bg1">
                    <a:lumMod val="50000"/>
                  </a:schemeClr>
                </a:solidFill>
              </a:rPr>
              <a:t>Funciones con un Parámetro</a:t>
            </a:r>
          </a:p>
          <a:p>
            <a:r>
              <a:rPr lang="es-EC" b="1" dirty="0">
                <a:solidFill>
                  <a:schemeClr val="bg1">
                    <a:lumMod val="50000"/>
                  </a:schemeClr>
                </a:solidFill>
              </a:rPr>
              <a:t>Funciones con Varios Parámetros</a:t>
            </a:r>
          </a:p>
          <a:p>
            <a:r>
              <a:rPr lang="es-MX" b="1" dirty="0">
                <a:solidFill>
                  <a:schemeClr val="bg1">
                    <a:lumMod val="50000"/>
                  </a:schemeClr>
                </a:solidFill>
              </a:rPr>
              <a:t>Funciones de la Librería de Números Aleatorios</a:t>
            </a:r>
          </a:p>
          <a:p>
            <a:r>
              <a:rPr lang="es-MX" b="1" dirty="0">
                <a:solidFill>
                  <a:schemeClr val="bg1">
                    <a:lumMod val="50000"/>
                  </a:schemeClr>
                </a:solidFill>
              </a:rPr>
              <a:t>Especificación del Rango de un Número Aleatorio </a:t>
            </a:r>
          </a:p>
          <a:p>
            <a:r>
              <a:rPr lang="es-EC" b="1" dirty="0">
                <a:solidFill>
                  <a:schemeClr val="bg1">
                    <a:lumMod val="50000"/>
                  </a:schemeClr>
                </a:solidFill>
              </a:rPr>
              <a:t>Sobrecarga de Funciones</a:t>
            </a:r>
          </a:p>
        </p:txBody>
      </p:sp>
      <p:sp>
        <p:nvSpPr>
          <p:cNvPr id="5" name="4 Marcador de fecha"/>
          <p:cNvSpPr>
            <a:spLocks noGrp="1"/>
          </p:cNvSpPr>
          <p:nvPr>
            <p:ph type="dt" sz="half" idx="10"/>
          </p:nvPr>
        </p:nvSpPr>
        <p:spPr/>
        <p:txBody>
          <a:bodyPr/>
          <a:lstStyle/>
          <a:p>
            <a:fld id="{85E4E129-A937-4BEE-8A17-D7969DFE55C2}" type="datetime1">
              <a:rPr lang="es-EC" smtClean="0"/>
              <a:t>9/12/2025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a:t>
            </a:fld>
            <a:endParaRPr lang="es-EC"/>
          </a:p>
        </p:txBody>
      </p:sp>
    </p:spTree>
    <p:extLst>
      <p:ext uri="{BB962C8B-B14F-4D97-AF65-F5344CB8AC3E}">
        <p14:creationId xmlns:p14="http://schemas.microsoft.com/office/powerpoint/2010/main" val="2772052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0"/>
            <a:ext cx="8229600" cy="980728"/>
          </a:xfrm>
        </p:spPr>
        <p:txBody>
          <a:bodyPr/>
          <a:lstStyle/>
          <a:p>
            <a:r>
              <a:rPr lang="es-EC" b="1" dirty="0"/>
              <a:t>Introducción</a:t>
            </a:r>
            <a:endParaRPr lang="en-US" b="1" dirty="0"/>
          </a:p>
        </p:txBody>
      </p:sp>
      <p:sp>
        <p:nvSpPr>
          <p:cNvPr id="5" name="4 Marcador de contenido"/>
          <p:cNvSpPr>
            <a:spLocks noGrp="1"/>
          </p:cNvSpPr>
          <p:nvPr>
            <p:ph idx="1"/>
          </p:nvPr>
        </p:nvSpPr>
        <p:spPr>
          <a:xfrm>
            <a:off x="39541" y="2224028"/>
            <a:ext cx="4730852" cy="4156572"/>
          </a:xfrm>
        </p:spPr>
        <p:txBody>
          <a:bodyPr>
            <a:normAutofit fontScale="62500" lnSpcReduction="20000"/>
          </a:bodyPr>
          <a:lstStyle/>
          <a:p>
            <a:r>
              <a:rPr lang="es-MX" dirty="0"/>
              <a:t>En este capítulo se aprenderá a diseñar funciones con algoritmos y a utilizar la computadora como una herramienta para resolver problemas creando programas con funciones, referencias y punteros en el lenguaje C/C++. Para la solución de problemas de programación se aplican aspectos de Ingeniería de Software y el método científico que permiten identificar a la programación con un enfoque sistemático. </a:t>
            </a:r>
          </a:p>
          <a:p>
            <a:r>
              <a:rPr lang="es-MX" dirty="0"/>
              <a:t>En un programa estructurado el flujo lógico se puede optimizar con el uso de funciones, referencias y punteros que es parte de la programación modular. El estudio de las funciones se realiza en base al paso de parámetros por valor, por referencia y por dirección. La aplicación de funciones para crear programas se lo hace con un lenguaje estructurado y modular como es el Lenguaje C/C++.</a:t>
            </a:r>
            <a:endParaRPr lang="es-ES" dirty="0"/>
          </a:p>
        </p:txBody>
      </p:sp>
      <p:sp>
        <p:nvSpPr>
          <p:cNvPr id="3" name="2 Marcador de fecha"/>
          <p:cNvSpPr>
            <a:spLocks noGrp="1"/>
          </p:cNvSpPr>
          <p:nvPr>
            <p:ph type="dt" sz="half" idx="10"/>
          </p:nvPr>
        </p:nvSpPr>
        <p:spPr/>
        <p:txBody>
          <a:bodyPr/>
          <a:lstStyle/>
          <a:p>
            <a:fld id="{44C3288D-7DAC-4DD2-9022-6C6BA4238517}" type="datetime1">
              <a:rPr lang="es-EC" smtClean="0"/>
              <a:t>9/12/2025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a:t>
            </a:fld>
            <a:endParaRPr lang="es-EC"/>
          </a:p>
        </p:txBody>
      </p:sp>
      <p:sp>
        <p:nvSpPr>
          <p:cNvPr id="9" name="12 CuadroTexto"/>
          <p:cNvSpPr txBox="1"/>
          <p:nvPr/>
        </p:nvSpPr>
        <p:spPr>
          <a:xfrm>
            <a:off x="4749277" y="5309909"/>
            <a:ext cx="4355976" cy="646331"/>
          </a:xfrm>
          <a:prstGeom prst="rect">
            <a:avLst/>
          </a:prstGeom>
          <a:noFill/>
        </p:spPr>
        <p:txBody>
          <a:bodyPr wrap="square" rtlCol="0">
            <a:spAutoFit/>
          </a:bodyPr>
          <a:lstStyle/>
          <a:p>
            <a:r>
              <a:rPr lang="es-ES_tradnl" sz="1200" dirty="0">
                <a:solidFill>
                  <a:schemeClr val="tx1">
                    <a:lumMod val="50000"/>
                    <a:lumOff val="50000"/>
                  </a:schemeClr>
                </a:solidFill>
                <a:latin typeface="+mj-lt"/>
              </a:rPr>
              <a:t>Figura 1. La importancia de enseñar Lenguaje C y C++. </a:t>
            </a:r>
          </a:p>
          <a:p>
            <a:r>
              <a:rPr lang="es-ES_tradnl" sz="1200" dirty="0">
                <a:solidFill>
                  <a:schemeClr val="tx1">
                    <a:lumMod val="50000"/>
                    <a:lumOff val="50000"/>
                  </a:schemeClr>
                </a:solidFill>
                <a:latin typeface="+mj-lt"/>
              </a:rPr>
              <a:t>Fuente: https://www.iberestudios.com/noticias/por-que-las-universidades-siguen-ensenando-c-y-c/</a:t>
            </a:r>
            <a:endParaRPr lang="es-EC" sz="1200" dirty="0">
              <a:solidFill>
                <a:schemeClr val="tx1">
                  <a:lumMod val="50000"/>
                  <a:lumOff val="50000"/>
                </a:schemeClr>
              </a:solidFill>
              <a:latin typeface="+mj-lt"/>
            </a:endParaRPr>
          </a:p>
        </p:txBody>
      </p:sp>
      <p:pic>
        <p:nvPicPr>
          <p:cNvPr id="10" name="Imagen 9">
            <a:extLst>
              <a:ext uri="{FF2B5EF4-FFF2-40B4-BE49-F238E27FC236}">
                <a16:creationId xmlns:a16="http://schemas.microsoft.com/office/drawing/2014/main" id="{40F5FACB-B5C1-C712-6322-A3ADBD73787A}"/>
              </a:ext>
            </a:extLst>
          </p:cNvPr>
          <p:cNvPicPr>
            <a:picLocks noChangeAspect="1"/>
          </p:cNvPicPr>
          <p:nvPr/>
        </p:nvPicPr>
        <p:blipFill>
          <a:blip r:embed="rId2"/>
          <a:stretch>
            <a:fillRect/>
          </a:stretch>
        </p:blipFill>
        <p:spPr>
          <a:xfrm>
            <a:off x="5137226" y="1850855"/>
            <a:ext cx="3323206" cy="3306337"/>
          </a:xfrm>
          <a:prstGeom prst="rect">
            <a:avLst/>
          </a:prstGeom>
        </p:spPr>
      </p:pic>
    </p:spTree>
    <p:extLst>
      <p:ext uri="{BB962C8B-B14F-4D97-AF65-F5344CB8AC3E}">
        <p14:creationId xmlns:p14="http://schemas.microsoft.com/office/powerpoint/2010/main" val="1641893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EC" b="1" dirty="0">
                <a:solidFill>
                  <a:schemeClr val="bg1">
                    <a:lumMod val="50000"/>
                  </a:schemeClr>
                </a:solidFill>
              </a:rPr>
              <a:t>Introducción</a:t>
            </a:r>
            <a:endParaRPr lang="en-US" b="1" dirty="0">
              <a:solidFill>
                <a:schemeClr val="bg1">
                  <a:lumMod val="50000"/>
                </a:schemeClr>
              </a:solidFill>
            </a:endParaRPr>
          </a:p>
          <a:p>
            <a:r>
              <a:rPr lang="es-EC" b="1" dirty="0">
                <a:solidFill>
                  <a:srgbClr val="FF0000"/>
                </a:solidFill>
              </a:rPr>
              <a:t>Objetivos</a:t>
            </a:r>
          </a:p>
          <a:p>
            <a:r>
              <a:rPr lang="es-ES" b="1" dirty="0">
                <a:solidFill>
                  <a:schemeClr val="bg1">
                    <a:lumMod val="50000"/>
                  </a:schemeClr>
                </a:solidFill>
              </a:rPr>
              <a:t>Función </a:t>
            </a:r>
            <a:endParaRPr lang="es-EC" b="1" dirty="0">
              <a:solidFill>
                <a:schemeClr val="bg1">
                  <a:lumMod val="50000"/>
                </a:schemeClr>
              </a:solidFill>
            </a:endParaRPr>
          </a:p>
          <a:p>
            <a:r>
              <a:rPr lang="es-EC" b="1" dirty="0">
                <a:solidFill>
                  <a:schemeClr val="bg1">
                    <a:lumMod val="50000"/>
                  </a:schemeClr>
                </a:solidFill>
              </a:rPr>
              <a:t>Problema 5.1</a:t>
            </a:r>
          </a:p>
          <a:p>
            <a:r>
              <a:rPr lang="es-EC" b="1" dirty="0">
                <a:solidFill>
                  <a:schemeClr val="bg1">
                    <a:lumMod val="50000"/>
                  </a:schemeClr>
                </a:solidFill>
              </a:rPr>
              <a:t>Estructura de una Función</a:t>
            </a:r>
          </a:p>
          <a:p>
            <a:r>
              <a:rPr lang="es-EC" b="1" dirty="0">
                <a:solidFill>
                  <a:schemeClr val="bg1">
                    <a:lumMod val="50000"/>
                  </a:schemeClr>
                </a:solidFill>
              </a:rPr>
              <a:t>Implementación de una Función</a:t>
            </a:r>
          </a:p>
          <a:p>
            <a:r>
              <a:rPr lang="es-EC" b="1" dirty="0">
                <a:solidFill>
                  <a:schemeClr val="bg1">
                    <a:lumMod val="50000"/>
                  </a:schemeClr>
                </a:solidFill>
              </a:rPr>
              <a:t>Problema 5.2</a:t>
            </a:r>
          </a:p>
          <a:p>
            <a:r>
              <a:rPr lang="es-MX" b="1" dirty="0">
                <a:solidFill>
                  <a:schemeClr val="bg1">
                    <a:lumMod val="50000"/>
                  </a:schemeClr>
                </a:solidFill>
              </a:rPr>
              <a:t>Problemas que Resuelven las Funciones </a:t>
            </a:r>
            <a:endParaRPr lang="es-EC" b="1" dirty="0">
              <a:solidFill>
                <a:schemeClr val="bg1">
                  <a:lumMod val="50000"/>
                </a:schemeClr>
              </a:solidFill>
            </a:endParaRPr>
          </a:p>
          <a:p>
            <a:r>
              <a:rPr lang="es-EC" b="1" dirty="0">
                <a:solidFill>
                  <a:schemeClr val="bg1">
                    <a:lumMod val="50000"/>
                  </a:schemeClr>
                </a:solidFill>
              </a:rPr>
              <a:t>Uso de Funciones </a:t>
            </a:r>
          </a:p>
          <a:p>
            <a:r>
              <a:rPr lang="es-MX" b="1" dirty="0">
                <a:solidFill>
                  <a:schemeClr val="bg1">
                    <a:lumMod val="50000"/>
                  </a:schemeClr>
                </a:solidFill>
              </a:rPr>
              <a:t>Paso de Parámetros por Valor</a:t>
            </a:r>
            <a:endParaRPr lang="es-EC" b="1" dirty="0">
              <a:solidFill>
                <a:schemeClr val="bg1">
                  <a:lumMod val="50000"/>
                </a:schemeClr>
              </a:solidFill>
            </a:endParaRPr>
          </a:p>
          <a:p>
            <a:r>
              <a:rPr lang="es-EC" b="1" dirty="0">
                <a:solidFill>
                  <a:schemeClr val="bg1">
                    <a:lumMod val="50000"/>
                  </a:schemeClr>
                </a:solidFill>
              </a:rPr>
              <a:t>Funciones sin Parámetros</a:t>
            </a:r>
          </a:p>
          <a:p>
            <a:r>
              <a:rPr lang="es-EC" b="1" dirty="0">
                <a:solidFill>
                  <a:schemeClr val="bg1">
                    <a:lumMod val="50000"/>
                  </a:schemeClr>
                </a:solidFill>
              </a:rPr>
              <a:t>Funciones con un Parámetro</a:t>
            </a:r>
          </a:p>
          <a:p>
            <a:r>
              <a:rPr lang="es-EC" b="1" dirty="0">
                <a:solidFill>
                  <a:schemeClr val="bg1">
                    <a:lumMod val="50000"/>
                  </a:schemeClr>
                </a:solidFill>
              </a:rPr>
              <a:t>Funciones con Varios Parámetros</a:t>
            </a:r>
          </a:p>
          <a:p>
            <a:r>
              <a:rPr lang="es-MX" b="1" dirty="0">
                <a:solidFill>
                  <a:schemeClr val="bg1">
                    <a:lumMod val="50000"/>
                  </a:schemeClr>
                </a:solidFill>
              </a:rPr>
              <a:t>Funciones de la Librería de Números Aleatorios</a:t>
            </a:r>
          </a:p>
          <a:p>
            <a:r>
              <a:rPr lang="es-MX" b="1" dirty="0">
                <a:solidFill>
                  <a:schemeClr val="bg1">
                    <a:lumMod val="50000"/>
                  </a:schemeClr>
                </a:solidFill>
              </a:rPr>
              <a:t>Especificación del Rango de un Número Aleatorio </a:t>
            </a:r>
          </a:p>
          <a:p>
            <a:r>
              <a:rPr lang="es-EC" b="1" dirty="0">
                <a:solidFill>
                  <a:schemeClr val="bg1">
                    <a:lumMod val="50000"/>
                  </a:schemeClr>
                </a:solidFill>
              </a:rPr>
              <a:t>Sobrecarga de Funciones</a:t>
            </a:r>
          </a:p>
        </p:txBody>
      </p:sp>
      <p:sp>
        <p:nvSpPr>
          <p:cNvPr id="5" name="4 Marcador de fecha"/>
          <p:cNvSpPr>
            <a:spLocks noGrp="1"/>
          </p:cNvSpPr>
          <p:nvPr>
            <p:ph type="dt" sz="half" idx="10"/>
          </p:nvPr>
        </p:nvSpPr>
        <p:spPr/>
        <p:txBody>
          <a:bodyPr/>
          <a:lstStyle/>
          <a:p>
            <a:fld id="{85E4E129-A937-4BEE-8A17-D7969DFE55C2}" type="datetime1">
              <a:rPr lang="es-EC" smtClean="0"/>
              <a:t>9/12/2025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a:t>
            </a:fld>
            <a:endParaRPr lang="es-EC"/>
          </a:p>
        </p:txBody>
      </p:sp>
    </p:spTree>
    <p:extLst>
      <p:ext uri="{BB962C8B-B14F-4D97-AF65-F5344CB8AC3E}">
        <p14:creationId xmlns:p14="http://schemas.microsoft.com/office/powerpoint/2010/main" val="258056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0"/>
            <a:ext cx="8229600" cy="980728"/>
          </a:xfrm>
        </p:spPr>
        <p:txBody>
          <a:bodyPr/>
          <a:lstStyle/>
          <a:p>
            <a:r>
              <a:rPr lang="es-EC" b="1" dirty="0"/>
              <a:t>Objetivos</a:t>
            </a:r>
            <a:endParaRPr lang="en-US" b="1" dirty="0"/>
          </a:p>
        </p:txBody>
      </p:sp>
      <p:sp>
        <p:nvSpPr>
          <p:cNvPr id="5" name="4 Marcador de contenido"/>
          <p:cNvSpPr>
            <a:spLocks noGrp="1"/>
          </p:cNvSpPr>
          <p:nvPr>
            <p:ph idx="1"/>
          </p:nvPr>
        </p:nvSpPr>
        <p:spPr>
          <a:xfrm>
            <a:off x="331935" y="1605508"/>
            <a:ext cx="8496944" cy="4631804"/>
          </a:xfrm>
        </p:spPr>
        <p:txBody>
          <a:bodyPr>
            <a:normAutofit fontScale="85000" lnSpcReduction="20000"/>
          </a:bodyPr>
          <a:lstStyle/>
          <a:p>
            <a:pPr marL="0" indent="0">
              <a:buNone/>
            </a:pPr>
            <a:r>
              <a:rPr lang="es-MX" dirty="0"/>
              <a:t> </a:t>
            </a:r>
          </a:p>
          <a:p>
            <a:pPr marL="0" indent="0">
              <a:buNone/>
            </a:pPr>
            <a:r>
              <a:rPr lang="es-MX" dirty="0"/>
              <a:t>▪ Revisar los principales conceptos en torno a funciones con algoritmos y con estructuras de control. </a:t>
            </a:r>
          </a:p>
          <a:p>
            <a:pPr marL="0" indent="0">
              <a:buNone/>
            </a:pPr>
            <a:endParaRPr lang="es-MX" dirty="0"/>
          </a:p>
          <a:p>
            <a:pPr marL="0" indent="0">
              <a:buNone/>
            </a:pPr>
            <a:r>
              <a:rPr lang="es-MX" dirty="0"/>
              <a:t>▪ Entender cómo trabajan las funciones, las referencias, los punteros y cómo se aplican con el lenguaje C/C++ en la construcción de programas. </a:t>
            </a:r>
          </a:p>
          <a:p>
            <a:pPr marL="0" indent="0">
              <a:buNone/>
            </a:pPr>
            <a:endParaRPr lang="es-MX" dirty="0"/>
          </a:p>
          <a:p>
            <a:pPr marL="0" indent="0">
              <a:buNone/>
            </a:pPr>
            <a:r>
              <a:rPr lang="es-MX" dirty="0"/>
              <a:t>▪ Aprender a manejar el paso de parámetros por valor, por referencia y por dirección con algoritmos en Pseudocódigo y en Lenguaje C/C++. </a:t>
            </a:r>
          </a:p>
          <a:p>
            <a:pPr marL="0" indent="0">
              <a:buNone/>
            </a:pPr>
            <a:endParaRPr lang="es-MX" dirty="0"/>
          </a:p>
          <a:p>
            <a:pPr marL="0" indent="0">
              <a:buNone/>
            </a:pPr>
            <a:r>
              <a:rPr lang="es-MX" dirty="0"/>
              <a:t>▪ Diseñar y crear programas en lenguaje C/C++ utilizando funciones, referencias y punteros. ▪ Resolver casos de estudio con funciones, referencias y punteros aplicados al área matemática.</a:t>
            </a:r>
            <a:endParaRPr lang="es-ES" dirty="0"/>
          </a:p>
        </p:txBody>
      </p:sp>
      <p:sp>
        <p:nvSpPr>
          <p:cNvPr id="3" name="2 Marcador de fecha"/>
          <p:cNvSpPr>
            <a:spLocks noGrp="1"/>
          </p:cNvSpPr>
          <p:nvPr>
            <p:ph type="dt" sz="half" idx="10"/>
          </p:nvPr>
        </p:nvSpPr>
        <p:spPr/>
        <p:txBody>
          <a:bodyPr/>
          <a:lstStyle/>
          <a:p>
            <a:fld id="{44C3288D-7DAC-4DD2-9022-6C6BA4238517}" type="datetime1">
              <a:rPr lang="es-EC" smtClean="0"/>
              <a:t>9/12/2025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5</a:t>
            </a:fld>
            <a:endParaRPr lang="es-EC"/>
          </a:p>
        </p:txBody>
      </p:sp>
    </p:spTree>
    <p:extLst>
      <p:ext uri="{BB962C8B-B14F-4D97-AF65-F5344CB8AC3E}">
        <p14:creationId xmlns:p14="http://schemas.microsoft.com/office/powerpoint/2010/main" val="1523068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EC" b="1" dirty="0">
                <a:solidFill>
                  <a:schemeClr val="bg1">
                    <a:lumMod val="50000"/>
                  </a:schemeClr>
                </a:solidFill>
              </a:rPr>
              <a:t>Introducción</a:t>
            </a:r>
            <a:endParaRPr lang="en-US" b="1" dirty="0">
              <a:solidFill>
                <a:schemeClr val="bg1">
                  <a:lumMod val="50000"/>
                </a:schemeClr>
              </a:solidFill>
            </a:endParaRPr>
          </a:p>
          <a:p>
            <a:r>
              <a:rPr lang="es-EC" b="1" dirty="0">
                <a:solidFill>
                  <a:schemeClr val="bg1">
                    <a:lumMod val="50000"/>
                  </a:schemeClr>
                </a:solidFill>
              </a:rPr>
              <a:t>Objetivos</a:t>
            </a:r>
          </a:p>
          <a:p>
            <a:r>
              <a:rPr lang="es-ES" b="1" dirty="0">
                <a:solidFill>
                  <a:srgbClr val="FF0000"/>
                </a:solidFill>
              </a:rPr>
              <a:t>Función </a:t>
            </a:r>
            <a:endParaRPr lang="es-EC" b="1" dirty="0">
              <a:solidFill>
                <a:srgbClr val="FF0000"/>
              </a:solidFill>
            </a:endParaRPr>
          </a:p>
          <a:p>
            <a:r>
              <a:rPr lang="es-EC" b="1" dirty="0">
                <a:solidFill>
                  <a:schemeClr val="bg1">
                    <a:lumMod val="50000"/>
                  </a:schemeClr>
                </a:solidFill>
              </a:rPr>
              <a:t>Problema 5.1</a:t>
            </a:r>
          </a:p>
          <a:p>
            <a:r>
              <a:rPr lang="es-EC" b="1" dirty="0">
                <a:solidFill>
                  <a:schemeClr val="bg1">
                    <a:lumMod val="50000"/>
                  </a:schemeClr>
                </a:solidFill>
              </a:rPr>
              <a:t>Estructura de una Función</a:t>
            </a:r>
          </a:p>
          <a:p>
            <a:r>
              <a:rPr lang="es-EC" b="1" dirty="0">
                <a:solidFill>
                  <a:schemeClr val="bg1">
                    <a:lumMod val="50000"/>
                  </a:schemeClr>
                </a:solidFill>
              </a:rPr>
              <a:t>Implementación de una Función</a:t>
            </a:r>
          </a:p>
          <a:p>
            <a:r>
              <a:rPr lang="es-EC" b="1" dirty="0">
                <a:solidFill>
                  <a:schemeClr val="bg1">
                    <a:lumMod val="50000"/>
                  </a:schemeClr>
                </a:solidFill>
              </a:rPr>
              <a:t>Problema 5.2</a:t>
            </a:r>
          </a:p>
          <a:p>
            <a:r>
              <a:rPr lang="es-MX" b="1" dirty="0">
                <a:solidFill>
                  <a:schemeClr val="bg1">
                    <a:lumMod val="50000"/>
                  </a:schemeClr>
                </a:solidFill>
              </a:rPr>
              <a:t>Problemas que Resuelven las Funciones </a:t>
            </a:r>
            <a:endParaRPr lang="es-EC" b="1" dirty="0">
              <a:solidFill>
                <a:schemeClr val="bg1">
                  <a:lumMod val="50000"/>
                </a:schemeClr>
              </a:solidFill>
            </a:endParaRPr>
          </a:p>
          <a:p>
            <a:r>
              <a:rPr lang="es-EC" b="1" dirty="0">
                <a:solidFill>
                  <a:schemeClr val="bg1">
                    <a:lumMod val="50000"/>
                  </a:schemeClr>
                </a:solidFill>
              </a:rPr>
              <a:t>Uso de Funciones </a:t>
            </a:r>
          </a:p>
          <a:p>
            <a:r>
              <a:rPr lang="es-MX" b="1" dirty="0">
                <a:solidFill>
                  <a:schemeClr val="bg1">
                    <a:lumMod val="50000"/>
                  </a:schemeClr>
                </a:solidFill>
              </a:rPr>
              <a:t>Paso de Parámetros por Valor</a:t>
            </a:r>
            <a:endParaRPr lang="es-EC" b="1" dirty="0">
              <a:solidFill>
                <a:schemeClr val="bg1">
                  <a:lumMod val="50000"/>
                </a:schemeClr>
              </a:solidFill>
            </a:endParaRPr>
          </a:p>
          <a:p>
            <a:r>
              <a:rPr lang="es-EC" b="1" dirty="0">
                <a:solidFill>
                  <a:schemeClr val="bg1">
                    <a:lumMod val="50000"/>
                  </a:schemeClr>
                </a:solidFill>
              </a:rPr>
              <a:t>Funciones sin Parámetros</a:t>
            </a:r>
          </a:p>
          <a:p>
            <a:r>
              <a:rPr lang="es-EC" b="1" dirty="0">
                <a:solidFill>
                  <a:schemeClr val="bg1">
                    <a:lumMod val="50000"/>
                  </a:schemeClr>
                </a:solidFill>
              </a:rPr>
              <a:t>Funciones con un Parámetro</a:t>
            </a:r>
          </a:p>
          <a:p>
            <a:r>
              <a:rPr lang="es-EC" b="1" dirty="0">
                <a:solidFill>
                  <a:schemeClr val="bg1">
                    <a:lumMod val="50000"/>
                  </a:schemeClr>
                </a:solidFill>
              </a:rPr>
              <a:t>Funciones con Varios Parámetros</a:t>
            </a:r>
          </a:p>
          <a:p>
            <a:r>
              <a:rPr lang="es-MX" b="1" dirty="0">
                <a:solidFill>
                  <a:schemeClr val="bg1">
                    <a:lumMod val="50000"/>
                  </a:schemeClr>
                </a:solidFill>
              </a:rPr>
              <a:t>Funciones de la Librería de Números Aleatorios</a:t>
            </a:r>
          </a:p>
          <a:p>
            <a:r>
              <a:rPr lang="es-MX" b="1" dirty="0">
                <a:solidFill>
                  <a:schemeClr val="bg1">
                    <a:lumMod val="50000"/>
                  </a:schemeClr>
                </a:solidFill>
              </a:rPr>
              <a:t>Especificación del Rango de un Número Aleatorio </a:t>
            </a:r>
          </a:p>
          <a:p>
            <a:r>
              <a:rPr lang="es-EC" b="1" dirty="0">
                <a:solidFill>
                  <a:schemeClr val="bg1">
                    <a:lumMod val="50000"/>
                  </a:schemeClr>
                </a:solidFill>
              </a:rPr>
              <a:t>Sobrecarga de Funciones</a:t>
            </a:r>
          </a:p>
        </p:txBody>
      </p:sp>
      <p:sp>
        <p:nvSpPr>
          <p:cNvPr id="5" name="4 Marcador de fecha"/>
          <p:cNvSpPr>
            <a:spLocks noGrp="1"/>
          </p:cNvSpPr>
          <p:nvPr>
            <p:ph type="dt" sz="half" idx="10"/>
          </p:nvPr>
        </p:nvSpPr>
        <p:spPr/>
        <p:txBody>
          <a:bodyPr/>
          <a:lstStyle/>
          <a:p>
            <a:fld id="{85E4E129-A937-4BEE-8A17-D7969DFE55C2}" type="datetime1">
              <a:rPr lang="es-EC" smtClean="0"/>
              <a:t>9/12/2025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6</a:t>
            </a:fld>
            <a:endParaRPr lang="es-EC"/>
          </a:p>
        </p:txBody>
      </p:sp>
    </p:spTree>
    <p:extLst>
      <p:ext uri="{BB962C8B-B14F-4D97-AF65-F5344CB8AC3E}">
        <p14:creationId xmlns:p14="http://schemas.microsoft.com/office/powerpoint/2010/main" val="2943215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038819" y="1350714"/>
            <a:ext cx="7045674" cy="4156572"/>
          </a:xfrm>
        </p:spPr>
        <p:txBody>
          <a:bodyPr>
            <a:normAutofit fontScale="85000" lnSpcReduction="20000"/>
          </a:bodyPr>
          <a:lstStyle/>
          <a:p>
            <a:r>
              <a:rPr lang="es-MX" dirty="0"/>
              <a:t>Una función es un mini programa dentro de un programa. Las funciones contienen varias sentencias bajo un solo nombre, que un programa puede utilizar una o más veces para ejecutar dichas sentencias (Granizo, E., 2016). Una función es una unidad de código diseñada para ejecutar una cierta tarea. Una función típica recibe algo de información y retorna algo de información. El concepto de una función es algo similar a una función matemática. Considere el caso de la función 𝑠𝑒𝑛(𝑥), la cual toma un parámetro ‘𝑥’ y evalúa o retorna algún valor, esto es el seno de ‘𝑥’. La utilidad de las funciones puede ser fácilmente demostrada si consideramos un programa sin el uso de ellas, como el siguiente:</a:t>
            </a:r>
            <a:endParaRPr lang="es-ES"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9/12/2025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7</a:t>
            </a:fld>
            <a:endParaRPr lang="es-EC"/>
          </a:p>
        </p:txBody>
      </p:sp>
      <p:sp>
        <p:nvSpPr>
          <p:cNvPr id="9" name="12 CuadroTexto"/>
          <p:cNvSpPr txBox="1"/>
          <p:nvPr/>
        </p:nvSpPr>
        <p:spPr>
          <a:xfrm>
            <a:off x="4932040" y="5941176"/>
            <a:ext cx="3744416" cy="276999"/>
          </a:xfrm>
          <a:prstGeom prst="rect">
            <a:avLst/>
          </a:prstGeom>
          <a:noFill/>
        </p:spPr>
        <p:txBody>
          <a:bodyPr wrap="square" rtlCol="0">
            <a:spAutoFit/>
          </a:bodyPr>
          <a:lstStyle/>
          <a:p>
            <a:r>
              <a:rPr lang="es-ES" sz="1200" dirty="0">
                <a:solidFill>
                  <a:schemeClr val="tx1">
                    <a:lumMod val="50000"/>
                    <a:lumOff val="50000"/>
                  </a:schemeClr>
                </a:solidFill>
                <a:latin typeface="+mj-lt"/>
              </a:rPr>
              <a:t>Figura 1.1. Ejemplo de un Programa en C/C++.</a:t>
            </a:r>
            <a:endParaRPr lang="es-EC" sz="1200" dirty="0">
              <a:solidFill>
                <a:schemeClr val="tx1">
                  <a:lumMod val="50000"/>
                  <a:lumOff val="50000"/>
                </a:schemeClr>
              </a:solidFill>
              <a:latin typeface="+mj-lt"/>
            </a:endParaRPr>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37728" y="246440"/>
            <a:ext cx="8229600" cy="1340768"/>
          </a:xfrm>
        </p:spPr>
        <p:txBody>
          <a:bodyPr/>
          <a:lstStyle/>
          <a:p>
            <a:pPr>
              <a:lnSpc>
                <a:spcPts val="4000"/>
              </a:lnSpc>
            </a:pPr>
            <a:r>
              <a:rPr lang="es-ES" sz="6600" dirty="0"/>
              <a:t>Función</a:t>
            </a:r>
            <a:r>
              <a:rPr lang="es-ES" sz="2800" dirty="0"/>
              <a:t> </a:t>
            </a:r>
            <a:br>
              <a:rPr lang="es-EC" sz="1100" b="1" dirty="0">
                <a:solidFill>
                  <a:schemeClr val="bg1">
                    <a:lumMod val="50000"/>
                  </a:schemeClr>
                </a:solidFill>
              </a:rPr>
            </a:br>
            <a:endParaRPr lang="en-US" sz="2800" dirty="0"/>
          </a:p>
        </p:txBody>
      </p:sp>
    </p:spTree>
    <p:extLst>
      <p:ext uri="{BB962C8B-B14F-4D97-AF65-F5344CB8AC3E}">
        <p14:creationId xmlns:p14="http://schemas.microsoft.com/office/powerpoint/2010/main" val="502480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EC" b="1" dirty="0">
                <a:solidFill>
                  <a:schemeClr val="bg1">
                    <a:lumMod val="50000"/>
                  </a:schemeClr>
                </a:solidFill>
              </a:rPr>
              <a:t>Introducción</a:t>
            </a:r>
            <a:endParaRPr lang="en-US" b="1" dirty="0">
              <a:solidFill>
                <a:schemeClr val="bg1">
                  <a:lumMod val="50000"/>
                </a:schemeClr>
              </a:solidFill>
            </a:endParaRPr>
          </a:p>
          <a:p>
            <a:r>
              <a:rPr lang="es-EC" b="1" dirty="0">
                <a:solidFill>
                  <a:schemeClr val="bg1">
                    <a:lumMod val="50000"/>
                  </a:schemeClr>
                </a:solidFill>
              </a:rPr>
              <a:t>Objetivos</a:t>
            </a:r>
          </a:p>
          <a:p>
            <a:r>
              <a:rPr lang="es-ES" b="1" dirty="0">
                <a:solidFill>
                  <a:schemeClr val="bg1">
                    <a:lumMod val="50000"/>
                  </a:schemeClr>
                </a:solidFill>
              </a:rPr>
              <a:t>Función </a:t>
            </a:r>
            <a:endParaRPr lang="es-EC" b="1" dirty="0">
              <a:solidFill>
                <a:schemeClr val="bg1">
                  <a:lumMod val="50000"/>
                </a:schemeClr>
              </a:solidFill>
            </a:endParaRPr>
          </a:p>
          <a:p>
            <a:r>
              <a:rPr lang="es-EC" b="1" dirty="0">
                <a:solidFill>
                  <a:srgbClr val="FF0000"/>
                </a:solidFill>
              </a:rPr>
              <a:t>Problema 5.1</a:t>
            </a:r>
          </a:p>
          <a:p>
            <a:r>
              <a:rPr lang="es-EC" b="1" dirty="0">
                <a:solidFill>
                  <a:schemeClr val="bg1">
                    <a:lumMod val="50000"/>
                  </a:schemeClr>
                </a:solidFill>
              </a:rPr>
              <a:t>Estructura de una Función</a:t>
            </a:r>
          </a:p>
          <a:p>
            <a:r>
              <a:rPr lang="es-EC" b="1" dirty="0">
                <a:solidFill>
                  <a:schemeClr val="bg1">
                    <a:lumMod val="50000"/>
                  </a:schemeClr>
                </a:solidFill>
              </a:rPr>
              <a:t>Implementación de una Función</a:t>
            </a:r>
          </a:p>
          <a:p>
            <a:r>
              <a:rPr lang="es-EC" b="1" dirty="0">
                <a:solidFill>
                  <a:schemeClr val="bg1">
                    <a:lumMod val="50000"/>
                  </a:schemeClr>
                </a:solidFill>
              </a:rPr>
              <a:t>Problema 5.2</a:t>
            </a:r>
          </a:p>
          <a:p>
            <a:r>
              <a:rPr lang="es-MX" b="1" dirty="0">
                <a:solidFill>
                  <a:schemeClr val="bg1">
                    <a:lumMod val="50000"/>
                  </a:schemeClr>
                </a:solidFill>
              </a:rPr>
              <a:t>Problemas que Resuelven las Funciones </a:t>
            </a:r>
            <a:endParaRPr lang="es-EC" b="1" dirty="0">
              <a:solidFill>
                <a:schemeClr val="bg1">
                  <a:lumMod val="50000"/>
                </a:schemeClr>
              </a:solidFill>
            </a:endParaRPr>
          </a:p>
          <a:p>
            <a:r>
              <a:rPr lang="es-EC" b="1" dirty="0">
                <a:solidFill>
                  <a:schemeClr val="bg1">
                    <a:lumMod val="50000"/>
                  </a:schemeClr>
                </a:solidFill>
              </a:rPr>
              <a:t>Uso de Funciones </a:t>
            </a:r>
          </a:p>
          <a:p>
            <a:r>
              <a:rPr lang="es-MX" b="1" dirty="0">
                <a:solidFill>
                  <a:schemeClr val="bg1">
                    <a:lumMod val="50000"/>
                  </a:schemeClr>
                </a:solidFill>
              </a:rPr>
              <a:t>Paso de Parámetros por Valor</a:t>
            </a:r>
            <a:endParaRPr lang="es-EC" b="1" dirty="0">
              <a:solidFill>
                <a:schemeClr val="bg1">
                  <a:lumMod val="50000"/>
                </a:schemeClr>
              </a:solidFill>
            </a:endParaRPr>
          </a:p>
          <a:p>
            <a:r>
              <a:rPr lang="es-EC" b="1" dirty="0">
                <a:solidFill>
                  <a:schemeClr val="bg1">
                    <a:lumMod val="50000"/>
                  </a:schemeClr>
                </a:solidFill>
              </a:rPr>
              <a:t>Funciones sin Parámetros</a:t>
            </a:r>
          </a:p>
          <a:p>
            <a:r>
              <a:rPr lang="es-EC" b="1" dirty="0">
                <a:solidFill>
                  <a:schemeClr val="bg1">
                    <a:lumMod val="50000"/>
                  </a:schemeClr>
                </a:solidFill>
              </a:rPr>
              <a:t>Funciones con un Parámetro</a:t>
            </a:r>
          </a:p>
          <a:p>
            <a:r>
              <a:rPr lang="es-EC" b="1" dirty="0">
                <a:solidFill>
                  <a:schemeClr val="bg1">
                    <a:lumMod val="50000"/>
                  </a:schemeClr>
                </a:solidFill>
              </a:rPr>
              <a:t>Funciones con Varios Parámetros</a:t>
            </a:r>
          </a:p>
          <a:p>
            <a:r>
              <a:rPr lang="es-MX" b="1" dirty="0">
                <a:solidFill>
                  <a:schemeClr val="bg1">
                    <a:lumMod val="50000"/>
                  </a:schemeClr>
                </a:solidFill>
              </a:rPr>
              <a:t>Funciones de la Librería de Números Aleatorios</a:t>
            </a:r>
          </a:p>
          <a:p>
            <a:r>
              <a:rPr lang="es-MX" b="1" dirty="0">
                <a:solidFill>
                  <a:schemeClr val="bg1">
                    <a:lumMod val="50000"/>
                  </a:schemeClr>
                </a:solidFill>
              </a:rPr>
              <a:t>Especificación del Rango de un Número Aleatorio </a:t>
            </a:r>
          </a:p>
          <a:p>
            <a:r>
              <a:rPr lang="es-EC" b="1" dirty="0">
                <a:solidFill>
                  <a:schemeClr val="bg1">
                    <a:lumMod val="50000"/>
                  </a:schemeClr>
                </a:solidFill>
              </a:rPr>
              <a:t>Sobrecarga de Funciones</a:t>
            </a:r>
          </a:p>
        </p:txBody>
      </p:sp>
      <p:sp>
        <p:nvSpPr>
          <p:cNvPr id="5" name="4 Marcador de fecha"/>
          <p:cNvSpPr>
            <a:spLocks noGrp="1"/>
          </p:cNvSpPr>
          <p:nvPr>
            <p:ph type="dt" sz="half" idx="10"/>
          </p:nvPr>
        </p:nvSpPr>
        <p:spPr/>
        <p:txBody>
          <a:bodyPr/>
          <a:lstStyle/>
          <a:p>
            <a:fld id="{85E4E129-A937-4BEE-8A17-D7969DFE55C2}" type="datetime1">
              <a:rPr lang="es-EC" smtClean="0"/>
              <a:t>9/12/2025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8</a:t>
            </a:fld>
            <a:endParaRPr lang="es-EC"/>
          </a:p>
        </p:txBody>
      </p:sp>
    </p:spTree>
    <p:extLst>
      <p:ext uri="{BB962C8B-B14F-4D97-AF65-F5344CB8AC3E}">
        <p14:creationId xmlns:p14="http://schemas.microsoft.com/office/powerpoint/2010/main" val="42411906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467544" y="1196752"/>
            <a:ext cx="3250210" cy="3096344"/>
          </a:xfrm>
        </p:spPr>
        <p:txBody>
          <a:bodyPr>
            <a:normAutofit fontScale="70000" lnSpcReduction="20000"/>
          </a:bodyPr>
          <a:lstStyle/>
          <a:p>
            <a:r>
              <a:rPr lang="es-MX" dirty="0"/>
              <a:t>Escribir un programa sin utilizar funciones que calcule el área de un rectángulo para los siguientes valores de ancho y largo: a) ancho: 7; largo: 2; b) ancho: 9; largo: 5; c) ancho: 8; largo: 4; ingresados desde el teclado en forma seguida, es decir, uno a continuación de otro.</a:t>
            </a:r>
            <a:endParaRPr lang="es-ES"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9/12/2025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9</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343766" y="136525"/>
            <a:ext cx="8229600" cy="1340768"/>
          </a:xfrm>
        </p:spPr>
        <p:txBody>
          <a:bodyPr/>
          <a:lstStyle/>
          <a:p>
            <a:pPr>
              <a:lnSpc>
                <a:spcPts val="4000"/>
              </a:lnSpc>
            </a:pPr>
            <a:r>
              <a:rPr lang="es-EC" sz="4800" dirty="0"/>
              <a:t>Problema 5.1</a:t>
            </a:r>
            <a:br>
              <a:rPr lang="es-EC" sz="1000" b="1" dirty="0">
                <a:solidFill>
                  <a:srgbClr val="FF0000"/>
                </a:solidFill>
              </a:rPr>
            </a:br>
            <a:endParaRPr lang="en-US" sz="2000" dirty="0"/>
          </a:p>
        </p:txBody>
      </p:sp>
      <p:pic>
        <p:nvPicPr>
          <p:cNvPr id="8" name="Imagen 7">
            <a:extLst>
              <a:ext uri="{FF2B5EF4-FFF2-40B4-BE49-F238E27FC236}">
                <a16:creationId xmlns:a16="http://schemas.microsoft.com/office/drawing/2014/main" id="{C217E0B1-E8BF-401A-AFD6-3C1200BF3D61}"/>
              </a:ext>
            </a:extLst>
          </p:cNvPr>
          <p:cNvPicPr>
            <a:picLocks noChangeAspect="1"/>
          </p:cNvPicPr>
          <p:nvPr/>
        </p:nvPicPr>
        <p:blipFill>
          <a:blip r:embed="rId2"/>
          <a:stretch>
            <a:fillRect/>
          </a:stretch>
        </p:blipFill>
        <p:spPr>
          <a:xfrm>
            <a:off x="3841532" y="1196752"/>
            <a:ext cx="4268830" cy="4879057"/>
          </a:xfrm>
          <a:prstGeom prst="rect">
            <a:avLst/>
          </a:prstGeom>
        </p:spPr>
      </p:pic>
    </p:spTree>
    <p:extLst>
      <p:ext uri="{BB962C8B-B14F-4D97-AF65-F5344CB8AC3E}">
        <p14:creationId xmlns:p14="http://schemas.microsoft.com/office/powerpoint/2010/main" val="4902585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467544" y="1196752"/>
            <a:ext cx="3250210" cy="3096344"/>
          </a:xfrm>
        </p:spPr>
        <p:txBody>
          <a:bodyPr>
            <a:normAutofit fontScale="70000" lnSpcReduction="20000"/>
          </a:bodyPr>
          <a:lstStyle/>
          <a:p>
            <a:r>
              <a:rPr lang="es-MX" dirty="0"/>
              <a:t>Escribir un programa sin utilizar funciones que calcule el área de un rectángulo para los siguientes valores de ancho y largo: a) ancho: 7; largo: 2; b) ancho: 9; largo: 5; c) ancho: 8; largo: 4; ingresados desde el teclado en forma seguida, es decir, uno a continuación de otro.</a:t>
            </a:r>
            <a:endParaRPr lang="es-ES"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9/12/2025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10</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343766" y="136525"/>
            <a:ext cx="8229600" cy="1340768"/>
          </a:xfrm>
        </p:spPr>
        <p:txBody>
          <a:bodyPr/>
          <a:lstStyle/>
          <a:p>
            <a:pPr>
              <a:lnSpc>
                <a:spcPts val="4000"/>
              </a:lnSpc>
            </a:pPr>
            <a:r>
              <a:rPr lang="es-EC" sz="4800" dirty="0"/>
              <a:t>Problema 5.1</a:t>
            </a:r>
            <a:br>
              <a:rPr lang="es-EC" sz="1000" b="1" dirty="0">
                <a:solidFill>
                  <a:srgbClr val="FF0000"/>
                </a:solidFill>
              </a:rPr>
            </a:br>
            <a:endParaRPr lang="en-US" sz="2000" dirty="0"/>
          </a:p>
        </p:txBody>
      </p:sp>
      <p:pic>
        <p:nvPicPr>
          <p:cNvPr id="4" name="Imagen 3">
            <a:extLst>
              <a:ext uri="{FF2B5EF4-FFF2-40B4-BE49-F238E27FC236}">
                <a16:creationId xmlns:a16="http://schemas.microsoft.com/office/drawing/2014/main" id="{C048A090-7953-4DAF-BEC8-1ABDA37C5FC4}"/>
              </a:ext>
            </a:extLst>
          </p:cNvPr>
          <p:cNvPicPr>
            <a:picLocks noChangeAspect="1"/>
          </p:cNvPicPr>
          <p:nvPr/>
        </p:nvPicPr>
        <p:blipFill>
          <a:blip r:embed="rId2"/>
          <a:stretch>
            <a:fillRect/>
          </a:stretch>
        </p:blipFill>
        <p:spPr>
          <a:xfrm>
            <a:off x="3635896" y="1340768"/>
            <a:ext cx="4552848" cy="4320480"/>
          </a:xfrm>
          <a:prstGeom prst="rect">
            <a:avLst/>
          </a:prstGeom>
        </p:spPr>
      </p:pic>
      <p:sp>
        <p:nvSpPr>
          <p:cNvPr id="9" name="CuadroTexto 8">
            <a:extLst>
              <a:ext uri="{FF2B5EF4-FFF2-40B4-BE49-F238E27FC236}">
                <a16:creationId xmlns:a16="http://schemas.microsoft.com/office/drawing/2014/main" id="{208BDC02-3BFD-42A5-9A73-90443A45DDDA}"/>
              </a:ext>
            </a:extLst>
          </p:cNvPr>
          <p:cNvSpPr txBox="1"/>
          <p:nvPr/>
        </p:nvSpPr>
        <p:spPr>
          <a:xfrm>
            <a:off x="2915816" y="5949280"/>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5.1</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3491244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467544" y="1196752"/>
            <a:ext cx="3250210" cy="3096344"/>
          </a:xfrm>
        </p:spPr>
        <p:txBody>
          <a:bodyPr>
            <a:normAutofit fontScale="70000" lnSpcReduction="20000"/>
          </a:bodyPr>
          <a:lstStyle/>
          <a:p>
            <a:r>
              <a:rPr lang="es-MX" dirty="0"/>
              <a:t>Escribir un programa sin utilizar funciones que calcule el área de un rectángulo para los siguientes valores de ancho y largo: a) ancho: 7; largo: 2; b) ancho: 9; largo: 5; c) ancho: 8; largo: 4; ingresados desde el teclado en forma seguida, es decir, uno a continuación de otro.</a:t>
            </a:r>
            <a:endParaRPr lang="es-ES"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9/12/2025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11</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343766" y="136525"/>
            <a:ext cx="8229600" cy="1340768"/>
          </a:xfrm>
        </p:spPr>
        <p:txBody>
          <a:bodyPr/>
          <a:lstStyle/>
          <a:p>
            <a:pPr>
              <a:lnSpc>
                <a:spcPts val="4000"/>
              </a:lnSpc>
            </a:pPr>
            <a:r>
              <a:rPr lang="es-EC" sz="4800" dirty="0"/>
              <a:t>Problema 5.1</a:t>
            </a:r>
            <a:br>
              <a:rPr lang="es-EC" sz="1000" b="1" dirty="0">
                <a:solidFill>
                  <a:srgbClr val="FF0000"/>
                </a:solidFill>
              </a:rPr>
            </a:br>
            <a:endParaRPr lang="en-US" sz="2000" dirty="0"/>
          </a:p>
        </p:txBody>
      </p:sp>
      <p:sp>
        <p:nvSpPr>
          <p:cNvPr id="9" name="CuadroTexto 8">
            <a:extLst>
              <a:ext uri="{FF2B5EF4-FFF2-40B4-BE49-F238E27FC236}">
                <a16:creationId xmlns:a16="http://schemas.microsoft.com/office/drawing/2014/main" id="{208BDC02-3BFD-42A5-9A73-90443A45DDDA}"/>
              </a:ext>
            </a:extLst>
          </p:cNvPr>
          <p:cNvSpPr txBox="1"/>
          <p:nvPr/>
        </p:nvSpPr>
        <p:spPr>
          <a:xfrm>
            <a:off x="3059832" y="5325593"/>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Salida 5.1</a:t>
            </a:r>
            <a:r>
              <a:rPr lang="es-ES" sz="1200" dirty="0">
                <a:solidFill>
                  <a:schemeClr val="tx1">
                    <a:lumMod val="50000"/>
                    <a:lumOff val="50000"/>
                  </a:schemeClr>
                </a:solidFill>
                <a:latin typeface="+mj-lt"/>
              </a:rPr>
              <a:t>. Salida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pic>
        <p:nvPicPr>
          <p:cNvPr id="7" name="Imagen 6">
            <a:extLst>
              <a:ext uri="{FF2B5EF4-FFF2-40B4-BE49-F238E27FC236}">
                <a16:creationId xmlns:a16="http://schemas.microsoft.com/office/drawing/2014/main" id="{B69B0C93-1EC6-45FB-B835-32E0B4AC3CB0}"/>
              </a:ext>
            </a:extLst>
          </p:cNvPr>
          <p:cNvPicPr>
            <a:picLocks noChangeAspect="1"/>
          </p:cNvPicPr>
          <p:nvPr/>
        </p:nvPicPr>
        <p:blipFill rotWithShape="1">
          <a:blip r:embed="rId2"/>
          <a:srcRect r="56339"/>
          <a:stretch/>
        </p:blipFill>
        <p:spPr>
          <a:xfrm>
            <a:off x="3717754" y="1196752"/>
            <a:ext cx="3950590" cy="3744416"/>
          </a:xfrm>
          <a:prstGeom prst="rect">
            <a:avLst/>
          </a:prstGeom>
        </p:spPr>
      </p:pic>
    </p:spTree>
    <p:extLst>
      <p:ext uri="{BB962C8B-B14F-4D97-AF65-F5344CB8AC3E}">
        <p14:creationId xmlns:p14="http://schemas.microsoft.com/office/powerpoint/2010/main" val="426318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EC" b="1" dirty="0">
                <a:solidFill>
                  <a:schemeClr val="bg1">
                    <a:lumMod val="50000"/>
                  </a:schemeClr>
                </a:solidFill>
              </a:rPr>
              <a:t>Introducción</a:t>
            </a:r>
            <a:endParaRPr lang="en-US" b="1" dirty="0">
              <a:solidFill>
                <a:schemeClr val="bg1">
                  <a:lumMod val="50000"/>
                </a:schemeClr>
              </a:solidFill>
            </a:endParaRPr>
          </a:p>
          <a:p>
            <a:r>
              <a:rPr lang="es-EC" b="1" dirty="0">
                <a:solidFill>
                  <a:schemeClr val="bg1">
                    <a:lumMod val="50000"/>
                  </a:schemeClr>
                </a:solidFill>
              </a:rPr>
              <a:t>Objetivos</a:t>
            </a:r>
          </a:p>
          <a:p>
            <a:r>
              <a:rPr lang="es-ES" b="1" dirty="0">
                <a:solidFill>
                  <a:schemeClr val="bg1">
                    <a:lumMod val="50000"/>
                  </a:schemeClr>
                </a:solidFill>
              </a:rPr>
              <a:t>Función </a:t>
            </a:r>
            <a:endParaRPr lang="es-EC" b="1" dirty="0">
              <a:solidFill>
                <a:schemeClr val="bg1">
                  <a:lumMod val="50000"/>
                </a:schemeClr>
              </a:solidFill>
            </a:endParaRPr>
          </a:p>
          <a:p>
            <a:r>
              <a:rPr lang="es-EC" b="1" dirty="0">
                <a:solidFill>
                  <a:schemeClr val="bg1">
                    <a:lumMod val="50000"/>
                  </a:schemeClr>
                </a:solidFill>
              </a:rPr>
              <a:t>Problema 5.1</a:t>
            </a:r>
          </a:p>
          <a:p>
            <a:r>
              <a:rPr lang="es-EC" b="1" dirty="0">
                <a:solidFill>
                  <a:srgbClr val="FF0000"/>
                </a:solidFill>
              </a:rPr>
              <a:t>Estructura de una Función</a:t>
            </a:r>
          </a:p>
          <a:p>
            <a:r>
              <a:rPr lang="es-EC" b="1" dirty="0">
                <a:solidFill>
                  <a:schemeClr val="bg1">
                    <a:lumMod val="50000"/>
                  </a:schemeClr>
                </a:solidFill>
              </a:rPr>
              <a:t>Implementación de una Función</a:t>
            </a:r>
          </a:p>
          <a:p>
            <a:r>
              <a:rPr lang="es-EC" b="1" dirty="0">
                <a:solidFill>
                  <a:schemeClr val="bg1">
                    <a:lumMod val="50000"/>
                  </a:schemeClr>
                </a:solidFill>
              </a:rPr>
              <a:t>Problema 5.2</a:t>
            </a:r>
          </a:p>
          <a:p>
            <a:r>
              <a:rPr lang="es-MX" b="1" dirty="0">
                <a:solidFill>
                  <a:schemeClr val="bg1">
                    <a:lumMod val="50000"/>
                  </a:schemeClr>
                </a:solidFill>
              </a:rPr>
              <a:t>Problemas que Resuelven las Funciones </a:t>
            </a:r>
            <a:endParaRPr lang="es-EC" b="1" dirty="0">
              <a:solidFill>
                <a:schemeClr val="bg1">
                  <a:lumMod val="50000"/>
                </a:schemeClr>
              </a:solidFill>
            </a:endParaRPr>
          </a:p>
          <a:p>
            <a:r>
              <a:rPr lang="es-EC" b="1" dirty="0">
                <a:solidFill>
                  <a:schemeClr val="bg1">
                    <a:lumMod val="50000"/>
                  </a:schemeClr>
                </a:solidFill>
              </a:rPr>
              <a:t>Uso de Funciones </a:t>
            </a:r>
          </a:p>
          <a:p>
            <a:r>
              <a:rPr lang="es-MX" b="1" dirty="0">
                <a:solidFill>
                  <a:schemeClr val="bg1">
                    <a:lumMod val="50000"/>
                  </a:schemeClr>
                </a:solidFill>
              </a:rPr>
              <a:t>Paso de Parámetros por Valor</a:t>
            </a:r>
            <a:endParaRPr lang="es-EC" b="1" dirty="0">
              <a:solidFill>
                <a:schemeClr val="bg1">
                  <a:lumMod val="50000"/>
                </a:schemeClr>
              </a:solidFill>
            </a:endParaRPr>
          </a:p>
          <a:p>
            <a:r>
              <a:rPr lang="es-EC" b="1" dirty="0">
                <a:solidFill>
                  <a:schemeClr val="bg1">
                    <a:lumMod val="50000"/>
                  </a:schemeClr>
                </a:solidFill>
              </a:rPr>
              <a:t>Funciones sin Parámetros</a:t>
            </a:r>
          </a:p>
          <a:p>
            <a:r>
              <a:rPr lang="es-EC" b="1" dirty="0">
                <a:solidFill>
                  <a:schemeClr val="bg1">
                    <a:lumMod val="50000"/>
                  </a:schemeClr>
                </a:solidFill>
              </a:rPr>
              <a:t>Funciones con un Parámetro</a:t>
            </a:r>
          </a:p>
          <a:p>
            <a:r>
              <a:rPr lang="es-EC" b="1" dirty="0">
                <a:solidFill>
                  <a:schemeClr val="bg1">
                    <a:lumMod val="50000"/>
                  </a:schemeClr>
                </a:solidFill>
              </a:rPr>
              <a:t>Funciones con Varios Parámetros</a:t>
            </a:r>
          </a:p>
          <a:p>
            <a:r>
              <a:rPr lang="es-MX" b="1" dirty="0">
                <a:solidFill>
                  <a:schemeClr val="bg1">
                    <a:lumMod val="50000"/>
                  </a:schemeClr>
                </a:solidFill>
              </a:rPr>
              <a:t>Funciones de la Librería de Números Aleatorios</a:t>
            </a:r>
          </a:p>
          <a:p>
            <a:r>
              <a:rPr lang="es-MX" b="1" dirty="0">
                <a:solidFill>
                  <a:schemeClr val="bg1">
                    <a:lumMod val="50000"/>
                  </a:schemeClr>
                </a:solidFill>
              </a:rPr>
              <a:t>Especificación del Rango de un Número Aleatorio </a:t>
            </a:r>
          </a:p>
          <a:p>
            <a:r>
              <a:rPr lang="es-EC" b="1" dirty="0">
                <a:solidFill>
                  <a:schemeClr val="bg1">
                    <a:lumMod val="50000"/>
                  </a:schemeClr>
                </a:solidFill>
              </a:rPr>
              <a:t>Sobrecarga de Funciones</a:t>
            </a:r>
          </a:p>
        </p:txBody>
      </p:sp>
      <p:sp>
        <p:nvSpPr>
          <p:cNvPr id="5" name="4 Marcador de fecha"/>
          <p:cNvSpPr>
            <a:spLocks noGrp="1"/>
          </p:cNvSpPr>
          <p:nvPr>
            <p:ph type="dt" sz="half" idx="10"/>
          </p:nvPr>
        </p:nvSpPr>
        <p:spPr/>
        <p:txBody>
          <a:bodyPr/>
          <a:lstStyle/>
          <a:p>
            <a:fld id="{85E4E129-A937-4BEE-8A17-D7969DFE55C2}" type="datetime1">
              <a:rPr lang="es-EC" smtClean="0"/>
              <a:t>9/12/2025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12</a:t>
            </a:fld>
            <a:endParaRPr lang="es-EC"/>
          </a:p>
        </p:txBody>
      </p:sp>
    </p:spTree>
    <p:extLst>
      <p:ext uri="{BB962C8B-B14F-4D97-AF65-F5344CB8AC3E}">
        <p14:creationId xmlns:p14="http://schemas.microsoft.com/office/powerpoint/2010/main" val="2996780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344535" y="1600424"/>
            <a:ext cx="8856984" cy="4752528"/>
          </a:xfrm>
        </p:spPr>
        <p:txBody>
          <a:bodyPr>
            <a:normAutofit lnSpcReduction="10000"/>
          </a:bodyPr>
          <a:lstStyle/>
          <a:p>
            <a:pPr marL="0" indent="0">
              <a:buNone/>
            </a:pPr>
            <a:r>
              <a:rPr lang="es-MX" sz="1800" dirty="0"/>
              <a:t>De acuerdo con (Joyanes Aguilar, L., </a:t>
            </a:r>
            <a:r>
              <a:rPr lang="es-MX" sz="1800" dirty="0" err="1"/>
              <a:t>Zahonero</a:t>
            </a:r>
            <a:r>
              <a:rPr lang="es-MX" sz="1800" dirty="0"/>
              <a:t> Martínez, I., 2005), para definir o crear una función en C/C++ se deben considerar los siguientes puntos:</a:t>
            </a:r>
          </a:p>
          <a:p>
            <a:pPr marL="0" indent="0">
              <a:buNone/>
            </a:pPr>
            <a:endParaRPr lang="es-MX" sz="1800" dirty="0"/>
          </a:p>
          <a:p>
            <a:pPr marL="0" indent="0">
              <a:buNone/>
            </a:pPr>
            <a:r>
              <a:rPr lang="es-MX" sz="1800" dirty="0"/>
              <a:t> A) Tipo de retorno: Es el tipo de valor devuelto por la función (el valor que la función evalúa) o la palabra reservada “</a:t>
            </a:r>
            <a:r>
              <a:rPr lang="es-MX" sz="1800" dirty="0" err="1"/>
              <a:t>void</a:t>
            </a:r>
            <a:r>
              <a:rPr lang="es-MX" sz="1800" dirty="0"/>
              <a:t>” si la función no devuelve ningún valor.</a:t>
            </a:r>
          </a:p>
          <a:p>
            <a:pPr marL="0" indent="0">
              <a:buNone/>
            </a:pPr>
            <a:endParaRPr lang="es-MX" sz="1800" dirty="0"/>
          </a:p>
          <a:p>
            <a:pPr marL="0" indent="0">
              <a:buNone/>
            </a:pPr>
            <a:r>
              <a:rPr lang="es-MX" sz="1800" dirty="0"/>
              <a:t> B) Nombre: Es el identificador al cual hace referencia la función. </a:t>
            </a:r>
          </a:p>
          <a:p>
            <a:pPr marL="0" indent="0">
              <a:buNone/>
            </a:pPr>
            <a:endParaRPr lang="es-MX" sz="1800" dirty="0"/>
          </a:p>
          <a:p>
            <a:pPr marL="0" indent="0">
              <a:buNone/>
            </a:pPr>
            <a:r>
              <a:rPr lang="es-MX" sz="1800" dirty="0"/>
              <a:t>C) Lista de Parámetros: Son los valores que se toman como entrada. Esta lista de declaraciones de los parámetros de la función van separadas por comas.</a:t>
            </a:r>
          </a:p>
          <a:p>
            <a:pPr marL="0" indent="0">
              <a:buNone/>
            </a:pPr>
            <a:endParaRPr lang="es-MX" sz="1800" dirty="0"/>
          </a:p>
          <a:p>
            <a:pPr marL="0" indent="0">
              <a:buNone/>
            </a:pPr>
            <a:r>
              <a:rPr lang="es-MX" sz="1800" dirty="0"/>
              <a:t>D) Cuerpo: Es el código que se ejecuta cuando la función es invocada y puede consistir de variables locales, sentencias ejecutables y la palabra reservada “</a:t>
            </a:r>
            <a:r>
              <a:rPr lang="es-MX" sz="1800" dirty="0" err="1"/>
              <a:t>return</a:t>
            </a:r>
            <a:r>
              <a:rPr lang="es-MX" sz="1800" dirty="0"/>
              <a:t>” acompañada por una expresión lógica, relacional o matemática, siempre y cuando tenga un tipo de retorno la función</a:t>
            </a:r>
            <a:endParaRPr lang="es-ES" sz="1800"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9/12/2025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13</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344535" y="404664"/>
            <a:ext cx="8229600" cy="1340768"/>
          </a:xfrm>
        </p:spPr>
        <p:txBody>
          <a:bodyPr/>
          <a:lstStyle/>
          <a:p>
            <a:pPr>
              <a:lnSpc>
                <a:spcPts val="4000"/>
              </a:lnSpc>
            </a:pPr>
            <a:r>
              <a:rPr lang="es-EC" sz="4800" dirty="0"/>
              <a:t>Estructura de una Función</a:t>
            </a:r>
            <a:br>
              <a:rPr lang="es-EC" sz="800" b="1" dirty="0">
                <a:solidFill>
                  <a:srgbClr val="FF0000"/>
                </a:solidFill>
              </a:rPr>
            </a:br>
            <a:br>
              <a:rPr lang="es-EC" sz="1000" b="1" dirty="0">
                <a:solidFill>
                  <a:srgbClr val="FF0000"/>
                </a:solidFill>
              </a:rPr>
            </a:br>
            <a:endParaRPr lang="en-US" sz="2000" dirty="0"/>
          </a:p>
        </p:txBody>
      </p:sp>
    </p:spTree>
    <p:extLst>
      <p:ext uri="{BB962C8B-B14F-4D97-AF65-F5344CB8AC3E}">
        <p14:creationId xmlns:p14="http://schemas.microsoft.com/office/powerpoint/2010/main" val="4074907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9/12/2025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14</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344535" y="404664"/>
            <a:ext cx="8229600" cy="1340768"/>
          </a:xfrm>
        </p:spPr>
        <p:txBody>
          <a:bodyPr/>
          <a:lstStyle/>
          <a:p>
            <a:pPr>
              <a:lnSpc>
                <a:spcPts val="4000"/>
              </a:lnSpc>
            </a:pPr>
            <a:r>
              <a:rPr lang="es-EC" sz="4800" dirty="0"/>
              <a:t>Estructura de una Función</a:t>
            </a:r>
            <a:br>
              <a:rPr lang="es-EC" sz="800" b="1" dirty="0">
                <a:solidFill>
                  <a:srgbClr val="FF0000"/>
                </a:solidFill>
              </a:rPr>
            </a:br>
            <a:br>
              <a:rPr lang="es-EC" sz="1000" b="1" dirty="0">
                <a:solidFill>
                  <a:srgbClr val="FF0000"/>
                </a:solidFill>
              </a:rPr>
            </a:br>
            <a:endParaRPr lang="en-US" sz="2000" dirty="0"/>
          </a:p>
        </p:txBody>
      </p:sp>
      <p:pic>
        <p:nvPicPr>
          <p:cNvPr id="8" name="Imagen 7">
            <a:extLst>
              <a:ext uri="{FF2B5EF4-FFF2-40B4-BE49-F238E27FC236}">
                <a16:creationId xmlns:a16="http://schemas.microsoft.com/office/drawing/2014/main" id="{9A251FBF-4B97-4A62-B202-0C2EF5A93448}"/>
              </a:ext>
            </a:extLst>
          </p:cNvPr>
          <p:cNvPicPr>
            <a:picLocks noChangeAspect="1"/>
          </p:cNvPicPr>
          <p:nvPr/>
        </p:nvPicPr>
        <p:blipFill>
          <a:blip r:embed="rId2"/>
          <a:stretch>
            <a:fillRect/>
          </a:stretch>
        </p:blipFill>
        <p:spPr>
          <a:xfrm>
            <a:off x="1194916" y="2060848"/>
            <a:ext cx="6754168" cy="1944216"/>
          </a:xfrm>
          <a:prstGeom prst="rect">
            <a:avLst/>
          </a:prstGeom>
        </p:spPr>
      </p:pic>
      <p:sp>
        <p:nvSpPr>
          <p:cNvPr id="10" name="CuadroTexto 9">
            <a:extLst>
              <a:ext uri="{FF2B5EF4-FFF2-40B4-BE49-F238E27FC236}">
                <a16:creationId xmlns:a16="http://schemas.microsoft.com/office/drawing/2014/main" id="{DC918A8C-867C-4951-8841-63B02994092C}"/>
              </a:ext>
            </a:extLst>
          </p:cNvPr>
          <p:cNvSpPr txBox="1"/>
          <p:nvPr/>
        </p:nvSpPr>
        <p:spPr>
          <a:xfrm>
            <a:off x="1310623" y="4354355"/>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Figura 5.1 </a:t>
            </a:r>
            <a:r>
              <a:rPr lang="es-MX" sz="1200" dirty="0">
                <a:solidFill>
                  <a:schemeClr val="tx1">
                    <a:lumMod val="50000"/>
                    <a:lumOff val="50000"/>
                  </a:schemeClr>
                </a:solidFill>
                <a:latin typeface="+mj-lt"/>
              </a:rPr>
              <a:t>Estructura de una función; a) Función Potencia(); b) Función FarenheitACelcius()</a:t>
            </a:r>
            <a:r>
              <a:rPr lang="es-ES" sz="1200" dirty="0">
                <a:solidFill>
                  <a:schemeClr val="tx1">
                    <a:lumMod val="50000"/>
                    <a:lumOff val="50000"/>
                  </a:schemeClr>
                </a:solidFill>
                <a:latin typeface="+mj-lt"/>
              </a:rPr>
              <a:t>.</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9407049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EC" b="1" dirty="0">
                <a:solidFill>
                  <a:schemeClr val="bg1">
                    <a:lumMod val="50000"/>
                  </a:schemeClr>
                </a:solidFill>
              </a:rPr>
              <a:t>Introducción</a:t>
            </a:r>
            <a:endParaRPr lang="en-US" b="1" dirty="0">
              <a:solidFill>
                <a:schemeClr val="bg1">
                  <a:lumMod val="50000"/>
                </a:schemeClr>
              </a:solidFill>
            </a:endParaRPr>
          </a:p>
          <a:p>
            <a:r>
              <a:rPr lang="es-EC" b="1" dirty="0">
                <a:solidFill>
                  <a:schemeClr val="bg1">
                    <a:lumMod val="50000"/>
                  </a:schemeClr>
                </a:solidFill>
              </a:rPr>
              <a:t>Objetivos</a:t>
            </a:r>
          </a:p>
          <a:p>
            <a:r>
              <a:rPr lang="es-ES" b="1" dirty="0">
                <a:solidFill>
                  <a:schemeClr val="bg1">
                    <a:lumMod val="50000"/>
                  </a:schemeClr>
                </a:solidFill>
              </a:rPr>
              <a:t>Función </a:t>
            </a:r>
            <a:endParaRPr lang="es-EC" b="1" dirty="0">
              <a:solidFill>
                <a:schemeClr val="bg1">
                  <a:lumMod val="50000"/>
                </a:schemeClr>
              </a:solidFill>
            </a:endParaRPr>
          </a:p>
          <a:p>
            <a:r>
              <a:rPr lang="es-EC" b="1" dirty="0">
                <a:solidFill>
                  <a:schemeClr val="bg1">
                    <a:lumMod val="50000"/>
                  </a:schemeClr>
                </a:solidFill>
              </a:rPr>
              <a:t>Problema 5.1</a:t>
            </a:r>
          </a:p>
          <a:p>
            <a:r>
              <a:rPr lang="es-EC" b="1" dirty="0">
                <a:solidFill>
                  <a:schemeClr val="bg1">
                    <a:lumMod val="50000"/>
                  </a:schemeClr>
                </a:solidFill>
              </a:rPr>
              <a:t>Estructura de una Función</a:t>
            </a:r>
          </a:p>
          <a:p>
            <a:r>
              <a:rPr lang="es-EC" b="1" dirty="0">
                <a:solidFill>
                  <a:srgbClr val="FF0000"/>
                </a:solidFill>
              </a:rPr>
              <a:t>Implementación de una Función</a:t>
            </a:r>
          </a:p>
          <a:p>
            <a:r>
              <a:rPr lang="es-EC" b="1" dirty="0">
                <a:solidFill>
                  <a:schemeClr val="bg1">
                    <a:lumMod val="50000"/>
                  </a:schemeClr>
                </a:solidFill>
              </a:rPr>
              <a:t>Problema 5.2</a:t>
            </a:r>
          </a:p>
          <a:p>
            <a:r>
              <a:rPr lang="es-MX" b="1" dirty="0">
                <a:solidFill>
                  <a:schemeClr val="bg1">
                    <a:lumMod val="50000"/>
                  </a:schemeClr>
                </a:solidFill>
              </a:rPr>
              <a:t>Problemas que Resuelven las Funciones </a:t>
            </a:r>
            <a:endParaRPr lang="es-EC" b="1" dirty="0">
              <a:solidFill>
                <a:schemeClr val="bg1">
                  <a:lumMod val="50000"/>
                </a:schemeClr>
              </a:solidFill>
            </a:endParaRPr>
          </a:p>
          <a:p>
            <a:r>
              <a:rPr lang="es-EC" b="1" dirty="0">
                <a:solidFill>
                  <a:schemeClr val="bg1">
                    <a:lumMod val="50000"/>
                  </a:schemeClr>
                </a:solidFill>
              </a:rPr>
              <a:t>Uso de Funciones </a:t>
            </a:r>
          </a:p>
          <a:p>
            <a:r>
              <a:rPr lang="es-MX" b="1" dirty="0">
                <a:solidFill>
                  <a:schemeClr val="bg1">
                    <a:lumMod val="50000"/>
                  </a:schemeClr>
                </a:solidFill>
              </a:rPr>
              <a:t>Paso de Parámetros por Valor</a:t>
            </a:r>
            <a:endParaRPr lang="es-EC" b="1" dirty="0">
              <a:solidFill>
                <a:schemeClr val="bg1">
                  <a:lumMod val="50000"/>
                </a:schemeClr>
              </a:solidFill>
            </a:endParaRPr>
          </a:p>
          <a:p>
            <a:r>
              <a:rPr lang="es-EC" b="1" dirty="0">
                <a:solidFill>
                  <a:schemeClr val="bg1">
                    <a:lumMod val="50000"/>
                  </a:schemeClr>
                </a:solidFill>
              </a:rPr>
              <a:t>Funciones sin Parámetros</a:t>
            </a:r>
          </a:p>
          <a:p>
            <a:r>
              <a:rPr lang="es-EC" b="1" dirty="0">
                <a:solidFill>
                  <a:schemeClr val="bg1">
                    <a:lumMod val="50000"/>
                  </a:schemeClr>
                </a:solidFill>
              </a:rPr>
              <a:t>Funciones con un Parámetro</a:t>
            </a:r>
          </a:p>
          <a:p>
            <a:r>
              <a:rPr lang="es-EC" b="1" dirty="0">
                <a:solidFill>
                  <a:schemeClr val="bg1">
                    <a:lumMod val="50000"/>
                  </a:schemeClr>
                </a:solidFill>
              </a:rPr>
              <a:t>Funciones con Varios Parámetros</a:t>
            </a:r>
          </a:p>
          <a:p>
            <a:r>
              <a:rPr lang="es-MX" b="1" dirty="0">
                <a:solidFill>
                  <a:schemeClr val="bg1">
                    <a:lumMod val="50000"/>
                  </a:schemeClr>
                </a:solidFill>
              </a:rPr>
              <a:t>Funciones de la Librería de Números Aleatorios</a:t>
            </a:r>
          </a:p>
          <a:p>
            <a:r>
              <a:rPr lang="es-MX" b="1" dirty="0">
                <a:solidFill>
                  <a:schemeClr val="bg1">
                    <a:lumMod val="50000"/>
                  </a:schemeClr>
                </a:solidFill>
              </a:rPr>
              <a:t>Especificación del Rango de un Número Aleatorio </a:t>
            </a:r>
          </a:p>
          <a:p>
            <a:r>
              <a:rPr lang="es-EC" b="1" dirty="0">
                <a:solidFill>
                  <a:schemeClr val="bg1">
                    <a:lumMod val="50000"/>
                  </a:schemeClr>
                </a:solidFill>
              </a:rPr>
              <a:t>Sobrecarga de Funciones</a:t>
            </a:r>
          </a:p>
        </p:txBody>
      </p:sp>
      <p:sp>
        <p:nvSpPr>
          <p:cNvPr id="5" name="4 Marcador de fecha"/>
          <p:cNvSpPr>
            <a:spLocks noGrp="1"/>
          </p:cNvSpPr>
          <p:nvPr>
            <p:ph type="dt" sz="half" idx="10"/>
          </p:nvPr>
        </p:nvSpPr>
        <p:spPr/>
        <p:txBody>
          <a:bodyPr/>
          <a:lstStyle/>
          <a:p>
            <a:fld id="{85E4E129-A937-4BEE-8A17-D7969DFE55C2}" type="datetime1">
              <a:rPr lang="es-EC" smtClean="0"/>
              <a:t>9/12/2025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15</a:t>
            </a:fld>
            <a:endParaRPr lang="es-EC"/>
          </a:p>
        </p:txBody>
      </p:sp>
    </p:spTree>
    <p:extLst>
      <p:ext uri="{BB962C8B-B14F-4D97-AF65-F5344CB8AC3E}">
        <p14:creationId xmlns:p14="http://schemas.microsoft.com/office/powerpoint/2010/main" val="22207965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9/12/2025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16</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1569026"/>
            <a:ext cx="8229600" cy="1340768"/>
          </a:xfrm>
        </p:spPr>
        <p:txBody>
          <a:bodyPr/>
          <a:lstStyle/>
          <a:p>
            <a:pPr>
              <a:lnSpc>
                <a:spcPts val="4000"/>
              </a:lnSpc>
            </a:pPr>
            <a:r>
              <a:rPr lang="es-EC" sz="4800" dirty="0"/>
              <a:t>Implementación de una Función</a:t>
            </a:r>
            <a:br>
              <a:rPr lang="es-EC" sz="800" b="1" dirty="0">
                <a:solidFill>
                  <a:srgbClr val="FF0000"/>
                </a:solidFill>
              </a:rPr>
            </a:br>
            <a:br>
              <a:rPr lang="es-EC" sz="800" b="1" dirty="0">
                <a:solidFill>
                  <a:srgbClr val="FF0000"/>
                </a:solidFill>
              </a:rPr>
            </a:br>
            <a:br>
              <a:rPr lang="es-EC" sz="1000" b="1" dirty="0">
                <a:solidFill>
                  <a:srgbClr val="FF0000"/>
                </a:solidFill>
              </a:rPr>
            </a:br>
            <a:endParaRPr lang="en-US" sz="2000" dirty="0"/>
          </a:p>
        </p:txBody>
      </p:sp>
      <p:sp>
        <p:nvSpPr>
          <p:cNvPr id="10" name="CuadroTexto 9">
            <a:extLst>
              <a:ext uri="{FF2B5EF4-FFF2-40B4-BE49-F238E27FC236}">
                <a16:creationId xmlns:a16="http://schemas.microsoft.com/office/drawing/2014/main" id="{DC918A8C-867C-4951-8841-63B02994092C}"/>
              </a:ext>
            </a:extLst>
          </p:cNvPr>
          <p:cNvSpPr txBox="1"/>
          <p:nvPr/>
        </p:nvSpPr>
        <p:spPr>
          <a:xfrm>
            <a:off x="1083947" y="2155741"/>
            <a:ext cx="3384376" cy="1508105"/>
          </a:xfrm>
          <a:prstGeom prst="rect">
            <a:avLst/>
          </a:prstGeom>
          <a:noFill/>
        </p:spPr>
        <p:txBody>
          <a:bodyPr wrap="square">
            <a:spAutoFit/>
          </a:bodyPr>
          <a:lstStyle/>
          <a:p>
            <a:pPr algn="just"/>
            <a:r>
              <a:rPr lang="es-MX" sz="1600" dirty="0">
                <a:solidFill>
                  <a:schemeClr val="tx1">
                    <a:lumMod val="50000"/>
                    <a:lumOff val="50000"/>
                  </a:schemeClr>
                </a:solidFill>
                <a:latin typeface="+mj-lt"/>
              </a:rPr>
              <a:t>De acuerdo con (Granizo, E., 2016), la siguiente sintaxis despliega la forma de la definición o implementación de una función: </a:t>
            </a:r>
            <a:endParaRPr lang="es-EC" sz="16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pic>
        <p:nvPicPr>
          <p:cNvPr id="4" name="Imagen 3">
            <a:extLst>
              <a:ext uri="{FF2B5EF4-FFF2-40B4-BE49-F238E27FC236}">
                <a16:creationId xmlns:a16="http://schemas.microsoft.com/office/drawing/2014/main" id="{D5DC2BCD-3292-4816-95A0-11024E46F979}"/>
              </a:ext>
            </a:extLst>
          </p:cNvPr>
          <p:cNvPicPr>
            <a:picLocks noChangeAspect="1"/>
          </p:cNvPicPr>
          <p:nvPr/>
        </p:nvPicPr>
        <p:blipFill>
          <a:blip r:embed="rId2"/>
          <a:stretch>
            <a:fillRect/>
          </a:stretch>
        </p:blipFill>
        <p:spPr>
          <a:xfrm>
            <a:off x="1147284" y="3663846"/>
            <a:ext cx="6849431" cy="1695687"/>
          </a:xfrm>
          <a:prstGeom prst="rect">
            <a:avLst/>
          </a:prstGeom>
        </p:spPr>
      </p:pic>
    </p:spTree>
    <p:extLst>
      <p:ext uri="{BB962C8B-B14F-4D97-AF65-F5344CB8AC3E}">
        <p14:creationId xmlns:p14="http://schemas.microsoft.com/office/powerpoint/2010/main" val="13372441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9/12/2025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17</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700450" y="1412776"/>
            <a:ext cx="8229600" cy="1340768"/>
          </a:xfrm>
        </p:spPr>
        <p:txBody>
          <a:bodyPr/>
          <a:lstStyle/>
          <a:p>
            <a:pPr>
              <a:lnSpc>
                <a:spcPts val="4000"/>
              </a:lnSpc>
            </a:pPr>
            <a:r>
              <a:rPr lang="es-EC" sz="4800" dirty="0"/>
              <a:t>Implementación de una Función</a:t>
            </a:r>
            <a:br>
              <a:rPr lang="es-EC" sz="800" b="1" dirty="0">
                <a:solidFill>
                  <a:srgbClr val="FF0000"/>
                </a:solidFill>
              </a:rPr>
            </a:br>
            <a:br>
              <a:rPr lang="es-EC" sz="800" b="1" dirty="0">
                <a:solidFill>
                  <a:srgbClr val="FF0000"/>
                </a:solidFill>
              </a:rPr>
            </a:br>
            <a:br>
              <a:rPr lang="es-EC" sz="1000" b="1" dirty="0">
                <a:solidFill>
                  <a:srgbClr val="FF0000"/>
                </a:solidFill>
              </a:rPr>
            </a:br>
            <a:endParaRPr lang="en-US" sz="2000" dirty="0"/>
          </a:p>
        </p:txBody>
      </p:sp>
      <p:sp>
        <p:nvSpPr>
          <p:cNvPr id="10" name="CuadroTexto 9">
            <a:extLst>
              <a:ext uri="{FF2B5EF4-FFF2-40B4-BE49-F238E27FC236}">
                <a16:creationId xmlns:a16="http://schemas.microsoft.com/office/drawing/2014/main" id="{DC918A8C-867C-4951-8841-63B02994092C}"/>
              </a:ext>
            </a:extLst>
          </p:cNvPr>
          <p:cNvSpPr txBox="1"/>
          <p:nvPr/>
        </p:nvSpPr>
        <p:spPr>
          <a:xfrm>
            <a:off x="395536" y="2492896"/>
            <a:ext cx="2496111" cy="1754326"/>
          </a:xfrm>
          <a:prstGeom prst="rect">
            <a:avLst/>
          </a:prstGeom>
          <a:noFill/>
        </p:spPr>
        <p:txBody>
          <a:bodyPr wrap="square">
            <a:spAutoFit/>
          </a:bodyPr>
          <a:lstStyle/>
          <a:p>
            <a:pPr algn="just"/>
            <a:r>
              <a:rPr lang="es-MX" sz="1600" dirty="0">
                <a:solidFill>
                  <a:schemeClr val="tx1">
                    <a:lumMod val="50000"/>
                    <a:lumOff val="50000"/>
                  </a:schemeClr>
                </a:solidFill>
                <a:latin typeface="+mj-lt"/>
              </a:rPr>
              <a:t>La Figura 5.2 muestra un ejemplo de la sintaxis de cómo trabaja una función, cuando se la ha definido:</a:t>
            </a:r>
            <a:endParaRPr lang="es-EC" sz="16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pic>
        <p:nvPicPr>
          <p:cNvPr id="5" name="Imagen 4">
            <a:extLst>
              <a:ext uri="{FF2B5EF4-FFF2-40B4-BE49-F238E27FC236}">
                <a16:creationId xmlns:a16="http://schemas.microsoft.com/office/drawing/2014/main" id="{3E0CE0E0-D8AA-4BE4-8178-111AA093C4FC}"/>
              </a:ext>
            </a:extLst>
          </p:cNvPr>
          <p:cNvPicPr>
            <a:picLocks noChangeAspect="1"/>
          </p:cNvPicPr>
          <p:nvPr/>
        </p:nvPicPr>
        <p:blipFill>
          <a:blip r:embed="rId2"/>
          <a:stretch>
            <a:fillRect/>
          </a:stretch>
        </p:blipFill>
        <p:spPr>
          <a:xfrm>
            <a:off x="3059832" y="1556792"/>
            <a:ext cx="5233639" cy="4367510"/>
          </a:xfrm>
          <a:prstGeom prst="rect">
            <a:avLst/>
          </a:prstGeom>
        </p:spPr>
      </p:pic>
      <p:sp>
        <p:nvSpPr>
          <p:cNvPr id="9" name="CuadroTexto 8">
            <a:extLst>
              <a:ext uri="{FF2B5EF4-FFF2-40B4-BE49-F238E27FC236}">
                <a16:creationId xmlns:a16="http://schemas.microsoft.com/office/drawing/2014/main" id="{576EE8AB-BA91-4AF2-9BA3-EE49B0843182}"/>
              </a:ext>
            </a:extLst>
          </p:cNvPr>
          <p:cNvSpPr txBox="1"/>
          <p:nvPr/>
        </p:nvSpPr>
        <p:spPr>
          <a:xfrm>
            <a:off x="3059832" y="6085562"/>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Figura 5.1 </a:t>
            </a:r>
            <a:r>
              <a:rPr lang="es-EC" sz="1200" dirty="0">
                <a:solidFill>
                  <a:schemeClr val="tx1">
                    <a:lumMod val="50000"/>
                    <a:lumOff val="50000"/>
                  </a:schemeClr>
                </a:solidFill>
                <a:latin typeface="+mj-lt"/>
              </a:rPr>
              <a:t>Definición de una función</a:t>
            </a:r>
            <a:r>
              <a:rPr lang="es-ES_tradnl" sz="1200" dirty="0">
                <a:solidFill>
                  <a:schemeClr val="tx1">
                    <a:lumMod val="50000"/>
                    <a:lumOff val="50000"/>
                  </a:schemeClr>
                </a:solidFill>
                <a:latin typeface="+mj-lt"/>
              </a:rPr>
              <a:t>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8173070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EC" b="1" dirty="0">
                <a:solidFill>
                  <a:schemeClr val="bg1">
                    <a:lumMod val="50000"/>
                  </a:schemeClr>
                </a:solidFill>
              </a:rPr>
              <a:t>Introducción</a:t>
            </a:r>
            <a:endParaRPr lang="en-US" b="1" dirty="0">
              <a:solidFill>
                <a:schemeClr val="bg1">
                  <a:lumMod val="50000"/>
                </a:schemeClr>
              </a:solidFill>
            </a:endParaRPr>
          </a:p>
          <a:p>
            <a:r>
              <a:rPr lang="es-EC" b="1" dirty="0">
                <a:solidFill>
                  <a:schemeClr val="bg1">
                    <a:lumMod val="50000"/>
                  </a:schemeClr>
                </a:solidFill>
              </a:rPr>
              <a:t>Objetivos</a:t>
            </a:r>
          </a:p>
          <a:p>
            <a:r>
              <a:rPr lang="es-ES" b="1" dirty="0">
                <a:solidFill>
                  <a:schemeClr val="bg1">
                    <a:lumMod val="50000"/>
                  </a:schemeClr>
                </a:solidFill>
              </a:rPr>
              <a:t>Función </a:t>
            </a:r>
            <a:endParaRPr lang="es-EC" b="1" dirty="0">
              <a:solidFill>
                <a:schemeClr val="bg1">
                  <a:lumMod val="50000"/>
                </a:schemeClr>
              </a:solidFill>
            </a:endParaRPr>
          </a:p>
          <a:p>
            <a:r>
              <a:rPr lang="es-EC" b="1" dirty="0">
                <a:solidFill>
                  <a:schemeClr val="bg1">
                    <a:lumMod val="50000"/>
                  </a:schemeClr>
                </a:solidFill>
              </a:rPr>
              <a:t>Problema 5.1</a:t>
            </a:r>
          </a:p>
          <a:p>
            <a:r>
              <a:rPr lang="es-EC" b="1" dirty="0">
                <a:solidFill>
                  <a:schemeClr val="bg1">
                    <a:lumMod val="50000"/>
                  </a:schemeClr>
                </a:solidFill>
              </a:rPr>
              <a:t>Estructura de una Función</a:t>
            </a:r>
          </a:p>
          <a:p>
            <a:r>
              <a:rPr lang="es-EC" b="1" dirty="0">
                <a:solidFill>
                  <a:schemeClr val="bg1">
                    <a:lumMod val="50000"/>
                  </a:schemeClr>
                </a:solidFill>
              </a:rPr>
              <a:t>Implementación de una Función</a:t>
            </a:r>
          </a:p>
          <a:p>
            <a:r>
              <a:rPr lang="es-EC" b="1" dirty="0">
                <a:solidFill>
                  <a:srgbClr val="FF0000"/>
                </a:solidFill>
              </a:rPr>
              <a:t>Problema 5.2</a:t>
            </a:r>
          </a:p>
          <a:p>
            <a:r>
              <a:rPr lang="es-MX" b="1" dirty="0">
                <a:solidFill>
                  <a:schemeClr val="bg1">
                    <a:lumMod val="50000"/>
                  </a:schemeClr>
                </a:solidFill>
              </a:rPr>
              <a:t>Problemas que Resuelven las Funciones </a:t>
            </a:r>
            <a:endParaRPr lang="es-EC" b="1" dirty="0">
              <a:solidFill>
                <a:schemeClr val="bg1">
                  <a:lumMod val="50000"/>
                </a:schemeClr>
              </a:solidFill>
            </a:endParaRPr>
          </a:p>
          <a:p>
            <a:r>
              <a:rPr lang="es-EC" b="1" dirty="0">
                <a:solidFill>
                  <a:schemeClr val="bg1">
                    <a:lumMod val="50000"/>
                  </a:schemeClr>
                </a:solidFill>
              </a:rPr>
              <a:t>Uso de Funciones </a:t>
            </a:r>
          </a:p>
          <a:p>
            <a:r>
              <a:rPr lang="es-MX" b="1" dirty="0">
                <a:solidFill>
                  <a:schemeClr val="bg1">
                    <a:lumMod val="50000"/>
                  </a:schemeClr>
                </a:solidFill>
              </a:rPr>
              <a:t>Paso de Parámetros por Valor</a:t>
            </a:r>
            <a:endParaRPr lang="es-EC" b="1" dirty="0">
              <a:solidFill>
                <a:schemeClr val="bg1">
                  <a:lumMod val="50000"/>
                </a:schemeClr>
              </a:solidFill>
            </a:endParaRPr>
          </a:p>
          <a:p>
            <a:r>
              <a:rPr lang="es-EC" b="1" dirty="0">
                <a:solidFill>
                  <a:schemeClr val="bg1">
                    <a:lumMod val="50000"/>
                  </a:schemeClr>
                </a:solidFill>
              </a:rPr>
              <a:t>Funciones sin Parámetros</a:t>
            </a:r>
          </a:p>
          <a:p>
            <a:r>
              <a:rPr lang="es-EC" b="1" dirty="0">
                <a:solidFill>
                  <a:schemeClr val="bg1">
                    <a:lumMod val="50000"/>
                  </a:schemeClr>
                </a:solidFill>
              </a:rPr>
              <a:t>Funciones con un Parámetro</a:t>
            </a:r>
          </a:p>
          <a:p>
            <a:r>
              <a:rPr lang="es-EC" b="1" dirty="0">
                <a:solidFill>
                  <a:schemeClr val="bg1">
                    <a:lumMod val="50000"/>
                  </a:schemeClr>
                </a:solidFill>
              </a:rPr>
              <a:t>Funciones con Varios Parámetros</a:t>
            </a:r>
          </a:p>
          <a:p>
            <a:r>
              <a:rPr lang="es-MX" b="1" dirty="0">
                <a:solidFill>
                  <a:schemeClr val="bg1">
                    <a:lumMod val="50000"/>
                  </a:schemeClr>
                </a:solidFill>
              </a:rPr>
              <a:t>Funciones de la Librería de Números Aleatorios</a:t>
            </a:r>
          </a:p>
          <a:p>
            <a:r>
              <a:rPr lang="es-MX" b="1" dirty="0">
                <a:solidFill>
                  <a:schemeClr val="bg1">
                    <a:lumMod val="50000"/>
                  </a:schemeClr>
                </a:solidFill>
              </a:rPr>
              <a:t>Especificación del Rango de un Número Aleatorio </a:t>
            </a:r>
          </a:p>
          <a:p>
            <a:r>
              <a:rPr lang="es-EC" b="1" dirty="0">
                <a:solidFill>
                  <a:schemeClr val="bg1">
                    <a:lumMod val="50000"/>
                  </a:schemeClr>
                </a:solidFill>
              </a:rPr>
              <a:t>Sobrecarga de Funciones</a:t>
            </a:r>
          </a:p>
        </p:txBody>
      </p:sp>
      <p:sp>
        <p:nvSpPr>
          <p:cNvPr id="5" name="4 Marcador de fecha"/>
          <p:cNvSpPr>
            <a:spLocks noGrp="1"/>
          </p:cNvSpPr>
          <p:nvPr>
            <p:ph type="dt" sz="half" idx="10"/>
          </p:nvPr>
        </p:nvSpPr>
        <p:spPr/>
        <p:txBody>
          <a:bodyPr/>
          <a:lstStyle/>
          <a:p>
            <a:fld id="{85E4E129-A937-4BEE-8A17-D7969DFE55C2}" type="datetime1">
              <a:rPr lang="es-EC" smtClean="0"/>
              <a:t>9/12/2025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18</a:t>
            </a:fld>
            <a:endParaRPr lang="es-EC"/>
          </a:p>
        </p:txBody>
      </p:sp>
    </p:spTree>
    <p:extLst>
      <p:ext uri="{BB962C8B-B14F-4D97-AF65-F5344CB8AC3E}">
        <p14:creationId xmlns:p14="http://schemas.microsoft.com/office/powerpoint/2010/main" val="8444929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9/12/2025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19</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700450" y="1412776"/>
            <a:ext cx="8229600" cy="1340768"/>
          </a:xfrm>
        </p:spPr>
        <p:txBody>
          <a:bodyPr/>
          <a:lstStyle/>
          <a:p>
            <a:pPr>
              <a:lnSpc>
                <a:spcPts val="4000"/>
              </a:lnSpc>
            </a:pPr>
            <a:r>
              <a:rPr lang="es-EC" sz="4800" dirty="0"/>
              <a:t>Problema 5.2</a:t>
            </a:r>
            <a:br>
              <a:rPr lang="es-EC" sz="800" b="1" dirty="0">
                <a:solidFill>
                  <a:schemeClr val="bg1">
                    <a:lumMod val="50000"/>
                  </a:schemeClr>
                </a:solidFill>
              </a:rPr>
            </a:br>
            <a:br>
              <a:rPr lang="es-EC" sz="800" b="1" dirty="0">
                <a:solidFill>
                  <a:srgbClr val="FF0000"/>
                </a:solidFill>
              </a:rPr>
            </a:br>
            <a:br>
              <a:rPr lang="es-EC" sz="800" b="1" dirty="0">
                <a:solidFill>
                  <a:srgbClr val="FF0000"/>
                </a:solidFill>
              </a:rPr>
            </a:br>
            <a:br>
              <a:rPr lang="es-EC" sz="1000" b="1" dirty="0">
                <a:solidFill>
                  <a:srgbClr val="FF0000"/>
                </a:solidFill>
              </a:rPr>
            </a:br>
            <a:endParaRPr lang="en-US" sz="2000" dirty="0"/>
          </a:p>
        </p:txBody>
      </p:sp>
      <p:sp>
        <p:nvSpPr>
          <p:cNvPr id="10" name="CuadroTexto 9">
            <a:extLst>
              <a:ext uri="{FF2B5EF4-FFF2-40B4-BE49-F238E27FC236}">
                <a16:creationId xmlns:a16="http://schemas.microsoft.com/office/drawing/2014/main" id="{DC918A8C-867C-4951-8841-63B02994092C}"/>
              </a:ext>
            </a:extLst>
          </p:cNvPr>
          <p:cNvSpPr txBox="1"/>
          <p:nvPr/>
        </p:nvSpPr>
        <p:spPr>
          <a:xfrm>
            <a:off x="213950" y="1556792"/>
            <a:ext cx="2496111" cy="4031873"/>
          </a:xfrm>
          <a:prstGeom prst="rect">
            <a:avLst/>
          </a:prstGeom>
          <a:noFill/>
        </p:spPr>
        <p:txBody>
          <a:bodyPr wrap="square">
            <a:spAutoFit/>
          </a:bodyPr>
          <a:lstStyle/>
          <a:p>
            <a:pPr algn="just"/>
            <a:r>
              <a:rPr lang="es-MX" sz="1600" dirty="0">
                <a:solidFill>
                  <a:schemeClr val="tx1">
                    <a:lumMod val="50000"/>
                    <a:lumOff val="50000"/>
                  </a:schemeClr>
                </a:solidFill>
                <a:latin typeface="+mj-lt"/>
              </a:rPr>
              <a:t>Escribir un programa utilizando la definición de una función, de tal manera que se calcule el área de un rectángulo para los siguientes valores de ancho y largo: a) ancho: 7; largo: 2; b) ancho: 9; largo: 5; c) ancho: 8; largo: 4; ingresados desde el teclado en forma seguida, es decir, uno a continuación de otro. </a:t>
            </a:r>
            <a:endParaRPr lang="es-EC" sz="1600" dirty="0">
              <a:solidFill>
                <a:schemeClr val="tx1">
                  <a:lumMod val="50000"/>
                  <a:lumOff val="50000"/>
                </a:schemeClr>
              </a:solidFill>
              <a:latin typeface="+mj-lt"/>
            </a:endParaRPr>
          </a:p>
        </p:txBody>
      </p:sp>
      <p:pic>
        <p:nvPicPr>
          <p:cNvPr id="4" name="Imagen 3">
            <a:extLst>
              <a:ext uri="{FF2B5EF4-FFF2-40B4-BE49-F238E27FC236}">
                <a16:creationId xmlns:a16="http://schemas.microsoft.com/office/drawing/2014/main" id="{7B834637-FDBA-4512-A279-14648431E0D1}"/>
              </a:ext>
            </a:extLst>
          </p:cNvPr>
          <p:cNvPicPr>
            <a:picLocks noChangeAspect="1"/>
          </p:cNvPicPr>
          <p:nvPr/>
        </p:nvPicPr>
        <p:blipFill>
          <a:blip r:embed="rId2"/>
          <a:stretch>
            <a:fillRect/>
          </a:stretch>
        </p:blipFill>
        <p:spPr>
          <a:xfrm>
            <a:off x="3352989" y="1520974"/>
            <a:ext cx="5090561" cy="3821743"/>
          </a:xfrm>
          <a:prstGeom prst="rect">
            <a:avLst/>
          </a:prstGeom>
        </p:spPr>
      </p:pic>
    </p:spTree>
    <p:extLst>
      <p:ext uri="{BB962C8B-B14F-4D97-AF65-F5344CB8AC3E}">
        <p14:creationId xmlns:p14="http://schemas.microsoft.com/office/powerpoint/2010/main" val="14194437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9/12/2025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20</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700450" y="1412776"/>
            <a:ext cx="8229600" cy="1340768"/>
          </a:xfrm>
        </p:spPr>
        <p:txBody>
          <a:bodyPr/>
          <a:lstStyle/>
          <a:p>
            <a:pPr>
              <a:lnSpc>
                <a:spcPts val="4000"/>
              </a:lnSpc>
            </a:pPr>
            <a:r>
              <a:rPr lang="es-EC" sz="4800" dirty="0"/>
              <a:t>Problema 5.2</a:t>
            </a:r>
            <a:br>
              <a:rPr lang="es-EC" sz="800" b="1" dirty="0">
                <a:solidFill>
                  <a:schemeClr val="bg1">
                    <a:lumMod val="50000"/>
                  </a:schemeClr>
                </a:solidFill>
              </a:rPr>
            </a:br>
            <a:br>
              <a:rPr lang="es-EC" sz="800" b="1" dirty="0">
                <a:solidFill>
                  <a:srgbClr val="FF0000"/>
                </a:solidFill>
              </a:rPr>
            </a:br>
            <a:br>
              <a:rPr lang="es-EC" sz="800" b="1" dirty="0">
                <a:solidFill>
                  <a:srgbClr val="FF0000"/>
                </a:solidFill>
              </a:rPr>
            </a:br>
            <a:br>
              <a:rPr lang="es-EC" sz="1000" b="1" dirty="0">
                <a:solidFill>
                  <a:srgbClr val="FF0000"/>
                </a:solidFill>
              </a:rPr>
            </a:br>
            <a:endParaRPr lang="en-US" sz="2000" dirty="0"/>
          </a:p>
        </p:txBody>
      </p:sp>
      <p:sp>
        <p:nvSpPr>
          <p:cNvPr id="10" name="CuadroTexto 9">
            <a:extLst>
              <a:ext uri="{FF2B5EF4-FFF2-40B4-BE49-F238E27FC236}">
                <a16:creationId xmlns:a16="http://schemas.microsoft.com/office/drawing/2014/main" id="{DC918A8C-867C-4951-8841-63B02994092C}"/>
              </a:ext>
            </a:extLst>
          </p:cNvPr>
          <p:cNvSpPr txBox="1"/>
          <p:nvPr/>
        </p:nvSpPr>
        <p:spPr>
          <a:xfrm>
            <a:off x="213950" y="1556792"/>
            <a:ext cx="2496111" cy="4031873"/>
          </a:xfrm>
          <a:prstGeom prst="rect">
            <a:avLst/>
          </a:prstGeom>
          <a:noFill/>
        </p:spPr>
        <p:txBody>
          <a:bodyPr wrap="square">
            <a:spAutoFit/>
          </a:bodyPr>
          <a:lstStyle/>
          <a:p>
            <a:pPr algn="just"/>
            <a:r>
              <a:rPr lang="es-MX" sz="1600" dirty="0">
                <a:solidFill>
                  <a:schemeClr val="tx1">
                    <a:lumMod val="50000"/>
                    <a:lumOff val="50000"/>
                  </a:schemeClr>
                </a:solidFill>
                <a:latin typeface="+mj-lt"/>
              </a:rPr>
              <a:t>Escribir un programa utilizando la definición de una función, de tal manera que se calcule el área de un rectángulo para los siguientes valores de ancho y largo: a) ancho: 7; largo: 2; b) ancho: 9; largo: 5; c) ancho: 8; largo: 4; ingresados desde el teclado en forma seguida, es decir, uno a continuación de otro. </a:t>
            </a:r>
            <a:endParaRPr lang="es-EC" sz="1600" dirty="0">
              <a:solidFill>
                <a:schemeClr val="tx1">
                  <a:lumMod val="50000"/>
                  <a:lumOff val="50000"/>
                </a:schemeClr>
              </a:solidFill>
              <a:latin typeface="+mj-lt"/>
            </a:endParaRPr>
          </a:p>
        </p:txBody>
      </p:sp>
      <p:pic>
        <p:nvPicPr>
          <p:cNvPr id="5" name="Imagen 4">
            <a:extLst>
              <a:ext uri="{FF2B5EF4-FFF2-40B4-BE49-F238E27FC236}">
                <a16:creationId xmlns:a16="http://schemas.microsoft.com/office/drawing/2014/main" id="{84C66A74-B2E8-4CD0-AD48-CDCE34C1ABEB}"/>
              </a:ext>
            </a:extLst>
          </p:cNvPr>
          <p:cNvPicPr>
            <a:picLocks noChangeAspect="1"/>
          </p:cNvPicPr>
          <p:nvPr/>
        </p:nvPicPr>
        <p:blipFill rotWithShape="1">
          <a:blip r:embed="rId2"/>
          <a:srcRect b="1301"/>
          <a:stretch/>
        </p:blipFill>
        <p:spPr>
          <a:xfrm>
            <a:off x="3419872" y="1894411"/>
            <a:ext cx="4304785" cy="3356634"/>
          </a:xfrm>
          <a:prstGeom prst="rect">
            <a:avLst/>
          </a:prstGeom>
        </p:spPr>
      </p:pic>
    </p:spTree>
    <p:extLst>
      <p:ext uri="{BB962C8B-B14F-4D97-AF65-F5344CB8AC3E}">
        <p14:creationId xmlns:p14="http://schemas.microsoft.com/office/powerpoint/2010/main" val="24438953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9/12/2025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21</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700450" y="1412776"/>
            <a:ext cx="8229600" cy="1340768"/>
          </a:xfrm>
        </p:spPr>
        <p:txBody>
          <a:bodyPr/>
          <a:lstStyle/>
          <a:p>
            <a:pPr>
              <a:lnSpc>
                <a:spcPts val="4000"/>
              </a:lnSpc>
            </a:pPr>
            <a:r>
              <a:rPr lang="es-EC" sz="4800" dirty="0"/>
              <a:t>Problema 5.2</a:t>
            </a:r>
            <a:br>
              <a:rPr lang="es-EC" sz="800" b="1" dirty="0">
                <a:solidFill>
                  <a:schemeClr val="bg1">
                    <a:lumMod val="50000"/>
                  </a:schemeClr>
                </a:solidFill>
              </a:rPr>
            </a:br>
            <a:br>
              <a:rPr lang="es-EC" sz="800" b="1" dirty="0">
                <a:solidFill>
                  <a:srgbClr val="FF0000"/>
                </a:solidFill>
              </a:rPr>
            </a:br>
            <a:br>
              <a:rPr lang="es-EC" sz="800" b="1" dirty="0">
                <a:solidFill>
                  <a:srgbClr val="FF0000"/>
                </a:solidFill>
              </a:rPr>
            </a:br>
            <a:br>
              <a:rPr lang="es-EC" sz="1000" b="1" dirty="0">
                <a:solidFill>
                  <a:srgbClr val="FF0000"/>
                </a:solidFill>
              </a:rPr>
            </a:br>
            <a:endParaRPr lang="en-US" sz="2000" dirty="0"/>
          </a:p>
        </p:txBody>
      </p:sp>
      <p:sp>
        <p:nvSpPr>
          <p:cNvPr id="10" name="CuadroTexto 9">
            <a:extLst>
              <a:ext uri="{FF2B5EF4-FFF2-40B4-BE49-F238E27FC236}">
                <a16:creationId xmlns:a16="http://schemas.microsoft.com/office/drawing/2014/main" id="{DC918A8C-867C-4951-8841-63B02994092C}"/>
              </a:ext>
            </a:extLst>
          </p:cNvPr>
          <p:cNvSpPr txBox="1"/>
          <p:nvPr/>
        </p:nvSpPr>
        <p:spPr>
          <a:xfrm>
            <a:off x="213950" y="1556792"/>
            <a:ext cx="2496111" cy="4031873"/>
          </a:xfrm>
          <a:prstGeom prst="rect">
            <a:avLst/>
          </a:prstGeom>
          <a:noFill/>
        </p:spPr>
        <p:txBody>
          <a:bodyPr wrap="square">
            <a:spAutoFit/>
          </a:bodyPr>
          <a:lstStyle/>
          <a:p>
            <a:pPr algn="just"/>
            <a:r>
              <a:rPr lang="es-MX" sz="1600" dirty="0">
                <a:solidFill>
                  <a:schemeClr val="tx1">
                    <a:lumMod val="50000"/>
                    <a:lumOff val="50000"/>
                  </a:schemeClr>
                </a:solidFill>
                <a:latin typeface="+mj-lt"/>
              </a:rPr>
              <a:t>Escribir un programa utilizando la definición de una función, de tal manera que se calcule el área de un rectángulo para los siguientes valores de ancho y largo: a) ancho: 7; largo: 2; b) ancho: 9; largo: 5; c) ancho: 8; largo: 4; ingresados desde el teclado en forma seguida, es decir, uno a continuación de otro. </a:t>
            </a:r>
            <a:endParaRPr lang="es-EC" sz="1600" dirty="0">
              <a:solidFill>
                <a:schemeClr val="tx1">
                  <a:lumMod val="50000"/>
                  <a:lumOff val="50000"/>
                </a:schemeClr>
              </a:solidFill>
              <a:latin typeface="+mj-lt"/>
            </a:endParaRPr>
          </a:p>
        </p:txBody>
      </p:sp>
      <p:pic>
        <p:nvPicPr>
          <p:cNvPr id="5" name="Imagen 4">
            <a:extLst>
              <a:ext uri="{FF2B5EF4-FFF2-40B4-BE49-F238E27FC236}">
                <a16:creationId xmlns:a16="http://schemas.microsoft.com/office/drawing/2014/main" id="{84C66A74-B2E8-4CD0-AD48-CDCE34C1ABEB}"/>
              </a:ext>
            </a:extLst>
          </p:cNvPr>
          <p:cNvPicPr>
            <a:picLocks noChangeAspect="1"/>
          </p:cNvPicPr>
          <p:nvPr/>
        </p:nvPicPr>
        <p:blipFill rotWithShape="1">
          <a:blip r:embed="rId2"/>
          <a:srcRect b="1301"/>
          <a:stretch/>
        </p:blipFill>
        <p:spPr>
          <a:xfrm>
            <a:off x="3419872" y="1894411"/>
            <a:ext cx="4304785" cy="3356634"/>
          </a:xfrm>
          <a:prstGeom prst="rect">
            <a:avLst/>
          </a:prstGeom>
        </p:spPr>
      </p:pic>
      <p:sp>
        <p:nvSpPr>
          <p:cNvPr id="7" name="CuadroTexto 6">
            <a:extLst>
              <a:ext uri="{FF2B5EF4-FFF2-40B4-BE49-F238E27FC236}">
                <a16:creationId xmlns:a16="http://schemas.microsoft.com/office/drawing/2014/main" id="{A160075E-4641-4D09-BC3E-33824D9B3C83}"/>
              </a:ext>
            </a:extLst>
          </p:cNvPr>
          <p:cNvSpPr txBox="1"/>
          <p:nvPr/>
        </p:nvSpPr>
        <p:spPr>
          <a:xfrm>
            <a:off x="3203848" y="5622920"/>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5.2</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30132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9/12/2025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22</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700450" y="1412776"/>
            <a:ext cx="8229600" cy="1340768"/>
          </a:xfrm>
        </p:spPr>
        <p:txBody>
          <a:bodyPr/>
          <a:lstStyle/>
          <a:p>
            <a:pPr>
              <a:lnSpc>
                <a:spcPts val="4000"/>
              </a:lnSpc>
            </a:pPr>
            <a:r>
              <a:rPr lang="es-EC" sz="4800" dirty="0"/>
              <a:t>Problema 5.2</a:t>
            </a:r>
            <a:br>
              <a:rPr lang="es-EC" sz="800" b="1" dirty="0">
                <a:solidFill>
                  <a:schemeClr val="bg1">
                    <a:lumMod val="50000"/>
                  </a:schemeClr>
                </a:solidFill>
              </a:rPr>
            </a:br>
            <a:br>
              <a:rPr lang="es-EC" sz="800" b="1" dirty="0">
                <a:solidFill>
                  <a:srgbClr val="FF0000"/>
                </a:solidFill>
              </a:rPr>
            </a:br>
            <a:br>
              <a:rPr lang="es-EC" sz="800" b="1" dirty="0">
                <a:solidFill>
                  <a:srgbClr val="FF0000"/>
                </a:solidFill>
              </a:rPr>
            </a:br>
            <a:br>
              <a:rPr lang="es-EC" sz="1000" b="1" dirty="0">
                <a:solidFill>
                  <a:srgbClr val="FF0000"/>
                </a:solidFill>
              </a:rPr>
            </a:br>
            <a:endParaRPr lang="en-US" sz="2000" dirty="0"/>
          </a:p>
        </p:txBody>
      </p:sp>
      <p:sp>
        <p:nvSpPr>
          <p:cNvPr id="10" name="CuadroTexto 9">
            <a:extLst>
              <a:ext uri="{FF2B5EF4-FFF2-40B4-BE49-F238E27FC236}">
                <a16:creationId xmlns:a16="http://schemas.microsoft.com/office/drawing/2014/main" id="{DC918A8C-867C-4951-8841-63B02994092C}"/>
              </a:ext>
            </a:extLst>
          </p:cNvPr>
          <p:cNvSpPr txBox="1"/>
          <p:nvPr/>
        </p:nvSpPr>
        <p:spPr>
          <a:xfrm>
            <a:off x="213950" y="1556792"/>
            <a:ext cx="2496111" cy="4031873"/>
          </a:xfrm>
          <a:prstGeom prst="rect">
            <a:avLst/>
          </a:prstGeom>
          <a:noFill/>
        </p:spPr>
        <p:txBody>
          <a:bodyPr wrap="square">
            <a:spAutoFit/>
          </a:bodyPr>
          <a:lstStyle/>
          <a:p>
            <a:pPr algn="just"/>
            <a:r>
              <a:rPr lang="es-MX" sz="1600" dirty="0">
                <a:solidFill>
                  <a:schemeClr val="tx1">
                    <a:lumMod val="50000"/>
                    <a:lumOff val="50000"/>
                  </a:schemeClr>
                </a:solidFill>
                <a:latin typeface="+mj-lt"/>
              </a:rPr>
              <a:t>Escribir un programa utilizando la definición de una función, de tal manera que se calcule el área de un rectángulo para los siguientes valores de ancho y largo: a) ancho: 7; largo: 2; b) ancho: 9; largo: 5; c) ancho: 8; largo: 4; ingresados desde el teclado en forma seguida, es decir, uno a continuación de otro. </a:t>
            </a:r>
            <a:endParaRPr lang="es-EC" sz="1600" dirty="0">
              <a:solidFill>
                <a:schemeClr val="tx1">
                  <a:lumMod val="50000"/>
                  <a:lumOff val="50000"/>
                </a:schemeClr>
              </a:solidFill>
              <a:latin typeface="+mj-lt"/>
            </a:endParaRPr>
          </a:p>
        </p:txBody>
      </p:sp>
      <p:pic>
        <p:nvPicPr>
          <p:cNvPr id="4" name="Imagen 3">
            <a:extLst>
              <a:ext uri="{FF2B5EF4-FFF2-40B4-BE49-F238E27FC236}">
                <a16:creationId xmlns:a16="http://schemas.microsoft.com/office/drawing/2014/main" id="{1CA96636-A631-4812-BE65-2B819D257F78}"/>
              </a:ext>
            </a:extLst>
          </p:cNvPr>
          <p:cNvPicPr>
            <a:picLocks noChangeAspect="1"/>
          </p:cNvPicPr>
          <p:nvPr/>
        </p:nvPicPr>
        <p:blipFill>
          <a:blip r:embed="rId2"/>
          <a:stretch>
            <a:fillRect/>
          </a:stretch>
        </p:blipFill>
        <p:spPr>
          <a:xfrm>
            <a:off x="3733928" y="1830417"/>
            <a:ext cx="3672406" cy="2724530"/>
          </a:xfrm>
          <a:prstGeom prst="rect">
            <a:avLst/>
          </a:prstGeom>
        </p:spPr>
      </p:pic>
      <p:sp>
        <p:nvSpPr>
          <p:cNvPr id="11" name="CuadroTexto 10">
            <a:extLst>
              <a:ext uri="{FF2B5EF4-FFF2-40B4-BE49-F238E27FC236}">
                <a16:creationId xmlns:a16="http://schemas.microsoft.com/office/drawing/2014/main" id="{AA11CCED-A879-456C-95A7-A818F1342A7C}"/>
              </a:ext>
            </a:extLst>
          </p:cNvPr>
          <p:cNvSpPr txBox="1"/>
          <p:nvPr/>
        </p:nvSpPr>
        <p:spPr>
          <a:xfrm>
            <a:off x="3711455" y="4983229"/>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Salida 5.2</a:t>
            </a:r>
            <a:r>
              <a:rPr lang="es-ES" sz="1200" dirty="0">
                <a:solidFill>
                  <a:schemeClr val="tx1">
                    <a:lumMod val="50000"/>
                    <a:lumOff val="50000"/>
                  </a:schemeClr>
                </a:solidFill>
                <a:latin typeface="+mj-lt"/>
              </a:rPr>
              <a:t>. Salida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33132668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EC" b="1" dirty="0">
                <a:solidFill>
                  <a:schemeClr val="bg1">
                    <a:lumMod val="50000"/>
                  </a:schemeClr>
                </a:solidFill>
              </a:rPr>
              <a:t>Introducción</a:t>
            </a:r>
            <a:endParaRPr lang="en-US" b="1" dirty="0">
              <a:solidFill>
                <a:schemeClr val="bg1">
                  <a:lumMod val="50000"/>
                </a:schemeClr>
              </a:solidFill>
            </a:endParaRPr>
          </a:p>
          <a:p>
            <a:r>
              <a:rPr lang="es-EC" b="1" dirty="0">
                <a:solidFill>
                  <a:schemeClr val="bg1">
                    <a:lumMod val="50000"/>
                  </a:schemeClr>
                </a:solidFill>
              </a:rPr>
              <a:t>Objetivos</a:t>
            </a:r>
          </a:p>
          <a:p>
            <a:r>
              <a:rPr lang="es-ES" b="1" dirty="0">
                <a:solidFill>
                  <a:schemeClr val="bg1">
                    <a:lumMod val="50000"/>
                  </a:schemeClr>
                </a:solidFill>
              </a:rPr>
              <a:t>Función </a:t>
            </a:r>
            <a:endParaRPr lang="es-EC" b="1" dirty="0">
              <a:solidFill>
                <a:schemeClr val="bg1">
                  <a:lumMod val="50000"/>
                </a:schemeClr>
              </a:solidFill>
            </a:endParaRPr>
          </a:p>
          <a:p>
            <a:r>
              <a:rPr lang="es-EC" b="1" dirty="0">
                <a:solidFill>
                  <a:schemeClr val="bg1">
                    <a:lumMod val="50000"/>
                  </a:schemeClr>
                </a:solidFill>
              </a:rPr>
              <a:t>Problema 5.1</a:t>
            </a:r>
          </a:p>
          <a:p>
            <a:r>
              <a:rPr lang="es-EC" b="1" dirty="0">
                <a:solidFill>
                  <a:schemeClr val="bg1">
                    <a:lumMod val="50000"/>
                  </a:schemeClr>
                </a:solidFill>
              </a:rPr>
              <a:t>Estructura de una Función</a:t>
            </a:r>
          </a:p>
          <a:p>
            <a:r>
              <a:rPr lang="es-EC" b="1" dirty="0">
                <a:solidFill>
                  <a:schemeClr val="bg1">
                    <a:lumMod val="50000"/>
                  </a:schemeClr>
                </a:solidFill>
              </a:rPr>
              <a:t>Implementación de una Función</a:t>
            </a:r>
          </a:p>
          <a:p>
            <a:r>
              <a:rPr lang="es-EC" b="1" dirty="0">
                <a:solidFill>
                  <a:schemeClr val="bg1">
                    <a:lumMod val="50000"/>
                  </a:schemeClr>
                </a:solidFill>
              </a:rPr>
              <a:t>Problema 5.2</a:t>
            </a:r>
          </a:p>
          <a:p>
            <a:r>
              <a:rPr lang="es-MX" b="1" dirty="0">
                <a:solidFill>
                  <a:srgbClr val="FF0000"/>
                </a:solidFill>
              </a:rPr>
              <a:t>Problemas que Resuelven las Funciones </a:t>
            </a:r>
            <a:endParaRPr lang="es-EC" b="1" dirty="0">
              <a:solidFill>
                <a:srgbClr val="FF0000"/>
              </a:solidFill>
            </a:endParaRPr>
          </a:p>
          <a:p>
            <a:r>
              <a:rPr lang="es-EC" b="1" dirty="0">
                <a:solidFill>
                  <a:schemeClr val="bg1">
                    <a:lumMod val="50000"/>
                  </a:schemeClr>
                </a:solidFill>
              </a:rPr>
              <a:t>Uso de Funciones </a:t>
            </a:r>
          </a:p>
          <a:p>
            <a:r>
              <a:rPr lang="es-MX" b="1" dirty="0">
                <a:solidFill>
                  <a:schemeClr val="bg1">
                    <a:lumMod val="50000"/>
                  </a:schemeClr>
                </a:solidFill>
              </a:rPr>
              <a:t>Paso de Parámetros por Valor</a:t>
            </a:r>
            <a:endParaRPr lang="es-EC" b="1" dirty="0">
              <a:solidFill>
                <a:schemeClr val="bg1">
                  <a:lumMod val="50000"/>
                </a:schemeClr>
              </a:solidFill>
            </a:endParaRPr>
          </a:p>
          <a:p>
            <a:r>
              <a:rPr lang="es-EC" b="1" dirty="0">
                <a:solidFill>
                  <a:schemeClr val="bg1">
                    <a:lumMod val="50000"/>
                  </a:schemeClr>
                </a:solidFill>
              </a:rPr>
              <a:t>Funciones sin Parámetros</a:t>
            </a:r>
          </a:p>
          <a:p>
            <a:r>
              <a:rPr lang="es-EC" b="1" dirty="0">
                <a:solidFill>
                  <a:schemeClr val="bg1">
                    <a:lumMod val="50000"/>
                  </a:schemeClr>
                </a:solidFill>
              </a:rPr>
              <a:t>Funciones con un Parámetro</a:t>
            </a:r>
          </a:p>
          <a:p>
            <a:r>
              <a:rPr lang="es-EC" b="1" dirty="0">
                <a:solidFill>
                  <a:schemeClr val="bg1">
                    <a:lumMod val="50000"/>
                  </a:schemeClr>
                </a:solidFill>
              </a:rPr>
              <a:t>Funciones con Varios Parámetros</a:t>
            </a:r>
          </a:p>
          <a:p>
            <a:r>
              <a:rPr lang="es-MX" b="1" dirty="0">
                <a:solidFill>
                  <a:schemeClr val="bg1">
                    <a:lumMod val="50000"/>
                  </a:schemeClr>
                </a:solidFill>
              </a:rPr>
              <a:t>Funciones de la Librería de Números Aleatorios</a:t>
            </a:r>
          </a:p>
          <a:p>
            <a:r>
              <a:rPr lang="es-MX" b="1" dirty="0">
                <a:solidFill>
                  <a:schemeClr val="bg1">
                    <a:lumMod val="50000"/>
                  </a:schemeClr>
                </a:solidFill>
              </a:rPr>
              <a:t>Especificación del Rango de un Número Aleatorio </a:t>
            </a:r>
          </a:p>
          <a:p>
            <a:r>
              <a:rPr lang="es-EC" b="1" dirty="0">
                <a:solidFill>
                  <a:schemeClr val="bg1">
                    <a:lumMod val="50000"/>
                  </a:schemeClr>
                </a:solidFill>
              </a:rPr>
              <a:t>Sobrecarga de Funciones</a:t>
            </a:r>
          </a:p>
        </p:txBody>
      </p:sp>
      <p:sp>
        <p:nvSpPr>
          <p:cNvPr id="5" name="4 Marcador de fecha"/>
          <p:cNvSpPr>
            <a:spLocks noGrp="1"/>
          </p:cNvSpPr>
          <p:nvPr>
            <p:ph type="dt" sz="half" idx="10"/>
          </p:nvPr>
        </p:nvSpPr>
        <p:spPr/>
        <p:txBody>
          <a:bodyPr/>
          <a:lstStyle/>
          <a:p>
            <a:fld id="{85E4E129-A937-4BEE-8A17-D7969DFE55C2}" type="datetime1">
              <a:rPr lang="es-EC" smtClean="0"/>
              <a:t>9/12/2025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23</a:t>
            </a:fld>
            <a:endParaRPr lang="es-EC"/>
          </a:p>
        </p:txBody>
      </p:sp>
    </p:spTree>
    <p:extLst>
      <p:ext uri="{BB962C8B-B14F-4D97-AF65-F5344CB8AC3E}">
        <p14:creationId xmlns:p14="http://schemas.microsoft.com/office/powerpoint/2010/main" val="29165213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9/12/2025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24</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610689" y="1412776"/>
            <a:ext cx="8229600" cy="1340768"/>
          </a:xfrm>
        </p:spPr>
        <p:txBody>
          <a:bodyPr/>
          <a:lstStyle/>
          <a:p>
            <a:pPr>
              <a:lnSpc>
                <a:spcPts val="4000"/>
              </a:lnSpc>
            </a:pPr>
            <a:r>
              <a:rPr lang="es-MX" b="1" dirty="0"/>
              <a:t>Problemas que Resuelven las Funciones</a:t>
            </a:r>
            <a:br>
              <a:rPr lang="es-EC" sz="800" b="1" dirty="0">
                <a:solidFill>
                  <a:srgbClr val="FF0000"/>
                </a:solidFill>
              </a:rPr>
            </a:br>
            <a:br>
              <a:rPr lang="es-EC" sz="800" b="1" dirty="0">
                <a:solidFill>
                  <a:srgbClr val="FF0000"/>
                </a:solidFill>
              </a:rPr>
            </a:br>
            <a:br>
              <a:rPr lang="es-EC" sz="1000" b="1" dirty="0">
                <a:solidFill>
                  <a:srgbClr val="FF0000"/>
                </a:solidFill>
              </a:rPr>
            </a:br>
            <a:endParaRPr lang="en-US" sz="2000" dirty="0"/>
          </a:p>
        </p:txBody>
      </p:sp>
      <p:sp>
        <p:nvSpPr>
          <p:cNvPr id="10" name="CuadroTexto 9">
            <a:extLst>
              <a:ext uri="{FF2B5EF4-FFF2-40B4-BE49-F238E27FC236}">
                <a16:creationId xmlns:a16="http://schemas.microsoft.com/office/drawing/2014/main" id="{DC918A8C-867C-4951-8841-63B02994092C}"/>
              </a:ext>
            </a:extLst>
          </p:cNvPr>
          <p:cNvSpPr txBox="1"/>
          <p:nvPr/>
        </p:nvSpPr>
        <p:spPr>
          <a:xfrm>
            <a:off x="520767" y="1905506"/>
            <a:ext cx="8102466" cy="3046988"/>
          </a:xfrm>
          <a:prstGeom prst="rect">
            <a:avLst/>
          </a:prstGeom>
          <a:noFill/>
        </p:spPr>
        <p:txBody>
          <a:bodyPr wrap="square">
            <a:spAutoFit/>
          </a:bodyPr>
          <a:lstStyle/>
          <a:p>
            <a:pPr algn="just"/>
            <a:r>
              <a:rPr lang="es-MX" sz="1600" dirty="0">
                <a:solidFill>
                  <a:schemeClr val="tx1">
                    <a:lumMod val="50000"/>
                    <a:lumOff val="50000"/>
                  </a:schemeClr>
                </a:solidFill>
                <a:latin typeface="+mj-lt"/>
              </a:rPr>
              <a:t>De acuerdo con (</a:t>
            </a:r>
            <a:r>
              <a:rPr lang="es-MX" sz="1600" dirty="0" err="1">
                <a:solidFill>
                  <a:schemeClr val="tx1">
                    <a:lumMod val="50000"/>
                    <a:lumOff val="50000"/>
                  </a:schemeClr>
                </a:solidFill>
                <a:latin typeface="+mj-lt"/>
              </a:rPr>
              <a:t>Deitel</a:t>
            </a:r>
            <a:r>
              <a:rPr lang="es-MX" sz="1600" dirty="0">
                <a:solidFill>
                  <a:schemeClr val="tx1">
                    <a:lumMod val="50000"/>
                    <a:lumOff val="50000"/>
                  </a:schemeClr>
                </a:solidFill>
                <a:latin typeface="+mj-lt"/>
              </a:rPr>
              <a:t>, H., </a:t>
            </a:r>
            <a:r>
              <a:rPr lang="es-MX" sz="1600" dirty="0" err="1">
                <a:solidFill>
                  <a:schemeClr val="tx1">
                    <a:lumMod val="50000"/>
                    <a:lumOff val="50000"/>
                  </a:schemeClr>
                </a:solidFill>
                <a:latin typeface="+mj-lt"/>
              </a:rPr>
              <a:t>Deitel</a:t>
            </a:r>
            <a:r>
              <a:rPr lang="es-MX" sz="1600" dirty="0">
                <a:solidFill>
                  <a:schemeClr val="tx1">
                    <a:lumMod val="50000"/>
                    <a:lumOff val="50000"/>
                  </a:schemeClr>
                </a:solidFill>
                <a:latin typeface="+mj-lt"/>
              </a:rPr>
              <a:t>, P., 2003), los problemas más importantes que resuelven las funciones son: </a:t>
            </a:r>
          </a:p>
          <a:p>
            <a:pPr algn="just"/>
            <a:endParaRPr lang="es-MX" sz="1600" dirty="0">
              <a:solidFill>
                <a:schemeClr val="tx1">
                  <a:lumMod val="50000"/>
                  <a:lumOff val="50000"/>
                </a:schemeClr>
              </a:solidFill>
              <a:latin typeface="+mj-lt"/>
            </a:endParaRPr>
          </a:p>
          <a:p>
            <a:pPr marL="342900" indent="-342900" algn="just">
              <a:buAutoNum type="alphaUcParenR"/>
            </a:pPr>
            <a:r>
              <a:rPr lang="es-MX" sz="1600" dirty="0">
                <a:solidFill>
                  <a:schemeClr val="tx1">
                    <a:lumMod val="50000"/>
                    <a:lumOff val="50000"/>
                  </a:schemeClr>
                </a:solidFill>
                <a:latin typeface="+mj-lt"/>
              </a:rPr>
              <a:t>Duplicación del código: Al utilizar funciones ya no es necesario volver a escribir tanto código de nuevo, como en el ejercicio 5.2 a diferencia del ejercicio 5.1 que necesita mucho más código. </a:t>
            </a:r>
          </a:p>
          <a:p>
            <a:pPr marL="342900" indent="-342900" algn="just">
              <a:buAutoNum type="alphaUcParenR"/>
            </a:pPr>
            <a:r>
              <a:rPr lang="es-MX" sz="1600" dirty="0">
                <a:solidFill>
                  <a:schemeClr val="tx1">
                    <a:lumMod val="50000"/>
                    <a:lumOff val="50000"/>
                  </a:schemeClr>
                </a:solidFill>
                <a:latin typeface="+mj-lt"/>
              </a:rPr>
              <a:t>Reutilización del código: Las funciones permiten utilizar una y otra vez y las veces que se requiera una función solo invocándola o llamándola desde cualquier parte de un programa. </a:t>
            </a:r>
          </a:p>
          <a:p>
            <a:pPr marL="342900" indent="-342900" algn="just">
              <a:buAutoNum type="alphaUcParenR"/>
            </a:pPr>
            <a:endParaRPr lang="es-MX" sz="1600" dirty="0">
              <a:solidFill>
                <a:schemeClr val="tx1">
                  <a:lumMod val="50000"/>
                  <a:lumOff val="50000"/>
                </a:schemeClr>
              </a:solidFill>
              <a:latin typeface="+mj-lt"/>
            </a:endParaRPr>
          </a:p>
          <a:p>
            <a:pPr marL="342900" indent="-342900" algn="just">
              <a:buAutoNum type="alphaUcParenR"/>
            </a:pPr>
            <a:r>
              <a:rPr lang="es-MX" sz="1600" dirty="0">
                <a:solidFill>
                  <a:schemeClr val="tx1">
                    <a:lumMod val="50000"/>
                    <a:lumOff val="50000"/>
                  </a:schemeClr>
                </a:solidFill>
                <a:latin typeface="+mj-lt"/>
              </a:rPr>
              <a:t>Mantención del código: El uso de funciones permite dar mantenimiento y actualizar el código de un programa más fácilmente.</a:t>
            </a:r>
            <a:endParaRPr lang="es-EC" sz="1600" dirty="0">
              <a:solidFill>
                <a:schemeClr val="tx1">
                  <a:lumMod val="50000"/>
                  <a:lumOff val="50000"/>
                </a:schemeClr>
              </a:solidFill>
              <a:latin typeface="+mj-lt"/>
            </a:endParaRPr>
          </a:p>
        </p:txBody>
      </p:sp>
    </p:spTree>
    <p:extLst>
      <p:ext uri="{BB962C8B-B14F-4D97-AF65-F5344CB8AC3E}">
        <p14:creationId xmlns:p14="http://schemas.microsoft.com/office/powerpoint/2010/main" val="16592742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EC" b="1" dirty="0">
                <a:solidFill>
                  <a:schemeClr val="bg1">
                    <a:lumMod val="50000"/>
                  </a:schemeClr>
                </a:solidFill>
              </a:rPr>
              <a:t>Introducción</a:t>
            </a:r>
            <a:endParaRPr lang="en-US" b="1" dirty="0">
              <a:solidFill>
                <a:schemeClr val="bg1">
                  <a:lumMod val="50000"/>
                </a:schemeClr>
              </a:solidFill>
            </a:endParaRPr>
          </a:p>
          <a:p>
            <a:r>
              <a:rPr lang="es-EC" b="1" dirty="0">
                <a:solidFill>
                  <a:schemeClr val="bg1">
                    <a:lumMod val="50000"/>
                  </a:schemeClr>
                </a:solidFill>
              </a:rPr>
              <a:t>Objetivos</a:t>
            </a:r>
          </a:p>
          <a:p>
            <a:r>
              <a:rPr lang="es-ES" b="1" dirty="0">
                <a:solidFill>
                  <a:schemeClr val="bg1">
                    <a:lumMod val="50000"/>
                  </a:schemeClr>
                </a:solidFill>
              </a:rPr>
              <a:t>Función </a:t>
            </a:r>
            <a:endParaRPr lang="es-EC" b="1" dirty="0">
              <a:solidFill>
                <a:schemeClr val="bg1">
                  <a:lumMod val="50000"/>
                </a:schemeClr>
              </a:solidFill>
            </a:endParaRPr>
          </a:p>
          <a:p>
            <a:r>
              <a:rPr lang="es-EC" b="1" dirty="0">
                <a:solidFill>
                  <a:schemeClr val="bg1">
                    <a:lumMod val="50000"/>
                  </a:schemeClr>
                </a:solidFill>
              </a:rPr>
              <a:t>Problema 5.1</a:t>
            </a:r>
          </a:p>
          <a:p>
            <a:r>
              <a:rPr lang="es-EC" b="1" dirty="0">
                <a:solidFill>
                  <a:schemeClr val="bg1">
                    <a:lumMod val="50000"/>
                  </a:schemeClr>
                </a:solidFill>
              </a:rPr>
              <a:t>Estructura de una Función</a:t>
            </a:r>
          </a:p>
          <a:p>
            <a:r>
              <a:rPr lang="es-EC" b="1" dirty="0">
                <a:solidFill>
                  <a:schemeClr val="bg1">
                    <a:lumMod val="50000"/>
                  </a:schemeClr>
                </a:solidFill>
              </a:rPr>
              <a:t>Implementación de una Función</a:t>
            </a:r>
          </a:p>
          <a:p>
            <a:r>
              <a:rPr lang="es-EC" b="1" dirty="0">
                <a:solidFill>
                  <a:schemeClr val="bg1">
                    <a:lumMod val="50000"/>
                  </a:schemeClr>
                </a:solidFill>
              </a:rPr>
              <a:t>Problema 5.2</a:t>
            </a:r>
          </a:p>
          <a:p>
            <a:r>
              <a:rPr lang="es-MX" b="1" dirty="0">
                <a:solidFill>
                  <a:schemeClr val="bg1">
                    <a:lumMod val="50000"/>
                  </a:schemeClr>
                </a:solidFill>
              </a:rPr>
              <a:t>Problemas que Resuelven las Funciones </a:t>
            </a:r>
            <a:endParaRPr lang="es-EC" b="1" dirty="0">
              <a:solidFill>
                <a:schemeClr val="bg1">
                  <a:lumMod val="50000"/>
                </a:schemeClr>
              </a:solidFill>
            </a:endParaRPr>
          </a:p>
          <a:p>
            <a:r>
              <a:rPr lang="es-EC" b="1" dirty="0">
                <a:solidFill>
                  <a:srgbClr val="FF0000"/>
                </a:solidFill>
              </a:rPr>
              <a:t>Uso de Funciones </a:t>
            </a:r>
          </a:p>
          <a:p>
            <a:r>
              <a:rPr lang="es-MX" b="1" dirty="0">
                <a:solidFill>
                  <a:schemeClr val="bg1">
                    <a:lumMod val="50000"/>
                  </a:schemeClr>
                </a:solidFill>
              </a:rPr>
              <a:t>Paso de Parámetros por Valor</a:t>
            </a:r>
            <a:endParaRPr lang="es-EC" b="1" dirty="0">
              <a:solidFill>
                <a:schemeClr val="bg1">
                  <a:lumMod val="50000"/>
                </a:schemeClr>
              </a:solidFill>
            </a:endParaRPr>
          </a:p>
          <a:p>
            <a:r>
              <a:rPr lang="es-EC" b="1" dirty="0">
                <a:solidFill>
                  <a:schemeClr val="bg1">
                    <a:lumMod val="50000"/>
                  </a:schemeClr>
                </a:solidFill>
              </a:rPr>
              <a:t>Funciones sin Parámetros</a:t>
            </a:r>
          </a:p>
          <a:p>
            <a:r>
              <a:rPr lang="es-EC" b="1" dirty="0">
                <a:solidFill>
                  <a:schemeClr val="bg1">
                    <a:lumMod val="50000"/>
                  </a:schemeClr>
                </a:solidFill>
              </a:rPr>
              <a:t>Funciones con un Parámetro</a:t>
            </a:r>
          </a:p>
          <a:p>
            <a:r>
              <a:rPr lang="es-EC" b="1" dirty="0">
                <a:solidFill>
                  <a:schemeClr val="bg1">
                    <a:lumMod val="50000"/>
                  </a:schemeClr>
                </a:solidFill>
              </a:rPr>
              <a:t>Funciones con Varios Parámetros</a:t>
            </a:r>
          </a:p>
          <a:p>
            <a:r>
              <a:rPr lang="es-MX" b="1" dirty="0">
                <a:solidFill>
                  <a:schemeClr val="bg1">
                    <a:lumMod val="50000"/>
                  </a:schemeClr>
                </a:solidFill>
              </a:rPr>
              <a:t>Funciones de la Librería de Números Aleatorios</a:t>
            </a:r>
          </a:p>
          <a:p>
            <a:r>
              <a:rPr lang="es-MX" b="1" dirty="0">
                <a:solidFill>
                  <a:schemeClr val="bg1">
                    <a:lumMod val="50000"/>
                  </a:schemeClr>
                </a:solidFill>
              </a:rPr>
              <a:t>Especificación del Rango de un Número Aleatorio </a:t>
            </a:r>
          </a:p>
          <a:p>
            <a:r>
              <a:rPr lang="es-EC" b="1" dirty="0">
                <a:solidFill>
                  <a:schemeClr val="bg1">
                    <a:lumMod val="50000"/>
                  </a:schemeClr>
                </a:solidFill>
              </a:rPr>
              <a:t>Sobrecarga de Funciones</a:t>
            </a:r>
          </a:p>
        </p:txBody>
      </p:sp>
      <p:sp>
        <p:nvSpPr>
          <p:cNvPr id="5" name="4 Marcador de fecha"/>
          <p:cNvSpPr>
            <a:spLocks noGrp="1"/>
          </p:cNvSpPr>
          <p:nvPr>
            <p:ph type="dt" sz="half" idx="10"/>
          </p:nvPr>
        </p:nvSpPr>
        <p:spPr/>
        <p:txBody>
          <a:bodyPr/>
          <a:lstStyle/>
          <a:p>
            <a:fld id="{85E4E129-A937-4BEE-8A17-D7969DFE55C2}" type="datetime1">
              <a:rPr lang="es-EC" smtClean="0"/>
              <a:t>9/12/2025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25</a:t>
            </a:fld>
            <a:endParaRPr lang="es-EC"/>
          </a:p>
        </p:txBody>
      </p:sp>
    </p:spTree>
    <p:extLst>
      <p:ext uri="{BB962C8B-B14F-4D97-AF65-F5344CB8AC3E}">
        <p14:creationId xmlns:p14="http://schemas.microsoft.com/office/powerpoint/2010/main" val="24440553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9/12/2025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26</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564738"/>
            <a:ext cx="8229600" cy="1340768"/>
          </a:xfrm>
        </p:spPr>
        <p:txBody>
          <a:bodyPr/>
          <a:lstStyle/>
          <a:p>
            <a:pPr>
              <a:lnSpc>
                <a:spcPts val="4000"/>
              </a:lnSpc>
            </a:pPr>
            <a:r>
              <a:rPr lang="es-EC" b="1" dirty="0"/>
              <a:t>Uso de Funciones</a:t>
            </a:r>
            <a:br>
              <a:rPr lang="es-EC" b="1" dirty="0"/>
            </a:br>
            <a:endParaRPr lang="en-US" b="1" dirty="0"/>
          </a:p>
        </p:txBody>
      </p:sp>
      <p:sp>
        <p:nvSpPr>
          <p:cNvPr id="10" name="CuadroTexto 9">
            <a:extLst>
              <a:ext uri="{FF2B5EF4-FFF2-40B4-BE49-F238E27FC236}">
                <a16:creationId xmlns:a16="http://schemas.microsoft.com/office/drawing/2014/main" id="{DC918A8C-867C-4951-8841-63B02994092C}"/>
              </a:ext>
            </a:extLst>
          </p:cNvPr>
          <p:cNvSpPr txBox="1"/>
          <p:nvPr/>
        </p:nvSpPr>
        <p:spPr>
          <a:xfrm>
            <a:off x="520767" y="1905506"/>
            <a:ext cx="8102466" cy="3785652"/>
          </a:xfrm>
          <a:prstGeom prst="rect">
            <a:avLst/>
          </a:prstGeom>
          <a:noFill/>
        </p:spPr>
        <p:txBody>
          <a:bodyPr wrap="square">
            <a:spAutoFit/>
          </a:bodyPr>
          <a:lstStyle/>
          <a:p>
            <a:pPr algn="just"/>
            <a:r>
              <a:rPr lang="es-MX" sz="1600" dirty="0">
                <a:solidFill>
                  <a:schemeClr val="tx1">
                    <a:lumMod val="50000"/>
                    <a:lumOff val="50000"/>
                  </a:schemeClr>
                </a:solidFill>
                <a:latin typeface="+mj-lt"/>
              </a:rPr>
              <a:t>De acuerdo con (Luna, F., 2004), para utilizar adecuadamente las funciones dentro de los programas se deben considerar las siguientes observaciones: </a:t>
            </a:r>
          </a:p>
          <a:p>
            <a:pPr algn="just"/>
            <a:endParaRPr lang="es-MX" sz="1600" dirty="0">
              <a:solidFill>
                <a:schemeClr val="tx1">
                  <a:lumMod val="50000"/>
                  <a:lumOff val="50000"/>
                </a:schemeClr>
              </a:solidFill>
              <a:latin typeface="+mj-lt"/>
            </a:endParaRPr>
          </a:p>
          <a:p>
            <a:pPr marL="342900" indent="-342900" algn="just">
              <a:buAutoNum type="alphaUcParenR"/>
            </a:pPr>
            <a:r>
              <a:rPr lang="es-MX" sz="1600" dirty="0">
                <a:solidFill>
                  <a:schemeClr val="tx1">
                    <a:lumMod val="50000"/>
                    <a:lumOff val="50000"/>
                  </a:schemeClr>
                </a:solidFill>
                <a:latin typeface="+mj-lt"/>
              </a:rPr>
              <a:t>Una función debe ser declarada o definida antes de ser llamada o invocada, para que el compilador pueda reconocerla en la llamada a ésta. </a:t>
            </a:r>
          </a:p>
          <a:p>
            <a:pPr marL="342900" indent="-342900" algn="just">
              <a:buAutoNum type="alphaUcParenR"/>
            </a:pPr>
            <a:r>
              <a:rPr lang="es-MX" sz="1600" dirty="0">
                <a:solidFill>
                  <a:schemeClr val="tx1">
                    <a:lumMod val="50000"/>
                    <a:lumOff val="50000"/>
                  </a:schemeClr>
                </a:solidFill>
                <a:latin typeface="+mj-lt"/>
              </a:rPr>
              <a:t>La declaración de una función (conocida también como el prototipo de la función) consiste del tipo de retorno, el nombre de la función y la lista de parámetros terminando la sentencia con un punto y coma. </a:t>
            </a:r>
          </a:p>
          <a:p>
            <a:pPr marL="342900" indent="-342900" algn="just">
              <a:buAutoNum type="alphaUcParenR"/>
            </a:pPr>
            <a:r>
              <a:rPr lang="es-MX" sz="1600" dirty="0">
                <a:solidFill>
                  <a:schemeClr val="tx1">
                    <a:lumMod val="50000"/>
                    <a:lumOff val="50000"/>
                  </a:schemeClr>
                </a:solidFill>
                <a:latin typeface="+mj-lt"/>
              </a:rPr>
              <a:t>Una vez que una función ha sido declarada, puede ser definida o implementada en cualquier parte del programa. La definición de la función contiene el cuerpo de la función y consiste del código que especifica lo que actualmente hace la función. </a:t>
            </a:r>
          </a:p>
          <a:p>
            <a:pPr marL="342900" indent="-342900" algn="just">
              <a:buAutoNum type="alphaUcParenR"/>
            </a:pPr>
            <a:r>
              <a:rPr lang="es-MX" sz="1600" dirty="0">
                <a:solidFill>
                  <a:schemeClr val="tx1">
                    <a:lumMod val="50000"/>
                    <a:lumOff val="50000"/>
                  </a:schemeClr>
                </a:solidFill>
                <a:latin typeface="+mj-lt"/>
              </a:rPr>
              <a:t>Una función puede ser definida sin necesidad de ser declarada, antes del programa principal o antes de la llamada a la misma.</a:t>
            </a:r>
            <a:endParaRPr lang="es-EC" sz="1600" dirty="0">
              <a:solidFill>
                <a:schemeClr val="tx1">
                  <a:lumMod val="50000"/>
                  <a:lumOff val="50000"/>
                </a:schemeClr>
              </a:solidFill>
              <a:latin typeface="+mj-lt"/>
            </a:endParaRPr>
          </a:p>
        </p:txBody>
      </p:sp>
    </p:spTree>
    <p:extLst>
      <p:ext uri="{BB962C8B-B14F-4D97-AF65-F5344CB8AC3E}">
        <p14:creationId xmlns:p14="http://schemas.microsoft.com/office/powerpoint/2010/main" val="42747808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EC" b="1" dirty="0">
                <a:solidFill>
                  <a:schemeClr val="bg1">
                    <a:lumMod val="50000"/>
                  </a:schemeClr>
                </a:solidFill>
              </a:rPr>
              <a:t>Introducción</a:t>
            </a:r>
            <a:endParaRPr lang="en-US" b="1" dirty="0">
              <a:solidFill>
                <a:schemeClr val="bg1">
                  <a:lumMod val="50000"/>
                </a:schemeClr>
              </a:solidFill>
            </a:endParaRPr>
          </a:p>
          <a:p>
            <a:r>
              <a:rPr lang="es-EC" b="1" dirty="0">
                <a:solidFill>
                  <a:schemeClr val="bg1">
                    <a:lumMod val="50000"/>
                  </a:schemeClr>
                </a:solidFill>
              </a:rPr>
              <a:t>Objetivos</a:t>
            </a:r>
          </a:p>
          <a:p>
            <a:r>
              <a:rPr lang="es-ES" b="1" dirty="0">
                <a:solidFill>
                  <a:schemeClr val="bg1">
                    <a:lumMod val="50000"/>
                  </a:schemeClr>
                </a:solidFill>
              </a:rPr>
              <a:t>Función </a:t>
            </a:r>
            <a:endParaRPr lang="es-EC" b="1" dirty="0">
              <a:solidFill>
                <a:schemeClr val="bg1">
                  <a:lumMod val="50000"/>
                </a:schemeClr>
              </a:solidFill>
            </a:endParaRPr>
          </a:p>
          <a:p>
            <a:r>
              <a:rPr lang="es-EC" b="1" dirty="0">
                <a:solidFill>
                  <a:schemeClr val="bg1">
                    <a:lumMod val="50000"/>
                  </a:schemeClr>
                </a:solidFill>
              </a:rPr>
              <a:t>Problema 5.1</a:t>
            </a:r>
          </a:p>
          <a:p>
            <a:r>
              <a:rPr lang="es-EC" b="1" dirty="0">
                <a:solidFill>
                  <a:schemeClr val="bg1">
                    <a:lumMod val="50000"/>
                  </a:schemeClr>
                </a:solidFill>
              </a:rPr>
              <a:t>Estructura de una Función</a:t>
            </a:r>
          </a:p>
          <a:p>
            <a:r>
              <a:rPr lang="es-EC" b="1" dirty="0">
                <a:solidFill>
                  <a:schemeClr val="bg1">
                    <a:lumMod val="50000"/>
                  </a:schemeClr>
                </a:solidFill>
              </a:rPr>
              <a:t>Implementación de una Función</a:t>
            </a:r>
          </a:p>
          <a:p>
            <a:r>
              <a:rPr lang="es-EC" b="1" dirty="0">
                <a:solidFill>
                  <a:schemeClr val="bg1">
                    <a:lumMod val="50000"/>
                  </a:schemeClr>
                </a:solidFill>
              </a:rPr>
              <a:t>Problema 5.2</a:t>
            </a:r>
          </a:p>
          <a:p>
            <a:r>
              <a:rPr lang="es-MX" b="1" dirty="0">
                <a:solidFill>
                  <a:schemeClr val="bg1">
                    <a:lumMod val="50000"/>
                  </a:schemeClr>
                </a:solidFill>
              </a:rPr>
              <a:t>Problemas que Resuelven las Funciones </a:t>
            </a:r>
            <a:endParaRPr lang="es-EC" b="1" dirty="0">
              <a:solidFill>
                <a:schemeClr val="bg1">
                  <a:lumMod val="50000"/>
                </a:schemeClr>
              </a:solidFill>
            </a:endParaRPr>
          </a:p>
          <a:p>
            <a:r>
              <a:rPr lang="es-EC" b="1" dirty="0">
                <a:solidFill>
                  <a:schemeClr val="bg1">
                    <a:lumMod val="50000"/>
                  </a:schemeClr>
                </a:solidFill>
              </a:rPr>
              <a:t>Uso de Funciones </a:t>
            </a:r>
          </a:p>
          <a:p>
            <a:r>
              <a:rPr lang="es-MX" b="1" dirty="0">
                <a:solidFill>
                  <a:srgbClr val="FF0000"/>
                </a:solidFill>
              </a:rPr>
              <a:t>Paso de Parámetros por Valor</a:t>
            </a:r>
            <a:endParaRPr lang="es-EC" b="1" dirty="0">
              <a:solidFill>
                <a:srgbClr val="FF0000"/>
              </a:solidFill>
            </a:endParaRPr>
          </a:p>
          <a:p>
            <a:r>
              <a:rPr lang="es-EC" b="1" dirty="0">
                <a:solidFill>
                  <a:schemeClr val="bg1">
                    <a:lumMod val="50000"/>
                  </a:schemeClr>
                </a:solidFill>
              </a:rPr>
              <a:t>Funciones sin Parámetros</a:t>
            </a:r>
          </a:p>
          <a:p>
            <a:r>
              <a:rPr lang="es-EC" b="1" dirty="0">
                <a:solidFill>
                  <a:schemeClr val="bg1">
                    <a:lumMod val="50000"/>
                  </a:schemeClr>
                </a:solidFill>
              </a:rPr>
              <a:t>Funciones con un Parámetro</a:t>
            </a:r>
          </a:p>
          <a:p>
            <a:r>
              <a:rPr lang="es-EC" b="1" dirty="0">
                <a:solidFill>
                  <a:schemeClr val="bg1">
                    <a:lumMod val="50000"/>
                  </a:schemeClr>
                </a:solidFill>
              </a:rPr>
              <a:t>Funciones con Varios Parámetros</a:t>
            </a:r>
          </a:p>
          <a:p>
            <a:r>
              <a:rPr lang="es-MX" b="1" dirty="0">
                <a:solidFill>
                  <a:schemeClr val="bg1">
                    <a:lumMod val="50000"/>
                  </a:schemeClr>
                </a:solidFill>
              </a:rPr>
              <a:t>Funciones de la Librería de Números Aleatorios</a:t>
            </a:r>
          </a:p>
          <a:p>
            <a:r>
              <a:rPr lang="es-MX" b="1" dirty="0">
                <a:solidFill>
                  <a:schemeClr val="bg1">
                    <a:lumMod val="50000"/>
                  </a:schemeClr>
                </a:solidFill>
              </a:rPr>
              <a:t>Especificación del Rango de un Número Aleatorio </a:t>
            </a:r>
          </a:p>
          <a:p>
            <a:r>
              <a:rPr lang="es-EC" b="1" dirty="0">
                <a:solidFill>
                  <a:schemeClr val="bg1">
                    <a:lumMod val="50000"/>
                  </a:schemeClr>
                </a:solidFill>
              </a:rPr>
              <a:t>Sobrecarga de Funciones</a:t>
            </a:r>
          </a:p>
        </p:txBody>
      </p:sp>
      <p:sp>
        <p:nvSpPr>
          <p:cNvPr id="5" name="4 Marcador de fecha"/>
          <p:cNvSpPr>
            <a:spLocks noGrp="1"/>
          </p:cNvSpPr>
          <p:nvPr>
            <p:ph type="dt" sz="half" idx="10"/>
          </p:nvPr>
        </p:nvSpPr>
        <p:spPr/>
        <p:txBody>
          <a:bodyPr/>
          <a:lstStyle/>
          <a:p>
            <a:fld id="{85E4E129-A937-4BEE-8A17-D7969DFE55C2}" type="datetime1">
              <a:rPr lang="es-EC" smtClean="0"/>
              <a:t>9/12/2025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27</a:t>
            </a:fld>
            <a:endParaRPr lang="es-EC"/>
          </a:p>
        </p:txBody>
      </p:sp>
    </p:spTree>
    <p:extLst>
      <p:ext uri="{BB962C8B-B14F-4D97-AF65-F5344CB8AC3E}">
        <p14:creationId xmlns:p14="http://schemas.microsoft.com/office/powerpoint/2010/main" val="42162578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9/12/2025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28</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564738"/>
            <a:ext cx="8229600" cy="1340768"/>
          </a:xfrm>
        </p:spPr>
        <p:txBody>
          <a:bodyPr/>
          <a:lstStyle/>
          <a:p>
            <a:pPr>
              <a:lnSpc>
                <a:spcPts val="4000"/>
              </a:lnSpc>
            </a:pPr>
            <a:r>
              <a:rPr lang="es-MX" b="1" dirty="0"/>
              <a:t>Paso de Parámetros por Valor</a:t>
            </a:r>
            <a:br>
              <a:rPr lang="es-EC" b="1" dirty="0"/>
            </a:br>
            <a:endParaRPr lang="en-US" b="1" dirty="0"/>
          </a:p>
        </p:txBody>
      </p:sp>
      <p:sp>
        <p:nvSpPr>
          <p:cNvPr id="10" name="CuadroTexto 9">
            <a:extLst>
              <a:ext uri="{FF2B5EF4-FFF2-40B4-BE49-F238E27FC236}">
                <a16:creationId xmlns:a16="http://schemas.microsoft.com/office/drawing/2014/main" id="{DC918A8C-867C-4951-8841-63B02994092C}"/>
              </a:ext>
            </a:extLst>
          </p:cNvPr>
          <p:cNvSpPr txBox="1"/>
          <p:nvPr/>
        </p:nvSpPr>
        <p:spPr>
          <a:xfrm>
            <a:off x="520767" y="1905506"/>
            <a:ext cx="8102466" cy="3785652"/>
          </a:xfrm>
          <a:prstGeom prst="rect">
            <a:avLst/>
          </a:prstGeom>
          <a:noFill/>
        </p:spPr>
        <p:txBody>
          <a:bodyPr wrap="square">
            <a:spAutoFit/>
          </a:bodyPr>
          <a:lstStyle/>
          <a:p>
            <a:pPr algn="just"/>
            <a:r>
              <a:rPr lang="es-MX" sz="1600" dirty="0"/>
              <a:t>El paso de parámetros por valor o por copia, significa que cuando el compilador de C/C++ compila la función y el código que invoca o llama a la función, ésta recibe una copia de los valores de los parámetros. Si dentro de la función se cambia el valor de un parámetro que viene a ser una variable local de la misma, el cambio sólo afecta a la función y no tiene efecto fuera de ella (Granizo, E., 2016). </a:t>
            </a:r>
          </a:p>
          <a:p>
            <a:pPr algn="just"/>
            <a:endParaRPr lang="es-MX" sz="1600" dirty="0"/>
          </a:p>
          <a:p>
            <a:pPr algn="just"/>
            <a:r>
              <a:rPr lang="es-MX" sz="1600" dirty="0"/>
              <a:t>Con el paso de parámetros por valor sólo se pueden operar con los parámetros de la función mas no modificar los contenidos de las variables que se envían a la función que son los argumentos que se copian o se asignan a los parámetros de la función. Un parámetro no es un valor por sí mismo, más bien es un valor propietario de un lugar para una variable. Esto significa que cuando la función es invocada o llamada en algún lugar del programa se envía una variable que toma el nombre del argumento que es el valor pasado dentro de la llamada de una función en particular y el parámetro de la función recibe una copia de la variable original que se envía como argumento a la misma. </a:t>
            </a:r>
            <a:endParaRPr lang="es-EC" sz="1600" dirty="0">
              <a:solidFill>
                <a:schemeClr val="tx1">
                  <a:lumMod val="50000"/>
                  <a:lumOff val="50000"/>
                </a:schemeClr>
              </a:solidFill>
              <a:latin typeface="+mj-lt"/>
            </a:endParaRPr>
          </a:p>
        </p:txBody>
      </p:sp>
    </p:spTree>
    <p:extLst>
      <p:ext uri="{BB962C8B-B14F-4D97-AF65-F5344CB8AC3E}">
        <p14:creationId xmlns:p14="http://schemas.microsoft.com/office/powerpoint/2010/main" val="1514469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EC" b="1" dirty="0">
                <a:solidFill>
                  <a:schemeClr val="bg1">
                    <a:lumMod val="50000"/>
                  </a:schemeClr>
                </a:solidFill>
              </a:rPr>
              <a:t>Introducción</a:t>
            </a:r>
            <a:endParaRPr lang="en-US" b="1" dirty="0">
              <a:solidFill>
                <a:schemeClr val="bg1">
                  <a:lumMod val="50000"/>
                </a:schemeClr>
              </a:solidFill>
            </a:endParaRPr>
          </a:p>
          <a:p>
            <a:r>
              <a:rPr lang="es-EC" b="1" dirty="0">
                <a:solidFill>
                  <a:schemeClr val="bg1">
                    <a:lumMod val="50000"/>
                  </a:schemeClr>
                </a:solidFill>
              </a:rPr>
              <a:t>Objetivos</a:t>
            </a:r>
          </a:p>
          <a:p>
            <a:r>
              <a:rPr lang="es-ES" b="1" dirty="0">
                <a:solidFill>
                  <a:schemeClr val="bg1">
                    <a:lumMod val="50000"/>
                  </a:schemeClr>
                </a:solidFill>
              </a:rPr>
              <a:t>Función </a:t>
            </a:r>
            <a:endParaRPr lang="es-EC" b="1" dirty="0">
              <a:solidFill>
                <a:schemeClr val="bg1">
                  <a:lumMod val="50000"/>
                </a:schemeClr>
              </a:solidFill>
            </a:endParaRPr>
          </a:p>
          <a:p>
            <a:r>
              <a:rPr lang="es-EC" b="1" dirty="0">
                <a:solidFill>
                  <a:schemeClr val="bg1">
                    <a:lumMod val="50000"/>
                  </a:schemeClr>
                </a:solidFill>
              </a:rPr>
              <a:t>Problema 5.1</a:t>
            </a:r>
          </a:p>
          <a:p>
            <a:r>
              <a:rPr lang="es-EC" b="1" dirty="0">
                <a:solidFill>
                  <a:schemeClr val="bg1">
                    <a:lumMod val="50000"/>
                  </a:schemeClr>
                </a:solidFill>
              </a:rPr>
              <a:t>Estructura de una Función</a:t>
            </a:r>
          </a:p>
          <a:p>
            <a:r>
              <a:rPr lang="es-EC" b="1" dirty="0">
                <a:solidFill>
                  <a:schemeClr val="bg1">
                    <a:lumMod val="50000"/>
                  </a:schemeClr>
                </a:solidFill>
              </a:rPr>
              <a:t>Implementación de una Función</a:t>
            </a:r>
          </a:p>
          <a:p>
            <a:r>
              <a:rPr lang="es-EC" b="1" dirty="0">
                <a:solidFill>
                  <a:schemeClr val="bg1">
                    <a:lumMod val="50000"/>
                  </a:schemeClr>
                </a:solidFill>
              </a:rPr>
              <a:t>Problema 5.2</a:t>
            </a:r>
          </a:p>
          <a:p>
            <a:r>
              <a:rPr lang="es-MX" b="1" dirty="0">
                <a:solidFill>
                  <a:schemeClr val="bg1">
                    <a:lumMod val="50000"/>
                  </a:schemeClr>
                </a:solidFill>
              </a:rPr>
              <a:t>Problemas que Resuelven las Funciones </a:t>
            </a:r>
            <a:endParaRPr lang="es-EC" b="1" dirty="0">
              <a:solidFill>
                <a:schemeClr val="bg1">
                  <a:lumMod val="50000"/>
                </a:schemeClr>
              </a:solidFill>
            </a:endParaRPr>
          </a:p>
          <a:p>
            <a:r>
              <a:rPr lang="es-EC" b="1" dirty="0">
                <a:solidFill>
                  <a:schemeClr val="bg1">
                    <a:lumMod val="50000"/>
                  </a:schemeClr>
                </a:solidFill>
              </a:rPr>
              <a:t>Uso de Funciones </a:t>
            </a:r>
          </a:p>
          <a:p>
            <a:r>
              <a:rPr lang="es-MX" b="1" dirty="0">
                <a:solidFill>
                  <a:schemeClr val="bg1">
                    <a:lumMod val="50000"/>
                  </a:schemeClr>
                </a:solidFill>
              </a:rPr>
              <a:t>Paso de Parámetros por Valor</a:t>
            </a:r>
            <a:endParaRPr lang="es-EC" b="1" dirty="0">
              <a:solidFill>
                <a:schemeClr val="bg1">
                  <a:lumMod val="50000"/>
                </a:schemeClr>
              </a:solidFill>
            </a:endParaRPr>
          </a:p>
          <a:p>
            <a:r>
              <a:rPr lang="es-EC" b="1" dirty="0">
                <a:solidFill>
                  <a:srgbClr val="FF0000"/>
                </a:solidFill>
              </a:rPr>
              <a:t>Funciones sin Parámetros</a:t>
            </a:r>
          </a:p>
          <a:p>
            <a:r>
              <a:rPr lang="es-EC" b="1" dirty="0">
                <a:solidFill>
                  <a:schemeClr val="bg1">
                    <a:lumMod val="50000"/>
                  </a:schemeClr>
                </a:solidFill>
              </a:rPr>
              <a:t>Funciones con un Parámetro</a:t>
            </a:r>
          </a:p>
          <a:p>
            <a:r>
              <a:rPr lang="es-EC" b="1" dirty="0">
                <a:solidFill>
                  <a:schemeClr val="bg1">
                    <a:lumMod val="50000"/>
                  </a:schemeClr>
                </a:solidFill>
              </a:rPr>
              <a:t>Funciones con Varios Parámetros</a:t>
            </a:r>
          </a:p>
          <a:p>
            <a:r>
              <a:rPr lang="es-MX" b="1" dirty="0">
                <a:solidFill>
                  <a:schemeClr val="bg1">
                    <a:lumMod val="50000"/>
                  </a:schemeClr>
                </a:solidFill>
              </a:rPr>
              <a:t>Funciones de la Librería de Números Aleatorios</a:t>
            </a:r>
          </a:p>
          <a:p>
            <a:r>
              <a:rPr lang="es-MX" b="1" dirty="0">
                <a:solidFill>
                  <a:schemeClr val="bg1">
                    <a:lumMod val="50000"/>
                  </a:schemeClr>
                </a:solidFill>
              </a:rPr>
              <a:t>Especificación del Rango de un Número Aleatorio </a:t>
            </a:r>
          </a:p>
          <a:p>
            <a:r>
              <a:rPr lang="es-EC" b="1" dirty="0">
                <a:solidFill>
                  <a:schemeClr val="bg1">
                    <a:lumMod val="50000"/>
                  </a:schemeClr>
                </a:solidFill>
              </a:rPr>
              <a:t>Sobrecarga de Funciones</a:t>
            </a:r>
          </a:p>
        </p:txBody>
      </p:sp>
      <p:sp>
        <p:nvSpPr>
          <p:cNvPr id="5" name="4 Marcador de fecha"/>
          <p:cNvSpPr>
            <a:spLocks noGrp="1"/>
          </p:cNvSpPr>
          <p:nvPr>
            <p:ph type="dt" sz="half" idx="10"/>
          </p:nvPr>
        </p:nvSpPr>
        <p:spPr/>
        <p:txBody>
          <a:bodyPr/>
          <a:lstStyle/>
          <a:p>
            <a:fld id="{85E4E129-A937-4BEE-8A17-D7969DFE55C2}" type="datetime1">
              <a:rPr lang="es-EC" smtClean="0"/>
              <a:t>9/12/2025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29</a:t>
            </a:fld>
            <a:endParaRPr lang="es-EC"/>
          </a:p>
        </p:txBody>
      </p:sp>
    </p:spTree>
    <p:extLst>
      <p:ext uri="{BB962C8B-B14F-4D97-AF65-F5344CB8AC3E}">
        <p14:creationId xmlns:p14="http://schemas.microsoft.com/office/powerpoint/2010/main" val="35404135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9/12/2025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30</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564738"/>
            <a:ext cx="8229600" cy="1340768"/>
          </a:xfrm>
        </p:spPr>
        <p:txBody>
          <a:bodyPr/>
          <a:lstStyle/>
          <a:p>
            <a:pPr>
              <a:lnSpc>
                <a:spcPts val="4000"/>
              </a:lnSpc>
            </a:pPr>
            <a:r>
              <a:rPr lang="es-EC" b="1" dirty="0"/>
              <a:t>Funciones sin Parámetros</a:t>
            </a:r>
            <a:br>
              <a:rPr lang="es-EC" b="1" dirty="0"/>
            </a:br>
            <a:br>
              <a:rPr lang="es-EC" b="1" dirty="0"/>
            </a:br>
            <a:endParaRPr lang="en-US" b="1" dirty="0"/>
          </a:p>
        </p:txBody>
      </p:sp>
      <p:sp>
        <p:nvSpPr>
          <p:cNvPr id="10" name="CuadroTexto 9">
            <a:extLst>
              <a:ext uri="{FF2B5EF4-FFF2-40B4-BE49-F238E27FC236}">
                <a16:creationId xmlns:a16="http://schemas.microsoft.com/office/drawing/2014/main" id="{DC918A8C-867C-4951-8841-63B02994092C}"/>
              </a:ext>
            </a:extLst>
          </p:cNvPr>
          <p:cNvSpPr txBox="1"/>
          <p:nvPr/>
        </p:nvSpPr>
        <p:spPr>
          <a:xfrm>
            <a:off x="899592" y="966041"/>
            <a:ext cx="7056784" cy="1600438"/>
          </a:xfrm>
          <a:prstGeom prst="rect">
            <a:avLst/>
          </a:prstGeom>
          <a:noFill/>
        </p:spPr>
        <p:txBody>
          <a:bodyPr wrap="square">
            <a:spAutoFit/>
          </a:bodyPr>
          <a:lstStyle/>
          <a:p>
            <a:pPr algn="just"/>
            <a:r>
              <a:rPr lang="es-MX" sz="1400" dirty="0">
                <a:solidFill>
                  <a:schemeClr val="tx1">
                    <a:lumMod val="50000"/>
                    <a:lumOff val="50000"/>
                  </a:schemeClr>
                </a:solidFill>
                <a:latin typeface="+mj-lt"/>
              </a:rPr>
              <a:t>Las funciones pueden no tener parámetros, lo que significa que solamente pueden ejecutar ciertas tareas y dependiendo del tipo de retorno, devolver un valor o retornar un ‘</a:t>
            </a:r>
            <a:r>
              <a:rPr lang="es-MX" sz="1400" dirty="0" err="1">
                <a:solidFill>
                  <a:schemeClr val="tx1">
                    <a:lumMod val="50000"/>
                    <a:lumOff val="50000"/>
                  </a:schemeClr>
                </a:solidFill>
                <a:latin typeface="+mj-lt"/>
              </a:rPr>
              <a:t>void</a:t>
            </a:r>
            <a:r>
              <a:rPr lang="es-MX" sz="1400" dirty="0">
                <a:solidFill>
                  <a:schemeClr val="tx1">
                    <a:lumMod val="50000"/>
                    <a:lumOff val="50000"/>
                  </a:schemeClr>
                </a:solidFill>
                <a:latin typeface="+mj-lt"/>
              </a:rPr>
              <a:t>’ si la función no devuelve ningún valor (Luna, F., 2004). La función </a:t>
            </a:r>
            <a:r>
              <a:rPr lang="es-MX" sz="1400" dirty="0" err="1">
                <a:solidFill>
                  <a:schemeClr val="tx1">
                    <a:lumMod val="50000"/>
                    <a:lumOff val="50000"/>
                  </a:schemeClr>
                </a:solidFill>
                <a:latin typeface="+mj-lt"/>
              </a:rPr>
              <a:t>CalcularAreaRectangulo</a:t>
            </a:r>
            <a:r>
              <a:rPr lang="es-MX" sz="1400" dirty="0">
                <a:solidFill>
                  <a:schemeClr val="tx1">
                    <a:lumMod val="50000"/>
                    <a:lumOff val="50000"/>
                  </a:schemeClr>
                </a:solidFill>
                <a:latin typeface="+mj-lt"/>
              </a:rPr>
              <a:t>() del programa 5.3, es un ejemplo del uso de funciones sin parámetros, donde esta función lee el valor del ancho y del largo del rectángulo, calcula el valor del área del rectángulo y retorna el valor del cálculo del área del rectángulo, como se puede ver en la Figura 5.3. </a:t>
            </a:r>
            <a:endParaRPr lang="es-EC" sz="1400" dirty="0">
              <a:solidFill>
                <a:schemeClr val="tx1">
                  <a:lumMod val="50000"/>
                  <a:lumOff val="50000"/>
                </a:schemeClr>
              </a:solidFill>
              <a:latin typeface="+mj-lt"/>
            </a:endParaRPr>
          </a:p>
        </p:txBody>
      </p:sp>
      <p:pic>
        <p:nvPicPr>
          <p:cNvPr id="4" name="Imagen 3">
            <a:extLst>
              <a:ext uri="{FF2B5EF4-FFF2-40B4-BE49-F238E27FC236}">
                <a16:creationId xmlns:a16="http://schemas.microsoft.com/office/drawing/2014/main" id="{649D1F93-1941-4999-B3AF-4985DBD10176}"/>
              </a:ext>
            </a:extLst>
          </p:cNvPr>
          <p:cNvPicPr>
            <a:picLocks noChangeAspect="1"/>
          </p:cNvPicPr>
          <p:nvPr/>
        </p:nvPicPr>
        <p:blipFill>
          <a:blip r:embed="rId2"/>
          <a:stretch>
            <a:fillRect/>
          </a:stretch>
        </p:blipFill>
        <p:spPr>
          <a:xfrm>
            <a:off x="2267744" y="2852936"/>
            <a:ext cx="5496692" cy="2248214"/>
          </a:xfrm>
          <a:prstGeom prst="rect">
            <a:avLst/>
          </a:prstGeom>
        </p:spPr>
      </p:pic>
      <p:pic>
        <p:nvPicPr>
          <p:cNvPr id="7" name="Imagen 6">
            <a:extLst>
              <a:ext uri="{FF2B5EF4-FFF2-40B4-BE49-F238E27FC236}">
                <a16:creationId xmlns:a16="http://schemas.microsoft.com/office/drawing/2014/main" id="{903A0AE1-0D91-4706-AB1A-13CF4A8DA20E}"/>
              </a:ext>
            </a:extLst>
          </p:cNvPr>
          <p:cNvPicPr>
            <a:picLocks noChangeAspect="1"/>
          </p:cNvPicPr>
          <p:nvPr/>
        </p:nvPicPr>
        <p:blipFill>
          <a:blip r:embed="rId3"/>
          <a:stretch>
            <a:fillRect/>
          </a:stretch>
        </p:blipFill>
        <p:spPr>
          <a:xfrm>
            <a:off x="2483768" y="5217291"/>
            <a:ext cx="4782217" cy="924054"/>
          </a:xfrm>
          <a:prstGeom prst="rect">
            <a:avLst/>
          </a:prstGeom>
        </p:spPr>
      </p:pic>
      <p:sp>
        <p:nvSpPr>
          <p:cNvPr id="11" name="CuadroTexto 10">
            <a:extLst>
              <a:ext uri="{FF2B5EF4-FFF2-40B4-BE49-F238E27FC236}">
                <a16:creationId xmlns:a16="http://schemas.microsoft.com/office/drawing/2014/main" id="{94E4A617-D77E-4050-AF5E-313EC7C3FC31}"/>
              </a:ext>
            </a:extLst>
          </p:cNvPr>
          <p:cNvSpPr txBox="1"/>
          <p:nvPr/>
        </p:nvSpPr>
        <p:spPr>
          <a:xfrm>
            <a:off x="3059832" y="6085562"/>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Figura 5.3  </a:t>
            </a:r>
            <a:r>
              <a:rPr lang="es-ES" sz="1200" dirty="0">
                <a:solidFill>
                  <a:schemeClr val="tx1">
                    <a:lumMod val="50000"/>
                    <a:lumOff val="50000"/>
                  </a:schemeClr>
                </a:solidFill>
                <a:latin typeface="+mj-lt"/>
              </a:rPr>
              <a:t>Ejemplo de una función sin parámetros</a:t>
            </a:r>
            <a:r>
              <a:rPr lang="es-ES_tradnl" sz="1200" dirty="0">
                <a:solidFill>
                  <a:schemeClr val="tx1">
                    <a:lumMod val="50000"/>
                    <a:lumOff val="50000"/>
                  </a:schemeClr>
                </a:solidFill>
                <a:latin typeface="+mj-lt"/>
              </a:rPr>
              <a:t>: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41567957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EC" b="1" dirty="0">
                <a:solidFill>
                  <a:schemeClr val="bg1">
                    <a:lumMod val="50000"/>
                  </a:schemeClr>
                </a:solidFill>
              </a:rPr>
              <a:t>Introducción</a:t>
            </a:r>
            <a:endParaRPr lang="en-US" b="1" dirty="0">
              <a:solidFill>
                <a:schemeClr val="bg1">
                  <a:lumMod val="50000"/>
                </a:schemeClr>
              </a:solidFill>
            </a:endParaRPr>
          </a:p>
          <a:p>
            <a:r>
              <a:rPr lang="es-EC" b="1" dirty="0">
                <a:solidFill>
                  <a:schemeClr val="bg1">
                    <a:lumMod val="50000"/>
                  </a:schemeClr>
                </a:solidFill>
              </a:rPr>
              <a:t>Objetivos</a:t>
            </a:r>
          </a:p>
          <a:p>
            <a:r>
              <a:rPr lang="es-ES" b="1" dirty="0">
                <a:solidFill>
                  <a:schemeClr val="bg1">
                    <a:lumMod val="50000"/>
                  </a:schemeClr>
                </a:solidFill>
              </a:rPr>
              <a:t>Función </a:t>
            </a:r>
            <a:endParaRPr lang="es-EC" b="1" dirty="0">
              <a:solidFill>
                <a:schemeClr val="bg1">
                  <a:lumMod val="50000"/>
                </a:schemeClr>
              </a:solidFill>
            </a:endParaRPr>
          </a:p>
          <a:p>
            <a:r>
              <a:rPr lang="es-EC" b="1" dirty="0">
                <a:solidFill>
                  <a:schemeClr val="bg1">
                    <a:lumMod val="50000"/>
                  </a:schemeClr>
                </a:solidFill>
              </a:rPr>
              <a:t>Problema 5.1</a:t>
            </a:r>
          </a:p>
          <a:p>
            <a:r>
              <a:rPr lang="es-EC" b="1" dirty="0">
                <a:solidFill>
                  <a:schemeClr val="bg1">
                    <a:lumMod val="50000"/>
                  </a:schemeClr>
                </a:solidFill>
              </a:rPr>
              <a:t>Estructura de una Función</a:t>
            </a:r>
          </a:p>
          <a:p>
            <a:r>
              <a:rPr lang="es-EC" b="1" dirty="0">
                <a:solidFill>
                  <a:schemeClr val="bg1">
                    <a:lumMod val="50000"/>
                  </a:schemeClr>
                </a:solidFill>
              </a:rPr>
              <a:t>Implementación de una Función</a:t>
            </a:r>
          </a:p>
          <a:p>
            <a:r>
              <a:rPr lang="es-EC" b="1" dirty="0">
                <a:solidFill>
                  <a:schemeClr val="bg1">
                    <a:lumMod val="50000"/>
                  </a:schemeClr>
                </a:solidFill>
              </a:rPr>
              <a:t>Problema 5.2</a:t>
            </a:r>
          </a:p>
          <a:p>
            <a:r>
              <a:rPr lang="es-MX" b="1" dirty="0">
                <a:solidFill>
                  <a:schemeClr val="bg1">
                    <a:lumMod val="50000"/>
                  </a:schemeClr>
                </a:solidFill>
              </a:rPr>
              <a:t>Problemas que Resuelven las Funciones </a:t>
            </a:r>
            <a:endParaRPr lang="es-EC" b="1" dirty="0">
              <a:solidFill>
                <a:schemeClr val="bg1">
                  <a:lumMod val="50000"/>
                </a:schemeClr>
              </a:solidFill>
            </a:endParaRPr>
          </a:p>
          <a:p>
            <a:r>
              <a:rPr lang="es-EC" b="1" dirty="0">
                <a:solidFill>
                  <a:schemeClr val="bg1">
                    <a:lumMod val="50000"/>
                  </a:schemeClr>
                </a:solidFill>
              </a:rPr>
              <a:t>Uso de Funciones </a:t>
            </a:r>
          </a:p>
          <a:p>
            <a:r>
              <a:rPr lang="es-MX" b="1" dirty="0">
                <a:solidFill>
                  <a:schemeClr val="bg1">
                    <a:lumMod val="50000"/>
                  </a:schemeClr>
                </a:solidFill>
              </a:rPr>
              <a:t>Paso de Parámetros por Valor</a:t>
            </a:r>
            <a:endParaRPr lang="es-EC" b="1" dirty="0">
              <a:solidFill>
                <a:schemeClr val="bg1">
                  <a:lumMod val="50000"/>
                </a:schemeClr>
              </a:solidFill>
            </a:endParaRPr>
          </a:p>
          <a:p>
            <a:r>
              <a:rPr lang="es-EC" b="1" dirty="0">
                <a:solidFill>
                  <a:schemeClr val="bg1">
                    <a:lumMod val="50000"/>
                  </a:schemeClr>
                </a:solidFill>
              </a:rPr>
              <a:t>Funciones sin Parámetros</a:t>
            </a:r>
          </a:p>
          <a:p>
            <a:r>
              <a:rPr lang="es-EC" b="1" dirty="0">
                <a:solidFill>
                  <a:srgbClr val="FF0000"/>
                </a:solidFill>
              </a:rPr>
              <a:t>Funciones con un Parámetro</a:t>
            </a:r>
          </a:p>
          <a:p>
            <a:r>
              <a:rPr lang="es-EC" b="1" dirty="0">
                <a:solidFill>
                  <a:schemeClr val="bg1">
                    <a:lumMod val="50000"/>
                  </a:schemeClr>
                </a:solidFill>
              </a:rPr>
              <a:t>Funciones con Varios Parámetros</a:t>
            </a:r>
          </a:p>
          <a:p>
            <a:r>
              <a:rPr lang="es-MX" b="1" dirty="0">
                <a:solidFill>
                  <a:schemeClr val="bg1">
                    <a:lumMod val="50000"/>
                  </a:schemeClr>
                </a:solidFill>
              </a:rPr>
              <a:t>Funciones de la Librería de Números Aleatorios</a:t>
            </a:r>
          </a:p>
          <a:p>
            <a:r>
              <a:rPr lang="es-MX" b="1" dirty="0">
                <a:solidFill>
                  <a:schemeClr val="bg1">
                    <a:lumMod val="50000"/>
                  </a:schemeClr>
                </a:solidFill>
              </a:rPr>
              <a:t>Especificación del Rango de un Número Aleatorio </a:t>
            </a:r>
          </a:p>
          <a:p>
            <a:r>
              <a:rPr lang="es-EC" b="1" dirty="0">
                <a:solidFill>
                  <a:schemeClr val="bg1">
                    <a:lumMod val="50000"/>
                  </a:schemeClr>
                </a:solidFill>
              </a:rPr>
              <a:t>Sobrecarga de Funciones</a:t>
            </a:r>
          </a:p>
        </p:txBody>
      </p:sp>
      <p:sp>
        <p:nvSpPr>
          <p:cNvPr id="5" name="4 Marcador de fecha"/>
          <p:cNvSpPr>
            <a:spLocks noGrp="1"/>
          </p:cNvSpPr>
          <p:nvPr>
            <p:ph type="dt" sz="half" idx="10"/>
          </p:nvPr>
        </p:nvSpPr>
        <p:spPr/>
        <p:txBody>
          <a:bodyPr/>
          <a:lstStyle/>
          <a:p>
            <a:fld id="{85E4E129-A937-4BEE-8A17-D7969DFE55C2}" type="datetime1">
              <a:rPr lang="es-EC" smtClean="0"/>
              <a:t>9/12/2025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31</a:t>
            </a:fld>
            <a:endParaRPr lang="es-EC"/>
          </a:p>
        </p:txBody>
      </p:sp>
    </p:spTree>
    <p:extLst>
      <p:ext uri="{BB962C8B-B14F-4D97-AF65-F5344CB8AC3E}">
        <p14:creationId xmlns:p14="http://schemas.microsoft.com/office/powerpoint/2010/main" val="8846155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9/12/2025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32</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594665" y="935417"/>
            <a:ext cx="8229600" cy="1340768"/>
          </a:xfrm>
        </p:spPr>
        <p:txBody>
          <a:bodyPr/>
          <a:lstStyle/>
          <a:p>
            <a:pPr>
              <a:lnSpc>
                <a:spcPts val="4000"/>
              </a:lnSpc>
            </a:pPr>
            <a:r>
              <a:rPr lang="es-EC" b="1" dirty="0"/>
              <a:t>Funciones con Parámetros</a:t>
            </a:r>
            <a:br>
              <a:rPr lang="es-EC" b="1" dirty="0"/>
            </a:br>
            <a:br>
              <a:rPr lang="es-EC" b="1" dirty="0"/>
            </a:br>
            <a:endParaRPr lang="en-US" b="1" dirty="0"/>
          </a:p>
        </p:txBody>
      </p:sp>
      <p:sp>
        <p:nvSpPr>
          <p:cNvPr id="10" name="CuadroTexto 9">
            <a:extLst>
              <a:ext uri="{FF2B5EF4-FFF2-40B4-BE49-F238E27FC236}">
                <a16:creationId xmlns:a16="http://schemas.microsoft.com/office/drawing/2014/main" id="{DC918A8C-867C-4951-8841-63B02994092C}"/>
              </a:ext>
            </a:extLst>
          </p:cNvPr>
          <p:cNvSpPr txBox="1"/>
          <p:nvPr/>
        </p:nvSpPr>
        <p:spPr>
          <a:xfrm>
            <a:off x="899592" y="1772816"/>
            <a:ext cx="7056784" cy="2308324"/>
          </a:xfrm>
          <a:prstGeom prst="rect">
            <a:avLst/>
          </a:prstGeom>
          <a:noFill/>
        </p:spPr>
        <p:txBody>
          <a:bodyPr wrap="square">
            <a:spAutoFit/>
          </a:bodyPr>
          <a:lstStyle/>
          <a:p>
            <a:pPr algn="just"/>
            <a:r>
              <a:rPr lang="es-MX" sz="1600" dirty="0">
                <a:solidFill>
                  <a:schemeClr val="tx1">
                    <a:lumMod val="50000"/>
                    <a:lumOff val="50000"/>
                  </a:schemeClr>
                </a:solidFill>
                <a:latin typeface="+mj-lt"/>
              </a:rPr>
              <a:t>Las funciones pueden tener un parámetro, donde el valor que se envía a la función se conoce como argumento, donde la función recibe una copia de la variable original, la cual solo puede ser utilizada, mas no modificada (Luna, F., 2004). En el programa 5.4, se muestra un ejemplo del manejo de funciones con un parámetro.</a:t>
            </a:r>
          </a:p>
          <a:p>
            <a:pPr algn="just"/>
            <a:endParaRPr lang="es-MX" sz="1600" dirty="0">
              <a:solidFill>
                <a:schemeClr val="tx1">
                  <a:lumMod val="50000"/>
                  <a:lumOff val="50000"/>
                </a:schemeClr>
              </a:solidFill>
              <a:latin typeface="+mj-lt"/>
            </a:endParaRPr>
          </a:p>
          <a:p>
            <a:pPr algn="just"/>
            <a:r>
              <a:rPr lang="es-MX" sz="1600" dirty="0">
                <a:solidFill>
                  <a:schemeClr val="tx1">
                    <a:lumMod val="50000"/>
                    <a:lumOff val="50000"/>
                  </a:schemeClr>
                </a:solidFill>
                <a:latin typeface="+mj-lt"/>
              </a:rPr>
              <a:t>Escribir un programa utilizando funciones que calcule la quinta potencia de tres números, ingresados desde el teclado en forma seguida, utilizando la declaración y la definición de una función.</a:t>
            </a:r>
            <a:endParaRPr lang="es-EC" sz="1600" dirty="0">
              <a:solidFill>
                <a:schemeClr val="tx1">
                  <a:lumMod val="50000"/>
                  <a:lumOff val="50000"/>
                </a:schemeClr>
              </a:solidFill>
              <a:latin typeface="+mj-lt"/>
            </a:endParaRPr>
          </a:p>
        </p:txBody>
      </p:sp>
      <p:sp>
        <p:nvSpPr>
          <p:cNvPr id="11" name="CuadroTexto 10">
            <a:extLst>
              <a:ext uri="{FF2B5EF4-FFF2-40B4-BE49-F238E27FC236}">
                <a16:creationId xmlns:a16="http://schemas.microsoft.com/office/drawing/2014/main" id="{94E4A617-D77E-4050-AF5E-313EC7C3FC31}"/>
              </a:ext>
            </a:extLst>
          </p:cNvPr>
          <p:cNvSpPr txBox="1"/>
          <p:nvPr/>
        </p:nvSpPr>
        <p:spPr>
          <a:xfrm>
            <a:off x="3059832" y="6085562"/>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Figura 5.3  </a:t>
            </a:r>
            <a:r>
              <a:rPr lang="es-ES" sz="1200" dirty="0">
                <a:solidFill>
                  <a:schemeClr val="tx1">
                    <a:lumMod val="50000"/>
                    <a:lumOff val="50000"/>
                  </a:schemeClr>
                </a:solidFill>
                <a:latin typeface="+mj-lt"/>
              </a:rPr>
              <a:t>Ejemplo de una función sin parámetros</a:t>
            </a:r>
            <a:r>
              <a:rPr lang="es-ES_tradnl" sz="1200" dirty="0">
                <a:solidFill>
                  <a:schemeClr val="tx1">
                    <a:lumMod val="50000"/>
                    <a:lumOff val="50000"/>
                  </a:schemeClr>
                </a:solidFill>
                <a:latin typeface="+mj-lt"/>
              </a:rPr>
              <a:t>: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19109338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9/12/2025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33</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594665" y="935417"/>
            <a:ext cx="8229600" cy="1340768"/>
          </a:xfrm>
        </p:spPr>
        <p:txBody>
          <a:bodyPr/>
          <a:lstStyle/>
          <a:p>
            <a:pPr>
              <a:lnSpc>
                <a:spcPts val="4000"/>
              </a:lnSpc>
            </a:pPr>
            <a:r>
              <a:rPr lang="es-EC" b="1" dirty="0"/>
              <a:t>Funciones con Parámetros</a:t>
            </a:r>
            <a:br>
              <a:rPr lang="es-EC" b="1" dirty="0"/>
            </a:br>
            <a:br>
              <a:rPr lang="es-EC" b="1" dirty="0"/>
            </a:br>
            <a:endParaRPr lang="en-US" b="1" dirty="0"/>
          </a:p>
        </p:txBody>
      </p:sp>
      <p:pic>
        <p:nvPicPr>
          <p:cNvPr id="4" name="Imagen 3">
            <a:extLst>
              <a:ext uri="{FF2B5EF4-FFF2-40B4-BE49-F238E27FC236}">
                <a16:creationId xmlns:a16="http://schemas.microsoft.com/office/drawing/2014/main" id="{5694B4A5-BCE9-474F-A4C5-1CCC8FAD83AF}"/>
              </a:ext>
            </a:extLst>
          </p:cNvPr>
          <p:cNvPicPr>
            <a:picLocks noChangeAspect="1"/>
          </p:cNvPicPr>
          <p:nvPr/>
        </p:nvPicPr>
        <p:blipFill>
          <a:blip r:embed="rId2"/>
          <a:stretch>
            <a:fillRect/>
          </a:stretch>
        </p:blipFill>
        <p:spPr>
          <a:xfrm>
            <a:off x="1979712" y="1340768"/>
            <a:ext cx="5259335" cy="4892063"/>
          </a:xfrm>
          <a:prstGeom prst="rect">
            <a:avLst/>
          </a:prstGeom>
        </p:spPr>
      </p:pic>
    </p:spTree>
    <p:extLst>
      <p:ext uri="{BB962C8B-B14F-4D97-AF65-F5344CB8AC3E}">
        <p14:creationId xmlns:p14="http://schemas.microsoft.com/office/powerpoint/2010/main" val="34527036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9/12/2025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34</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594665" y="935417"/>
            <a:ext cx="8229600" cy="1340768"/>
          </a:xfrm>
        </p:spPr>
        <p:txBody>
          <a:bodyPr/>
          <a:lstStyle/>
          <a:p>
            <a:pPr>
              <a:lnSpc>
                <a:spcPts val="4000"/>
              </a:lnSpc>
            </a:pPr>
            <a:r>
              <a:rPr lang="es-EC" b="1" dirty="0"/>
              <a:t>Funciones con Parámetros</a:t>
            </a:r>
            <a:br>
              <a:rPr lang="es-EC" b="1" dirty="0"/>
            </a:br>
            <a:br>
              <a:rPr lang="es-EC" b="1" dirty="0"/>
            </a:br>
            <a:endParaRPr lang="en-US" b="1" dirty="0"/>
          </a:p>
        </p:txBody>
      </p:sp>
      <p:pic>
        <p:nvPicPr>
          <p:cNvPr id="5" name="Imagen 4">
            <a:extLst>
              <a:ext uri="{FF2B5EF4-FFF2-40B4-BE49-F238E27FC236}">
                <a16:creationId xmlns:a16="http://schemas.microsoft.com/office/drawing/2014/main" id="{EA785758-38B9-44C2-A364-5D27F26C6E21}"/>
              </a:ext>
            </a:extLst>
          </p:cNvPr>
          <p:cNvPicPr>
            <a:picLocks noChangeAspect="1"/>
          </p:cNvPicPr>
          <p:nvPr/>
        </p:nvPicPr>
        <p:blipFill rotWithShape="1">
          <a:blip r:embed="rId2"/>
          <a:srcRect b="602"/>
          <a:stretch/>
        </p:blipFill>
        <p:spPr>
          <a:xfrm>
            <a:off x="1527671" y="1138375"/>
            <a:ext cx="6363588" cy="3096344"/>
          </a:xfrm>
          <a:prstGeom prst="rect">
            <a:avLst/>
          </a:prstGeom>
        </p:spPr>
      </p:pic>
      <p:pic>
        <p:nvPicPr>
          <p:cNvPr id="8" name="Imagen 7">
            <a:extLst>
              <a:ext uri="{FF2B5EF4-FFF2-40B4-BE49-F238E27FC236}">
                <a16:creationId xmlns:a16="http://schemas.microsoft.com/office/drawing/2014/main" id="{09944B0D-7DFE-41C4-89C4-785A3CB4FAC4}"/>
              </a:ext>
            </a:extLst>
          </p:cNvPr>
          <p:cNvPicPr>
            <a:picLocks noChangeAspect="1"/>
          </p:cNvPicPr>
          <p:nvPr/>
        </p:nvPicPr>
        <p:blipFill>
          <a:blip r:embed="rId3"/>
          <a:stretch>
            <a:fillRect/>
          </a:stretch>
        </p:blipFill>
        <p:spPr>
          <a:xfrm>
            <a:off x="1624378" y="4687128"/>
            <a:ext cx="4621954" cy="1467055"/>
          </a:xfrm>
          <a:prstGeom prst="rect">
            <a:avLst/>
          </a:prstGeom>
        </p:spPr>
      </p:pic>
      <p:sp>
        <p:nvSpPr>
          <p:cNvPr id="10" name="CuadroTexto 9">
            <a:extLst>
              <a:ext uri="{FF2B5EF4-FFF2-40B4-BE49-F238E27FC236}">
                <a16:creationId xmlns:a16="http://schemas.microsoft.com/office/drawing/2014/main" id="{27F34474-9352-43F0-9E92-70E48B2813EA}"/>
              </a:ext>
            </a:extLst>
          </p:cNvPr>
          <p:cNvSpPr txBox="1"/>
          <p:nvPr/>
        </p:nvSpPr>
        <p:spPr>
          <a:xfrm>
            <a:off x="1766970" y="4195649"/>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5.4</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
        <p:nvSpPr>
          <p:cNvPr id="11" name="CuadroTexto 10">
            <a:extLst>
              <a:ext uri="{FF2B5EF4-FFF2-40B4-BE49-F238E27FC236}">
                <a16:creationId xmlns:a16="http://schemas.microsoft.com/office/drawing/2014/main" id="{877FF1F1-81D9-488D-AB23-863CBE7019C0}"/>
              </a:ext>
            </a:extLst>
          </p:cNvPr>
          <p:cNvSpPr txBox="1"/>
          <p:nvPr/>
        </p:nvSpPr>
        <p:spPr>
          <a:xfrm>
            <a:off x="1766969" y="6283426"/>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Salida 5.4</a:t>
            </a:r>
            <a:r>
              <a:rPr lang="es-ES" sz="1200" dirty="0">
                <a:solidFill>
                  <a:schemeClr val="tx1">
                    <a:lumMod val="50000"/>
                    <a:lumOff val="50000"/>
                  </a:schemeClr>
                </a:solidFill>
                <a:latin typeface="+mj-lt"/>
              </a:rPr>
              <a:t>. Salida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5217445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9/12/2025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35</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594665" y="935417"/>
            <a:ext cx="8229600" cy="1340768"/>
          </a:xfrm>
        </p:spPr>
        <p:txBody>
          <a:bodyPr/>
          <a:lstStyle/>
          <a:p>
            <a:pPr>
              <a:lnSpc>
                <a:spcPts val="4000"/>
              </a:lnSpc>
            </a:pPr>
            <a:r>
              <a:rPr lang="es-EC" b="1" dirty="0"/>
              <a:t>Funciones con Parámetros</a:t>
            </a:r>
            <a:br>
              <a:rPr lang="es-EC" b="1" dirty="0"/>
            </a:br>
            <a:br>
              <a:rPr lang="es-EC" b="1" dirty="0"/>
            </a:br>
            <a:endParaRPr lang="en-US" b="1" dirty="0"/>
          </a:p>
        </p:txBody>
      </p:sp>
      <p:sp>
        <p:nvSpPr>
          <p:cNvPr id="10" name="CuadroTexto 9">
            <a:extLst>
              <a:ext uri="{FF2B5EF4-FFF2-40B4-BE49-F238E27FC236}">
                <a16:creationId xmlns:a16="http://schemas.microsoft.com/office/drawing/2014/main" id="{DC918A8C-867C-4951-8841-63B02994092C}"/>
              </a:ext>
            </a:extLst>
          </p:cNvPr>
          <p:cNvSpPr txBox="1"/>
          <p:nvPr/>
        </p:nvSpPr>
        <p:spPr>
          <a:xfrm>
            <a:off x="899591" y="1772816"/>
            <a:ext cx="7212989" cy="3046988"/>
          </a:xfrm>
          <a:prstGeom prst="rect">
            <a:avLst/>
          </a:prstGeom>
          <a:noFill/>
        </p:spPr>
        <p:txBody>
          <a:bodyPr wrap="square">
            <a:spAutoFit/>
          </a:bodyPr>
          <a:lstStyle/>
          <a:p>
            <a:pPr algn="just"/>
            <a:r>
              <a:rPr lang="es-MX" sz="1600" dirty="0">
                <a:solidFill>
                  <a:schemeClr val="tx1">
                    <a:lumMod val="50000"/>
                    <a:lumOff val="50000"/>
                  </a:schemeClr>
                </a:solidFill>
                <a:latin typeface="+mj-lt"/>
              </a:rPr>
              <a:t>La Figura 5.4 muestra un ejemplo de cómo trabaja la función </a:t>
            </a:r>
            <a:r>
              <a:rPr lang="es-MX" sz="1600" dirty="0" err="1">
                <a:solidFill>
                  <a:schemeClr val="tx1">
                    <a:lumMod val="50000"/>
                    <a:lumOff val="50000"/>
                  </a:schemeClr>
                </a:solidFill>
                <a:latin typeface="+mj-lt"/>
              </a:rPr>
              <a:t>QuintaPotenciaDeUnNumero</a:t>
            </a:r>
            <a:r>
              <a:rPr lang="es-MX" sz="1600" dirty="0">
                <a:solidFill>
                  <a:schemeClr val="tx1">
                    <a:lumMod val="50000"/>
                    <a:lumOff val="50000"/>
                  </a:schemeClr>
                </a:solidFill>
                <a:latin typeface="+mj-lt"/>
              </a:rPr>
              <a:t>(), luego de ser declarada y definida. La llamada a la función </a:t>
            </a:r>
            <a:r>
              <a:rPr lang="es-MX" sz="1600" dirty="0" err="1">
                <a:solidFill>
                  <a:schemeClr val="tx1">
                    <a:lumMod val="50000"/>
                    <a:lumOff val="50000"/>
                  </a:schemeClr>
                </a:solidFill>
                <a:latin typeface="+mj-lt"/>
              </a:rPr>
              <a:t>QuintaPotenciaDeUnNumero</a:t>
            </a:r>
            <a:r>
              <a:rPr lang="es-MX" sz="1600" dirty="0">
                <a:solidFill>
                  <a:schemeClr val="tx1">
                    <a:lumMod val="50000"/>
                    <a:lumOff val="50000"/>
                  </a:schemeClr>
                </a:solidFill>
                <a:latin typeface="+mj-lt"/>
              </a:rPr>
              <a:t>() envía un argumento a un parámetro de la función, la misma que hace el cálculo de la quinta potencia de un número y retorna ese valor calculado a la llamada de la función. Se puede pensar que una función es una máquina separada donde se alimenta de datos de entrada (se copian los argumentos dentro de los parámetros), luego hace algo con esos parámetros (cuerpo de la función) y a la salida se obtiene un resultado (retorna algo a la llamada de la función). Las funciones permiten a los programas organizar el código en partes más manejables, donde cada parte ejecuta una tarea específica.</a:t>
            </a:r>
            <a:endParaRPr lang="es-EC" sz="1600" dirty="0">
              <a:solidFill>
                <a:schemeClr val="tx1">
                  <a:lumMod val="50000"/>
                  <a:lumOff val="50000"/>
                </a:schemeClr>
              </a:solidFill>
              <a:latin typeface="+mj-lt"/>
            </a:endParaRPr>
          </a:p>
        </p:txBody>
      </p:sp>
      <p:sp>
        <p:nvSpPr>
          <p:cNvPr id="11" name="CuadroTexto 10">
            <a:extLst>
              <a:ext uri="{FF2B5EF4-FFF2-40B4-BE49-F238E27FC236}">
                <a16:creationId xmlns:a16="http://schemas.microsoft.com/office/drawing/2014/main" id="{94E4A617-D77E-4050-AF5E-313EC7C3FC31}"/>
              </a:ext>
            </a:extLst>
          </p:cNvPr>
          <p:cNvSpPr txBox="1"/>
          <p:nvPr/>
        </p:nvSpPr>
        <p:spPr>
          <a:xfrm>
            <a:off x="3059832" y="6085562"/>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Figura 5.3  </a:t>
            </a:r>
            <a:r>
              <a:rPr lang="es-ES" sz="1200" dirty="0">
                <a:solidFill>
                  <a:schemeClr val="tx1">
                    <a:lumMod val="50000"/>
                    <a:lumOff val="50000"/>
                  </a:schemeClr>
                </a:solidFill>
                <a:latin typeface="+mj-lt"/>
              </a:rPr>
              <a:t>Ejemplo de una función sin parámetros</a:t>
            </a:r>
            <a:r>
              <a:rPr lang="es-ES_tradnl" sz="1200" dirty="0">
                <a:solidFill>
                  <a:schemeClr val="tx1">
                    <a:lumMod val="50000"/>
                    <a:lumOff val="50000"/>
                  </a:schemeClr>
                </a:solidFill>
                <a:latin typeface="+mj-lt"/>
              </a:rPr>
              <a:t>: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0356838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9/12/2025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36</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594665" y="935417"/>
            <a:ext cx="8229600" cy="1340768"/>
          </a:xfrm>
        </p:spPr>
        <p:txBody>
          <a:bodyPr/>
          <a:lstStyle/>
          <a:p>
            <a:pPr>
              <a:lnSpc>
                <a:spcPts val="4000"/>
              </a:lnSpc>
            </a:pPr>
            <a:r>
              <a:rPr lang="es-EC" b="1" dirty="0"/>
              <a:t>Funciones con Parámetros</a:t>
            </a:r>
            <a:br>
              <a:rPr lang="es-EC" b="1" dirty="0"/>
            </a:br>
            <a:br>
              <a:rPr lang="es-EC" b="1" dirty="0"/>
            </a:br>
            <a:endParaRPr lang="en-US" b="1" dirty="0"/>
          </a:p>
        </p:txBody>
      </p:sp>
      <p:sp>
        <p:nvSpPr>
          <p:cNvPr id="11" name="CuadroTexto 10">
            <a:extLst>
              <a:ext uri="{FF2B5EF4-FFF2-40B4-BE49-F238E27FC236}">
                <a16:creationId xmlns:a16="http://schemas.microsoft.com/office/drawing/2014/main" id="{94E4A617-D77E-4050-AF5E-313EC7C3FC31}"/>
              </a:ext>
            </a:extLst>
          </p:cNvPr>
          <p:cNvSpPr txBox="1"/>
          <p:nvPr/>
        </p:nvSpPr>
        <p:spPr>
          <a:xfrm>
            <a:off x="1763688" y="5710019"/>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Figura 5.4  </a:t>
            </a:r>
            <a:r>
              <a:rPr lang="es-MX" sz="1200" dirty="0">
                <a:solidFill>
                  <a:schemeClr val="tx1">
                    <a:lumMod val="50000"/>
                    <a:lumOff val="50000"/>
                  </a:schemeClr>
                </a:solidFill>
                <a:latin typeface="+mj-lt"/>
              </a:rPr>
              <a:t>Llamadas a las funciones con parámetros y retorno de resultados. </a:t>
            </a:r>
            <a:r>
              <a:rPr lang="es-ES_tradnl" sz="1200" dirty="0">
                <a:solidFill>
                  <a:schemeClr val="tx1">
                    <a:lumMod val="50000"/>
                    <a:lumOff val="50000"/>
                  </a:schemeClr>
                </a:solidFill>
                <a:latin typeface="+mj-lt"/>
              </a:rPr>
              <a:t>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pic>
        <p:nvPicPr>
          <p:cNvPr id="4" name="Imagen 3">
            <a:extLst>
              <a:ext uri="{FF2B5EF4-FFF2-40B4-BE49-F238E27FC236}">
                <a16:creationId xmlns:a16="http://schemas.microsoft.com/office/drawing/2014/main" id="{4291B237-0A33-4E1C-BA2F-AA480A380ED5}"/>
              </a:ext>
            </a:extLst>
          </p:cNvPr>
          <p:cNvPicPr>
            <a:picLocks noChangeAspect="1"/>
          </p:cNvPicPr>
          <p:nvPr/>
        </p:nvPicPr>
        <p:blipFill>
          <a:blip r:embed="rId2"/>
          <a:stretch>
            <a:fillRect/>
          </a:stretch>
        </p:blipFill>
        <p:spPr>
          <a:xfrm>
            <a:off x="1339349" y="1412776"/>
            <a:ext cx="6465301" cy="4180571"/>
          </a:xfrm>
          <a:prstGeom prst="rect">
            <a:avLst/>
          </a:prstGeom>
        </p:spPr>
      </p:pic>
    </p:spTree>
    <p:extLst>
      <p:ext uri="{BB962C8B-B14F-4D97-AF65-F5344CB8AC3E}">
        <p14:creationId xmlns:p14="http://schemas.microsoft.com/office/powerpoint/2010/main" val="14399922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EC" b="1" dirty="0">
                <a:solidFill>
                  <a:schemeClr val="bg1">
                    <a:lumMod val="50000"/>
                  </a:schemeClr>
                </a:solidFill>
              </a:rPr>
              <a:t>Introducción</a:t>
            </a:r>
            <a:endParaRPr lang="en-US" b="1" dirty="0">
              <a:solidFill>
                <a:schemeClr val="bg1">
                  <a:lumMod val="50000"/>
                </a:schemeClr>
              </a:solidFill>
            </a:endParaRPr>
          </a:p>
          <a:p>
            <a:r>
              <a:rPr lang="es-EC" b="1" dirty="0">
                <a:solidFill>
                  <a:schemeClr val="bg1">
                    <a:lumMod val="50000"/>
                  </a:schemeClr>
                </a:solidFill>
              </a:rPr>
              <a:t>Objetivos</a:t>
            </a:r>
          </a:p>
          <a:p>
            <a:r>
              <a:rPr lang="es-ES" b="1" dirty="0">
                <a:solidFill>
                  <a:schemeClr val="bg1">
                    <a:lumMod val="50000"/>
                  </a:schemeClr>
                </a:solidFill>
              </a:rPr>
              <a:t>Función </a:t>
            </a:r>
            <a:endParaRPr lang="es-EC" b="1" dirty="0">
              <a:solidFill>
                <a:schemeClr val="bg1">
                  <a:lumMod val="50000"/>
                </a:schemeClr>
              </a:solidFill>
            </a:endParaRPr>
          </a:p>
          <a:p>
            <a:r>
              <a:rPr lang="es-EC" b="1" dirty="0">
                <a:solidFill>
                  <a:schemeClr val="bg1">
                    <a:lumMod val="50000"/>
                  </a:schemeClr>
                </a:solidFill>
              </a:rPr>
              <a:t>Problema 5.1</a:t>
            </a:r>
          </a:p>
          <a:p>
            <a:r>
              <a:rPr lang="es-EC" b="1" dirty="0">
                <a:solidFill>
                  <a:schemeClr val="bg1">
                    <a:lumMod val="50000"/>
                  </a:schemeClr>
                </a:solidFill>
              </a:rPr>
              <a:t>Estructura de una Función</a:t>
            </a:r>
          </a:p>
          <a:p>
            <a:r>
              <a:rPr lang="es-EC" b="1" dirty="0">
                <a:solidFill>
                  <a:schemeClr val="bg1">
                    <a:lumMod val="50000"/>
                  </a:schemeClr>
                </a:solidFill>
              </a:rPr>
              <a:t>Implementación de una Función</a:t>
            </a:r>
          </a:p>
          <a:p>
            <a:r>
              <a:rPr lang="es-EC" b="1" dirty="0">
                <a:solidFill>
                  <a:schemeClr val="bg1">
                    <a:lumMod val="50000"/>
                  </a:schemeClr>
                </a:solidFill>
              </a:rPr>
              <a:t>Problema 5.2</a:t>
            </a:r>
          </a:p>
          <a:p>
            <a:r>
              <a:rPr lang="es-MX" b="1" dirty="0">
                <a:solidFill>
                  <a:schemeClr val="bg1">
                    <a:lumMod val="50000"/>
                  </a:schemeClr>
                </a:solidFill>
              </a:rPr>
              <a:t>Problemas que Resuelven las Funciones </a:t>
            </a:r>
            <a:endParaRPr lang="es-EC" b="1" dirty="0">
              <a:solidFill>
                <a:schemeClr val="bg1">
                  <a:lumMod val="50000"/>
                </a:schemeClr>
              </a:solidFill>
            </a:endParaRPr>
          </a:p>
          <a:p>
            <a:r>
              <a:rPr lang="es-EC" b="1" dirty="0">
                <a:solidFill>
                  <a:schemeClr val="bg1">
                    <a:lumMod val="50000"/>
                  </a:schemeClr>
                </a:solidFill>
              </a:rPr>
              <a:t>Uso de Funciones </a:t>
            </a:r>
          </a:p>
          <a:p>
            <a:r>
              <a:rPr lang="es-MX" b="1" dirty="0">
                <a:solidFill>
                  <a:schemeClr val="bg1">
                    <a:lumMod val="50000"/>
                  </a:schemeClr>
                </a:solidFill>
              </a:rPr>
              <a:t>Paso de Parámetros por Valor</a:t>
            </a:r>
            <a:endParaRPr lang="es-EC" b="1" dirty="0">
              <a:solidFill>
                <a:schemeClr val="bg1">
                  <a:lumMod val="50000"/>
                </a:schemeClr>
              </a:solidFill>
            </a:endParaRPr>
          </a:p>
          <a:p>
            <a:r>
              <a:rPr lang="es-EC" b="1" dirty="0">
                <a:solidFill>
                  <a:schemeClr val="bg1">
                    <a:lumMod val="50000"/>
                  </a:schemeClr>
                </a:solidFill>
              </a:rPr>
              <a:t>Funciones sin Parámetros</a:t>
            </a:r>
          </a:p>
          <a:p>
            <a:r>
              <a:rPr lang="es-EC" b="1" dirty="0">
                <a:solidFill>
                  <a:schemeClr val="bg1">
                    <a:lumMod val="50000"/>
                  </a:schemeClr>
                </a:solidFill>
              </a:rPr>
              <a:t>Funciones con un Parámetro</a:t>
            </a:r>
          </a:p>
          <a:p>
            <a:r>
              <a:rPr lang="es-EC" b="1" dirty="0">
                <a:solidFill>
                  <a:srgbClr val="FF0000"/>
                </a:solidFill>
              </a:rPr>
              <a:t>Funciones con Varios Parámetros</a:t>
            </a:r>
          </a:p>
          <a:p>
            <a:r>
              <a:rPr lang="es-MX" b="1" dirty="0">
                <a:solidFill>
                  <a:schemeClr val="bg1">
                    <a:lumMod val="50000"/>
                  </a:schemeClr>
                </a:solidFill>
              </a:rPr>
              <a:t>Funciones de la Librería de Números Aleatorios</a:t>
            </a:r>
          </a:p>
          <a:p>
            <a:r>
              <a:rPr lang="es-MX" b="1" dirty="0">
                <a:solidFill>
                  <a:schemeClr val="bg1">
                    <a:lumMod val="50000"/>
                  </a:schemeClr>
                </a:solidFill>
              </a:rPr>
              <a:t>Especificación del Rango de un Número Aleatorio </a:t>
            </a:r>
          </a:p>
          <a:p>
            <a:r>
              <a:rPr lang="es-EC" b="1" dirty="0">
                <a:solidFill>
                  <a:schemeClr val="bg1">
                    <a:lumMod val="50000"/>
                  </a:schemeClr>
                </a:solidFill>
              </a:rPr>
              <a:t>Sobrecarga de Funciones</a:t>
            </a:r>
          </a:p>
        </p:txBody>
      </p:sp>
      <p:sp>
        <p:nvSpPr>
          <p:cNvPr id="5" name="4 Marcador de fecha"/>
          <p:cNvSpPr>
            <a:spLocks noGrp="1"/>
          </p:cNvSpPr>
          <p:nvPr>
            <p:ph type="dt" sz="half" idx="10"/>
          </p:nvPr>
        </p:nvSpPr>
        <p:spPr/>
        <p:txBody>
          <a:bodyPr/>
          <a:lstStyle/>
          <a:p>
            <a:fld id="{85E4E129-A937-4BEE-8A17-D7969DFE55C2}" type="datetime1">
              <a:rPr lang="es-EC" smtClean="0"/>
              <a:t>9/12/2025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37</a:t>
            </a:fld>
            <a:endParaRPr lang="es-EC"/>
          </a:p>
        </p:txBody>
      </p:sp>
    </p:spTree>
    <p:extLst>
      <p:ext uri="{BB962C8B-B14F-4D97-AF65-F5344CB8AC3E}">
        <p14:creationId xmlns:p14="http://schemas.microsoft.com/office/powerpoint/2010/main" val="6199895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9/12/2025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38</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594665" y="935417"/>
            <a:ext cx="8229600" cy="1340768"/>
          </a:xfrm>
        </p:spPr>
        <p:txBody>
          <a:bodyPr/>
          <a:lstStyle/>
          <a:p>
            <a:pPr>
              <a:lnSpc>
                <a:spcPts val="4000"/>
              </a:lnSpc>
            </a:pPr>
            <a:r>
              <a:rPr lang="es-EC" b="1" dirty="0"/>
              <a:t>Funciones con varios Parámetros</a:t>
            </a:r>
            <a:br>
              <a:rPr lang="es-EC" b="1" dirty="0"/>
            </a:br>
            <a:br>
              <a:rPr lang="es-EC" b="1" dirty="0"/>
            </a:br>
            <a:endParaRPr lang="en-US" b="1" dirty="0"/>
          </a:p>
        </p:txBody>
      </p:sp>
      <p:sp>
        <p:nvSpPr>
          <p:cNvPr id="10" name="CuadroTexto 9">
            <a:extLst>
              <a:ext uri="{FF2B5EF4-FFF2-40B4-BE49-F238E27FC236}">
                <a16:creationId xmlns:a16="http://schemas.microsoft.com/office/drawing/2014/main" id="{DC918A8C-867C-4951-8841-63B02994092C}"/>
              </a:ext>
            </a:extLst>
          </p:cNvPr>
          <p:cNvSpPr txBox="1"/>
          <p:nvPr/>
        </p:nvSpPr>
        <p:spPr>
          <a:xfrm>
            <a:off x="899591" y="1772816"/>
            <a:ext cx="7924674" cy="2308324"/>
          </a:xfrm>
          <a:prstGeom prst="rect">
            <a:avLst/>
          </a:prstGeom>
          <a:noFill/>
        </p:spPr>
        <p:txBody>
          <a:bodyPr wrap="square">
            <a:spAutoFit/>
          </a:bodyPr>
          <a:lstStyle/>
          <a:p>
            <a:pPr algn="just"/>
            <a:r>
              <a:rPr lang="es-MX" sz="1600" dirty="0">
                <a:solidFill>
                  <a:schemeClr val="tx1">
                    <a:lumMod val="50000"/>
                    <a:lumOff val="50000"/>
                  </a:schemeClr>
                </a:solidFill>
                <a:latin typeface="+mj-lt"/>
              </a:rPr>
              <a:t>Las funciones pueden tener varios parámetros, ya que no están limitadas a tener cero parámetros o un solo parámetro (Luna, F., 2004). En el programa 3.5, se muestra un ejemplo del manejo de funciones con varios parámetros</a:t>
            </a:r>
            <a:r>
              <a:rPr lang="es-MX" sz="1600" dirty="0"/>
              <a:t>. </a:t>
            </a:r>
          </a:p>
          <a:p>
            <a:pPr algn="just"/>
            <a:endParaRPr lang="es-MX" sz="1600" dirty="0">
              <a:solidFill>
                <a:schemeClr val="tx1">
                  <a:lumMod val="50000"/>
                  <a:lumOff val="50000"/>
                </a:schemeClr>
              </a:solidFill>
              <a:latin typeface="+mj-lt"/>
            </a:endParaRPr>
          </a:p>
          <a:p>
            <a:pPr algn="just"/>
            <a:r>
              <a:rPr lang="es-MX" sz="1600" dirty="0">
                <a:solidFill>
                  <a:schemeClr val="tx1">
                    <a:lumMod val="50000"/>
                    <a:lumOff val="50000"/>
                  </a:schemeClr>
                </a:solidFill>
                <a:latin typeface="+mj-lt"/>
              </a:rPr>
              <a:t>Problema 5.5: Escribir un programa utilizando funciones que lea e imprima los valores de tres vectores en el espacio, donde cada vector se compone de tres componentes (x, y, z)</a:t>
            </a:r>
          </a:p>
          <a:p>
            <a:pPr algn="just"/>
            <a:endParaRPr lang="es-MX" sz="1600" dirty="0">
              <a:solidFill>
                <a:schemeClr val="tx1">
                  <a:lumMod val="50000"/>
                  <a:lumOff val="50000"/>
                </a:schemeClr>
              </a:solidFill>
              <a:latin typeface="+mj-lt"/>
            </a:endParaRPr>
          </a:p>
          <a:p>
            <a:pPr algn="just"/>
            <a:endParaRPr lang="es-EC" sz="1600" dirty="0">
              <a:solidFill>
                <a:schemeClr val="tx1">
                  <a:lumMod val="50000"/>
                  <a:lumOff val="50000"/>
                </a:schemeClr>
              </a:solidFill>
              <a:latin typeface="+mj-lt"/>
            </a:endParaRPr>
          </a:p>
        </p:txBody>
      </p:sp>
      <p:pic>
        <p:nvPicPr>
          <p:cNvPr id="4" name="Imagen 3">
            <a:extLst>
              <a:ext uri="{FF2B5EF4-FFF2-40B4-BE49-F238E27FC236}">
                <a16:creationId xmlns:a16="http://schemas.microsoft.com/office/drawing/2014/main" id="{F661FB8E-CB74-48C5-BA87-7D3F297DC9DC}"/>
              </a:ext>
            </a:extLst>
          </p:cNvPr>
          <p:cNvPicPr>
            <a:picLocks noChangeAspect="1"/>
          </p:cNvPicPr>
          <p:nvPr/>
        </p:nvPicPr>
        <p:blipFill>
          <a:blip r:embed="rId2"/>
          <a:stretch>
            <a:fillRect/>
          </a:stretch>
        </p:blipFill>
        <p:spPr>
          <a:xfrm>
            <a:off x="1908724" y="3770944"/>
            <a:ext cx="5601482" cy="2867425"/>
          </a:xfrm>
          <a:prstGeom prst="rect">
            <a:avLst/>
          </a:prstGeom>
        </p:spPr>
      </p:pic>
    </p:spTree>
    <p:extLst>
      <p:ext uri="{BB962C8B-B14F-4D97-AF65-F5344CB8AC3E}">
        <p14:creationId xmlns:p14="http://schemas.microsoft.com/office/powerpoint/2010/main" val="35239065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9/12/2025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39</a:t>
            </a:fld>
            <a:endParaRPr lang="es-EC"/>
          </a:p>
        </p:txBody>
      </p:sp>
      <p:pic>
        <p:nvPicPr>
          <p:cNvPr id="11" name="Imagen 10">
            <a:extLst>
              <a:ext uri="{FF2B5EF4-FFF2-40B4-BE49-F238E27FC236}">
                <a16:creationId xmlns:a16="http://schemas.microsoft.com/office/drawing/2014/main" id="{06AE145C-35A2-4FF2-9FF0-6819E0F48287}"/>
              </a:ext>
            </a:extLst>
          </p:cNvPr>
          <p:cNvPicPr>
            <a:picLocks noChangeAspect="1"/>
          </p:cNvPicPr>
          <p:nvPr/>
        </p:nvPicPr>
        <p:blipFill>
          <a:blip r:embed="rId2"/>
          <a:stretch>
            <a:fillRect/>
          </a:stretch>
        </p:blipFill>
        <p:spPr>
          <a:xfrm>
            <a:off x="0" y="0"/>
            <a:ext cx="3962953" cy="4363059"/>
          </a:xfrm>
          <a:prstGeom prst="rect">
            <a:avLst/>
          </a:prstGeom>
        </p:spPr>
      </p:pic>
      <p:pic>
        <p:nvPicPr>
          <p:cNvPr id="14" name="Imagen 13">
            <a:extLst>
              <a:ext uri="{FF2B5EF4-FFF2-40B4-BE49-F238E27FC236}">
                <a16:creationId xmlns:a16="http://schemas.microsoft.com/office/drawing/2014/main" id="{D53366A8-9244-4A2C-8DC2-30AF46FD866B}"/>
              </a:ext>
            </a:extLst>
          </p:cNvPr>
          <p:cNvPicPr>
            <a:picLocks noChangeAspect="1"/>
          </p:cNvPicPr>
          <p:nvPr/>
        </p:nvPicPr>
        <p:blipFill>
          <a:blip r:embed="rId3"/>
          <a:stretch>
            <a:fillRect/>
          </a:stretch>
        </p:blipFill>
        <p:spPr>
          <a:xfrm>
            <a:off x="4558457" y="1772816"/>
            <a:ext cx="4248743" cy="3543795"/>
          </a:xfrm>
          <a:prstGeom prst="rect">
            <a:avLst/>
          </a:prstGeom>
        </p:spPr>
      </p:pic>
      <p:sp>
        <p:nvSpPr>
          <p:cNvPr id="15" name="CuadroTexto 14">
            <a:extLst>
              <a:ext uri="{FF2B5EF4-FFF2-40B4-BE49-F238E27FC236}">
                <a16:creationId xmlns:a16="http://schemas.microsoft.com/office/drawing/2014/main" id="{DD4237ED-2EA7-4CFF-A69C-2E19BDE885C5}"/>
              </a:ext>
            </a:extLst>
          </p:cNvPr>
          <p:cNvSpPr txBox="1"/>
          <p:nvPr/>
        </p:nvSpPr>
        <p:spPr>
          <a:xfrm>
            <a:off x="4486369" y="5513315"/>
            <a:ext cx="3962953"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5.5</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7566751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9/12/2025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40</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594665" y="935417"/>
            <a:ext cx="8229600" cy="1340768"/>
          </a:xfrm>
        </p:spPr>
        <p:txBody>
          <a:bodyPr/>
          <a:lstStyle/>
          <a:p>
            <a:pPr>
              <a:lnSpc>
                <a:spcPts val="4000"/>
              </a:lnSpc>
            </a:pPr>
            <a:r>
              <a:rPr lang="es-EC" b="1" dirty="0"/>
              <a:t>Funciones con varios Parámetros</a:t>
            </a:r>
            <a:br>
              <a:rPr lang="es-EC" b="1" dirty="0"/>
            </a:br>
            <a:br>
              <a:rPr lang="es-EC" b="1" dirty="0"/>
            </a:br>
            <a:endParaRPr lang="en-US" b="1" dirty="0"/>
          </a:p>
        </p:txBody>
      </p:sp>
      <p:pic>
        <p:nvPicPr>
          <p:cNvPr id="8" name="Imagen 7">
            <a:extLst>
              <a:ext uri="{FF2B5EF4-FFF2-40B4-BE49-F238E27FC236}">
                <a16:creationId xmlns:a16="http://schemas.microsoft.com/office/drawing/2014/main" id="{DC1E5B82-F8E2-4282-8482-0275C9A72D83}"/>
              </a:ext>
            </a:extLst>
          </p:cNvPr>
          <p:cNvPicPr>
            <a:picLocks noChangeAspect="1"/>
          </p:cNvPicPr>
          <p:nvPr/>
        </p:nvPicPr>
        <p:blipFill>
          <a:blip r:embed="rId2"/>
          <a:stretch>
            <a:fillRect/>
          </a:stretch>
        </p:blipFill>
        <p:spPr>
          <a:xfrm>
            <a:off x="3203848" y="1367631"/>
            <a:ext cx="3543795" cy="4542376"/>
          </a:xfrm>
          <a:prstGeom prst="rect">
            <a:avLst/>
          </a:prstGeom>
        </p:spPr>
      </p:pic>
      <p:sp>
        <p:nvSpPr>
          <p:cNvPr id="11" name="CuadroTexto 10">
            <a:extLst>
              <a:ext uri="{FF2B5EF4-FFF2-40B4-BE49-F238E27FC236}">
                <a16:creationId xmlns:a16="http://schemas.microsoft.com/office/drawing/2014/main" id="{0C0E7D0B-9435-4EA8-ABB7-E21D70666EFF}"/>
              </a:ext>
            </a:extLst>
          </p:cNvPr>
          <p:cNvSpPr txBox="1"/>
          <p:nvPr/>
        </p:nvSpPr>
        <p:spPr>
          <a:xfrm>
            <a:off x="2183090" y="6019055"/>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Salida 5.5</a:t>
            </a:r>
            <a:r>
              <a:rPr lang="es-ES" sz="1200" dirty="0">
                <a:solidFill>
                  <a:schemeClr val="tx1">
                    <a:lumMod val="50000"/>
                    <a:lumOff val="50000"/>
                  </a:schemeClr>
                </a:solidFill>
                <a:latin typeface="+mj-lt"/>
              </a:rPr>
              <a:t>. Salida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18108679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EC" b="1" dirty="0">
                <a:solidFill>
                  <a:schemeClr val="bg1">
                    <a:lumMod val="50000"/>
                  </a:schemeClr>
                </a:solidFill>
              </a:rPr>
              <a:t>Introducción</a:t>
            </a:r>
            <a:endParaRPr lang="en-US" b="1" dirty="0">
              <a:solidFill>
                <a:schemeClr val="bg1">
                  <a:lumMod val="50000"/>
                </a:schemeClr>
              </a:solidFill>
            </a:endParaRPr>
          </a:p>
          <a:p>
            <a:r>
              <a:rPr lang="es-EC" b="1" dirty="0">
                <a:solidFill>
                  <a:schemeClr val="bg1">
                    <a:lumMod val="50000"/>
                  </a:schemeClr>
                </a:solidFill>
              </a:rPr>
              <a:t>Objetivos</a:t>
            </a:r>
          </a:p>
          <a:p>
            <a:r>
              <a:rPr lang="es-ES" b="1" dirty="0">
                <a:solidFill>
                  <a:schemeClr val="bg1">
                    <a:lumMod val="50000"/>
                  </a:schemeClr>
                </a:solidFill>
              </a:rPr>
              <a:t>Función </a:t>
            </a:r>
            <a:endParaRPr lang="es-EC" b="1" dirty="0">
              <a:solidFill>
                <a:schemeClr val="bg1">
                  <a:lumMod val="50000"/>
                </a:schemeClr>
              </a:solidFill>
            </a:endParaRPr>
          </a:p>
          <a:p>
            <a:r>
              <a:rPr lang="es-EC" b="1" dirty="0">
                <a:solidFill>
                  <a:schemeClr val="bg1">
                    <a:lumMod val="50000"/>
                  </a:schemeClr>
                </a:solidFill>
              </a:rPr>
              <a:t>Problema 5.1</a:t>
            </a:r>
          </a:p>
          <a:p>
            <a:r>
              <a:rPr lang="es-EC" b="1" dirty="0">
                <a:solidFill>
                  <a:schemeClr val="bg1">
                    <a:lumMod val="50000"/>
                  </a:schemeClr>
                </a:solidFill>
              </a:rPr>
              <a:t>Estructura de una Función</a:t>
            </a:r>
          </a:p>
          <a:p>
            <a:r>
              <a:rPr lang="es-EC" b="1" dirty="0">
                <a:solidFill>
                  <a:schemeClr val="bg1">
                    <a:lumMod val="50000"/>
                  </a:schemeClr>
                </a:solidFill>
              </a:rPr>
              <a:t>Implementación de una Función</a:t>
            </a:r>
          </a:p>
          <a:p>
            <a:r>
              <a:rPr lang="es-EC" b="1" dirty="0">
                <a:solidFill>
                  <a:schemeClr val="bg1">
                    <a:lumMod val="50000"/>
                  </a:schemeClr>
                </a:solidFill>
              </a:rPr>
              <a:t>Problema 5.2</a:t>
            </a:r>
          </a:p>
          <a:p>
            <a:r>
              <a:rPr lang="es-MX" b="1" dirty="0">
                <a:solidFill>
                  <a:schemeClr val="bg1">
                    <a:lumMod val="50000"/>
                  </a:schemeClr>
                </a:solidFill>
              </a:rPr>
              <a:t>Problemas que Resuelven las Funciones </a:t>
            </a:r>
            <a:endParaRPr lang="es-EC" b="1" dirty="0">
              <a:solidFill>
                <a:schemeClr val="bg1">
                  <a:lumMod val="50000"/>
                </a:schemeClr>
              </a:solidFill>
            </a:endParaRPr>
          </a:p>
          <a:p>
            <a:r>
              <a:rPr lang="es-EC" b="1" dirty="0">
                <a:solidFill>
                  <a:schemeClr val="bg1">
                    <a:lumMod val="50000"/>
                  </a:schemeClr>
                </a:solidFill>
              </a:rPr>
              <a:t>Uso de Funciones </a:t>
            </a:r>
          </a:p>
          <a:p>
            <a:r>
              <a:rPr lang="es-MX" b="1" dirty="0">
                <a:solidFill>
                  <a:schemeClr val="bg1">
                    <a:lumMod val="50000"/>
                  </a:schemeClr>
                </a:solidFill>
              </a:rPr>
              <a:t>Paso de Parámetros por Valor</a:t>
            </a:r>
            <a:endParaRPr lang="es-EC" b="1" dirty="0">
              <a:solidFill>
                <a:schemeClr val="bg1">
                  <a:lumMod val="50000"/>
                </a:schemeClr>
              </a:solidFill>
            </a:endParaRPr>
          </a:p>
          <a:p>
            <a:r>
              <a:rPr lang="es-EC" b="1" dirty="0">
                <a:solidFill>
                  <a:schemeClr val="bg1">
                    <a:lumMod val="50000"/>
                  </a:schemeClr>
                </a:solidFill>
              </a:rPr>
              <a:t>Funciones sin Parámetros</a:t>
            </a:r>
          </a:p>
          <a:p>
            <a:r>
              <a:rPr lang="es-EC" b="1" dirty="0">
                <a:solidFill>
                  <a:schemeClr val="bg1">
                    <a:lumMod val="50000"/>
                  </a:schemeClr>
                </a:solidFill>
              </a:rPr>
              <a:t>Funciones con un Parámetro</a:t>
            </a:r>
          </a:p>
          <a:p>
            <a:r>
              <a:rPr lang="es-EC" b="1" dirty="0">
                <a:solidFill>
                  <a:schemeClr val="bg1">
                    <a:lumMod val="50000"/>
                  </a:schemeClr>
                </a:solidFill>
              </a:rPr>
              <a:t>Funciones con Varios Parámetros</a:t>
            </a:r>
          </a:p>
          <a:p>
            <a:r>
              <a:rPr lang="es-MX" b="1" dirty="0">
                <a:solidFill>
                  <a:srgbClr val="FF0000"/>
                </a:solidFill>
              </a:rPr>
              <a:t>Funciones de la Librería de Números Aleatorios</a:t>
            </a:r>
          </a:p>
          <a:p>
            <a:r>
              <a:rPr lang="es-MX" b="1" dirty="0">
                <a:solidFill>
                  <a:schemeClr val="bg1">
                    <a:lumMod val="50000"/>
                  </a:schemeClr>
                </a:solidFill>
              </a:rPr>
              <a:t>Especificación del Rango de un Número Aleatorio </a:t>
            </a:r>
          </a:p>
          <a:p>
            <a:r>
              <a:rPr lang="es-EC" b="1" dirty="0">
                <a:solidFill>
                  <a:schemeClr val="bg1">
                    <a:lumMod val="50000"/>
                  </a:schemeClr>
                </a:solidFill>
              </a:rPr>
              <a:t>Sobrecarga de Funciones</a:t>
            </a:r>
          </a:p>
        </p:txBody>
      </p:sp>
      <p:sp>
        <p:nvSpPr>
          <p:cNvPr id="5" name="4 Marcador de fecha"/>
          <p:cNvSpPr>
            <a:spLocks noGrp="1"/>
          </p:cNvSpPr>
          <p:nvPr>
            <p:ph type="dt" sz="half" idx="10"/>
          </p:nvPr>
        </p:nvSpPr>
        <p:spPr/>
        <p:txBody>
          <a:bodyPr/>
          <a:lstStyle/>
          <a:p>
            <a:fld id="{85E4E129-A937-4BEE-8A17-D7969DFE55C2}" type="datetime1">
              <a:rPr lang="es-EC" smtClean="0"/>
              <a:t>9/12/2025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41</a:t>
            </a:fld>
            <a:endParaRPr lang="es-EC"/>
          </a:p>
        </p:txBody>
      </p:sp>
    </p:spTree>
    <p:extLst>
      <p:ext uri="{BB962C8B-B14F-4D97-AF65-F5344CB8AC3E}">
        <p14:creationId xmlns:p14="http://schemas.microsoft.com/office/powerpoint/2010/main" val="4753959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94665" y="800100"/>
            <a:ext cx="8229600" cy="1600200"/>
          </a:xfrm>
        </p:spPr>
        <p:txBody>
          <a:bodyPr/>
          <a:lstStyle/>
          <a:p>
            <a:r>
              <a:rPr lang="es-MX" sz="4000" b="1" dirty="0"/>
              <a:t>Funciones de la Librería de Números Aleatorios</a:t>
            </a:r>
            <a:br>
              <a:rPr lang="es-MX" sz="4000" b="1" dirty="0">
                <a:solidFill>
                  <a:srgbClr val="FF0000"/>
                </a:solidFill>
              </a:rPr>
            </a:br>
            <a:endParaRPr lang="es-EC" sz="4000" dirty="0"/>
          </a:p>
        </p:txBody>
      </p:sp>
      <p:sp>
        <p:nvSpPr>
          <p:cNvPr id="3" name="2 Marcador de contenido"/>
          <p:cNvSpPr>
            <a:spLocks noGrp="1"/>
          </p:cNvSpPr>
          <p:nvPr>
            <p:ph idx="1"/>
          </p:nvPr>
        </p:nvSpPr>
        <p:spPr>
          <a:xfrm>
            <a:off x="457200" y="1830387"/>
            <a:ext cx="8229600" cy="4525963"/>
          </a:xfrm>
        </p:spPr>
        <p:txBody>
          <a:bodyPr>
            <a:normAutofit fontScale="70000" lnSpcReduction="20000"/>
          </a:bodyPr>
          <a:lstStyle/>
          <a:p>
            <a:r>
              <a:rPr lang="es-MX" dirty="0"/>
              <a:t>La Librería de Utilidades Generales Estándar (C Standard General </a:t>
            </a:r>
            <a:r>
              <a:rPr lang="es-MX" dirty="0" err="1"/>
              <a:t>Utilities</a:t>
            </a:r>
            <a:r>
              <a:rPr lang="es-MX" dirty="0"/>
              <a:t> Library) del lenguaje C/C++ (#</a:t>
            </a:r>
            <a:r>
              <a:rPr lang="es-MX" dirty="0" err="1"/>
              <a:t>include</a:t>
            </a:r>
            <a:r>
              <a:rPr lang="es-MX" dirty="0"/>
              <a:t> ), proporciona una función llamada rand(), que puede ser utilizada para generar números </a:t>
            </a:r>
            <a:r>
              <a:rPr lang="es-MX" dirty="0" err="1"/>
              <a:t>pseudo-aleatorios</a:t>
            </a:r>
            <a:r>
              <a:rPr lang="es-MX" dirty="0"/>
              <a:t> (</a:t>
            </a:r>
            <a:r>
              <a:rPr lang="es-MX" dirty="0" err="1"/>
              <a:t>pseudorandom</a:t>
            </a:r>
            <a:r>
              <a:rPr lang="es-MX" dirty="0"/>
              <a:t>). Esta función retorna un número entero aleatorio dentro de un rango [0, MAX_RANGO], donde MAX_RANGO es algún valor predefinido por el programador, como por ejemplo un valor constante (Dawson, M., 2008). Para generar números aleatorios diferentes cada vez que se ejecuta un programa se utiliza de manera conjunta la función time() con la función </a:t>
            </a:r>
            <a:r>
              <a:rPr lang="es-MX" dirty="0" err="1"/>
              <a:t>srand</a:t>
            </a:r>
            <a:r>
              <a:rPr lang="es-MX" dirty="0"/>
              <a:t>(), donde el valor retornado por la función time() se pasa como parámetro a la función </a:t>
            </a:r>
            <a:r>
              <a:rPr lang="es-MX" dirty="0" err="1"/>
              <a:t>srand</a:t>
            </a:r>
            <a:r>
              <a:rPr lang="es-MX" dirty="0"/>
              <a:t>(), de la siguiente manera: </a:t>
            </a:r>
            <a:r>
              <a:rPr lang="es-MX" dirty="0" err="1"/>
              <a:t>srand</a:t>
            </a:r>
            <a:r>
              <a:rPr lang="es-MX" dirty="0"/>
              <a:t>(time(0)); La función time() pertenece a la Librería de Tiempo (C Time Library) del lenguaje C/C++ (#</a:t>
            </a:r>
            <a:r>
              <a:rPr lang="es-MX" dirty="0" err="1"/>
              <a:t>include</a:t>
            </a:r>
            <a:r>
              <a:rPr lang="es-MX" dirty="0"/>
              <a:t> ). Esta función retorna la cantidad de segundos transcurridos desde la medianoche, acorde al sistema del reloj (Stroustrup, B., 1997). La función </a:t>
            </a:r>
            <a:r>
              <a:rPr lang="es-MX" dirty="0" err="1"/>
              <a:t>srand</a:t>
            </a:r>
            <a:r>
              <a:rPr lang="es-MX" dirty="0"/>
              <a:t>() pertenece a la Librería de Utilidades Generales Estándar (C Standard General </a:t>
            </a:r>
            <a:r>
              <a:rPr lang="es-MX" dirty="0" err="1"/>
              <a:t>Utilities</a:t>
            </a:r>
            <a:r>
              <a:rPr lang="es-MX" dirty="0"/>
              <a:t> Library) del lenguaje C/C++ (#</a:t>
            </a:r>
            <a:r>
              <a:rPr lang="es-MX" dirty="0" err="1"/>
              <a:t>include</a:t>
            </a:r>
            <a:r>
              <a:rPr lang="es-MX" dirty="0"/>
              <a:t> ). Esta función se utiliza como punto de entrada para generar números aleatorios conocida como la semilla generadora de números </a:t>
            </a:r>
            <a:r>
              <a:rPr lang="es-MX" dirty="0" err="1"/>
              <a:t>pseudo-aleatorios</a:t>
            </a:r>
            <a:r>
              <a:rPr lang="es-MX" dirty="0"/>
              <a:t>. A esta función se la debe llamar solamente una vez en el programa (Stroustrup, B., 1997).</a:t>
            </a:r>
            <a:endParaRPr lang="es-EC" b="1" dirty="0">
              <a:solidFill>
                <a:schemeClr val="bg1">
                  <a:lumMod val="50000"/>
                </a:schemeClr>
              </a:solidFill>
            </a:endParaRPr>
          </a:p>
        </p:txBody>
      </p:sp>
      <p:sp>
        <p:nvSpPr>
          <p:cNvPr id="5" name="4 Marcador de fecha"/>
          <p:cNvSpPr>
            <a:spLocks noGrp="1"/>
          </p:cNvSpPr>
          <p:nvPr>
            <p:ph type="dt" sz="half" idx="10"/>
          </p:nvPr>
        </p:nvSpPr>
        <p:spPr/>
        <p:txBody>
          <a:bodyPr/>
          <a:lstStyle/>
          <a:p>
            <a:fld id="{85E4E129-A937-4BEE-8A17-D7969DFE55C2}" type="datetime1">
              <a:rPr lang="es-EC" smtClean="0"/>
              <a:t>9/12/2025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42</a:t>
            </a:fld>
            <a:endParaRPr lang="es-EC"/>
          </a:p>
        </p:txBody>
      </p:sp>
    </p:spTree>
    <p:extLst>
      <p:ext uri="{BB962C8B-B14F-4D97-AF65-F5344CB8AC3E}">
        <p14:creationId xmlns:p14="http://schemas.microsoft.com/office/powerpoint/2010/main" val="42590880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EC" b="1" dirty="0">
                <a:solidFill>
                  <a:schemeClr val="bg1">
                    <a:lumMod val="50000"/>
                  </a:schemeClr>
                </a:solidFill>
              </a:rPr>
              <a:t>Introducción</a:t>
            </a:r>
            <a:endParaRPr lang="en-US" b="1" dirty="0">
              <a:solidFill>
                <a:schemeClr val="bg1">
                  <a:lumMod val="50000"/>
                </a:schemeClr>
              </a:solidFill>
            </a:endParaRPr>
          </a:p>
          <a:p>
            <a:r>
              <a:rPr lang="es-EC" b="1" dirty="0">
                <a:solidFill>
                  <a:schemeClr val="bg1">
                    <a:lumMod val="50000"/>
                  </a:schemeClr>
                </a:solidFill>
              </a:rPr>
              <a:t>Objetivos</a:t>
            </a:r>
          </a:p>
          <a:p>
            <a:r>
              <a:rPr lang="es-ES" b="1" dirty="0">
                <a:solidFill>
                  <a:schemeClr val="bg1">
                    <a:lumMod val="50000"/>
                  </a:schemeClr>
                </a:solidFill>
              </a:rPr>
              <a:t>Función </a:t>
            </a:r>
            <a:endParaRPr lang="es-EC" b="1" dirty="0">
              <a:solidFill>
                <a:schemeClr val="bg1">
                  <a:lumMod val="50000"/>
                </a:schemeClr>
              </a:solidFill>
            </a:endParaRPr>
          </a:p>
          <a:p>
            <a:r>
              <a:rPr lang="es-EC" b="1" dirty="0">
                <a:solidFill>
                  <a:schemeClr val="bg1">
                    <a:lumMod val="50000"/>
                  </a:schemeClr>
                </a:solidFill>
              </a:rPr>
              <a:t>Problema 5.1</a:t>
            </a:r>
          </a:p>
          <a:p>
            <a:r>
              <a:rPr lang="es-EC" b="1" dirty="0">
                <a:solidFill>
                  <a:schemeClr val="bg1">
                    <a:lumMod val="50000"/>
                  </a:schemeClr>
                </a:solidFill>
              </a:rPr>
              <a:t>Estructura de una Función</a:t>
            </a:r>
          </a:p>
          <a:p>
            <a:r>
              <a:rPr lang="es-EC" b="1" dirty="0">
                <a:solidFill>
                  <a:schemeClr val="bg1">
                    <a:lumMod val="50000"/>
                  </a:schemeClr>
                </a:solidFill>
              </a:rPr>
              <a:t>Implementación de una Función</a:t>
            </a:r>
          </a:p>
          <a:p>
            <a:r>
              <a:rPr lang="es-EC" b="1" dirty="0">
                <a:solidFill>
                  <a:schemeClr val="bg1">
                    <a:lumMod val="50000"/>
                  </a:schemeClr>
                </a:solidFill>
              </a:rPr>
              <a:t>Problema 5.2</a:t>
            </a:r>
          </a:p>
          <a:p>
            <a:r>
              <a:rPr lang="es-MX" b="1" dirty="0">
                <a:solidFill>
                  <a:schemeClr val="bg1">
                    <a:lumMod val="50000"/>
                  </a:schemeClr>
                </a:solidFill>
              </a:rPr>
              <a:t>Problemas que Resuelven las Funciones </a:t>
            </a:r>
            <a:endParaRPr lang="es-EC" b="1" dirty="0">
              <a:solidFill>
                <a:schemeClr val="bg1">
                  <a:lumMod val="50000"/>
                </a:schemeClr>
              </a:solidFill>
            </a:endParaRPr>
          </a:p>
          <a:p>
            <a:r>
              <a:rPr lang="es-EC" b="1" dirty="0">
                <a:solidFill>
                  <a:schemeClr val="bg1">
                    <a:lumMod val="50000"/>
                  </a:schemeClr>
                </a:solidFill>
              </a:rPr>
              <a:t>Uso de Funciones </a:t>
            </a:r>
          </a:p>
          <a:p>
            <a:r>
              <a:rPr lang="es-MX" b="1" dirty="0">
                <a:solidFill>
                  <a:schemeClr val="bg1">
                    <a:lumMod val="50000"/>
                  </a:schemeClr>
                </a:solidFill>
              </a:rPr>
              <a:t>Paso de Parámetros por Valor</a:t>
            </a:r>
            <a:endParaRPr lang="es-EC" b="1" dirty="0">
              <a:solidFill>
                <a:schemeClr val="bg1">
                  <a:lumMod val="50000"/>
                </a:schemeClr>
              </a:solidFill>
            </a:endParaRPr>
          </a:p>
          <a:p>
            <a:r>
              <a:rPr lang="es-EC" b="1" dirty="0">
                <a:solidFill>
                  <a:schemeClr val="bg1">
                    <a:lumMod val="50000"/>
                  </a:schemeClr>
                </a:solidFill>
              </a:rPr>
              <a:t>Funciones sin Parámetros</a:t>
            </a:r>
          </a:p>
          <a:p>
            <a:r>
              <a:rPr lang="es-EC" b="1" dirty="0">
                <a:solidFill>
                  <a:schemeClr val="bg1">
                    <a:lumMod val="50000"/>
                  </a:schemeClr>
                </a:solidFill>
              </a:rPr>
              <a:t>Funciones con un Parámetro</a:t>
            </a:r>
          </a:p>
          <a:p>
            <a:r>
              <a:rPr lang="es-EC" b="1" dirty="0">
                <a:solidFill>
                  <a:schemeClr val="bg1">
                    <a:lumMod val="50000"/>
                  </a:schemeClr>
                </a:solidFill>
              </a:rPr>
              <a:t>Funciones con Varios Parámetros</a:t>
            </a:r>
          </a:p>
          <a:p>
            <a:r>
              <a:rPr lang="es-MX" b="1" dirty="0">
                <a:solidFill>
                  <a:schemeClr val="bg1">
                    <a:lumMod val="50000"/>
                  </a:schemeClr>
                </a:solidFill>
              </a:rPr>
              <a:t>Funciones de la Librería de Números Aleatorios</a:t>
            </a:r>
          </a:p>
          <a:p>
            <a:r>
              <a:rPr lang="es-MX" b="1" dirty="0">
                <a:solidFill>
                  <a:srgbClr val="FF0000"/>
                </a:solidFill>
              </a:rPr>
              <a:t>Especificación del Rango de un Número Aleatorio </a:t>
            </a:r>
          </a:p>
          <a:p>
            <a:r>
              <a:rPr lang="es-EC" b="1" dirty="0">
                <a:solidFill>
                  <a:schemeClr val="bg1">
                    <a:lumMod val="50000"/>
                  </a:schemeClr>
                </a:solidFill>
              </a:rPr>
              <a:t>Sobrecarga de Funciones</a:t>
            </a:r>
          </a:p>
        </p:txBody>
      </p:sp>
      <p:sp>
        <p:nvSpPr>
          <p:cNvPr id="5" name="4 Marcador de fecha"/>
          <p:cNvSpPr>
            <a:spLocks noGrp="1"/>
          </p:cNvSpPr>
          <p:nvPr>
            <p:ph type="dt" sz="half" idx="10"/>
          </p:nvPr>
        </p:nvSpPr>
        <p:spPr/>
        <p:txBody>
          <a:bodyPr/>
          <a:lstStyle/>
          <a:p>
            <a:fld id="{85E4E129-A937-4BEE-8A17-D7969DFE55C2}" type="datetime1">
              <a:rPr lang="es-EC" smtClean="0"/>
              <a:t>9/12/2025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43</a:t>
            </a:fld>
            <a:endParaRPr lang="es-EC"/>
          </a:p>
        </p:txBody>
      </p:sp>
    </p:spTree>
    <p:extLst>
      <p:ext uri="{BB962C8B-B14F-4D97-AF65-F5344CB8AC3E}">
        <p14:creationId xmlns:p14="http://schemas.microsoft.com/office/powerpoint/2010/main" val="26005620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62788" y="1233264"/>
            <a:ext cx="8229600" cy="1600200"/>
          </a:xfrm>
        </p:spPr>
        <p:txBody>
          <a:bodyPr/>
          <a:lstStyle/>
          <a:p>
            <a:r>
              <a:rPr lang="es-MX" sz="4000" b="1" dirty="0"/>
              <a:t>Especificación  del Rango de un Número Aleatorio </a:t>
            </a:r>
            <a:br>
              <a:rPr lang="es-MX" sz="1600" b="1" dirty="0">
                <a:solidFill>
                  <a:srgbClr val="FF0000"/>
                </a:solidFill>
              </a:rPr>
            </a:br>
            <a:br>
              <a:rPr lang="es-MX" sz="4000" b="1" dirty="0">
                <a:solidFill>
                  <a:srgbClr val="FF0000"/>
                </a:solidFill>
              </a:rPr>
            </a:br>
            <a:endParaRPr lang="es-EC" sz="4000" dirty="0"/>
          </a:p>
        </p:txBody>
      </p:sp>
      <p:sp>
        <p:nvSpPr>
          <p:cNvPr id="3" name="2 Marcador de contenido"/>
          <p:cNvSpPr>
            <a:spLocks noGrp="1"/>
          </p:cNvSpPr>
          <p:nvPr>
            <p:ph idx="1"/>
          </p:nvPr>
        </p:nvSpPr>
        <p:spPr>
          <a:xfrm>
            <a:off x="457200" y="1830387"/>
            <a:ext cx="8086078" cy="3254797"/>
          </a:xfrm>
        </p:spPr>
        <p:txBody>
          <a:bodyPr>
            <a:normAutofit fontScale="62500" lnSpcReduction="20000"/>
          </a:bodyPr>
          <a:lstStyle/>
          <a:p>
            <a:r>
              <a:rPr lang="es-MX" dirty="0"/>
              <a:t>Generalmente, se utilizan números aleatorios generados dentro del rango [0, MAX_RANGO], pero hay ocasiones en las que el programador necesita generar un rango diferente, como por ejemplo el rango [3, 18]. Para este tipo de casos, se puede generalizar la obtención de un número aleatorio dentro del rango [a, b], donde el valor de ‘a’ representa al límite inferior del rango y el valor de ‘b’ representa al límite superior del rango, utilizando la siguiente fórmula propuesta por (Luna, F., 2004):</a:t>
            </a:r>
          </a:p>
          <a:p>
            <a:endParaRPr lang="es-MX" b="1" dirty="0">
              <a:solidFill>
                <a:schemeClr val="bg1">
                  <a:lumMod val="50000"/>
                </a:schemeClr>
              </a:solidFill>
            </a:endParaRPr>
          </a:p>
          <a:p>
            <a:endParaRPr lang="es-MX" b="1" dirty="0">
              <a:solidFill>
                <a:schemeClr val="bg1">
                  <a:lumMod val="50000"/>
                </a:schemeClr>
              </a:solidFill>
            </a:endParaRPr>
          </a:p>
          <a:p>
            <a:endParaRPr lang="es-MX" b="1" dirty="0">
              <a:solidFill>
                <a:schemeClr val="bg1">
                  <a:lumMod val="50000"/>
                </a:schemeClr>
              </a:solidFill>
            </a:endParaRPr>
          </a:p>
          <a:p>
            <a:endParaRPr lang="es-MX" b="1" dirty="0">
              <a:solidFill>
                <a:schemeClr val="bg1">
                  <a:lumMod val="50000"/>
                </a:schemeClr>
              </a:solidFill>
            </a:endParaRPr>
          </a:p>
          <a:p>
            <a:r>
              <a:rPr lang="es-MX" dirty="0"/>
              <a:t>Así por ejemplo, si se quiere obtener números aleatorios dentro del rango [3, 18], se reemplazan dichos valores en la </a:t>
            </a:r>
            <a:r>
              <a:rPr lang="es-MX" dirty="0" err="1"/>
              <a:t>Ec</a:t>
            </a:r>
            <a:r>
              <a:rPr lang="es-MX" dirty="0"/>
              <a:t>. 5.1 y se obtiene la siguiente expresión</a:t>
            </a:r>
            <a:endParaRPr lang="es-EC" b="1" dirty="0">
              <a:solidFill>
                <a:schemeClr val="bg1">
                  <a:lumMod val="50000"/>
                </a:schemeClr>
              </a:solidFill>
            </a:endParaRPr>
          </a:p>
        </p:txBody>
      </p:sp>
      <p:sp>
        <p:nvSpPr>
          <p:cNvPr id="5" name="4 Marcador de fecha"/>
          <p:cNvSpPr>
            <a:spLocks noGrp="1"/>
          </p:cNvSpPr>
          <p:nvPr>
            <p:ph type="dt" sz="half" idx="10"/>
          </p:nvPr>
        </p:nvSpPr>
        <p:spPr/>
        <p:txBody>
          <a:bodyPr/>
          <a:lstStyle/>
          <a:p>
            <a:fld id="{85E4E129-A937-4BEE-8A17-D7969DFE55C2}" type="datetime1">
              <a:rPr lang="es-EC" smtClean="0"/>
              <a:t>9/12/2025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44</a:t>
            </a:fld>
            <a:endParaRPr lang="es-EC"/>
          </a:p>
        </p:txBody>
      </p:sp>
      <p:pic>
        <p:nvPicPr>
          <p:cNvPr id="7" name="Imagen 6">
            <a:extLst>
              <a:ext uri="{FF2B5EF4-FFF2-40B4-BE49-F238E27FC236}">
                <a16:creationId xmlns:a16="http://schemas.microsoft.com/office/drawing/2014/main" id="{C508A12D-2B75-4649-A9E8-EDCAEE7A7E05}"/>
              </a:ext>
            </a:extLst>
          </p:cNvPr>
          <p:cNvPicPr>
            <a:picLocks noChangeAspect="1"/>
          </p:cNvPicPr>
          <p:nvPr/>
        </p:nvPicPr>
        <p:blipFill>
          <a:blip r:embed="rId2"/>
          <a:stretch>
            <a:fillRect/>
          </a:stretch>
        </p:blipFill>
        <p:spPr>
          <a:xfrm>
            <a:off x="2976026" y="3304530"/>
            <a:ext cx="3048425" cy="700534"/>
          </a:xfrm>
          <a:prstGeom prst="rect">
            <a:avLst/>
          </a:prstGeom>
        </p:spPr>
      </p:pic>
      <p:pic>
        <p:nvPicPr>
          <p:cNvPr id="9" name="Imagen 8">
            <a:extLst>
              <a:ext uri="{FF2B5EF4-FFF2-40B4-BE49-F238E27FC236}">
                <a16:creationId xmlns:a16="http://schemas.microsoft.com/office/drawing/2014/main" id="{CE56A415-F1BA-4F0E-84FD-418503BF9F2B}"/>
              </a:ext>
            </a:extLst>
          </p:cNvPr>
          <p:cNvPicPr>
            <a:picLocks noChangeAspect="1"/>
          </p:cNvPicPr>
          <p:nvPr/>
        </p:nvPicPr>
        <p:blipFill>
          <a:blip r:embed="rId3"/>
          <a:stretch>
            <a:fillRect/>
          </a:stretch>
        </p:blipFill>
        <p:spPr>
          <a:xfrm>
            <a:off x="3117711" y="5301609"/>
            <a:ext cx="2915057" cy="419158"/>
          </a:xfrm>
          <a:prstGeom prst="rect">
            <a:avLst/>
          </a:prstGeom>
        </p:spPr>
      </p:pic>
    </p:spTree>
    <p:extLst>
      <p:ext uri="{BB962C8B-B14F-4D97-AF65-F5344CB8AC3E}">
        <p14:creationId xmlns:p14="http://schemas.microsoft.com/office/powerpoint/2010/main" val="37657419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EC" b="1" dirty="0">
                <a:solidFill>
                  <a:schemeClr val="bg1">
                    <a:lumMod val="50000"/>
                  </a:schemeClr>
                </a:solidFill>
              </a:rPr>
              <a:t>Introducción</a:t>
            </a:r>
            <a:endParaRPr lang="en-US" b="1" dirty="0">
              <a:solidFill>
                <a:schemeClr val="bg1">
                  <a:lumMod val="50000"/>
                </a:schemeClr>
              </a:solidFill>
            </a:endParaRPr>
          </a:p>
          <a:p>
            <a:r>
              <a:rPr lang="es-EC" b="1" dirty="0">
                <a:solidFill>
                  <a:schemeClr val="bg1">
                    <a:lumMod val="50000"/>
                  </a:schemeClr>
                </a:solidFill>
              </a:rPr>
              <a:t>Objetivos</a:t>
            </a:r>
          </a:p>
          <a:p>
            <a:r>
              <a:rPr lang="es-ES" b="1" dirty="0">
                <a:solidFill>
                  <a:schemeClr val="bg1">
                    <a:lumMod val="50000"/>
                  </a:schemeClr>
                </a:solidFill>
              </a:rPr>
              <a:t>Función </a:t>
            </a:r>
            <a:endParaRPr lang="es-EC" b="1" dirty="0">
              <a:solidFill>
                <a:schemeClr val="bg1">
                  <a:lumMod val="50000"/>
                </a:schemeClr>
              </a:solidFill>
            </a:endParaRPr>
          </a:p>
          <a:p>
            <a:r>
              <a:rPr lang="es-EC" b="1" dirty="0">
                <a:solidFill>
                  <a:schemeClr val="bg1">
                    <a:lumMod val="50000"/>
                  </a:schemeClr>
                </a:solidFill>
              </a:rPr>
              <a:t>Problema 5.1</a:t>
            </a:r>
          </a:p>
          <a:p>
            <a:r>
              <a:rPr lang="es-EC" b="1" dirty="0">
                <a:solidFill>
                  <a:schemeClr val="bg1">
                    <a:lumMod val="50000"/>
                  </a:schemeClr>
                </a:solidFill>
              </a:rPr>
              <a:t>Estructura de una Función</a:t>
            </a:r>
          </a:p>
          <a:p>
            <a:r>
              <a:rPr lang="es-EC" b="1" dirty="0">
                <a:solidFill>
                  <a:schemeClr val="bg1">
                    <a:lumMod val="50000"/>
                  </a:schemeClr>
                </a:solidFill>
              </a:rPr>
              <a:t>Implementación de una Función</a:t>
            </a:r>
          </a:p>
          <a:p>
            <a:r>
              <a:rPr lang="es-EC" b="1" dirty="0">
                <a:solidFill>
                  <a:schemeClr val="bg1">
                    <a:lumMod val="50000"/>
                  </a:schemeClr>
                </a:solidFill>
              </a:rPr>
              <a:t>Problema 5.2</a:t>
            </a:r>
          </a:p>
          <a:p>
            <a:r>
              <a:rPr lang="es-MX" b="1" dirty="0">
                <a:solidFill>
                  <a:schemeClr val="bg1">
                    <a:lumMod val="50000"/>
                  </a:schemeClr>
                </a:solidFill>
              </a:rPr>
              <a:t>Problemas que Resuelven las Funciones </a:t>
            </a:r>
            <a:endParaRPr lang="es-EC" b="1" dirty="0">
              <a:solidFill>
                <a:schemeClr val="bg1">
                  <a:lumMod val="50000"/>
                </a:schemeClr>
              </a:solidFill>
            </a:endParaRPr>
          </a:p>
          <a:p>
            <a:r>
              <a:rPr lang="es-EC" b="1" dirty="0">
                <a:solidFill>
                  <a:schemeClr val="bg1">
                    <a:lumMod val="50000"/>
                  </a:schemeClr>
                </a:solidFill>
              </a:rPr>
              <a:t>Uso de Funciones </a:t>
            </a:r>
          </a:p>
          <a:p>
            <a:r>
              <a:rPr lang="es-MX" b="1" dirty="0">
                <a:solidFill>
                  <a:schemeClr val="bg1">
                    <a:lumMod val="50000"/>
                  </a:schemeClr>
                </a:solidFill>
              </a:rPr>
              <a:t>Paso de Parámetros por Valor</a:t>
            </a:r>
            <a:endParaRPr lang="es-EC" b="1" dirty="0">
              <a:solidFill>
                <a:schemeClr val="bg1">
                  <a:lumMod val="50000"/>
                </a:schemeClr>
              </a:solidFill>
            </a:endParaRPr>
          </a:p>
          <a:p>
            <a:r>
              <a:rPr lang="es-EC" b="1" dirty="0">
                <a:solidFill>
                  <a:schemeClr val="bg1">
                    <a:lumMod val="50000"/>
                  </a:schemeClr>
                </a:solidFill>
              </a:rPr>
              <a:t>Funciones sin Parámetros</a:t>
            </a:r>
          </a:p>
          <a:p>
            <a:r>
              <a:rPr lang="es-EC" b="1" dirty="0">
                <a:solidFill>
                  <a:schemeClr val="bg1">
                    <a:lumMod val="50000"/>
                  </a:schemeClr>
                </a:solidFill>
              </a:rPr>
              <a:t>Funciones con un Parámetro</a:t>
            </a:r>
          </a:p>
          <a:p>
            <a:r>
              <a:rPr lang="es-EC" b="1" dirty="0">
                <a:solidFill>
                  <a:schemeClr val="bg1">
                    <a:lumMod val="50000"/>
                  </a:schemeClr>
                </a:solidFill>
              </a:rPr>
              <a:t>Funciones con Varios Parámetros</a:t>
            </a:r>
          </a:p>
          <a:p>
            <a:r>
              <a:rPr lang="es-MX" b="1" dirty="0">
                <a:solidFill>
                  <a:schemeClr val="bg1">
                    <a:lumMod val="50000"/>
                  </a:schemeClr>
                </a:solidFill>
              </a:rPr>
              <a:t>Funciones de la Librería de Números Aleatorios</a:t>
            </a:r>
          </a:p>
          <a:p>
            <a:r>
              <a:rPr lang="es-MX" b="1" dirty="0">
                <a:solidFill>
                  <a:schemeClr val="bg1">
                    <a:lumMod val="50000"/>
                  </a:schemeClr>
                </a:solidFill>
              </a:rPr>
              <a:t>Especificación del Rango de un Número Aleatorio </a:t>
            </a:r>
          </a:p>
          <a:p>
            <a:r>
              <a:rPr lang="es-EC" b="1" dirty="0">
                <a:solidFill>
                  <a:srgbClr val="FF0000"/>
                </a:solidFill>
              </a:rPr>
              <a:t>Sobrecarga de Funciones</a:t>
            </a:r>
          </a:p>
        </p:txBody>
      </p:sp>
      <p:sp>
        <p:nvSpPr>
          <p:cNvPr id="5" name="4 Marcador de fecha"/>
          <p:cNvSpPr>
            <a:spLocks noGrp="1"/>
          </p:cNvSpPr>
          <p:nvPr>
            <p:ph type="dt" sz="half" idx="10"/>
          </p:nvPr>
        </p:nvSpPr>
        <p:spPr/>
        <p:txBody>
          <a:bodyPr/>
          <a:lstStyle/>
          <a:p>
            <a:fld id="{85E4E129-A937-4BEE-8A17-D7969DFE55C2}" type="datetime1">
              <a:rPr lang="es-EC" smtClean="0"/>
              <a:t>9/12/2025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45</a:t>
            </a:fld>
            <a:endParaRPr lang="es-EC"/>
          </a:p>
        </p:txBody>
      </p:sp>
    </p:spTree>
    <p:extLst>
      <p:ext uri="{BB962C8B-B14F-4D97-AF65-F5344CB8AC3E}">
        <p14:creationId xmlns:p14="http://schemas.microsoft.com/office/powerpoint/2010/main" val="19193832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62788" y="1233264"/>
            <a:ext cx="8229600" cy="1600200"/>
          </a:xfrm>
        </p:spPr>
        <p:txBody>
          <a:bodyPr/>
          <a:lstStyle/>
          <a:p>
            <a:r>
              <a:rPr lang="es-MX" sz="4000" b="1" dirty="0"/>
              <a:t>Especificación  del Rango de un Número Aleatorio </a:t>
            </a:r>
            <a:br>
              <a:rPr lang="es-MX" sz="1600" b="1" dirty="0">
                <a:solidFill>
                  <a:srgbClr val="FF0000"/>
                </a:solidFill>
              </a:rPr>
            </a:br>
            <a:br>
              <a:rPr lang="es-MX" sz="4000" b="1" dirty="0">
                <a:solidFill>
                  <a:srgbClr val="FF0000"/>
                </a:solidFill>
              </a:rPr>
            </a:br>
            <a:endParaRPr lang="es-EC" sz="4000" dirty="0"/>
          </a:p>
        </p:txBody>
      </p:sp>
      <p:sp>
        <p:nvSpPr>
          <p:cNvPr id="3" name="2 Marcador de contenido"/>
          <p:cNvSpPr>
            <a:spLocks noGrp="1"/>
          </p:cNvSpPr>
          <p:nvPr>
            <p:ph idx="1"/>
          </p:nvPr>
        </p:nvSpPr>
        <p:spPr>
          <a:xfrm>
            <a:off x="457199" y="1830387"/>
            <a:ext cx="8648053" cy="4525963"/>
          </a:xfrm>
        </p:spPr>
        <p:txBody>
          <a:bodyPr>
            <a:normAutofit fontScale="85000" lnSpcReduction="20000"/>
          </a:bodyPr>
          <a:lstStyle/>
          <a:p>
            <a:pPr marL="0" indent="0">
              <a:buNone/>
            </a:pPr>
            <a:r>
              <a:rPr lang="es-MX" dirty="0"/>
              <a:t>Algunas veces se requiere dos o más versiones de una misma función (Ceballos, F.J., 2007). Por ejemplo, supongamos que se requieren dos funciones que calculen el área de un rectángulo: a) La primera función </a:t>
            </a:r>
            <a:r>
              <a:rPr lang="es-MX" dirty="0" err="1"/>
              <a:t>CalcularAreaRectangulo</a:t>
            </a:r>
            <a:r>
              <a:rPr lang="es-MX" dirty="0"/>
              <a:t>(), no tiene parámetros, lee los datos del rectángulo y calcula el valor del área; b) La segunda función </a:t>
            </a:r>
            <a:r>
              <a:rPr lang="es-MX" dirty="0" err="1"/>
              <a:t>CalcularAreaRectangulo</a:t>
            </a:r>
            <a:r>
              <a:rPr lang="es-MX" dirty="0"/>
              <a:t>(</a:t>
            </a:r>
            <a:r>
              <a:rPr lang="es-MX" dirty="0" err="1"/>
              <a:t>Lista_Parámetros</a:t>
            </a:r>
            <a:r>
              <a:rPr lang="es-MX" dirty="0"/>
              <a:t>), tiene dos parámetros, calcula el valor del área y retorna ese valor calculado, como se indican en los siguientes prototipos de las funciones sobrecargadas: </a:t>
            </a:r>
          </a:p>
          <a:p>
            <a:pPr marL="0" indent="0">
              <a:buNone/>
            </a:pPr>
            <a:endParaRPr lang="es-MX" dirty="0"/>
          </a:p>
          <a:p>
            <a:pPr marL="0" indent="0">
              <a:buNone/>
            </a:pPr>
            <a:r>
              <a:rPr lang="es-MX" dirty="0" err="1"/>
              <a:t>float</a:t>
            </a:r>
            <a:r>
              <a:rPr lang="es-MX" dirty="0"/>
              <a:t> </a:t>
            </a:r>
            <a:r>
              <a:rPr lang="es-MX" dirty="0" err="1"/>
              <a:t>CalcularAreaRectangulo</a:t>
            </a:r>
            <a:r>
              <a:rPr lang="es-MX" dirty="0"/>
              <a:t>(); </a:t>
            </a:r>
          </a:p>
          <a:p>
            <a:pPr marL="0" indent="0">
              <a:buNone/>
            </a:pPr>
            <a:r>
              <a:rPr lang="es-MX" dirty="0" err="1"/>
              <a:t>float</a:t>
            </a:r>
            <a:r>
              <a:rPr lang="es-MX" dirty="0"/>
              <a:t> </a:t>
            </a:r>
            <a:r>
              <a:rPr lang="es-MX" dirty="0" err="1"/>
              <a:t>CalcularAreaRectangulo</a:t>
            </a:r>
            <a:r>
              <a:rPr lang="es-MX" dirty="0"/>
              <a:t>(</a:t>
            </a:r>
            <a:r>
              <a:rPr lang="es-MX" dirty="0" err="1"/>
              <a:t>float</a:t>
            </a:r>
            <a:r>
              <a:rPr lang="es-MX" dirty="0"/>
              <a:t> ancho, </a:t>
            </a:r>
            <a:r>
              <a:rPr lang="es-MX" dirty="0" err="1"/>
              <a:t>float</a:t>
            </a:r>
            <a:r>
              <a:rPr lang="es-MX" dirty="0"/>
              <a:t> largo); </a:t>
            </a:r>
          </a:p>
          <a:p>
            <a:pPr marL="0" indent="0">
              <a:buNone/>
            </a:pPr>
            <a:endParaRPr lang="es-MX" dirty="0"/>
          </a:p>
          <a:p>
            <a:pPr marL="0" indent="0">
              <a:buNone/>
            </a:pPr>
            <a:r>
              <a:rPr lang="es-MX" dirty="0"/>
              <a:t>Ambas versiones, para el compilador son correctas y solo difieren en la firma de la función. La firma de la función incluye el nombre de la función y la lista de parámetros, pero no incluye el tipo de retorno</a:t>
            </a:r>
            <a:endParaRPr lang="es-EC" b="1" dirty="0">
              <a:solidFill>
                <a:schemeClr val="bg1">
                  <a:lumMod val="50000"/>
                </a:schemeClr>
              </a:solidFill>
            </a:endParaRPr>
          </a:p>
        </p:txBody>
      </p:sp>
      <p:sp>
        <p:nvSpPr>
          <p:cNvPr id="5" name="4 Marcador de fecha"/>
          <p:cNvSpPr>
            <a:spLocks noGrp="1"/>
          </p:cNvSpPr>
          <p:nvPr>
            <p:ph type="dt" sz="half" idx="10"/>
          </p:nvPr>
        </p:nvSpPr>
        <p:spPr/>
        <p:txBody>
          <a:bodyPr/>
          <a:lstStyle/>
          <a:p>
            <a:fld id="{85E4E129-A937-4BEE-8A17-D7969DFE55C2}" type="datetime1">
              <a:rPr lang="es-EC" smtClean="0"/>
              <a:t>9/12/2025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46</a:t>
            </a:fld>
            <a:endParaRPr lang="es-EC"/>
          </a:p>
        </p:txBody>
      </p:sp>
    </p:spTree>
    <p:extLst>
      <p:ext uri="{BB962C8B-B14F-4D97-AF65-F5344CB8AC3E}">
        <p14:creationId xmlns:p14="http://schemas.microsoft.com/office/powerpoint/2010/main" val="6832493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 y="-1"/>
            <a:ext cx="9105252" cy="954107"/>
          </a:xfrm>
        </p:spPr>
        <p:txBody>
          <a:bodyPr/>
          <a:lstStyle/>
          <a:p>
            <a:r>
              <a:rPr lang="es-ES" sz="4800" b="1" dirty="0"/>
              <a:t>Pensamiento</a:t>
            </a:r>
            <a:endParaRPr lang="en-US" sz="4800" b="1" dirty="0"/>
          </a:p>
        </p:txBody>
      </p:sp>
      <p:sp>
        <p:nvSpPr>
          <p:cNvPr id="5" name="4 Marcador de contenido"/>
          <p:cNvSpPr>
            <a:spLocks noGrp="1"/>
          </p:cNvSpPr>
          <p:nvPr>
            <p:ph idx="1"/>
          </p:nvPr>
        </p:nvSpPr>
        <p:spPr>
          <a:xfrm>
            <a:off x="106385" y="3004125"/>
            <a:ext cx="4755908" cy="2459009"/>
          </a:xfrm>
        </p:spPr>
        <p:txBody>
          <a:bodyPr>
            <a:normAutofit/>
          </a:bodyPr>
          <a:lstStyle/>
          <a:p>
            <a:r>
              <a:rPr lang="es-EC" b="1" dirty="0"/>
              <a:t>“</a:t>
            </a:r>
            <a:r>
              <a:rPr lang="es-ES" b="1" dirty="0"/>
              <a:t>Todo el mundo debería saber programar”</a:t>
            </a:r>
            <a:endParaRPr lang="es-ES" dirty="0"/>
          </a:p>
        </p:txBody>
      </p:sp>
      <p:sp>
        <p:nvSpPr>
          <p:cNvPr id="3" name="2 Marcador de fecha"/>
          <p:cNvSpPr>
            <a:spLocks noGrp="1"/>
          </p:cNvSpPr>
          <p:nvPr>
            <p:ph type="dt" sz="half" idx="10"/>
          </p:nvPr>
        </p:nvSpPr>
        <p:spPr/>
        <p:txBody>
          <a:bodyPr/>
          <a:lstStyle/>
          <a:p>
            <a:fld id="{44C3288D-7DAC-4DD2-9022-6C6BA4238517}" type="datetime1">
              <a:rPr lang="es-EC" smtClean="0"/>
              <a:t>9/12/2025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47</a:t>
            </a:fld>
            <a:endParaRPr lang="es-EC"/>
          </a:p>
        </p:txBody>
      </p:sp>
      <p:sp>
        <p:nvSpPr>
          <p:cNvPr id="8" name="7 CuadroTexto"/>
          <p:cNvSpPr txBox="1"/>
          <p:nvPr/>
        </p:nvSpPr>
        <p:spPr>
          <a:xfrm>
            <a:off x="106385" y="1587689"/>
            <a:ext cx="9241702" cy="523220"/>
          </a:xfrm>
          <a:prstGeom prst="rect">
            <a:avLst/>
          </a:prstGeom>
          <a:noFill/>
        </p:spPr>
        <p:txBody>
          <a:bodyPr wrap="square" rtlCol="0">
            <a:spAutoFit/>
          </a:bodyPr>
          <a:lstStyle/>
          <a:p>
            <a:r>
              <a:rPr lang="es-EC" sz="2800" dirty="0">
                <a:solidFill>
                  <a:schemeClr val="bg1">
                    <a:lumMod val="50000"/>
                  </a:schemeClr>
                </a:solidFill>
              </a:rPr>
              <a:t>Científico de la Computación</a:t>
            </a:r>
          </a:p>
        </p:txBody>
      </p:sp>
      <p:sp>
        <p:nvSpPr>
          <p:cNvPr id="9" name="12 CuadroTexto"/>
          <p:cNvSpPr txBox="1"/>
          <p:nvPr/>
        </p:nvSpPr>
        <p:spPr>
          <a:xfrm>
            <a:off x="4572000" y="5105587"/>
            <a:ext cx="4264624" cy="646331"/>
          </a:xfrm>
          <a:prstGeom prst="rect">
            <a:avLst/>
          </a:prstGeom>
          <a:noFill/>
        </p:spPr>
        <p:txBody>
          <a:bodyPr wrap="square" rtlCol="0">
            <a:spAutoFit/>
          </a:bodyPr>
          <a:lstStyle/>
          <a:p>
            <a:r>
              <a:rPr lang="es-ES_tradnl" sz="1200" dirty="0">
                <a:solidFill>
                  <a:schemeClr val="tx1">
                    <a:lumMod val="50000"/>
                    <a:lumOff val="50000"/>
                  </a:schemeClr>
                </a:solidFill>
                <a:latin typeface="+mj-lt"/>
              </a:rPr>
              <a:t>Figura 32. </a:t>
            </a:r>
            <a:r>
              <a:rPr lang="es-EC" sz="1200" dirty="0">
                <a:solidFill>
                  <a:schemeClr val="tx1">
                    <a:lumMod val="50000"/>
                    <a:lumOff val="50000"/>
                  </a:schemeClr>
                </a:solidFill>
                <a:latin typeface="+mj-lt"/>
              </a:rPr>
              <a:t>Universidad de las Fuerzas Armadas - ESPE</a:t>
            </a:r>
            <a:r>
              <a:rPr lang="es-ES_tradnl" sz="1200" dirty="0">
                <a:solidFill>
                  <a:schemeClr val="tx1">
                    <a:lumMod val="50000"/>
                    <a:lumOff val="50000"/>
                  </a:schemeClr>
                </a:solidFill>
                <a:latin typeface="+mj-lt"/>
              </a:rPr>
              <a:t>. </a:t>
            </a:r>
          </a:p>
          <a:p>
            <a:r>
              <a:rPr lang="es-ES_tradnl" sz="1200" dirty="0">
                <a:solidFill>
                  <a:schemeClr val="tx1">
                    <a:lumMod val="50000"/>
                    <a:lumOff val="50000"/>
                  </a:schemeClr>
                </a:solidFill>
                <a:latin typeface="+mj-lt"/>
              </a:rPr>
              <a:t>Fuente: https://economipedia.com/definiciones/steve-jobs.html</a:t>
            </a:r>
            <a:endParaRPr lang="es-EC" sz="1200" dirty="0">
              <a:solidFill>
                <a:schemeClr val="tx1">
                  <a:lumMod val="50000"/>
                  <a:lumOff val="50000"/>
                </a:schemeClr>
              </a:solidFill>
              <a:latin typeface="+mj-lt"/>
            </a:endParaRPr>
          </a:p>
        </p:txBody>
      </p:sp>
      <p:pic>
        <p:nvPicPr>
          <p:cNvPr id="10" name="Imagen 9">
            <a:extLst>
              <a:ext uri="{FF2B5EF4-FFF2-40B4-BE49-F238E27FC236}">
                <a16:creationId xmlns:a16="http://schemas.microsoft.com/office/drawing/2014/main" id="{F0B58358-E067-4062-8B4C-9A21F65546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46878" y="2222286"/>
            <a:ext cx="4232938" cy="2638134"/>
          </a:xfrm>
          <a:prstGeom prst="rect">
            <a:avLst/>
          </a:prstGeom>
        </p:spPr>
      </p:pic>
    </p:spTree>
    <p:extLst>
      <p:ext uri="{BB962C8B-B14F-4D97-AF65-F5344CB8AC3E}">
        <p14:creationId xmlns:p14="http://schemas.microsoft.com/office/powerpoint/2010/main" val="10817259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39552" y="2060848"/>
            <a:ext cx="8229600" cy="836712"/>
          </a:xfrm>
        </p:spPr>
        <p:txBody>
          <a:bodyPr/>
          <a:lstStyle/>
          <a:p>
            <a:r>
              <a:rPr lang="en-US" b="1" dirty="0"/>
              <a:t>¿</a:t>
            </a:r>
            <a:r>
              <a:rPr lang="en-US" b="1" dirty="0" err="1"/>
              <a:t>Preguntas</a:t>
            </a:r>
            <a:r>
              <a:rPr lang="en-US" b="1" dirty="0"/>
              <a:t>?</a:t>
            </a:r>
          </a:p>
        </p:txBody>
      </p:sp>
      <p:sp>
        <p:nvSpPr>
          <p:cNvPr id="5" name="4 Marcador de contenido"/>
          <p:cNvSpPr>
            <a:spLocks noGrp="1"/>
          </p:cNvSpPr>
          <p:nvPr>
            <p:ph idx="1"/>
          </p:nvPr>
        </p:nvSpPr>
        <p:spPr>
          <a:xfrm>
            <a:off x="2771800" y="3501008"/>
            <a:ext cx="5760640" cy="792088"/>
          </a:xfrm>
        </p:spPr>
        <p:txBody>
          <a:bodyPr>
            <a:normAutofit/>
          </a:bodyPr>
          <a:lstStyle/>
          <a:p>
            <a:pPr marL="0" indent="0">
              <a:buNone/>
            </a:pPr>
            <a:r>
              <a:rPr lang="es-EC" sz="4000" dirty="0"/>
              <a:t>!Gracias!</a:t>
            </a:r>
          </a:p>
        </p:txBody>
      </p:sp>
      <p:sp>
        <p:nvSpPr>
          <p:cNvPr id="3" name="2 Marcador de fecha"/>
          <p:cNvSpPr>
            <a:spLocks noGrp="1"/>
          </p:cNvSpPr>
          <p:nvPr>
            <p:ph type="dt" sz="half" idx="10"/>
          </p:nvPr>
        </p:nvSpPr>
        <p:spPr/>
        <p:txBody>
          <a:bodyPr/>
          <a:lstStyle/>
          <a:p>
            <a:fld id="{EA350481-F057-463F-9522-14A55A4D5C62}" type="datetime1">
              <a:rPr lang="es-EC" smtClean="0"/>
              <a:t>9/12/2025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48</a:t>
            </a:fld>
            <a:endParaRPr lang="es-EC"/>
          </a:p>
        </p:txBody>
      </p:sp>
    </p:spTree>
    <p:extLst>
      <p:ext uri="{BB962C8B-B14F-4D97-AF65-F5344CB8AC3E}">
        <p14:creationId xmlns:p14="http://schemas.microsoft.com/office/powerpoint/2010/main" val="10934712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jecutivo">
  <a:themeElements>
    <a:clrScheme name="Ejecutivo">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jecutivo">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jecutiv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7028</TotalTime>
  <Words>4114</Words>
  <Application>Microsoft Office PowerPoint</Application>
  <PresentationFormat>Presentación en pantalla (4:3)</PresentationFormat>
  <Paragraphs>494</Paragraphs>
  <Slides>48</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48</vt:i4>
      </vt:variant>
    </vt:vector>
  </HeadingPairs>
  <TitlesOfParts>
    <vt:vector size="54" baseType="lpstr">
      <vt:lpstr>Arial</vt:lpstr>
      <vt:lpstr>Calibri</vt:lpstr>
      <vt:lpstr>Century Gothic</vt:lpstr>
      <vt:lpstr>Courier New</vt:lpstr>
      <vt:lpstr>Palatino Linotype</vt:lpstr>
      <vt:lpstr>Ejecutivo</vt:lpstr>
      <vt:lpstr>Presentación de PowerPoint</vt:lpstr>
      <vt:lpstr>Contenido</vt:lpstr>
      <vt:lpstr>Introducción</vt:lpstr>
      <vt:lpstr>Contenido</vt:lpstr>
      <vt:lpstr>Objetivos</vt:lpstr>
      <vt:lpstr>Contenido</vt:lpstr>
      <vt:lpstr>Función  </vt:lpstr>
      <vt:lpstr>Contenido</vt:lpstr>
      <vt:lpstr>Problema 5.1 </vt:lpstr>
      <vt:lpstr>Problema 5.1 </vt:lpstr>
      <vt:lpstr>Problema 5.1 </vt:lpstr>
      <vt:lpstr>Contenido</vt:lpstr>
      <vt:lpstr>Estructura de una Función  </vt:lpstr>
      <vt:lpstr>Estructura de una Función  </vt:lpstr>
      <vt:lpstr>Contenido</vt:lpstr>
      <vt:lpstr>Implementación de una Función   </vt:lpstr>
      <vt:lpstr>Implementación de una Función   </vt:lpstr>
      <vt:lpstr>Contenido</vt:lpstr>
      <vt:lpstr>Problema 5.2    </vt:lpstr>
      <vt:lpstr>Problema 5.2    </vt:lpstr>
      <vt:lpstr>Problema 5.2    </vt:lpstr>
      <vt:lpstr>Problema 5.2    </vt:lpstr>
      <vt:lpstr>Contenido</vt:lpstr>
      <vt:lpstr>Problemas que Resuelven las Funciones   </vt:lpstr>
      <vt:lpstr>Contenido</vt:lpstr>
      <vt:lpstr>Uso de Funciones </vt:lpstr>
      <vt:lpstr>Contenido</vt:lpstr>
      <vt:lpstr>Paso de Parámetros por Valor </vt:lpstr>
      <vt:lpstr>Contenido</vt:lpstr>
      <vt:lpstr>Funciones sin Parámetros  </vt:lpstr>
      <vt:lpstr>Contenido</vt:lpstr>
      <vt:lpstr>Funciones con Parámetros  </vt:lpstr>
      <vt:lpstr>Funciones con Parámetros  </vt:lpstr>
      <vt:lpstr>Funciones con Parámetros  </vt:lpstr>
      <vt:lpstr>Funciones con Parámetros  </vt:lpstr>
      <vt:lpstr>Funciones con Parámetros  </vt:lpstr>
      <vt:lpstr>Contenido</vt:lpstr>
      <vt:lpstr>Funciones con varios Parámetros  </vt:lpstr>
      <vt:lpstr>Presentación de PowerPoint</vt:lpstr>
      <vt:lpstr>Funciones con varios Parámetros  </vt:lpstr>
      <vt:lpstr>Contenido</vt:lpstr>
      <vt:lpstr>Funciones de la Librería de Números Aleatorios </vt:lpstr>
      <vt:lpstr>Contenido</vt:lpstr>
      <vt:lpstr>Especificación  del Rango de un Número Aleatorio   </vt:lpstr>
      <vt:lpstr>Contenido</vt:lpstr>
      <vt:lpstr>Especificación  del Rango de un Número Aleatorio   </vt:lpstr>
      <vt:lpstr>Pensamiento</vt:lpstr>
      <vt:lpstr>¿Preguntas?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usuario</dc:creator>
  <cp:lastModifiedBy>HP</cp:lastModifiedBy>
  <cp:revision>297</cp:revision>
  <cp:lastPrinted>2014-11-12T14:27:29Z</cp:lastPrinted>
  <dcterms:created xsi:type="dcterms:W3CDTF">2014-09-28T12:26:51Z</dcterms:created>
  <dcterms:modified xsi:type="dcterms:W3CDTF">2025-12-09T19:00:53Z</dcterms:modified>
</cp:coreProperties>
</file>