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82"/>
  </p:notesMasterIdLst>
  <p:sldIdLst>
    <p:sldId id="311" r:id="rId3"/>
    <p:sldId id="461" r:id="rId4"/>
    <p:sldId id="469" r:id="rId5"/>
    <p:sldId id="462" r:id="rId6"/>
    <p:sldId id="470" r:id="rId7"/>
    <p:sldId id="463" r:id="rId8"/>
    <p:sldId id="471" r:id="rId9"/>
    <p:sldId id="464" r:id="rId10"/>
    <p:sldId id="472" r:id="rId11"/>
    <p:sldId id="473" r:id="rId12"/>
    <p:sldId id="474" r:id="rId13"/>
    <p:sldId id="465" r:id="rId14"/>
    <p:sldId id="475" r:id="rId15"/>
    <p:sldId id="476" r:id="rId16"/>
    <p:sldId id="477" r:id="rId17"/>
    <p:sldId id="466" r:id="rId18"/>
    <p:sldId id="478" r:id="rId19"/>
    <p:sldId id="479" r:id="rId20"/>
    <p:sldId id="480" r:id="rId21"/>
    <p:sldId id="467" r:id="rId22"/>
    <p:sldId id="481" r:id="rId23"/>
    <p:sldId id="468" r:id="rId24"/>
    <p:sldId id="487" r:id="rId25"/>
    <p:sldId id="488" r:id="rId26"/>
    <p:sldId id="489" r:id="rId27"/>
    <p:sldId id="482" r:id="rId28"/>
    <p:sldId id="490" r:id="rId29"/>
    <p:sldId id="483" r:id="rId30"/>
    <p:sldId id="491" r:id="rId31"/>
    <p:sldId id="492" r:id="rId32"/>
    <p:sldId id="493" r:id="rId33"/>
    <p:sldId id="484" r:id="rId34"/>
    <p:sldId id="495" r:id="rId35"/>
    <p:sldId id="494" r:id="rId36"/>
    <p:sldId id="496" r:id="rId37"/>
    <p:sldId id="485" r:id="rId38"/>
    <p:sldId id="500" r:id="rId39"/>
    <p:sldId id="497" r:id="rId40"/>
    <p:sldId id="501" r:id="rId41"/>
    <p:sldId id="502" r:id="rId42"/>
    <p:sldId id="503" r:id="rId43"/>
    <p:sldId id="498" r:id="rId44"/>
    <p:sldId id="504" r:id="rId45"/>
    <p:sldId id="505" r:id="rId46"/>
    <p:sldId id="506" r:id="rId47"/>
    <p:sldId id="507" r:id="rId48"/>
    <p:sldId id="508" r:id="rId49"/>
    <p:sldId id="509" r:id="rId50"/>
    <p:sldId id="499" r:id="rId51"/>
    <p:sldId id="512" r:id="rId52"/>
    <p:sldId id="513" r:id="rId53"/>
    <p:sldId id="515" r:id="rId54"/>
    <p:sldId id="514" r:id="rId55"/>
    <p:sldId id="516" r:id="rId56"/>
    <p:sldId id="510" r:id="rId57"/>
    <p:sldId id="517" r:id="rId58"/>
    <p:sldId id="518" r:id="rId59"/>
    <p:sldId id="519" r:id="rId60"/>
    <p:sldId id="520" r:id="rId61"/>
    <p:sldId id="521" r:id="rId62"/>
    <p:sldId id="522" r:id="rId63"/>
    <p:sldId id="511" r:id="rId64"/>
    <p:sldId id="525" r:id="rId65"/>
    <p:sldId id="524" r:id="rId66"/>
    <p:sldId id="526" r:id="rId67"/>
    <p:sldId id="527" r:id="rId68"/>
    <p:sldId id="528" r:id="rId69"/>
    <p:sldId id="529" r:id="rId70"/>
    <p:sldId id="530" r:id="rId71"/>
    <p:sldId id="531" r:id="rId72"/>
    <p:sldId id="532" r:id="rId73"/>
    <p:sldId id="533" r:id="rId74"/>
    <p:sldId id="534" r:id="rId75"/>
    <p:sldId id="535" r:id="rId76"/>
    <p:sldId id="536" r:id="rId77"/>
    <p:sldId id="537" r:id="rId78"/>
    <p:sldId id="538" r:id="rId79"/>
    <p:sldId id="539" r:id="rId80"/>
    <p:sldId id="275" r:id="rId81"/>
  </p:sldIdLst>
  <p:sldSz cx="12192000" cy="6858000"/>
  <p:notesSz cx="6858000" cy="9144000"/>
  <p:defaultText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838" autoAdjust="0"/>
    <p:restoredTop sz="94660"/>
  </p:normalViewPr>
  <p:slideViewPr>
    <p:cSldViewPr snapToGrid="0">
      <p:cViewPr varScale="1">
        <p:scale>
          <a:sx n="114" d="100"/>
          <a:sy n="114" d="100"/>
        </p:scale>
        <p:origin x="480"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viewProps" Target="viewProps.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61" Type="http://schemas.openxmlformats.org/officeDocument/2006/relationships/slide" Target="slides/slide59.xml"/><Relationship Id="rId8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C"/>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8CED94-31AE-4F5B-8709-9EE6847871F2}" type="datetimeFigureOut">
              <a:rPr lang="es-EC" smtClean="0"/>
              <a:t>26/11/2025</a:t>
            </a:fld>
            <a:endParaRPr lang="es-EC"/>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C"/>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C"/>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0BA548-DDEF-4F9F-BFB7-376C64D66F29}" type="slidenum">
              <a:rPr lang="es-EC" smtClean="0"/>
              <a:t>‹Nº›</a:t>
            </a:fld>
            <a:endParaRPr lang="es-EC"/>
          </a:p>
        </p:txBody>
      </p:sp>
    </p:spTree>
    <p:extLst>
      <p:ext uri="{BB962C8B-B14F-4D97-AF65-F5344CB8AC3E}">
        <p14:creationId xmlns:p14="http://schemas.microsoft.com/office/powerpoint/2010/main" val="19097467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C" dirty="0"/>
          </a:p>
        </p:txBody>
      </p:sp>
      <p:sp>
        <p:nvSpPr>
          <p:cNvPr id="4" name="3 Marcador de número de diapositiva"/>
          <p:cNvSpPr>
            <a:spLocks noGrp="1"/>
          </p:cNvSpPr>
          <p:nvPr>
            <p:ph type="sldNum" sz="quarter" idx="10"/>
          </p:nvPr>
        </p:nvSpPr>
        <p:spPr/>
        <p:txBody>
          <a:bodyPr/>
          <a:lstStyle/>
          <a:p>
            <a:fld id="{C8DD2930-2CA9-432A-8292-C602BD3CCB94}" type="slidenum">
              <a:rPr lang="es-EC" smtClean="0"/>
              <a:t>1</a:t>
            </a:fld>
            <a:endParaRPr lang="es-EC" dirty="0"/>
          </a:p>
        </p:txBody>
      </p:sp>
    </p:spTree>
    <p:extLst>
      <p:ext uri="{BB962C8B-B14F-4D97-AF65-F5344CB8AC3E}">
        <p14:creationId xmlns:p14="http://schemas.microsoft.com/office/powerpoint/2010/main" val="23912008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CC7BAC-9B27-4D41-86D4-17A64712F6C9}"/>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EC"/>
          </a:p>
        </p:txBody>
      </p:sp>
      <p:sp>
        <p:nvSpPr>
          <p:cNvPr id="3" name="Subtítulo 2">
            <a:extLst>
              <a:ext uri="{FF2B5EF4-FFF2-40B4-BE49-F238E27FC236}">
                <a16:creationId xmlns:a16="http://schemas.microsoft.com/office/drawing/2014/main" id="{C8696901-9D51-4ACB-9E52-138A646487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EC"/>
          </a:p>
        </p:txBody>
      </p:sp>
      <p:sp>
        <p:nvSpPr>
          <p:cNvPr id="4" name="Marcador de fecha 3">
            <a:extLst>
              <a:ext uri="{FF2B5EF4-FFF2-40B4-BE49-F238E27FC236}">
                <a16:creationId xmlns:a16="http://schemas.microsoft.com/office/drawing/2014/main" id="{A47075C9-5BD9-48BE-81D8-A5DF89ABA9B8}"/>
              </a:ext>
            </a:extLst>
          </p:cNvPr>
          <p:cNvSpPr>
            <a:spLocks noGrp="1"/>
          </p:cNvSpPr>
          <p:nvPr>
            <p:ph type="dt" sz="half" idx="10"/>
          </p:nvPr>
        </p:nvSpPr>
        <p:spPr/>
        <p:txBody>
          <a:bodyPr/>
          <a:lstStyle/>
          <a:p>
            <a:fld id="{156F178F-13A3-4925-8B54-73919CC619DE}" type="datetimeFigureOut">
              <a:rPr lang="es-EC" smtClean="0"/>
              <a:t>26/11/2025</a:t>
            </a:fld>
            <a:endParaRPr lang="es-EC"/>
          </a:p>
        </p:txBody>
      </p:sp>
      <p:sp>
        <p:nvSpPr>
          <p:cNvPr id="5" name="Marcador de pie de página 4">
            <a:extLst>
              <a:ext uri="{FF2B5EF4-FFF2-40B4-BE49-F238E27FC236}">
                <a16:creationId xmlns:a16="http://schemas.microsoft.com/office/drawing/2014/main" id="{74ECE3FF-9B3C-41FF-83A3-DC301E164E31}"/>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4098DD64-4C4C-4CF0-A1D8-548C6B219C9E}"/>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40433150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8EE04A-1464-495C-AB23-285481F202B3}"/>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66481BAA-B5E0-4A42-AF73-DB64610941EB}"/>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4173864D-1BB6-4970-9FB2-EB9CA1DBB023}"/>
              </a:ext>
            </a:extLst>
          </p:cNvPr>
          <p:cNvSpPr>
            <a:spLocks noGrp="1"/>
          </p:cNvSpPr>
          <p:nvPr>
            <p:ph type="dt" sz="half" idx="10"/>
          </p:nvPr>
        </p:nvSpPr>
        <p:spPr/>
        <p:txBody>
          <a:bodyPr/>
          <a:lstStyle/>
          <a:p>
            <a:fld id="{156F178F-13A3-4925-8B54-73919CC619DE}" type="datetimeFigureOut">
              <a:rPr lang="es-EC" smtClean="0"/>
              <a:t>26/11/2025</a:t>
            </a:fld>
            <a:endParaRPr lang="es-EC"/>
          </a:p>
        </p:txBody>
      </p:sp>
      <p:sp>
        <p:nvSpPr>
          <p:cNvPr id="5" name="Marcador de pie de página 4">
            <a:extLst>
              <a:ext uri="{FF2B5EF4-FFF2-40B4-BE49-F238E27FC236}">
                <a16:creationId xmlns:a16="http://schemas.microsoft.com/office/drawing/2014/main" id="{B16A309E-8B6C-45EC-B2E1-135D1A67880D}"/>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DCD73BB0-43D6-4B2D-BD1C-5F0348B12AB0}"/>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35376532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F7563C-A255-4CD0-8382-6E01E1F46B6D}"/>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C9AFCB1D-B223-406D-A214-6CD8AB31E7C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0376DDE4-9972-40A9-A47B-3D4CBAD965FD}"/>
              </a:ext>
            </a:extLst>
          </p:cNvPr>
          <p:cNvSpPr>
            <a:spLocks noGrp="1"/>
          </p:cNvSpPr>
          <p:nvPr>
            <p:ph type="dt" sz="half" idx="10"/>
          </p:nvPr>
        </p:nvSpPr>
        <p:spPr/>
        <p:txBody>
          <a:bodyPr/>
          <a:lstStyle/>
          <a:p>
            <a:fld id="{156F178F-13A3-4925-8B54-73919CC619DE}" type="datetimeFigureOut">
              <a:rPr lang="es-EC" smtClean="0"/>
              <a:t>26/11/2025</a:t>
            </a:fld>
            <a:endParaRPr lang="es-EC"/>
          </a:p>
        </p:txBody>
      </p:sp>
      <p:sp>
        <p:nvSpPr>
          <p:cNvPr id="5" name="Marcador de pie de página 4">
            <a:extLst>
              <a:ext uri="{FF2B5EF4-FFF2-40B4-BE49-F238E27FC236}">
                <a16:creationId xmlns:a16="http://schemas.microsoft.com/office/drawing/2014/main" id="{329A76B5-F295-4F9F-80F2-EC5028095DEE}"/>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1B7B0CCA-DE77-47E7-A59A-1281E1CE2907}"/>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34923253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04126A1-7217-4B36-B0F6-288496E6BCEC}"/>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4930F61E-D05E-4EBC-8B4B-561FDC242B12}"/>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contenido 3">
            <a:extLst>
              <a:ext uri="{FF2B5EF4-FFF2-40B4-BE49-F238E27FC236}">
                <a16:creationId xmlns:a16="http://schemas.microsoft.com/office/drawing/2014/main" id="{CBA476B6-B707-426F-92C5-8F60BFE3E9FD}"/>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5" name="Marcador de fecha 4">
            <a:extLst>
              <a:ext uri="{FF2B5EF4-FFF2-40B4-BE49-F238E27FC236}">
                <a16:creationId xmlns:a16="http://schemas.microsoft.com/office/drawing/2014/main" id="{DFA9A5C4-7E4F-4960-ADF2-B6951DA38CDA}"/>
              </a:ext>
            </a:extLst>
          </p:cNvPr>
          <p:cNvSpPr>
            <a:spLocks noGrp="1"/>
          </p:cNvSpPr>
          <p:nvPr>
            <p:ph type="dt" sz="half" idx="10"/>
          </p:nvPr>
        </p:nvSpPr>
        <p:spPr/>
        <p:txBody>
          <a:bodyPr/>
          <a:lstStyle/>
          <a:p>
            <a:fld id="{156F178F-13A3-4925-8B54-73919CC619DE}" type="datetimeFigureOut">
              <a:rPr lang="es-EC" smtClean="0"/>
              <a:t>26/11/2025</a:t>
            </a:fld>
            <a:endParaRPr lang="es-EC"/>
          </a:p>
        </p:txBody>
      </p:sp>
      <p:sp>
        <p:nvSpPr>
          <p:cNvPr id="6" name="Marcador de pie de página 5">
            <a:extLst>
              <a:ext uri="{FF2B5EF4-FFF2-40B4-BE49-F238E27FC236}">
                <a16:creationId xmlns:a16="http://schemas.microsoft.com/office/drawing/2014/main" id="{300DBC4A-7F24-4081-8A6F-9AE898709FA2}"/>
              </a:ext>
            </a:extLst>
          </p:cNvPr>
          <p:cNvSpPr>
            <a:spLocks noGrp="1"/>
          </p:cNvSpPr>
          <p:nvPr>
            <p:ph type="ftr" sz="quarter" idx="11"/>
          </p:nvPr>
        </p:nvSpPr>
        <p:spPr/>
        <p:txBody>
          <a:bodyPr/>
          <a:lstStyle/>
          <a:p>
            <a:endParaRPr lang="es-EC"/>
          </a:p>
        </p:txBody>
      </p:sp>
      <p:sp>
        <p:nvSpPr>
          <p:cNvPr id="7" name="Marcador de número de diapositiva 6">
            <a:extLst>
              <a:ext uri="{FF2B5EF4-FFF2-40B4-BE49-F238E27FC236}">
                <a16:creationId xmlns:a16="http://schemas.microsoft.com/office/drawing/2014/main" id="{A05C1AA0-F3EF-4089-BFCB-19B079F21DDD}"/>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22558378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95B7D27-2A46-4305-8297-59313B85C53B}"/>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1ED0EBF5-B590-4168-BED4-66F9256413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D8D4FE9B-C326-4DC1-AB58-21F1EDC590EF}"/>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5" name="Marcador de texto 4">
            <a:extLst>
              <a:ext uri="{FF2B5EF4-FFF2-40B4-BE49-F238E27FC236}">
                <a16:creationId xmlns:a16="http://schemas.microsoft.com/office/drawing/2014/main" id="{912F17B3-3B22-4F98-8253-500EC862CB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13688F30-BBAE-45ED-B913-16C24B962EBF}"/>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7" name="Marcador de fecha 6">
            <a:extLst>
              <a:ext uri="{FF2B5EF4-FFF2-40B4-BE49-F238E27FC236}">
                <a16:creationId xmlns:a16="http://schemas.microsoft.com/office/drawing/2014/main" id="{53A608A7-9040-40F4-B5EA-1D2D8CB7E429}"/>
              </a:ext>
            </a:extLst>
          </p:cNvPr>
          <p:cNvSpPr>
            <a:spLocks noGrp="1"/>
          </p:cNvSpPr>
          <p:nvPr>
            <p:ph type="dt" sz="half" idx="10"/>
          </p:nvPr>
        </p:nvSpPr>
        <p:spPr/>
        <p:txBody>
          <a:bodyPr/>
          <a:lstStyle/>
          <a:p>
            <a:fld id="{156F178F-13A3-4925-8B54-73919CC619DE}" type="datetimeFigureOut">
              <a:rPr lang="es-EC" smtClean="0"/>
              <a:t>26/11/2025</a:t>
            </a:fld>
            <a:endParaRPr lang="es-EC"/>
          </a:p>
        </p:txBody>
      </p:sp>
      <p:sp>
        <p:nvSpPr>
          <p:cNvPr id="8" name="Marcador de pie de página 7">
            <a:extLst>
              <a:ext uri="{FF2B5EF4-FFF2-40B4-BE49-F238E27FC236}">
                <a16:creationId xmlns:a16="http://schemas.microsoft.com/office/drawing/2014/main" id="{A7A38726-DB7C-44CF-B16C-2888FBD9D0FD}"/>
              </a:ext>
            </a:extLst>
          </p:cNvPr>
          <p:cNvSpPr>
            <a:spLocks noGrp="1"/>
          </p:cNvSpPr>
          <p:nvPr>
            <p:ph type="ftr" sz="quarter" idx="11"/>
          </p:nvPr>
        </p:nvSpPr>
        <p:spPr/>
        <p:txBody>
          <a:bodyPr/>
          <a:lstStyle/>
          <a:p>
            <a:endParaRPr lang="es-EC"/>
          </a:p>
        </p:txBody>
      </p:sp>
      <p:sp>
        <p:nvSpPr>
          <p:cNvPr id="9" name="Marcador de número de diapositiva 8">
            <a:extLst>
              <a:ext uri="{FF2B5EF4-FFF2-40B4-BE49-F238E27FC236}">
                <a16:creationId xmlns:a16="http://schemas.microsoft.com/office/drawing/2014/main" id="{690B4177-927B-4311-A099-B44A80BD63BD}"/>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723832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DC0FC75-39D0-4202-A6B1-79DF445FA747}"/>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fecha 2">
            <a:extLst>
              <a:ext uri="{FF2B5EF4-FFF2-40B4-BE49-F238E27FC236}">
                <a16:creationId xmlns:a16="http://schemas.microsoft.com/office/drawing/2014/main" id="{2B9B2927-2C29-42B9-B6B7-532F994F994B}"/>
              </a:ext>
            </a:extLst>
          </p:cNvPr>
          <p:cNvSpPr>
            <a:spLocks noGrp="1"/>
          </p:cNvSpPr>
          <p:nvPr>
            <p:ph type="dt" sz="half" idx="10"/>
          </p:nvPr>
        </p:nvSpPr>
        <p:spPr/>
        <p:txBody>
          <a:bodyPr/>
          <a:lstStyle/>
          <a:p>
            <a:fld id="{156F178F-13A3-4925-8B54-73919CC619DE}" type="datetimeFigureOut">
              <a:rPr lang="es-EC" smtClean="0"/>
              <a:t>26/11/2025</a:t>
            </a:fld>
            <a:endParaRPr lang="es-EC"/>
          </a:p>
        </p:txBody>
      </p:sp>
      <p:sp>
        <p:nvSpPr>
          <p:cNvPr id="4" name="Marcador de pie de página 3">
            <a:extLst>
              <a:ext uri="{FF2B5EF4-FFF2-40B4-BE49-F238E27FC236}">
                <a16:creationId xmlns:a16="http://schemas.microsoft.com/office/drawing/2014/main" id="{D767A9B8-F1F2-48F4-8337-7213ADA9AC3E}"/>
              </a:ext>
            </a:extLst>
          </p:cNvPr>
          <p:cNvSpPr>
            <a:spLocks noGrp="1"/>
          </p:cNvSpPr>
          <p:nvPr>
            <p:ph type="ftr" sz="quarter" idx="11"/>
          </p:nvPr>
        </p:nvSpPr>
        <p:spPr/>
        <p:txBody>
          <a:bodyPr/>
          <a:lstStyle/>
          <a:p>
            <a:endParaRPr lang="es-EC"/>
          </a:p>
        </p:txBody>
      </p:sp>
      <p:sp>
        <p:nvSpPr>
          <p:cNvPr id="5" name="Marcador de número de diapositiva 4">
            <a:extLst>
              <a:ext uri="{FF2B5EF4-FFF2-40B4-BE49-F238E27FC236}">
                <a16:creationId xmlns:a16="http://schemas.microsoft.com/office/drawing/2014/main" id="{75CAA39B-47A9-42F8-AF68-918C76242128}"/>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10574905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235E7371-5007-49B8-BC47-82F085CFFA87}"/>
              </a:ext>
            </a:extLst>
          </p:cNvPr>
          <p:cNvSpPr>
            <a:spLocks noGrp="1"/>
          </p:cNvSpPr>
          <p:nvPr>
            <p:ph type="dt" sz="half" idx="10"/>
          </p:nvPr>
        </p:nvSpPr>
        <p:spPr/>
        <p:txBody>
          <a:bodyPr/>
          <a:lstStyle/>
          <a:p>
            <a:fld id="{156F178F-13A3-4925-8B54-73919CC619DE}" type="datetimeFigureOut">
              <a:rPr lang="es-EC" smtClean="0"/>
              <a:t>26/11/2025</a:t>
            </a:fld>
            <a:endParaRPr lang="es-EC"/>
          </a:p>
        </p:txBody>
      </p:sp>
      <p:sp>
        <p:nvSpPr>
          <p:cNvPr id="3" name="Marcador de pie de página 2">
            <a:extLst>
              <a:ext uri="{FF2B5EF4-FFF2-40B4-BE49-F238E27FC236}">
                <a16:creationId xmlns:a16="http://schemas.microsoft.com/office/drawing/2014/main" id="{EAC35D8D-0DAD-4CED-92DE-176A44D4EFEE}"/>
              </a:ext>
            </a:extLst>
          </p:cNvPr>
          <p:cNvSpPr>
            <a:spLocks noGrp="1"/>
          </p:cNvSpPr>
          <p:nvPr>
            <p:ph type="ftr" sz="quarter" idx="11"/>
          </p:nvPr>
        </p:nvSpPr>
        <p:spPr/>
        <p:txBody>
          <a:bodyPr/>
          <a:lstStyle/>
          <a:p>
            <a:endParaRPr lang="es-EC"/>
          </a:p>
        </p:txBody>
      </p:sp>
      <p:sp>
        <p:nvSpPr>
          <p:cNvPr id="4" name="Marcador de número de diapositiva 3">
            <a:extLst>
              <a:ext uri="{FF2B5EF4-FFF2-40B4-BE49-F238E27FC236}">
                <a16:creationId xmlns:a16="http://schemas.microsoft.com/office/drawing/2014/main" id="{A79B3E97-5178-4E8E-B020-BEB305CEC7D8}"/>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13591162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67FC53-94F8-46E4-BE28-1CCD91A0325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732BA8FA-B313-4758-B5BD-CFF2B223A61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texto 3">
            <a:extLst>
              <a:ext uri="{FF2B5EF4-FFF2-40B4-BE49-F238E27FC236}">
                <a16:creationId xmlns:a16="http://schemas.microsoft.com/office/drawing/2014/main" id="{8EECB238-ADE5-4692-B4CB-1954DD8682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566E361-51AF-4218-B415-4DF9B992EC29}"/>
              </a:ext>
            </a:extLst>
          </p:cNvPr>
          <p:cNvSpPr>
            <a:spLocks noGrp="1"/>
          </p:cNvSpPr>
          <p:nvPr>
            <p:ph type="dt" sz="half" idx="10"/>
          </p:nvPr>
        </p:nvSpPr>
        <p:spPr/>
        <p:txBody>
          <a:bodyPr/>
          <a:lstStyle/>
          <a:p>
            <a:fld id="{156F178F-13A3-4925-8B54-73919CC619DE}" type="datetimeFigureOut">
              <a:rPr lang="es-EC" smtClean="0"/>
              <a:t>26/11/2025</a:t>
            </a:fld>
            <a:endParaRPr lang="es-EC"/>
          </a:p>
        </p:txBody>
      </p:sp>
      <p:sp>
        <p:nvSpPr>
          <p:cNvPr id="6" name="Marcador de pie de página 5">
            <a:extLst>
              <a:ext uri="{FF2B5EF4-FFF2-40B4-BE49-F238E27FC236}">
                <a16:creationId xmlns:a16="http://schemas.microsoft.com/office/drawing/2014/main" id="{A0920A1D-C77C-46B8-A93E-1A94C322D9EA}"/>
              </a:ext>
            </a:extLst>
          </p:cNvPr>
          <p:cNvSpPr>
            <a:spLocks noGrp="1"/>
          </p:cNvSpPr>
          <p:nvPr>
            <p:ph type="ftr" sz="quarter" idx="11"/>
          </p:nvPr>
        </p:nvSpPr>
        <p:spPr/>
        <p:txBody>
          <a:bodyPr/>
          <a:lstStyle/>
          <a:p>
            <a:endParaRPr lang="es-EC"/>
          </a:p>
        </p:txBody>
      </p:sp>
      <p:sp>
        <p:nvSpPr>
          <p:cNvPr id="7" name="Marcador de número de diapositiva 6">
            <a:extLst>
              <a:ext uri="{FF2B5EF4-FFF2-40B4-BE49-F238E27FC236}">
                <a16:creationId xmlns:a16="http://schemas.microsoft.com/office/drawing/2014/main" id="{CEB09875-3881-4056-A249-3703AD0D18BE}"/>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38064322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2669C0-7E62-4710-9299-9DAEA59855D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C"/>
          </a:p>
        </p:txBody>
      </p:sp>
      <p:sp>
        <p:nvSpPr>
          <p:cNvPr id="3" name="Marcador de posición de imagen 2">
            <a:extLst>
              <a:ext uri="{FF2B5EF4-FFF2-40B4-BE49-F238E27FC236}">
                <a16:creationId xmlns:a16="http://schemas.microsoft.com/office/drawing/2014/main" id="{0789536F-D1A6-46F1-AAF0-27332E602B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C"/>
          </a:p>
        </p:txBody>
      </p:sp>
      <p:sp>
        <p:nvSpPr>
          <p:cNvPr id="4" name="Marcador de texto 3">
            <a:extLst>
              <a:ext uri="{FF2B5EF4-FFF2-40B4-BE49-F238E27FC236}">
                <a16:creationId xmlns:a16="http://schemas.microsoft.com/office/drawing/2014/main" id="{9E2D8E19-F8EC-41F6-822A-E695A56644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1A9895B-A707-4856-84F8-F69C2A6AC65A}"/>
              </a:ext>
            </a:extLst>
          </p:cNvPr>
          <p:cNvSpPr>
            <a:spLocks noGrp="1"/>
          </p:cNvSpPr>
          <p:nvPr>
            <p:ph type="dt" sz="half" idx="10"/>
          </p:nvPr>
        </p:nvSpPr>
        <p:spPr/>
        <p:txBody>
          <a:bodyPr/>
          <a:lstStyle/>
          <a:p>
            <a:fld id="{156F178F-13A3-4925-8B54-73919CC619DE}" type="datetimeFigureOut">
              <a:rPr lang="es-EC" smtClean="0"/>
              <a:t>26/11/2025</a:t>
            </a:fld>
            <a:endParaRPr lang="es-EC"/>
          </a:p>
        </p:txBody>
      </p:sp>
      <p:sp>
        <p:nvSpPr>
          <p:cNvPr id="6" name="Marcador de pie de página 5">
            <a:extLst>
              <a:ext uri="{FF2B5EF4-FFF2-40B4-BE49-F238E27FC236}">
                <a16:creationId xmlns:a16="http://schemas.microsoft.com/office/drawing/2014/main" id="{B2480D8A-AF65-456F-A70D-211912A4733A}"/>
              </a:ext>
            </a:extLst>
          </p:cNvPr>
          <p:cNvSpPr>
            <a:spLocks noGrp="1"/>
          </p:cNvSpPr>
          <p:nvPr>
            <p:ph type="ftr" sz="quarter" idx="11"/>
          </p:nvPr>
        </p:nvSpPr>
        <p:spPr/>
        <p:txBody>
          <a:bodyPr/>
          <a:lstStyle/>
          <a:p>
            <a:endParaRPr lang="es-EC"/>
          </a:p>
        </p:txBody>
      </p:sp>
      <p:sp>
        <p:nvSpPr>
          <p:cNvPr id="7" name="Marcador de número de diapositiva 6">
            <a:extLst>
              <a:ext uri="{FF2B5EF4-FFF2-40B4-BE49-F238E27FC236}">
                <a16:creationId xmlns:a16="http://schemas.microsoft.com/office/drawing/2014/main" id="{3A1C41D0-AA19-4C22-B342-F300AC925266}"/>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36486870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D7A592-EC17-498E-B4F1-021D1F61D61A}"/>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texto vertical 2">
            <a:extLst>
              <a:ext uri="{FF2B5EF4-FFF2-40B4-BE49-F238E27FC236}">
                <a16:creationId xmlns:a16="http://schemas.microsoft.com/office/drawing/2014/main" id="{3A73E03F-3E04-4E93-9716-43891DFDD9EA}"/>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BC9CF76E-E651-44FB-9C3E-080B77E5E504}"/>
              </a:ext>
            </a:extLst>
          </p:cNvPr>
          <p:cNvSpPr>
            <a:spLocks noGrp="1"/>
          </p:cNvSpPr>
          <p:nvPr>
            <p:ph type="dt" sz="half" idx="10"/>
          </p:nvPr>
        </p:nvSpPr>
        <p:spPr/>
        <p:txBody>
          <a:bodyPr/>
          <a:lstStyle/>
          <a:p>
            <a:fld id="{156F178F-13A3-4925-8B54-73919CC619DE}" type="datetimeFigureOut">
              <a:rPr lang="es-EC" smtClean="0"/>
              <a:t>26/11/2025</a:t>
            </a:fld>
            <a:endParaRPr lang="es-EC"/>
          </a:p>
        </p:txBody>
      </p:sp>
      <p:sp>
        <p:nvSpPr>
          <p:cNvPr id="5" name="Marcador de pie de página 4">
            <a:extLst>
              <a:ext uri="{FF2B5EF4-FFF2-40B4-BE49-F238E27FC236}">
                <a16:creationId xmlns:a16="http://schemas.microsoft.com/office/drawing/2014/main" id="{AD5F4A3C-030C-4F53-9297-A01107A128E7}"/>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107AF58D-F9FF-4406-84AD-DCDE23E7886E}"/>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28711068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D8E5DA3-0A5E-4689-8CFF-0CED113D3E4A}"/>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EC"/>
          </a:p>
        </p:txBody>
      </p:sp>
      <p:sp>
        <p:nvSpPr>
          <p:cNvPr id="3" name="Marcador de texto vertical 2">
            <a:extLst>
              <a:ext uri="{FF2B5EF4-FFF2-40B4-BE49-F238E27FC236}">
                <a16:creationId xmlns:a16="http://schemas.microsoft.com/office/drawing/2014/main" id="{E40C7386-FCE4-40EC-9309-6F13FC225074}"/>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17D68580-0F33-46AF-AA4D-41AD3A71C69A}"/>
              </a:ext>
            </a:extLst>
          </p:cNvPr>
          <p:cNvSpPr>
            <a:spLocks noGrp="1"/>
          </p:cNvSpPr>
          <p:nvPr>
            <p:ph type="dt" sz="half" idx="10"/>
          </p:nvPr>
        </p:nvSpPr>
        <p:spPr/>
        <p:txBody>
          <a:bodyPr/>
          <a:lstStyle/>
          <a:p>
            <a:fld id="{156F178F-13A3-4925-8B54-73919CC619DE}" type="datetimeFigureOut">
              <a:rPr lang="es-EC" smtClean="0"/>
              <a:t>26/11/2025</a:t>
            </a:fld>
            <a:endParaRPr lang="es-EC"/>
          </a:p>
        </p:txBody>
      </p:sp>
      <p:sp>
        <p:nvSpPr>
          <p:cNvPr id="5" name="Marcador de pie de página 4">
            <a:extLst>
              <a:ext uri="{FF2B5EF4-FFF2-40B4-BE49-F238E27FC236}">
                <a16:creationId xmlns:a16="http://schemas.microsoft.com/office/drawing/2014/main" id="{814F2A89-7C20-4F42-B541-94E08BC476D1}"/>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6AA7B955-7AEE-4F7E-8B16-8780283F6911}"/>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17679209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914400" y="609601"/>
            <a:ext cx="10363200" cy="4267200"/>
          </a:xfrm>
        </p:spPr>
        <p:txBody>
          <a:bodyPr anchor="b">
            <a:noAutofit/>
          </a:bodyPr>
          <a:lstStyle>
            <a:lvl1pPr>
              <a:lnSpc>
                <a:spcPct val="100000"/>
              </a:lnSpc>
              <a:defRPr sz="8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828800" y="4953000"/>
            <a:ext cx="8534400" cy="12192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7" name="Date Placeholder 6"/>
          <p:cNvSpPr>
            <a:spLocks noGrp="1"/>
          </p:cNvSpPr>
          <p:nvPr>
            <p:ph type="dt" sz="half" idx="10"/>
          </p:nvPr>
        </p:nvSpPr>
        <p:spPr/>
        <p:txBody>
          <a:bodyPr/>
          <a:lstStyle/>
          <a:p>
            <a:fld id="{E7C4E607-19DA-460D-873F-2665A632EB4B}" type="datetime1">
              <a:rPr lang="es-EC" smtClean="0"/>
              <a:t>26/11/2025</a:t>
            </a:fld>
            <a:endParaRPr lang="es-EC"/>
          </a:p>
        </p:txBody>
      </p:sp>
      <p:sp>
        <p:nvSpPr>
          <p:cNvPr id="8" name="Slide Number Placeholder 7"/>
          <p:cNvSpPr>
            <a:spLocks noGrp="1"/>
          </p:cNvSpPr>
          <p:nvPr>
            <p:ph type="sldNum" sz="quarter" idx="11"/>
          </p:nvPr>
        </p:nvSpPr>
        <p:spPr/>
        <p:txBody>
          <a:bodyPr/>
          <a:lstStyle/>
          <a:p>
            <a:fld id="{14B28EB2-3408-4757-A806-361BA67028B7}" type="slidenum">
              <a:rPr lang="es-EC" smtClean="0"/>
              <a:t>‹Nº›</a:t>
            </a:fld>
            <a:endParaRPr lang="es-EC"/>
          </a:p>
        </p:txBody>
      </p:sp>
      <p:sp>
        <p:nvSpPr>
          <p:cNvPr id="9" name="Footer Placeholder 8"/>
          <p:cNvSpPr>
            <a:spLocks noGrp="1"/>
          </p:cNvSpPr>
          <p:nvPr>
            <p:ph type="ftr" sz="quarter" idx="12"/>
          </p:nvPr>
        </p:nvSpPr>
        <p:spPr/>
        <p:txBody>
          <a:bodyPr/>
          <a:lstStyle/>
          <a:p>
            <a:endParaRPr lang="es-EC"/>
          </a:p>
        </p:txBody>
      </p:sp>
    </p:spTree>
    <p:extLst>
      <p:ext uri="{BB962C8B-B14F-4D97-AF65-F5344CB8AC3E}">
        <p14:creationId xmlns:p14="http://schemas.microsoft.com/office/powerpoint/2010/main" val="23457904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itchFamily="34" charset="0"/>
              <a:buChar char="•"/>
              <a:defRPr/>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290B73B-B6A1-476A-B629-21320BBC12E2}" type="datetime1">
              <a:rPr lang="es-EC" smtClean="0"/>
              <a:t>26/11/2025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7803679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963084" y="1371601"/>
            <a:ext cx="10363200" cy="2505075"/>
          </a:xfrm>
        </p:spPr>
        <p:txBody>
          <a:bodyPr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963084" y="4068764"/>
            <a:ext cx="10363200" cy="1131887"/>
          </a:xfrm>
        </p:spPr>
        <p:txBody>
          <a:bodyPr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CDC2038A-D817-4671-8CB8-0981B299E92B}" type="datetime1">
              <a:rPr lang="es-EC" smtClean="0"/>
              <a:t>26/11/2025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
        <p:nvSpPr>
          <p:cNvPr id="7" name="Oval 6"/>
          <p:cNvSpPr/>
          <p:nvPr/>
        </p:nvSpPr>
        <p:spPr>
          <a:xfrm>
            <a:off x="5994400" y="3924300"/>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Oval 7"/>
          <p:cNvSpPr/>
          <p:nvPr/>
        </p:nvSpPr>
        <p:spPr>
          <a:xfrm>
            <a:off x="6261100" y="3924300"/>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Oval 8"/>
          <p:cNvSpPr/>
          <p:nvPr/>
        </p:nvSpPr>
        <p:spPr>
          <a:xfrm>
            <a:off x="5728971" y="3924300"/>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30578818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4" name="Content Placeholder 3"/>
          <p:cNvSpPr>
            <a:spLocks noGrp="1"/>
          </p:cNvSpPr>
          <p:nvPr>
            <p:ph sz="half" idx="2"/>
          </p:nvPr>
        </p:nvSpPr>
        <p:spPr>
          <a:xfrm>
            <a:off x="6197600" y="1600201"/>
            <a:ext cx="5384800" cy="4525963"/>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6DC4ADFD-670B-42AB-AA2D-8905C1A1B3E7}" type="datetime1">
              <a:rPr lang="es-EC" smtClean="0"/>
              <a:t>26/11/2025</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14B28EB2-3408-4757-A806-361BA67028B7}" type="slidenum">
              <a:rPr lang="es-EC" smtClean="0"/>
              <a:t>‹Nº›</a:t>
            </a:fld>
            <a:endParaRPr lang="es-EC"/>
          </a:p>
        </p:txBody>
      </p:sp>
      <p:sp>
        <p:nvSpPr>
          <p:cNvPr id="9" name="Content Placeholder 8"/>
          <p:cNvSpPr>
            <a:spLocks noGrp="1"/>
          </p:cNvSpPr>
          <p:nvPr>
            <p:ph sz="quarter" idx="13"/>
          </p:nvPr>
        </p:nvSpPr>
        <p:spPr>
          <a:xfrm>
            <a:off x="487680" y="1600200"/>
            <a:ext cx="5388864" cy="452628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Tree>
    <p:extLst>
      <p:ext uri="{BB962C8B-B14F-4D97-AF65-F5344CB8AC3E}">
        <p14:creationId xmlns:p14="http://schemas.microsoft.com/office/powerpoint/2010/main" val="30397848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a:p>
        </p:txBody>
      </p:sp>
      <p:sp>
        <p:nvSpPr>
          <p:cNvPr id="3" name="Text Placeholder 2"/>
          <p:cNvSpPr>
            <a:spLocks noGrp="1"/>
          </p:cNvSpPr>
          <p:nvPr>
            <p:ph type="body" idx="1"/>
          </p:nvPr>
        </p:nvSpPr>
        <p:spPr>
          <a:xfrm>
            <a:off x="609600" y="1600200"/>
            <a:ext cx="5386917"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5" name="Text Placeholder 4"/>
          <p:cNvSpPr>
            <a:spLocks noGrp="1"/>
          </p:cNvSpPr>
          <p:nvPr>
            <p:ph type="body" sz="quarter" idx="3"/>
          </p:nvPr>
        </p:nvSpPr>
        <p:spPr>
          <a:xfrm>
            <a:off x="6197601" y="1600200"/>
            <a:ext cx="5389033"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7" name="Date Placeholder 6"/>
          <p:cNvSpPr>
            <a:spLocks noGrp="1"/>
          </p:cNvSpPr>
          <p:nvPr>
            <p:ph type="dt" sz="half" idx="10"/>
          </p:nvPr>
        </p:nvSpPr>
        <p:spPr/>
        <p:txBody>
          <a:bodyPr/>
          <a:lstStyle/>
          <a:p>
            <a:fld id="{9891E5A2-5B64-4460-A741-AB3873F3AED1}" type="datetime1">
              <a:rPr lang="es-EC" smtClean="0"/>
              <a:t>26/11/2025</a:t>
            </a:fld>
            <a:endParaRPr lang="es-EC"/>
          </a:p>
        </p:txBody>
      </p:sp>
      <p:sp>
        <p:nvSpPr>
          <p:cNvPr id="8" name="Footer Placeholder 7"/>
          <p:cNvSpPr>
            <a:spLocks noGrp="1"/>
          </p:cNvSpPr>
          <p:nvPr>
            <p:ph type="ftr" sz="quarter" idx="11"/>
          </p:nvPr>
        </p:nvSpPr>
        <p:spPr/>
        <p:txBody>
          <a:bodyPr/>
          <a:lstStyle/>
          <a:p>
            <a:endParaRPr lang="es-EC"/>
          </a:p>
        </p:txBody>
      </p:sp>
      <p:sp>
        <p:nvSpPr>
          <p:cNvPr id="9" name="Slide Number Placeholder 8"/>
          <p:cNvSpPr>
            <a:spLocks noGrp="1"/>
          </p:cNvSpPr>
          <p:nvPr>
            <p:ph type="sldNum" sz="quarter" idx="12"/>
          </p:nvPr>
        </p:nvSpPr>
        <p:spPr/>
        <p:txBody>
          <a:bodyPr/>
          <a:lstStyle/>
          <a:p>
            <a:fld id="{14B28EB2-3408-4757-A806-361BA67028B7}" type="slidenum">
              <a:rPr lang="es-EC" smtClean="0"/>
              <a:t>‹Nº›</a:t>
            </a:fld>
            <a:endParaRPr lang="es-EC"/>
          </a:p>
        </p:txBody>
      </p:sp>
      <p:sp>
        <p:nvSpPr>
          <p:cNvPr id="11" name="Content Placeholder 10"/>
          <p:cNvSpPr>
            <a:spLocks noGrp="1"/>
          </p:cNvSpPr>
          <p:nvPr>
            <p:ph sz="quarter" idx="13"/>
          </p:nvPr>
        </p:nvSpPr>
        <p:spPr>
          <a:xfrm>
            <a:off x="609600" y="2212848"/>
            <a:ext cx="5388864" cy="3913632"/>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3" name="Content Placeholder 12"/>
          <p:cNvSpPr>
            <a:spLocks noGrp="1"/>
          </p:cNvSpPr>
          <p:nvPr>
            <p:ph sz="quarter" idx="14"/>
          </p:nvPr>
        </p:nvSpPr>
        <p:spPr>
          <a:xfrm>
            <a:off x="6230112" y="2212849"/>
            <a:ext cx="5388864" cy="3913187"/>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Tree>
    <p:extLst>
      <p:ext uri="{BB962C8B-B14F-4D97-AF65-F5344CB8AC3E}">
        <p14:creationId xmlns:p14="http://schemas.microsoft.com/office/powerpoint/2010/main" val="19078601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60B840B2-0BA1-4127-9E25-74D449B7ADFD}" type="datetime1">
              <a:rPr lang="es-EC" smtClean="0"/>
              <a:t>26/11/2025</a:t>
            </a:fld>
            <a:endParaRPr lang="es-EC"/>
          </a:p>
        </p:txBody>
      </p:sp>
      <p:sp>
        <p:nvSpPr>
          <p:cNvPr id="4" name="Footer Placeholder 3"/>
          <p:cNvSpPr>
            <a:spLocks noGrp="1"/>
          </p:cNvSpPr>
          <p:nvPr>
            <p:ph type="ftr" sz="quarter" idx="11"/>
          </p:nvPr>
        </p:nvSpPr>
        <p:spPr/>
        <p:txBody>
          <a:bodyPr/>
          <a:lstStyle/>
          <a:p>
            <a:endParaRPr lang="es-EC"/>
          </a:p>
        </p:txBody>
      </p:sp>
      <p:sp>
        <p:nvSpPr>
          <p:cNvPr id="5" name="Slide Number Placeholder 4"/>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82288571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E0FE62-E592-4B65-AFBD-C1CCC30A5FE7}" type="datetime1">
              <a:rPr lang="es-EC" smtClean="0"/>
              <a:t>26/11/2025</a:t>
            </a:fld>
            <a:endParaRPr lang="es-EC"/>
          </a:p>
        </p:txBody>
      </p:sp>
      <p:sp>
        <p:nvSpPr>
          <p:cNvPr id="3" name="Footer Placeholder 2"/>
          <p:cNvSpPr>
            <a:spLocks noGrp="1"/>
          </p:cNvSpPr>
          <p:nvPr>
            <p:ph type="ftr" sz="quarter" idx="11"/>
          </p:nvPr>
        </p:nvSpPr>
        <p:spPr/>
        <p:txBody>
          <a:bodyPr/>
          <a:lstStyle/>
          <a:p>
            <a:endParaRPr lang="es-EC"/>
          </a:p>
        </p:txBody>
      </p:sp>
      <p:sp>
        <p:nvSpPr>
          <p:cNvPr id="4" name="Slide Number Placeholder 3"/>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12044298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7876117" y="266700"/>
            <a:ext cx="4011084" cy="2095500"/>
          </a:xfrm>
        </p:spPr>
        <p:txBody>
          <a:bodyPr anchor="b"/>
          <a:lstStyle>
            <a:lvl1pPr algn="ctr">
              <a:lnSpc>
                <a:spcPct val="100000"/>
              </a:lnSpc>
              <a:defRPr sz="2800" b="0">
                <a:effectLst>
                  <a:outerShdw blurRad="50800" dist="25400" dir="5400000" algn="t" rotWithShape="0">
                    <a:prstClr val="black">
                      <a:alpha val="25000"/>
                    </a:prstClr>
                  </a:outerShdw>
                </a:effectLst>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958850" y="273051"/>
            <a:ext cx="66611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7876117" y="2438401"/>
            <a:ext cx="4011084" cy="3687763"/>
          </a:xfrm>
        </p:spPr>
        <p:txBody>
          <a:bodyPr>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67F15ACB-451F-4A5F-BEC9-AE2F848845F3}" type="datetime1">
              <a:rPr lang="es-EC" smtClean="0"/>
              <a:t>26/11/2025</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40980814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239435" y="228600"/>
            <a:ext cx="7615765" cy="895350"/>
          </a:xfrm>
        </p:spPr>
        <p:txBody>
          <a:bodyPr anchor="b"/>
          <a:lstStyle>
            <a:lvl1pPr algn="ctr">
              <a:lnSpc>
                <a:spcPct val="100000"/>
              </a:lnSpc>
              <a:defRPr sz="2800" b="0"/>
            </a:lvl1pPr>
          </a:lstStyle>
          <a:p>
            <a:r>
              <a:rPr lang="es-ES"/>
              <a:t>Haga clic para modificar el estilo de título del patrón</a:t>
            </a:r>
            <a:endParaRPr lang="en-US" dirty="0"/>
          </a:p>
        </p:txBody>
      </p:sp>
      <p:sp>
        <p:nvSpPr>
          <p:cNvPr id="3" name="Picture Placeholder 2"/>
          <p:cNvSpPr>
            <a:spLocks noGrp="1"/>
          </p:cNvSpPr>
          <p:nvPr>
            <p:ph type="pic" idx="1"/>
          </p:nvPr>
        </p:nvSpPr>
        <p:spPr>
          <a:xfrm>
            <a:off x="2010835" y="1143000"/>
            <a:ext cx="8072965" cy="4541044"/>
          </a:xfrm>
          <a:ln w="76200">
            <a:solidFill>
              <a:schemeClr val="bg1"/>
            </a:solidFill>
          </a:ln>
          <a:effectLst>
            <a:outerShdw blurRad="88900" dist="50800" dir="5400000" algn="ctr" rotWithShape="0">
              <a:srgbClr val="000000">
                <a:alpha val="25000"/>
              </a:srgbClr>
            </a:outerShdw>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2239435" y="5810250"/>
            <a:ext cx="7615765" cy="5334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4A422F84-0CF5-40B2-88A0-C1094D415436}" type="datetime1">
              <a:rPr lang="es-EC" smtClean="0"/>
              <a:t>26/11/2025</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41423480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BBD623C0-6495-45E5-AD9B-690C29EB2D28}" type="datetime1">
              <a:rPr lang="es-EC" smtClean="0"/>
              <a:t>26/11/2025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38409558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B4D8EE3C-3A2D-421B-8BCE-DCA3638F2800}" type="datetime1">
              <a:rPr lang="es-EC" smtClean="0"/>
              <a:t>26/11/2025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15324203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8AEA5EB9-22C8-48CC-B673-E9C9F408D6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48272E61-B9B7-40DF-800F-CC8677E06E5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1B85FAC1-C067-4AAB-8D19-E96E83F3106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6F178F-13A3-4925-8B54-73919CC619DE}" type="datetimeFigureOut">
              <a:rPr lang="es-EC" smtClean="0"/>
              <a:t>26/11/2025</a:t>
            </a:fld>
            <a:endParaRPr lang="es-EC"/>
          </a:p>
        </p:txBody>
      </p:sp>
      <p:sp>
        <p:nvSpPr>
          <p:cNvPr id="5" name="Marcador de pie de página 4">
            <a:extLst>
              <a:ext uri="{FF2B5EF4-FFF2-40B4-BE49-F238E27FC236}">
                <a16:creationId xmlns:a16="http://schemas.microsoft.com/office/drawing/2014/main" id="{36B0AB3B-8269-400B-BFAF-4F88BCEB84E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C"/>
          </a:p>
        </p:txBody>
      </p:sp>
      <p:sp>
        <p:nvSpPr>
          <p:cNvPr id="6" name="Marcador de número de diapositiva 5">
            <a:extLst>
              <a:ext uri="{FF2B5EF4-FFF2-40B4-BE49-F238E27FC236}">
                <a16:creationId xmlns:a16="http://schemas.microsoft.com/office/drawing/2014/main" id="{B1B75696-BDD5-4991-809C-CDE0AB21261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5A2F40-EC8C-41F3-BD8D-F3F005ABEE3D}" type="slidenum">
              <a:rPr lang="es-EC" smtClean="0"/>
              <a:t>‹Nº›</a:t>
            </a:fld>
            <a:endParaRPr lang="es-EC"/>
          </a:p>
        </p:txBody>
      </p:sp>
    </p:spTree>
    <p:extLst>
      <p:ext uri="{BB962C8B-B14F-4D97-AF65-F5344CB8AC3E}">
        <p14:creationId xmlns:p14="http://schemas.microsoft.com/office/powerpoint/2010/main" val="21276267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600200"/>
          </a:xfrm>
          <a:prstGeom prst="rect">
            <a:avLst/>
          </a:prstGeom>
        </p:spPr>
        <p:txBody>
          <a:bodyPr vert="horz" lIns="91440" tIns="45720" rIns="91440" bIns="45720" rtlCol="0" anchor="b">
            <a:no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8484463" y="6356351"/>
            <a:ext cx="2781300" cy="365125"/>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itchFamily="34" charset="0"/>
              </a:defRPr>
            </a:lvl1pPr>
          </a:lstStyle>
          <a:p>
            <a:fld id="{214FB16F-AFAA-44A5-84B2-773ABBFEBDB3}" type="datetime1">
              <a:rPr lang="es-EC" smtClean="0"/>
              <a:t>26/11/2025</a:t>
            </a:fld>
            <a:endParaRPr lang="es-EC"/>
          </a:p>
        </p:txBody>
      </p:sp>
      <p:sp>
        <p:nvSpPr>
          <p:cNvPr id="5" name="Footer Placeholder 4"/>
          <p:cNvSpPr>
            <a:spLocks noGrp="1"/>
          </p:cNvSpPr>
          <p:nvPr>
            <p:ph type="ftr" sz="quarter" idx="3"/>
          </p:nvPr>
        </p:nvSpPr>
        <p:spPr>
          <a:xfrm>
            <a:off x="878887" y="6356351"/>
            <a:ext cx="3797300" cy="365125"/>
          </a:xfrm>
          <a:prstGeom prst="rect">
            <a:avLst/>
          </a:prstGeom>
        </p:spPr>
        <p:txBody>
          <a:bodyPr vert="horz" lIns="45720" tIns="45720" rIns="91440" bIns="45720" rtlCol="0" anchor="ctr"/>
          <a:lstStyle>
            <a:lvl1pPr algn="l">
              <a:defRPr sz="1200">
                <a:solidFill>
                  <a:schemeClr val="tx1">
                    <a:lumMod val="65000"/>
                    <a:lumOff val="35000"/>
                  </a:schemeClr>
                </a:solidFill>
                <a:latin typeface="Century Gothic" pitchFamily="34" charset="0"/>
              </a:defRPr>
            </a:lvl1pPr>
          </a:lstStyle>
          <a:p>
            <a:endParaRPr lang="es-EC"/>
          </a:p>
        </p:txBody>
      </p:sp>
      <p:sp>
        <p:nvSpPr>
          <p:cNvPr id="6" name="Slide Number Placeholder 5"/>
          <p:cNvSpPr>
            <a:spLocks noGrp="1"/>
          </p:cNvSpPr>
          <p:nvPr>
            <p:ph type="sldNum" sz="quarter" idx="4"/>
          </p:nvPr>
        </p:nvSpPr>
        <p:spPr>
          <a:xfrm>
            <a:off x="11391038" y="6356351"/>
            <a:ext cx="749300" cy="365125"/>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itchFamily="34" charset="0"/>
              </a:defRPr>
            </a:lvl1pPr>
          </a:lstStyle>
          <a:p>
            <a:fld id="{14B28EB2-3408-4757-A806-361BA67028B7}" type="slidenum">
              <a:rPr lang="es-EC" smtClean="0"/>
              <a:t>‹Nº›</a:t>
            </a:fld>
            <a:endParaRPr lang="es-EC"/>
          </a:p>
        </p:txBody>
      </p:sp>
      <p:sp>
        <p:nvSpPr>
          <p:cNvPr id="7" name="Oval 6"/>
          <p:cNvSpPr/>
          <p:nvPr/>
        </p:nvSpPr>
        <p:spPr>
          <a:xfrm>
            <a:off x="11277014" y="6499384"/>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Oval 7"/>
          <p:cNvSpPr/>
          <p:nvPr/>
        </p:nvSpPr>
        <p:spPr>
          <a:xfrm>
            <a:off x="758826" y="6499384"/>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22648205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txBox="1">
            <a:spLocks noChangeArrowheads="1"/>
          </p:cNvSpPr>
          <p:nvPr/>
        </p:nvSpPr>
        <p:spPr>
          <a:xfrm>
            <a:off x="1102659" y="2257200"/>
            <a:ext cx="4010296" cy="1296144"/>
          </a:xfrm>
          <a:prstGeom prst="rect">
            <a:avLst/>
          </a:prstGeom>
        </p:spPr>
        <p:txBody>
          <a:bodyPr vert="horz" lIns="91440" tIns="45720" rIns="91440" bIns="45720" rtlCol="0" anchor="b">
            <a:noAutofit/>
          </a:bodyPr>
          <a:lstStyle>
            <a:lvl1pPr algn="ctr" defTabSz="914400" rtl="0" eaLnBrk="1" latinLnBrk="0" hangingPunct="1">
              <a:lnSpc>
                <a:spcPct val="100000"/>
              </a:lnSpc>
              <a:spcBef>
                <a:spcPct val="0"/>
              </a:spcBef>
              <a:buNone/>
              <a:defRPr sz="8000" kern="120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s-EC" sz="2400" b="1" dirty="0">
                <a:effectLst/>
                <a:latin typeface="Arial" pitchFamily="34" charset="0"/>
                <a:cs typeface="Arial" pitchFamily="34" charset="0"/>
              </a:rPr>
              <a:t>CAPÍTULO 2: </a:t>
            </a:r>
            <a:r>
              <a:rPr lang="es-MX" sz="2400" b="1" dirty="0">
                <a:effectLst/>
                <a:latin typeface="Arial" pitchFamily="34" charset="0"/>
                <a:cs typeface="Arial" pitchFamily="34" charset="0"/>
              </a:rPr>
              <a:t>ALGORITMOS Y ESTRUCTURAS DE CONTROL SECUENCIALES EN LENGUAJE C/C++</a:t>
            </a:r>
            <a:endParaRPr lang="es-ES" sz="2400" b="1" dirty="0">
              <a:effectLst/>
              <a:latin typeface="Arial" pitchFamily="34" charset="0"/>
              <a:cs typeface="Arial" pitchFamily="34" charset="0"/>
            </a:endParaRPr>
          </a:p>
        </p:txBody>
      </p:sp>
      <p:sp>
        <p:nvSpPr>
          <p:cNvPr id="7" name="Rectangle 3"/>
          <p:cNvSpPr txBox="1">
            <a:spLocks noChangeArrowheads="1"/>
          </p:cNvSpPr>
          <p:nvPr/>
        </p:nvSpPr>
        <p:spPr>
          <a:xfrm>
            <a:off x="2065254" y="4149080"/>
            <a:ext cx="8280400" cy="2232248"/>
          </a:xfrm>
          <a:prstGeom prst="rect">
            <a:avLst/>
          </a:prstGeom>
        </p:spPr>
        <p:txBody>
          <a:bodyPr vert="horz" lIns="91440" tIns="45720" rIns="91440" bIns="45720" rtlCol="0">
            <a:normAutofit fontScale="85000" lnSpcReduction="20000"/>
          </a:bodyPr>
          <a:lstStyle>
            <a:lvl1pPr marL="0" indent="0" algn="ctr" defTabSz="914400"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1pPr>
            <a:lvl2pPr marL="4572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2pPr>
            <a:lvl3pPr marL="9144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3pPr>
            <a:lvl4pPr marL="13716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4pPr>
            <a:lvl5pPr marL="18288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5pPr>
            <a:lvl6pPr marL="22860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6pPr>
            <a:lvl7pPr marL="27432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7pPr>
            <a:lvl8pPr marL="32004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8pPr>
            <a:lvl9pPr marL="36576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9pPr>
          </a:lstStyle>
          <a:p>
            <a:pPr>
              <a:lnSpc>
                <a:spcPct val="80000"/>
              </a:lnSpc>
            </a:pPr>
            <a:r>
              <a:rPr lang="es-ES" dirty="0"/>
              <a:t>Margarita Zambrano, César Villacís, David Alvarado, Luis García, Kevin Topón, Margarita Villacís, Sofía Bayona, Luis Pastor  </a:t>
            </a:r>
            <a:endParaRPr lang="en-US" b="1" dirty="0">
              <a:solidFill>
                <a:schemeClr val="tx2"/>
              </a:solidFill>
            </a:endParaRPr>
          </a:p>
          <a:p>
            <a:pPr>
              <a:lnSpc>
                <a:spcPct val="80000"/>
              </a:lnSpc>
            </a:pPr>
            <a:endParaRPr lang="en-US" b="1" dirty="0">
              <a:solidFill>
                <a:schemeClr val="tx2"/>
              </a:solidFill>
            </a:endParaRPr>
          </a:p>
          <a:p>
            <a:r>
              <a:rPr lang="es-EC" sz="1800" dirty="0"/>
              <a:t>Universidad de las Fueras Armadas – ESPE</a:t>
            </a:r>
          </a:p>
          <a:p>
            <a:r>
              <a:rPr lang="es-ES" sz="1800" dirty="0"/>
              <a:t>Quito, Ecuador</a:t>
            </a:r>
          </a:p>
          <a:p>
            <a:r>
              <a:rPr lang="es-ES" sz="1800" dirty="0"/>
              <a:t>Universidad Politécnica Salesiana – UPS</a:t>
            </a:r>
          </a:p>
          <a:p>
            <a:r>
              <a:rPr lang="es-ES" sz="1800" dirty="0"/>
              <a:t>Quito, Ecuador</a:t>
            </a:r>
          </a:p>
          <a:p>
            <a:r>
              <a:rPr lang="es-ES" sz="1800" dirty="0"/>
              <a:t>Universidad Rey Juan Carlos – URJC</a:t>
            </a:r>
          </a:p>
          <a:p>
            <a:r>
              <a:rPr lang="es-ES" sz="1800" dirty="0"/>
              <a:t>Madrid, España </a:t>
            </a:r>
          </a:p>
          <a:p>
            <a:endParaRPr lang="es-EC" sz="1800" dirty="0"/>
          </a:p>
          <a:p>
            <a:pPr>
              <a:lnSpc>
                <a:spcPct val="80000"/>
              </a:lnSpc>
            </a:pPr>
            <a:endParaRPr lang="en-US" b="1" dirty="0">
              <a:solidFill>
                <a:schemeClr val="hlink"/>
              </a:solidFill>
            </a:endParaRPr>
          </a:p>
          <a:p>
            <a:pPr>
              <a:lnSpc>
                <a:spcPct val="80000"/>
              </a:lnSpc>
            </a:pPr>
            <a:endParaRPr lang="es-ES" b="1" dirty="0">
              <a:solidFill>
                <a:schemeClr val="hlink"/>
              </a:solidFill>
            </a:endParaRPr>
          </a:p>
          <a:p>
            <a:pPr>
              <a:lnSpc>
                <a:spcPct val="80000"/>
              </a:lnSpc>
            </a:pPr>
            <a:endParaRPr lang="es-ES" b="1" dirty="0"/>
          </a:p>
        </p:txBody>
      </p:sp>
      <p:sp>
        <p:nvSpPr>
          <p:cNvPr id="2" name="1 Marcador de fecha"/>
          <p:cNvSpPr>
            <a:spLocks noGrp="1"/>
          </p:cNvSpPr>
          <p:nvPr>
            <p:ph type="dt" sz="half" idx="10"/>
          </p:nvPr>
        </p:nvSpPr>
        <p:spPr/>
        <p:txBody>
          <a:bodyPr/>
          <a:lstStyle/>
          <a:p>
            <a:fld id="{CFABD442-A3C4-4850-B201-37432B5929C0}" type="datetime1">
              <a:rPr lang="es-EC" smtClean="0"/>
              <a:t>26/11/2025</a:t>
            </a:fld>
            <a:endParaRPr lang="es-EC" dirty="0"/>
          </a:p>
        </p:txBody>
      </p:sp>
      <p:sp>
        <p:nvSpPr>
          <p:cNvPr id="3" name="2 Marcador de número de diapositiva"/>
          <p:cNvSpPr>
            <a:spLocks noGrp="1"/>
          </p:cNvSpPr>
          <p:nvPr>
            <p:ph type="sldNum" sz="quarter" idx="11"/>
          </p:nvPr>
        </p:nvSpPr>
        <p:spPr/>
        <p:txBody>
          <a:bodyPr/>
          <a:lstStyle/>
          <a:p>
            <a:fld id="{14B28EB2-3408-4757-A806-361BA67028B7}" type="slidenum">
              <a:rPr lang="es-EC" smtClean="0"/>
              <a:t>1</a:t>
            </a:fld>
            <a:endParaRPr lang="es-EC" dirty="0"/>
          </a:p>
        </p:txBody>
      </p:sp>
      <p:pic>
        <p:nvPicPr>
          <p:cNvPr id="4" name="Imagen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17552" y="281472"/>
            <a:ext cx="2967310" cy="927596"/>
          </a:xfrm>
          <a:prstGeom prst="rect">
            <a:avLst/>
          </a:prstGeom>
        </p:spPr>
      </p:pic>
      <p:pic>
        <p:nvPicPr>
          <p:cNvPr id="12" name="Imagen 11">
            <a:extLst>
              <a:ext uri="{FF2B5EF4-FFF2-40B4-BE49-F238E27FC236}">
                <a16:creationId xmlns:a16="http://schemas.microsoft.com/office/drawing/2014/main" id="{771F6278-F22F-1B52-5B3D-9A53240E0CCC}"/>
              </a:ext>
            </a:extLst>
          </p:cNvPr>
          <p:cNvPicPr>
            <a:picLocks noChangeAspect="1"/>
          </p:cNvPicPr>
          <p:nvPr/>
        </p:nvPicPr>
        <p:blipFill>
          <a:blip r:embed="rId4"/>
          <a:stretch>
            <a:fillRect/>
          </a:stretch>
        </p:blipFill>
        <p:spPr>
          <a:xfrm>
            <a:off x="5375920" y="1178050"/>
            <a:ext cx="3366640" cy="2755007"/>
          </a:xfrm>
          <a:prstGeom prst="rect">
            <a:avLst/>
          </a:prstGeom>
        </p:spPr>
      </p:pic>
    </p:spTree>
    <p:extLst>
      <p:ext uri="{BB962C8B-B14F-4D97-AF65-F5344CB8AC3E}">
        <p14:creationId xmlns:p14="http://schemas.microsoft.com/office/powerpoint/2010/main" val="11586975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fontScale="85000" lnSpcReduction="10000"/>
          </a:bodyPr>
          <a:lstStyle/>
          <a:p>
            <a:pPr marL="342900" lvl="1" indent="-342900">
              <a:buFont typeface="Arial" pitchFamily="34" charset="0"/>
              <a:buChar char="•"/>
            </a:pPr>
            <a:r>
              <a:rPr lang="es-MX" sz="3600" b="1" dirty="0">
                <a:solidFill>
                  <a:srgbClr val="FF0000"/>
                </a:solidFill>
              </a:rPr>
              <a:t>Estructuras de Control Secuenciales. </a:t>
            </a:r>
          </a:p>
          <a:p>
            <a:pPr lvl="1"/>
            <a:r>
              <a:rPr lang="es-MX" sz="1700" dirty="0"/>
              <a:t>Escritura. </a:t>
            </a:r>
          </a:p>
          <a:p>
            <a:pPr lvl="1"/>
            <a:r>
              <a:rPr lang="es-MX" sz="1700" dirty="0"/>
              <a:t>Lectura </a:t>
            </a:r>
          </a:p>
          <a:p>
            <a:pPr lvl="1"/>
            <a:r>
              <a:rPr lang="es-MX" sz="1700" dirty="0"/>
              <a:t>Problema 2.1. (Aplicación de estructuras de control secuenciales de escritura y lectura).</a:t>
            </a:r>
          </a:p>
          <a:p>
            <a:pPr lvl="1"/>
            <a:r>
              <a:rPr lang="es-MX" sz="1700" dirty="0"/>
              <a:t>Asignación. </a:t>
            </a:r>
          </a:p>
          <a:p>
            <a:pPr lvl="1"/>
            <a:r>
              <a:rPr lang="es-MX" sz="1700" dirty="0"/>
              <a:t>Asignación Simple </a:t>
            </a:r>
          </a:p>
          <a:p>
            <a:pPr lvl="1"/>
            <a:r>
              <a:rPr lang="es-MX" sz="1700" dirty="0"/>
              <a:t>Problema 2.2. (Aplicación de estructuras de control secuenciales de asignación simple). </a:t>
            </a:r>
          </a:p>
          <a:p>
            <a:pPr lvl="1"/>
            <a:r>
              <a:rPr lang="es-MX" sz="1700" dirty="0"/>
              <a:t>Asignación Contador </a:t>
            </a:r>
          </a:p>
          <a:p>
            <a:pPr lvl="1"/>
            <a:r>
              <a:rPr lang="es-MX" sz="1700" dirty="0"/>
              <a:t>Problema 2.3. (Aplicación de estructuras de control secuenciales de asignación contador). </a:t>
            </a:r>
          </a:p>
          <a:p>
            <a:pPr lvl="1"/>
            <a:r>
              <a:rPr lang="es-MX" sz="1700" dirty="0"/>
              <a:t>Asignación Acumulador </a:t>
            </a:r>
          </a:p>
          <a:p>
            <a:pPr lvl="1"/>
            <a:r>
              <a:rPr lang="es-MX" sz="1700" dirty="0"/>
              <a:t>Problema 2.4. (Aplicación de estructuras de control secuenciales de asignación acumulador tipo sumas) </a:t>
            </a:r>
          </a:p>
          <a:p>
            <a:pPr lvl="1"/>
            <a:r>
              <a:rPr lang="es-MX" sz="1700" dirty="0"/>
              <a:t>Problema 2.5. (Aplicación de estructuras de control secuenciales de asignación acumulador tipo productos) . </a:t>
            </a:r>
          </a:p>
          <a:p>
            <a:pPr lvl="1"/>
            <a:r>
              <a:rPr lang="es-MX" sz="1700" dirty="0"/>
              <a:t>Asignación de Trabajo </a:t>
            </a:r>
          </a:p>
          <a:p>
            <a:pPr lvl="1"/>
            <a:r>
              <a:rPr lang="es-MX" sz="1700" dirty="0"/>
              <a:t>Problema 2.6. (Aplicación de estructuras de control secuenciales de asignación de trabajo) </a:t>
            </a:r>
          </a:p>
          <a:p>
            <a:pPr lvl="1"/>
            <a:r>
              <a:rPr lang="es-MX" sz="1700" dirty="0"/>
              <a:t>Caso de Estudio 2.1: Encontrar el Perímetro y el Área de un Circulo </a:t>
            </a:r>
          </a:p>
          <a:p>
            <a:pPr lvl="1"/>
            <a:r>
              <a:rPr lang="es-MX" sz="1700" dirty="0"/>
              <a:t>Caso de Estudio 2.2: Encontrar el Perímetro y el Área de un Rectángulo </a:t>
            </a:r>
          </a:p>
          <a:p>
            <a:pPr lvl="1"/>
            <a:r>
              <a:rPr lang="es-MX" sz="1700" dirty="0"/>
              <a:t>Caso de Estudio 2.3: Encontrar la Generatriz, el Área y el Volumen de un Cono </a:t>
            </a:r>
          </a:p>
          <a:p>
            <a:pPr lvl="1"/>
            <a:r>
              <a:rPr lang="es-MX" sz="1700" dirty="0"/>
              <a:t>Caso de Estudio 2.4: Encontrar la distancia, tiempo de vuelo y la altura alcanzada por un proyectil </a:t>
            </a:r>
            <a:endParaRPr lang="es-419" sz="1700" dirty="0"/>
          </a:p>
        </p:txBody>
      </p:sp>
      <p:sp>
        <p:nvSpPr>
          <p:cNvPr id="5" name="4 Marcador de fecha"/>
          <p:cNvSpPr>
            <a:spLocks noGrp="1"/>
          </p:cNvSpPr>
          <p:nvPr>
            <p:ph type="dt" sz="half" idx="10"/>
          </p:nvPr>
        </p:nvSpPr>
        <p:spPr/>
        <p:txBody>
          <a:bodyPr/>
          <a:lstStyle/>
          <a:p>
            <a:fld id="{85E4E129-A937-4BEE-8A17-D7969DFE55C2}" type="datetime1">
              <a:rPr lang="es-EC">
                <a:solidFill>
                  <a:prstClr val="black">
                    <a:lumMod val="65000"/>
                    <a:lumOff val="35000"/>
                  </a:prstClr>
                </a:solidFill>
              </a:rPr>
              <a:pPr/>
              <a:t>26/11/2025</a:t>
            </a:fld>
            <a:endParaRPr lang="es-EC" dirty="0">
              <a:solidFill>
                <a:prstClr val="black">
                  <a:lumMod val="65000"/>
                  <a:lumOff val="35000"/>
                </a:prstClr>
              </a:solidFill>
            </a:endParaRP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2</a:t>
            </a:fld>
            <a:endParaRPr lang="es-EC" dirty="0">
              <a:solidFill>
                <a:prstClr val="black">
                  <a:lumMod val="65000"/>
                  <a:lumOff val="35000"/>
                </a:prstClr>
              </a:solidFill>
            </a:endParaRPr>
          </a:p>
        </p:txBody>
      </p:sp>
    </p:spTree>
    <p:extLst>
      <p:ext uri="{BB962C8B-B14F-4D97-AF65-F5344CB8AC3E}">
        <p14:creationId xmlns:p14="http://schemas.microsoft.com/office/powerpoint/2010/main" val="4318815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155575" y="1202883"/>
            <a:ext cx="7171765" cy="948646"/>
          </a:xfrm>
        </p:spPr>
        <p:txBody>
          <a:bodyPr/>
          <a:lstStyle/>
          <a:p>
            <a:r>
              <a:rPr lang="es-MX" sz="3600" b="1" dirty="0"/>
              <a:t>Estructuras de Control Secuenciales</a:t>
            </a:r>
            <a:br>
              <a:rPr lang="es-MX" sz="3600" b="1" dirty="0">
                <a:solidFill>
                  <a:srgbClr val="FF0000"/>
                </a:solidFill>
              </a:rPr>
            </a:br>
            <a:endParaRPr lang="en-US" sz="3600" b="1" dirty="0"/>
          </a:p>
        </p:txBody>
      </p:sp>
      <p:sp>
        <p:nvSpPr>
          <p:cNvPr id="5" name="4 Marcador de contenido"/>
          <p:cNvSpPr>
            <a:spLocks noGrp="1"/>
          </p:cNvSpPr>
          <p:nvPr>
            <p:ph idx="1"/>
          </p:nvPr>
        </p:nvSpPr>
        <p:spPr>
          <a:xfrm>
            <a:off x="1038428" y="1519293"/>
            <a:ext cx="10481218" cy="5469295"/>
          </a:xfrm>
        </p:spPr>
        <p:txBody>
          <a:bodyPr>
            <a:normAutofit/>
          </a:bodyPr>
          <a:lstStyle/>
          <a:p>
            <a:pPr algn="just"/>
            <a:r>
              <a:rPr lang="es-MX" sz="1600" dirty="0"/>
              <a:t>La estructura de control secuencial es aquella en la que una instrucción se ejecuta a continuación de otra a modo de secuencia, es decir, una instrucción no se ejecuta hasta que finaliza la anterior (Joyanes Aguilar, 2008). </a:t>
            </a:r>
          </a:p>
          <a:p>
            <a:pPr algn="just"/>
            <a:endParaRPr lang="es-MX" sz="1600" dirty="0"/>
          </a:p>
          <a:p>
            <a:pPr algn="just"/>
            <a:r>
              <a:rPr lang="es-MX" sz="1600" dirty="0"/>
              <a:t>Las operaciones se suceden de tal modo que la salida de una es la entrada de la siguiente y así sucesivamente hasta el fin del proceso. Los principales componentes de las estructuras de control secuenciales son: </a:t>
            </a:r>
          </a:p>
          <a:p>
            <a:pPr algn="just">
              <a:buAutoNum type="alphaLcPeriod"/>
            </a:pPr>
            <a:r>
              <a:rPr lang="es-MX" sz="1600" dirty="0"/>
              <a:t>Escritura </a:t>
            </a:r>
          </a:p>
          <a:p>
            <a:pPr algn="just">
              <a:buAutoNum type="alphaLcPeriod"/>
            </a:pPr>
            <a:r>
              <a:rPr lang="es-MX" sz="1600" dirty="0"/>
              <a:t>Lectura </a:t>
            </a:r>
          </a:p>
          <a:p>
            <a:pPr algn="just">
              <a:buAutoNum type="alphaLcPeriod"/>
            </a:pPr>
            <a:r>
              <a:rPr lang="es-MX" sz="1600" dirty="0"/>
              <a:t>Asignación </a:t>
            </a:r>
          </a:p>
          <a:p>
            <a:pPr marL="0" indent="0" algn="just">
              <a:buNone/>
            </a:pPr>
            <a:endParaRPr lang="es-MX" sz="1600" dirty="0"/>
          </a:p>
          <a:p>
            <a:pPr marL="0" indent="0" algn="just">
              <a:buNone/>
            </a:pPr>
            <a:r>
              <a:rPr lang="es-MX" sz="1600" dirty="0"/>
              <a:t>▪ Asignación Simple </a:t>
            </a:r>
          </a:p>
          <a:p>
            <a:pPr marL="0" indent="0" algn="just">
              <a:buNone/>
            </a:pPr>
            <a:r>
              <a:rPr lang="es-MX" sz="1600" dirty="0"/>
              <a:t>▪ Asignación Contador </a:t>
            </a:r>
          </a:p>
          <a:p>
            <a:pPr marL="0" indent="0" algn="just">
              <a:buNone/>
            </a:pPr>
            <a:r>
              <a:rPr lang="es-MX" sz="1600" dirty="0"/>
              <a:t>▪ Asignación Acumulador </a:t>
            </a:r>
          </a:p>
          <a:p>
            <a:pPr marL="0" indent="0" algn="just">
              <a:buNone/>
            </a:pPr>
            <a:r>
              <a:rPr lang="es-MX" sz="1600" dirty="0"/>
              <a:t>▪ Asignación de Trabajo</a:t>
            </a:r>
            <a:endParaRPr lang="es-ES" sz="2000" dirty="0"/>
          </a:p>
        </p:txBody>
      </p:sp>
      <p:sp>
        <p:nvSpPr>
          <p:cNvPr id="3" name="2 Marcador de fecha"/>
          <p:cNvSpPr>
            <a:spLocks noGrp="1"/>
          </p:cNvSpPr>
          <p:nvPr>
            <p:ph type="dt" sz="half" idx="10"/>
          </p:nvPr>
        </p:nvSpPr>
        <p:spPr/>
        <p:txBody>
          <a:bodyPr/>
          <a:lstStyle/>
          <a:p>
            <a:fld id="{44C3288D-7DAC-4DD2-9022-6C6BA4238517}" type="datetime1">
              <a:rPr lang="es-EC" smtClean="0"/>
              <a:t>26/11/2025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3</a:t>
            </a:fld>
            <a:endParaRPr lang="es-EC" dirty="0"/>
          </a:p>
        </p:txBody>
      </p:sp>
    </p:spTree>
    <p:extLst>
      <p:ext uri="{BB962C8B-B14F-4D97-AF65-F5344CB8AC3E}">
        <p14:creationId xmlns:p14="http://schemas.microsoft.com/office/powerpoint/2010/main" val="24145447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fontScale="85000" lnSpcReduction="20000"/>
          </a:bodyPr>
          <a:lstStyle/>
          <a:p>
            <a:pPr lvl="1"/>
            <a:r>
              <a:rPr lang="es-MX" sz="1700" dirty="0"/>
              <a:t>Estructuras de Control Secuenciales. </a:t>
            </a:r>
          </a:p>
          <a:p>
            <a:pPr marL="342900" lvl="1" indent="-342900">
              <a:buFont typeface="Arial" pitchFamily="34" charset="0"/>
              <a:buChar char="•"/>
            </a:pPr>
            <a:r>
              <a:rPr lang="es-MX" sz="3600" b="1" dirty="0">
                <a:solidFill>
                  <a:srgbClr val="FF0000"/>
                </a:solidFill>
              </a:rPr>
              <a:t>Escritura. </a:t>
            </a:r>
          </a:p>
          <a:p>
            <a:pPr lvl="1"/>
            <a:r>
              <a:rPr lang="es-MX" sz="1700" dirty="0"/>
              <a:t>Lectura </a:t>
            </a:r>
          </a:p>
          <a:p>
            <a:pPr lvl="1"/>
            <a:r>
              <a:rPr lang="es-MX" sz="1700" dirty="0"/>
              <a:t>Problema 2.1. (Aplicación de estructuras de control secuenciales de escritura y lectura).</a:t>
            </a:r>
          </a:p>
          <a:p>
            <a:pPr lvl="1"/>
            <a:r>
              <a:rPr lang="es-MX" sz="1700" dirty="0"/>
              <a:t>Asignación. </a:t>
            </a:r>
          </a:p>
          <a:p>
            <a:pPr lvl="1"/>
            <a:r>
              <a:rPr lang="es-MX" sz="1700" dirty="0"/>
              <a:t>Asignación Simple </a:t>
            </a:r>
          </a:p>
          <a:p>
            <a:pPr lvl="1"/>
            <a:r>
              <a:rPr lang="es-MX" sz="1700" dirty="0"/>
              <a:t>Problema 2.2. (Aplicación de estructuras de control secuenciales de asignación simple). </a:t>
            </a:r>
          </a:p>
          <a:p>
            <a:pPr lvl="1"/>
            <a:r>
              <a:rPr lang="es-MX" sz="1700" dirty="0"/>
              <a:t>Asignación Contador </a:t>
            </a:r>
          </a:p>
          <a:p>
            <a:pPr lvl="1"/>
            <a:r>
              <a:rPr lang="es-MX" sz="1700" dirty="0"/>
              <a:t>Problema 2.3. (Aplicación de estructuras de control secuenciales de asignación contador). </a:t>
            </a:r>
          </a:p>
          <a:p>
            <a:pPr lvl="1"/>
            <a:r>
              <a:rPr lang="es-MX" sz="1700" dirty="0"/>
              <a:t>Asignación Acumulador </a:t>
            </a:r>
          </a:p>
          <a:p>
            <a:pPr lvl="1"/>
            <a:r>
              <a:rPr lang="es-MX" sz="1700" dirty="0"/>
              <a:t>Problema 2.4. (Aplicación de estructuras de control secuenciales de asignación acumulador tipo sumas) </a:t>
            </a:r>
          </a:p>
          <a:p>
            <a:pPr lvl="1"/>
            <a:r>
              <a:rPr lang="es-MX" sz="1700" dirty="0"/>
              <a:t>Problema 2.5. (Aplicación de estructuras de control secuenciales de asignación acumulador tipo productos) . </a:t>
            </a:r>
          </a:p>
          <a:p>
            <a:pPr lvl="1"/>
            <a:r>
              <a:rPr lang="es-MX" sz="1700" dirty="0"/>
              <a:t>Asignación de Trabajo </a:t>
            </a:r>
          </a:p>
          <a:p>
            <a:pPr lvl="1"/>
            <a:r>
              <a:rPr lang="es-MX" sz="1700" dirty="0"/>
              <a:t>Problema 2.6. (Aplicación de estructuras de control secuenciales de asignación de trabajo) </a:t>
            </a:r>
          </a:p>
          <a:p>
            <a:pPr lvl="1"/>
            <a:r>
              <a:rPr lang="es-MX" sz="1700" dirty="0"/>
              <a:t>Caso de Estudio 2.1: Encontrar el Perímetro y el Área de un Circulo </a:t>
            </a:r>
          </a:p>
          <a:p>
            <a:pPr lvl="1"/>
            <a:r>
              <a:rPr lang="es-MX" sz="1700" dirty="0"/>
              <a:t>Caso de Estudio 2.2: Encontrar el Perímetro y el Área de un Rectángulo </a:t>
            </a:r>
          </a:p>
          <a:p>
            <a:pPr lvl="1"/>
            <a:r>
              <a:rPr lang="es-MX" sz="1700" dirty="0"/>
              <a:t>Caso de Estudio 2.3: Encontrar la Generatriz, el Área y el Volumen de un Cono </a:t>
            </a:r>
          </a:p>
          <a:p>
            <a:pPr lvl="1"/>
            <a:r>
              <a:rPr lang="es-MX" sz="1700" dirty="0"/>
              <a:t>Caso de Estudio 2.4: Encontrar la distancia, tiempo de vuelo y la altura alcanzada por un proyectil </a:t>
            </a:r>
            <a:endParaRPr lang="es-419" sz="1700" dirty="0"/>
          </a:p>
        </p:txBody>
      </p:sp>
      <p:sp>
        <p:nvSpPr>
          <p:cNvPr id="5" name="4 Marcador de fecha"/>
          <p:cNvSpPr>
            <a:spLocks noGrp="1"/>
          </p:cNvSpPr>
          <p:nvPr>
            <p:ph type="dt" sz="half" idx="10"/>
          </p:nvPr>
        </p:nvSpPr>
        <p:spPr/>
        <p:txBody>
          <a:bodyPr/>
          <a:lstStyle/>
          <a:p>
            <a:fld id="{85E4E129-A937-4BEE-8A17-D7969DFE55C2}" type="datetime1">
              <a:rPr lang="es-EC">
                <a:solidFill>
                  <a:prstClr val="black">
                    <a:lumMod val="65000"/>
                    <a:lumOff val="35000"/>
                  </a:prstClr>
                </a:solidFill>
              </a:rPr>
              <a:pPr/>
              <a:t>26/11/2025</a:t>
            </a:fld>
            <a:endParaRPr lang="es-EC" dirty="0">
              <a:solidFill>
                <a:prstClr val="black">
                  <a:lumMod val="65000"/>
                  <a:lumOff val="35000"/>
                </a:prstClr>
              </a:solidFill>
            </a:endParaRP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4</a:t>
            </a:fld>
            <a:endParaRPr lang="es-EC" dirty="0">
              <a:solidFill>
                <a:prstClr val="black">
                  <a:lumMod val="65000"/>
                  <a:lumOff val="35000"/>
                </a:prstClr>
              </a:solidFill>
            </a:endParaRPr>
          </a:p>
        </p:txBody>
      </p:sp>
    </p:spTree>
    <p:extLst>
      <p:ext uri="{BB962C8B-B14F-4D97-AF65-F5344CB8AC3E}">
        <p14:creationId xmlns:p14="http://schemas.microsoft.com/office/powerpoint/2010/main" val="19134021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703348" y="647071"/>
            <a:ext cx="7171765" cy="948646"/>
          </a:xfrm>
        </p:spPr>
        <p:txBody>
          <a:bodyPr/>
          <a:lstStyle/>
          <a:p>
            <a:r>
              <a:rPr lang="es-MX" sz="3600" b="1" dirty="0"/>
              <a:t>Escritura</a:t>
            </a:r>
            <a:br>
              <a:rPr lang="es-MX" sz="3600" b="1" dirty="0">
                <a:solidFill>
                  <a:srgbClr val="FF0000"/>
                </a:solidFill>
              </a:rPr>
            </a:br>
            <a:endParaRPr lang="en-US" sz="3600" b="1" dirty="0"/>
          </a:p>
        </p:txBody>
      </p:sp>
      <p:sp>
        <p:nvSpPr>
          <p:cNvPr id="5" name="4 Marcador de contenido"/>
          <p:cNvSpPr>
            <a:spLocks noGrp="1"/>
          </p:cNvSpPr>
          <p:nvPr>
            <p:ph idx="1"/>
          </p:nvPr>
        </p:nvSpPr>
        <p:spPr>
          <a:xfrm>
            <a:off x="1038428" y="1519293"/>
            <a:ext cx="10481218" cy="5469295"/>
          </a:xfrm>
        </p:spPr>
        <p:txBody>
          <a:bodyPr>
            <a:normAutofit/>
          </a:bodyPr>
          <a:lstStyle/>
          <a:p>
            <a:pPr algn="just"/>
            <a:r>
              <a:rPr lang="es-MX" sz="1600" dirty="0"/>
              <a:t>La escritura consiste en enviar por un dispositivo de salida un resultado o mensaje. En la sección 1.3.1 y 1.3.3 se explica a detalle la función de escritura en el Lenguaje C/C++. Esta operación se puede representar mediante pseudocódigo y Lenguaje C/C++ como se indica a continuación:</a:t>
            </a:r>
            <a:endParaRPr lang="es-ES" sz="2000" dirty="0"/>
          </a:p>
        </p:txBody>
      </p:sp>
      <p:sp>
        <p:nvSpPr>
          <p:cNvPr id="3" name="2 Marcador de fecha"/>
          <p:cNvSpPr>
            <a:spLocks noGrp="1"/>
          </p:cNvSpPr>
          <p:nvPr>
            <p:ph type="dt" sz="half" idx="10"/>
          </p:nvPr>
        </p:nvSpPr>
        <p:spPr/>
        <p:txBody>
          <a:bodyPr/>
          <a:lstStyle/>
          <a:p>
            <a:fld id="{44C3288D-7DAC-4DD2-9022-6C6BA4238517}" type="datetime1">
              <a:rPr lang="es-EC" smtClean="0"/>
              <a:t>26/11/2025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5</a:t>
            </a:fld>
            <a:endParaRPr lang="es-EC" dirty="0"/>
          </a:p>
        </p:txBody>
      </p:sp>
      <p:pic>
        <p:nvPicPr>
          <p:cNvPr id="7" name="Imagen 6">
            <a:extLst>
              <a:ext uri="{FF2B5EF4-FFF2-40B4-BE49-F238E27FC236}">
                <a16:creationId xmlns:a16="http://schemas.microsoft.com/office/drawing/2014/main" id="{33E21F63-A25E-44E3-B9B2-04F775B5DD90}"/>
              </a:ext>
            </a:extLst>
          </p:cNvPr>
          <p:cNvPicPr>
            <a:picLocks noChangeAspect="1"/>
          </p:cNvPicPr>
          <p:nvPr/>
        </p:nvPicPr>
        <p:blipFill>
          <a:blip r:embed="rId2"/>
          <a:stretch>
            <a:fillRect/>
          </a:stretch>
        </p:blipFill>
        <p:spPr>
          <a:xfrm>
            <a:off x="1349242" y="2688410"/>
            <a:ext cx="7135221" cy="1287623"/>
          </a:xfrm>
          <a:prstGeom prst="rect">
            <a:avLst/>
          </a:prstGeom>
        </p:spPr>
      </p:pic>
    </p:spTree>
    <p:extLst>
      <p:ext uri="{BB962C8B-B14F-4D97-AF65-F5344CB8AC3E}">
        <p14:creationId xmlns:p14="http://schemas.microsoft.com/office/powerpoint/2010/main" val="18145728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fontScale="85000" lnSpcReduction="10000"/>
          </a:bodyPr>
          <a:lstStyle/>
          <a:p>
            <a:pPr lvl="1"/>
            <a:r>
              <a:rPr lang="es-MX" sz="1700" dirty="0"/>
              <a:t>Estructuras de Control Secuenciales. </a:t>
            </a:r>
          </a:p>
          <a:p>
            <a:pPr lvl="1"/>
            <a:r>
              <a:rPr lang="es-MX" sz="1700" dirty="0"/>
              <a:t>Escritura. </a:t>
            </a:r>
          </a:p>
          <a:p>
            <a:pPr marL="342900" lvl="1" indent="-342900">
              <a:lnSpc>
                <a:spcPct val="90000"/>
              </a:lnSpc>
              <a:buFont typeface="Arial" pitchFamily="34" charset="0"/>
              <a:buChar char="•"/>
            </a:pPr>
            <a:r>
              <a:rPr lang="es-MX" sz="3600" b="1" dirty="0">
                <a:solidFill>
                  <a:srgbClr val="FF0000"/>
                </a:solidFill>
              </a:rPr>
              <a:t>Lectura </a:t>
            </a:r>
          </a:p>
          <a:p>
            <a:pPr lvl="1"/>
            <a:r>
              <a:rPr lang="es-MX" sz="1700" dirty="0"/>
              <a:t>Problema 2.1. (Aplicación de estructuras de control secuenciales de escritura y lectura).</a:t>
            </a:r>
          </a:p>
          <a:p>
            <a:pPr lvl="1"/>
            <a:r>
              <a:rPr lang="es-MX" sz="1700" dirty="0"/>
              <a:t>Asignación. </a:t>
            </a:r>
          </a:p>
          <a:p>
            <a:pPr lvl="1"/>
            <a:r>
              <a:rPr lang="es-MX" sz="1700" dirty="0"/>
              <a:t>Asignación Simple </a:t>
            </a:r>
          </a:p>
          <a:p>
            <a:pPr lvl="1"/>
            <a:r>
              <a:rPr lang="es-MX" sz="1700" dirty="0"/>
              <a:t>Problema 2.2. (Aplicación de estructuras de control secuenciales de asignación simple). </a:t>
            </a:r>
          </a:p>
          <a:p>
            <a:pPr lvl="1"/>
            <a:r>
              <a:rPr lang="es-MX" sz="1700" dirty="0"/>
              <a:t>Asignación Contador </a:t>
            </a:r>
          </a:p>
          <a:p>
            <a:pPr lvl="1"/>
            <a:r>
              <a:rPr lang="es-MX" sz="1700" dirty="0"/>
              <a:t>Problema 2.3. (Aplicación de estructuras de control secuenciales de asignación contador). </a:t>
            </a:r>
          </a:p>
          <a:p>
            <a:pPr lvl="1"/>
            <a:r>
              <a:rPr lang="es-MX" sz="1700" dirty="0"/>
              <a:t>Asignación Acumulador </a:t>
            </a:r>
          </a:p>
          <a:p>
            <a:pPr lvl="1"/>
            <a:r>
              <a:rPr lang="es-MX" sz="1700" dirty="0"/>
              <a:t>Problema 2.4. (Aplicación de estructuras de control secuenciales de asignación acumulador tipo sumas) </a:t>
            </a:r>
          </a:p>
          <a:p>
            <a:pPr lvl="1"/>
            <a:r>
              <a:rPr lang="es-MX" sz="1700" dirty="0"/>
              <a:t>Problema 2.5. (Aplicación de estructuras de control secuenciales de asignación acumulador tipo productos) . </a:t>
            </a:r>
          </a:p>
          <a:p>
            <a:pPr lvl="1"/>
            <a:r>
              <a:rPr lang="es-MX" sz="1700" dirty="0"/>
              <a:t>Asignación de Trabajo </a:t>
            </a:r>
          </a:p>
          <a:p>
            <a:pPr lvl="1"/>
            <a:r>
              <a:rPr lang="es-MX" sz="1700" dirty="0"/>
              <a:t>Problema 2.6. (Aplicación de estructuras de control secuenciales de asignación de trabajo) </a:t>
            </a:r>
          </a:p>
          <a:p>
            <a:pPr lvl="1"/>
            <a:r>
              <a:rPr lang="es-MX" sz="1700" dirty="0"/>
              <a:t>Caso de Estudio 2.1: Encontrar el Perímetro y el Área de un Circulo </a:t>
            </a:r>
          </a:p>
          <a:p>
            <a:pPr lvl="1"/>
            <a:r>
              <a:rPr lang="es-MX" sz="1700" dirty="0"/>
              <a:t>Caso de Estudio 2.2: Encontrar el Perímetro y el Área de un Rectángulo </a:t>
            </a:r>
          </a:p>
          <a:p>
            <a:pPr lvl="1"/>
            <a:r>
              <a:rPr lang="es-MX" sz="1700" dirty="0"/>
              <a:t>Caso de Estudio 2.3: Encontrar la Generatriz, el Área y el Volumen de un Cono </a:t>
            </a:r>
          </a:p>
          <a:p>
            <a:pPr lvl="1"/>
            <a:r>
              <a:rPr lang="es-MX" sz="1700" dirty="0"/>
              <a:t>Caso de Estudio 2.4: Encontrar la distancia, tiempo de vuelo y la altura alcanzada por un proyectil </a:t>
            </a:r>
            <a:endParaRPr lang="es-419" sz="1700" dirty="0"/>
          </a:p>
        </p:txBody>
      </p:sp>
      <p:sp>
        <p:nvSpPr>
          <p:cNvPr id="5" name="4 Marcador de fecha"/>
          <p:cNvSpPr>
            <a:spLocks noGrp="1"/>
          </p:cNvSpPr>
          <p:nvPr>
            <p:ph type="dt" sz="half" idx="10"/>
          </p:nvPr>
        </p:nvSpPr>
        <p:spPr/>
        <p:txBody>
          <a:bodyPr/>
          <a:lstStyle/>
          <a:p>
            <a:fld id="{85E4E129-A937-4BEE-8A17-D7969DFE55C2}" type="datetime1">
              <a:rPr lang="es-EC">
                <a:solidFill>
                  <a:prstClr val="black">
                    <a:lumMod val="65000"/>
                    <a:lumOff val="35000"/>
                  </a:prstClr>
                </a:solidFill>
              </a:rPr>
              <a:pPr/>
              <a:t>26/11/2025</a:t>
            </a:fld>
            <a:endParaRPr lang="es-EC" dirty="0">
              <a:solidFill>
                <a:prstClr val="black">
                  <a:lumMod val="65000"/>
                  <a:lumOff val="35000"/>
                </a:prstClr>
              </a:solidFill>
            </a:endParaRP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6</a:t>
            </a:fld>
            <a:endParaRPr lang="es-EC" dirty="0">
              <a:solidFill>
                <a:prstClr val="black">
                  <a:lumMod val="65000"/>
                  <a:lumOff val="35000"/>
                </a:prstClr>
              </a:solidFill>
            </a:endParaRPr>
          </a:p>
        </p:txBody>
      </p:sp>
    </p:spTree>
    <p:extLst>
      <p:ext uri="{BB962C8B-B14F-4D97-AF65-F5344CB8AC3E}">
        <p14:creationId xmlns:p14="http://schemas.microsoft.com/office/powerpoint/2010/main" val="19136819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568876" y="647071"/>
            <a:ext cx="7171765" cy="948646"/>
          </a:xfrm>
        </p:spPr>
        <p:txBody>
          <a:bodyPr/>
          <a:lstStyle/>
          <a:p>
            <a:r>
              <a:rPr lang="es-MX" sz="3600" b="1" dirty="0"/>
              <a:t>Lectura</a:t>
            </a:r>
            <a:br>
              <a:rPr lang="es-MX" sz="3600" b="1" dirty="0">
                <a:solidFill>
                  <a:srgbClr val="FF0000"/>
                </a:solidFill>
              </a:rPr>
            </a:br>
            <a:endParaRPr lang="en-US" sz="3600" b="1" dirty="0"/>
          </a:p>
        </p:txBody>
      </p:sp>
      <p:sp>
        <p:nvSpPr>
          <p:cNvPr id="5" name="4 Marcador de contenido"/>
          <p:cNvSpPr>
            <a:spLocks noGrp="1"/>
          </p:cNvSpPr>
          <p:nvPr>
            <p:ph idx="1"/>
          </p:nvPr>
        </p:nvSpPr>
        <p:spPr>
          <a:xfrm>
            <a:off x="1038428" y="1519293"/>
            <a:ext cx="10481218" cy="5469295"/>
          </a:xfrm>
        </p:spPr>
        <p:txBody>
          <a:bodyPr>
            <a:normAutofit/>
          </a:bodyPr>
          <a:lstStyle/>
          <a:p>
            <a:pPr algn="just"/>
            <a:r>
              <a:rPr lang="es-MX" sz="1600" dirty="0"/>
              <a:t>La lectura consiste en recibir desde un dispositivo de entrada un valor. En la sección 1.3.2 y 1.3.6 se explica a detalle la función de lectura en el Lenguaje C/C++. Esta operación se puede representar mediante pseudocódigo y Lenguaje C/C++ como se indica a continuación: </a:t>
            </a:r>
            <a:endParaRPr lang="es-ES" sz="2000" dirty="0"/>
          </a:p>
        </p:txBody>
      </p:sp>
      <p:sp>
        <p:nvSpPr>
          <p:cNvPr id="3" name="2 Marcador de fecha"/>
          <p:cNvSpPr>
            <a:spLocks noGrp="1"/>
          </p:cNvSpPr>
          <p:nvPr>
            <p:ph type="dt" sz="half" idx="10"/>
          </p:nvPr>
        </p:nvSpPr>
        <p:spPr/>
        <p:txBody>
          <a:bodyPr/>
          <a:lstStyle/>
          <a:p>
            <a:fld id="{44C3288D-7DAC-4DD2-9022-6C6BA4238517}" type="datetime1">
              <a:rPr lang="es-EC" smtClean="0"/>
              <a:t>26/11/2025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7</a:t>
            </a:fld>
            <a:endParaRPr lang="es-EC" dirty="0"/>
          </a:p>
        </p:txBody>
      </p:sp>
      <p:pic>
        <p:nvPicPr>
          <p:cNvPr id="8" name="Imagen 7">
            <a:extLst>
              <a:ext uri="{FF2B5EF4-FFF2-40B4-BE49-F238E27FC236}">
                <a16:creationId xmlns:a16="http://schemas.microsoft.com/office/drawing/2014/main" id="{B0349B00-411E-4C2B-AD62-C6514977E711}"/>
              </a:ext>
            </a:extLst>
          </p:cNvPr>
          <p:cNvPicPr>
            <a:picLocks noChangeAspect="1"/>
          </p:cNvPicPr>
          <p:nvPr/>
        </p:nvPicPr>
        <p:blipFill>
          <a:blip r:embed="rId2"/>
          <a:stretch>
            <a:fillRect/>
          </a:stretch>
        </p:blipFill>
        <p:spPr>
          <a:xfrm>
            <a:off x="1454032" y="2471574"/>
            <a:ext cx="7030431" cy="1213719"/>
          </a:xfrm>
          <a:prstGeom prst="rect">
            <a:avLst/>
          </a:prstGeom>
        </p:spPr>
      </p:pic>
    </p:spTree>
    <p:extLst>
      <p:ext uri="{BB962C8B-B14F-4D97-AF65-F5344CB8AC3E}">
        <p14:creationId xmlns:p14="http://schemas.microsoft.com/office/powerpoint/2010/main" val="40068804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fontScale="77500" lnSpcReduction="20000"/>
          </a:bodyPr>
          <a:lstStyle/>
          <a:p>
            <a:pPr lvl="1"/>
            <a:r>
              <a:rPr lang="es-MX" sz="1700" dirty="0"/>
              <a:t>Estructuras de Control Secuenciales. </a:t>
            </a:r>
          </a:p>
          <a:p>
            <a:pPr lvl="1"/>
            <a:r>
              <a:rPr lang="es-MX" sz="1700" dirty="0"/>
              <a:t>Escritura. </a:t>
            </a:r>
          </a:p>
          <a:p>
            <a:pPr lvl="1"/>
            <a:r>
              <a:rPr lang="es-MX" sz="1700" dirty="0"/>
              <a:t>Lectura </a:t>
            </a:r>
          </a:p>
          <a:p>
            <a:pPr lvl="1"/>
            <a:r>
              <a:rPr lang="es-MX" sz="3600" b="1" dirty="0">
                <a:solidFill>
                  <a:srgbClr val="FF0000"/>
                </a:solidFill>
              </a:rPr>
              <a:t>Problema 2.1. (Aplicación de estructuras de control secuenciales de escritura y lectura).</a:t>
            </a:r>
          </a:p>
          <a:p>
            <a:pPr lvl="1"/>
            <a:r>
              <a:rPr lang="es-MX" sz="1700" dirty="0"/>
              <a:t>Asignación. </a:t>
            </a:r>
          </a:p>
          <a:p>
            <a:pPr lvl="1"/>
            <a:r>
              <a:rPr lang="es-MX" sz="1700" dirty="0"/>
              <a:t>Asignación Simple </a:t>
            </a:r>
          </a:p>
          <a:p>
            <a:pPr lvl="1"/>
            <a:r>
              <a:rPr lang="es-MX" sz="1700" dirty="0"/>
              <a:t>Problema 2.2. (Aplicación de estructuras de control secuenciales de asignación simple). </a:t>
            </a:r>
          </a:p>
          <a:p>
            <a:pPr lvl="1"/>
            <a:r>
              <a:rPr lang="es-MX" sz="1700" dirty="0"/>
              <a:t>Asignación Contador </a:t>
            </a:r>
          </a:p>
          <a:p>
            <a:pPr lvl="1"/>
            <a:r>
              <a:rPr lang="es-MX" sz="1700" dirty="0"/>
              <a:t>Problema 2.3. (Aplicación de estructuras de control secuenciales de asignación contador). </a:t>
            </a:r>
          </a:p>
          <a:p>
            <a:pPr lvl="1"/>
            <a:r>
              <a:rPr lang="es-MX" sz="1700" dirty="0"/>
              <a:t>Asignación Acumulador </a:t>
            </a:r>
          </a:p>
          <a:p>
            <a:pPr lvl="1"/>
            <a:r>
              <a:rPr lang="es-MX" sz="1700" dirty="0"/>
              <a:t>Problema 2.4. (Aplicación de estructuras de control secuenciales de asignación acumulador tipo sumas) </a:t>
            </a:r>
          </a:p>
          <a:p>
            <a:pPr lvl="1"/>
            <a:r>
              <a:rPr lang="es-MX" sz="1700" dirty="0"/>
              <a:t>Problema 2.5. (Aplicación de estructuras de control secuenciales de asignación acumulador tipo productos) . </a:t>
            </a:r>
          </a:p>
          <a:p>
            <a:pPr lvl="1"/>
            <a:r>
              <a:rPr lang="es-MX" sz="1700" dirty="0"/>
              <a:t>Asignación de Trabajo </a:t>
            </a:r>
          </a:p>
          <a:p>
            <a:pPr lvl="1"/>
            <a:r>
              <a:rPr lang="es-MX" sz="1700" dirty="0"/>
              <a:t>Problema 2.6. (Aplicación de estructuras de control secuenciales de asignación de trabajo) </a:t>
            </a:r>
          </a:p>
          <a:p>
            <a:pPr lvl="1"/>
            <a:r>
              <a:rPr lang="es-MX" sz="1700" dirty="0"/>
              <a:t>Caso de Estudio 2.1: Encontrar el Perímetro y el Área de un Circulo </a:t>
            </a:r>
          </a:p>
          <a:p>
            <a:pPr lvl="1"/>
            <a:r>
              <a:rPr lang="es-MX" sz="1700" dirty="0"/>
              <a:t>Caso de Estudio 2.2: Encontrar el Perímetro y el Área de un Rectángulo </a:t>
            </a:r>
          </a:p>
          <a:p>
            <a:pPr lvl="1"/>
            <a:r>
              <a:rPr lang="es-MX" sz="1700" dirty="0"/>
              <a:t>Caso de Estudio 2.3: Encontrar la Generatriz, el Área y el Volumen de un Cono </a:t>
            </a:r>
          </a:p>
          <a:p>
            <a:pPr lvl="1"/>
            <a:r>
              <a:rPr lang="es-MX" sz="1700" dirty="0"/>
              <a:t>Caso de Estudio 2.4: Encontrar la distancia, tiempo de vuelo y la altura alcanzada por un proyectil </a:t>
            </a:r>
            <a:endParaRPr lang="es-419" sz="1700" dirty="0"/>
          </a:p>
        </p:txBody>
      </p:sp>
      <p:sp>
        <p:nvSpPr>
          <p:cNvPr id="5" name="4 Marcador de fecha"/>
          <p:cNvSpPr>
            <a:spLocks noGrp="1"/>
          </p:cNvSpPr>
          <p:nvPr>
            <p:ph type="dt" sz="half" idx="10"/>
          </p:nvPr>
        </p:nvSpPr>
        <p:spPr/>
        <p:txBody>
          <a:bodyPr/>
          <a:lstStyle/>
          <a:p>
            <a:fld id="{85E4E129-A937-4BEE-8A17-D7969DFE55C2}" type="datetime1">
              <a:rPr lang="es-EC">
                <a:solidFill>
                  <a:prstClr val="black">
                    <a:lumMod val="65000"/>
                    <a:lumOff val="35000"/>
                  </a:prstClr>
                </a:solidFill>
              </a:rPr>
              <a:pPr/>
              <a:t>26/11/2025</a:t>
            </a:fld>
            <a:endParaRPr lang="es-EC" dirty="0">
              <a:solidFill>
                <a:prstClr val="black">
                  <a:lumMod val="65000"/>
                  <a:lumOff val="35000"/>
                </a:prstClr>
              </a:solidFill>
            </a:endParaRP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8</a:t>
            </a:fld>
            <a:endParaRPr lang="es-EC" dirty="0">
              <a:solidFill>
                <a:prstClr val="black">
                  <a:lumMod val="65000"/>
                  <a:lumOff val="35000"/>
                </a:prstClr>
              </a:solidFill>
            </a:endParaRPr>
          </a:p>
        </p:txBody>
      </p:sp>
    </p:spTree>
    <p:extLst>
      <p:ext uri="{BB962C8B-B14F-4D97-AF65-F5344CB8AC3E}">
        <p14:creationId xmlns:p14="http://schemas.microsoft.com/office/powerpoint/2010/main" val="30013104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026077" y="1803518"/>
            <a:ext cx="7171765" cy="948646"/>
          </a:xfrm>
        </p:spPr>
        <p:txBody>
          <a:bodyPr/>
          <a:lstStyle/>
          <a:p>
            <a:r>
              <a:rPr lang="es-MX" sz="2800" b="1" dirty="0"/>
              <a:t>Problema 2.1. (Aplicación de estructuras de control secuenciales de escritura y lectura).</a:t>
            </a:r>
            <a:br>
              <a:rPr lang="es-MX" sz="3600" b="1" dirty="0"/>
            </a:br>
            <a:br>
              <a:rPr lang="es-MX" sz="3600" b="1" dirty="0">
                <a:solidFill>
                  <a:srgbClr val="FF0000"/>
                </a:solidFill>
              </a:rPr>
            </a:br>
            <a:endParaRPr lang="en-US" sz="3600" b="1" dirty="0"/>
          </a:p>
        </p:txBody>
      </p:sp>
      <p:sp>
        <p:nvSpPr>
          <p:cNvPr id="5" name="4 Marcador de contenido"/>
          <p:cNvSpPr>
            <a:spLocks noGrp="1"/>
          </p:cNvSpPr>
          <p:nvPr>
            <p:ph idx="1"/>
          </p:nvPr>
        </p:nvSpPr>
        <p:spPr>
          <a:xfrm>
            <a:off x="1038428" y="1519294"/>
            <a:ext cx="3291525" cy="2281742"/>
          </a:xfrm>
        </p:spPr>
        <p:txBody>
          <a:bodyPr>
            <a:normAutofit/>
          </a:bodyPr>
          <a:lstStyle/>
          <a:p>
            <a:pPr algn="just"/>
            <a:r>
              <a:rPr lang="es-MX" sz="1600" dirty="0"/>
              <a:t>Escribir un programa que permita sumar dos números enteros, para lo cual se puede utilizar la siguiente expresión matemática: num3 = num1 + num2, considerando que se deben utilizar tres variables.</a:t>
            </a:r>
            <a:endParaRPr lang="es-ES" sz="2000" dirty="0"/>
          </a:p>
        </p:txBody>
      </p:sp>
      <p:sp>
        <p:nvSpPr>
          <p:cNvPr id="3" name="2 Marcador de fecha"/>
          <p:cNvSpPr>
            <a:spLocks noGrp="1"/>
          </p:cNvSpPr>
          <p:nvPr>
            <p:ph type="dt" sz="half" idx="10"/>
          </p:nvPr>
        </p:nvSpPr>
        <p:spPr/>
        <p:txBody>
          <a:bodyPr/>
          <a:lstStyle/>
          <a:p>
            <a:fld id="{44C3288D-7DAC-4DD2-9022-6C6BA4238517}" type="datetime1">
              <a:rPr lang="es-EC" smtClean="0"/>
              <a:t>26/11/2025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9</a:t>
            </a:fld>
            <a:endParaRPr lang="es-EC" dirty="0"/>
          </a:p>
        </p:txBody>
      </p:sp>
      <p:pic>
        <p:nvPicPr>
          <p:cNvPr id="8" name="Imagen 7">
            <a:extLst>
              <a:ext uri="{FF2B5EF4-FFF2-40B4-BE49-F238E27FC236}">
                <a16:creationId xmlns:a16="http://schemas.microsoft.com/office/drawing/2014/main" id="{E2A11E28-C225-43BD-9413-80F920211F92}"/>
              </a:ext>
            </a:extLst>
          </p:cNvPr>
          <p:cNvPicPr>
            <a:picLocks noChangeAspect="1"/>
          </p:cNvPicPr>
          <p:nvPr/>
        </p:nvPicPr>
        <p:blipFill>
          <a:blip r:embed="rId2"/>
          <a:stretch>
            <a:fillRect/>
          </a:stretch>
        </p:blipFill>
        <p:spPr>
          <a:xfrm>
            <a:off x="1422944" y="3774074"/>
            <a:ext cx="6925642" cy="1829055"/>
          </a:xfrm>
          <a:prstGeom prst="rect">
            <a:avLst/>
          </a:prstGeom>
        </p:spPr>
      </p:pic>
    </p:spTree>
    <p:extLst>
      <p:ext uri="{BB962C8B-B14F-4D97-AF65-F5344CB8AC3E}">
        <p14:creationId xmlns:p14="http://schemas.microsoft.com/office/powerpoint/2010/main" val="15361257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026077" y="1803518"/>
            <a:ext cx="7171765" cy="948646"/>
          </a:xfrm>
        </p:spPr>
        <p:txBody>
          <a:bodyPr/>
          <a:lstStyle/>
          <a:p>
            <a:r>
              <a:rPr lang="es-MX" sz="2800" b="1" dirty="0"/>
              <a:t>Problema 2.1. (Aplicación de estructuras de control secuenciales de escritura y lectura).</a:t>
            </a:r>
            <a:br>
              <a:rPr lang="es-MX" sz="3600" b="1" dirty="0"/>
            </a:br>
            <a:br>
              <a:rPr lang="es-MX" sz="3600" b="1" dirty="0">
                <a:solidFill>
                  <a:srgbClr val="FF0000"/>
                </a:solidFill>
              </a:rPr>
            </a:br>
            <a:endParaRPr lang="en-US" sz="3600" b="1" dirty="0"/>
          </a:p>
        </p:txBody>
      </p:sp>
      <p:sp>
        <p:nvSpPr>
          <p:cNvPr id="3" name="2 Marcador de fecha"/>
          <p:cNvSpPr>
            <a:spLocks noGrp="1"/>
          </p:cNvSpPr>
          <p:nvPr>
            <p:ph type="dt" sz="half" idx="10"/>
          </p:nvPr>
        </p:nvSpPr>
        <p:spPr/>
        <p:txBody>
          <a:bodyPr/>
          <a:lstStyle/>
          <a:p>
            <a:fld id="{44C3288D-7DAC-4DD2-9022-6C6BA4238517}" type="datetime1">
              <a:rPr lang="es-EC" smtClean="0"/>
              <a:t>26/11/2025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10</a:t>
            </a:fld>
            <a:endParaRPr lang="es-EC" dirty="0"/>
          </a:p>
        </p:txBody>
      </p:sp>
      <p:pic>
        <p:nvPicPr>
          <p:cNvPr id="10" name="Imagen 9">
            <a:extLst>
              <a:ext uri="{FF2B5EF4-FFF2-40B4-BE49-F238E27FC236}">
                <a16:creationId xmlns:a16="http://schemas.microsoft.com/office/drawing/2014/main" id="{6F23977E-ADC4-4D7A-BBC9-35DF004E6970}"/>
              </a:ext>
            </a:extLst>
          </p:cNvPr>
          <p:cNvPicPr>
            <a:picLocks noChangeAspect="1"/>
          </p:cNvPicPr>
          <p:nvPr/>
        </p:nvPicPr>
        <p:blipFill>
          <a:blip r:embed="rId2"/>
          <a:stretch>
            <a:fillRect/>
          </a:stretch>
        </p:blipFill>
        <p:spPr>
          <a:xfrm>
            <a:off x="1927146" y="1301869"/>
            <a:ext cx="8925744" cy="5054482"/>
          </a:xfrm>
          <a:prstGeom prst="rect">
            <a:avLst/>
          </a:prstGeom>
        </p:spPr>
      </p:pic>
      <p:sp>
        <p:nvSpPr>
          <p:cNvPr id="13" name="CuadroTexto 12">
            <a:extLst>
              <a:ext uri="{FF2B5EF4-FFF2-40B4-BE49-F238E27FC236}">
                <a16:creationId xmlns:a16="http://schemas.microsoft.com/office/drawing/2014/main" id="{95B6D3BE-6691-4680-8BDF-F28A0AAE6BEA}"/>
              </a:ext>
            </a:extLst>
          </p:cNvPr>
          <p:cNvSpPr txBox="1"/>
          <p:nvPr/>
        </p:nvSpPr>
        <p:spPr>
          <a:xfrm>
            <a:off x="3937148" y="6398310"/>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Programa 2.1</a:t>
            </a:r>
            <a:r>
              <a:rPr lang="es-ES" sz="1200" dirty="0">
                <a:solidFill>
                  <a:schemeClr val="tx1">
                    <a:lumMod val="50000"/>
                    <a:lumOff val="50000"/>
                  </a:schemeClr>
                </a:solidFill>
                <a:latin typeface="+mj-lt"/>
              </a:rPr>
              <a:t>. Código del Programa.</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21657575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026077" y="1803518"/>
            <a:ext cx="7171765" cy="948646"/>
          </a:xfrm>
        </p:spPr>
        <p:txBody>
          <a:bodyPr/>
          <a:lstStyle/>
          <a:p>
            <a:r>
              <a:rPr lang="es-MX" sz="2800" b="1" dirty="0"/>
              <a:t>Problema 2.1. (Aplicación de estructuras de control secuenciales de escritura y lectura).</a:t>
            </a:r>
            <a:br>
              <a:rPr lang="es-MX" sz="3600" b="1" dirty="0"/>
            </a:br>
            <a:br>
              <a:rPr lang="es-MX" sz="3600" b="1" dirty="0">
                <a:solidFill>
                  <a:srgbClr val="FF0000"/>
                </a:solidFill>
              </a:rPr>
            </a:br>
            <a:endParaRPr lang="en-US" sz="3600" b="1" dirty="0"/>
          </a:p>
        </p:txBody>
      </p:sp>
      <p:sp>
        <p:nvSpPr>
          <p:cNvPr id="3" name="2 Marcador de fecha"/>
          <p:cNvSpPr>
            <a:spLocks noGrp="1"/>
          </p:cNvSpPr>
          <p:nvPr>
            <p:ph type="dt" sz="half" idx="10"/>
          </p:nvPr>
        </p:nvSpPr>
        <p:spPr/>
        <p:txBody>
          <a:bodyPr/>
          <a:lstStyle/>
          <a:p>
            <a:fld id="{44C3288D-7DAC-4DD2-9022-6C6BA4238517}" type="datetime1">
              <a:rPr lang="es-EC" smtClean="0"/>
              <a:t>26/11/2025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11</a:t>
            </a:fld>
            <a:endParaRPr lang="es-EC" dirty="0"/>
          </a:p>
        </p:txBody>
      </p:sp>
      <p:sp>
        <p:nvSpPr>
          <p:cNvPr id="13" name="CuadroTexto 12">
            <a:extLst>
              <a:ext uri="{FF2B5EF4-FFF2-40B4-BE49-F238E27FC236}">
                <a16:creationId xmlns:a16="http://schemas.microsoft.com/office/drawing/2014/main" id="{95B6D3BE-6691-4680-8BDF-F28A0AAE6BEA}"/>
              </a:ext>
            </a:extLst>
          </p:cNvPr>
          <p:cNvSpPr txBox="1"/>
          <p:nvPr/>
        </p:nvSpPr>
        <p:spPr>
          <a:xfrm>
            <a:off x="1284271" y="5098427"/>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Ejecución 2.1</a:t>
            </a:r>
            <a:r>
              <a:rPr lang="es-ES" sz="1200" dirty="0">
                <a:solidFill>
                  <a:schemeClr val="tx1">
                    <a:lumMod val="50000"/>
                    <a:lumOff val="50000"/>
                  </a:schemeClr>
                </a:solidFill>
                <a:latin typeface="+mj-lt"/>
              </a:rPr>
              <a:t>. Salida  del Programa.</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
        <p:nvSpPr>
          <p:cNvPr id="7" name="4 Marcador de contenido">
            <a:extLst>
              <a:ext uri="{FF2B5EF4-FFF2-40B4-BE49-F238E27FC236}">
                <a16:creationId xmlns:a16="http://schemas.microsoft.com/office/drawing/2014/main" id="{EC66841E-495B-4658-B5B6-609CF71D9BDF}"/>
              </a:ext>
            </a:extLst>
          </p:cNvPr>
          <p:cNvSpPr>
            <a:spLocks noGrp="1"/>
          </p:cNvSpPr>
          <p:nvPr>
            <p:ph idx="1"/>
          </p:nvPr>
        </p:nvSpPr>
        <p:spPr>
          <a:xfrm>
            <a:off x="1038428" y="1519294"/>
            <a:ext cx="3291525" cy="2281742"/>
          </a:xfrm>
        </p:spPr>
        <p:txBody>
          <a:bodyPr>
            <a:normAutofit/>
          </a:bodyPr>
          <a:lstStyle/>
          <a:p>
            <a:pPr algn="just"/>
            <a:r>
              <a:rPr lang="es-MX" sz="1600" dirty="0"/>
              <a:t>La Ejecución 2.1, correspondiente a la salida del programa, muestra que al ingresar el primer número que es el 8 y el segundo número que es el 2, se obtiene la suma entre los dos números que es el 9.</a:t>
            </a:r>
            <a:endParaRPr lang="es-ES" sz="2000" dirty="0"/>
          </a:p>
        </p:txBody>
      </p:sp>
      <p:pic>
        <p:nvPicPr>
          <p:cNvPr id="5" name="Imagen 4">
            <a:extLst>
              <a:ext uri="{FF2B5EF4-FFF2-40B4-BE49-F238E27FC236}">
                <a16:creationId xmlns:a16="http://schemas.microsoft.com/office/drawing/2014/main" id="{8011706F-B50C-4D04-A0EB-F81596E33397}"/>
              </a:ext>
            </a:extLst>
          </p:cNvPr>
          <p:cNvPicPr>
            <a:picLocks noChangeAspect="1"/>
          </p:cNvPicPr>
          <p:nvPr/>
        </p:nvPicPr>
        <p:blipFill>
          <a:blip r:embed="rId2"/>
          <a:stretch>
            <a:fillRect/>
          </a:stretch>
        </p:blipFill>
        <p:spPr>
          <a:xfrm>
            <a:off x="1284271" y="3842995"/>
            <a:ext cx="6916115" cy="1143160"/>
          </a:xfrm>
          <a:prstGeom prst="rect">
            <a:avLst/>
          </a:prstGeom>
        </p:spPr>
      </p:pic>
    </p:spTree>
    <p:extLst>
      <p:ext uri="{BB962C8B-B14F-4D97-AF65-F5344CB8AC3E}">
        <p14:creationId xmlns:p14="http://schemas.microsoft.com/office/powerpoint/2010/main" val="36416919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fontScale="85000" lnSpcReduction="10000"/>
          </a:bodyPr>
          <a:lstStyle/>
          <a:p>
            <a:pPr lvl="1"/>
            <a:r>
              <a:rPr lang="es-MX" sz="1700" dirty="0"/>
              <a:t>Estructuras de Control Secuenciales. </a:t>
            </a:r>
          </a:p>
          <a:p>
            <a:pPr lvl="1"/>
            <a:r>
              <a:rPr lang="es-MX" sz="1700" dirty="0"/>
              <a:t>Escritura. </a:t>
            </a:r>
          </a:p>
          <a:p>
            <a:pPr lvl="1"/>
            <a:r>
              <a:rPr lang="es-MX" sz="1700" dirty="0"/>
              <a:t>Lectura </a:t>
            </a:r>
          </a:p>
          <a:p>
            <a:pPr lvl="1"/>
            <a:r>
              <a:rPr lang="es-MX" sz="1700" dirty="0"/>
              <a:t>Problema 2.1. (Aplicación de estructuras de control secuenciales de escritura y lectura).</a:t>
            </a:r>
          </a:p>
          <a:p>
            <a:pPr lvl="1">
              <a:lnSpc>
                <a:spcPct val="90000"/>
              </a:lnSpc>
            </a:pPr>
            <a:r>
              <a:rPr lang="es-MX" sz="3300" b="1" dirty="0">
                <a:solidFill>
                  <a:srgbClr val="FF0000"/>
                </a:solidFill>
              </a:rPr>
              <a:t>Asignación. </a:t>
            </a:r>
          </a:p>
          <a:p>
            <a:pPr lvl="1"/>
            <a:r>
              <a:rPr lang="es-MX" sz="1700" dirty="0"/>
              <a:t>Asignación Simple </a:t>
            </a:r>
          </a:p>
          <a:p>
            <a:pPr lvl="1"/>
            <a:r>
              <a:rPr lang="es-MX" sz="1700" dirty="0"/>
              <a:t>Problema 2.2. (Aplicación de estructuras de control secuenciales de asignación simple). </a:t>
            </a:r>
          </a:p>
          <a:p>
            <a:pPr lvl="1"/>
            <a:r>
              <a:rPr lang="es-MX" sz="1700" dirty="0"/>
              <a:t>Asignación Contador </a:t>
            </a:r>
          </a:p>
          <a:p>
            <a:pPr lvl="1"/>
            <a:r>
              <a:rPr lang="es-MX" sz="1700" dirty="0"/>
              <a:t>Problema 2.3. (Aplicación de estructuras de control secuenciales de asignación contador). </a:t>
            </a:r>
          </a:p>
          <a:p>
            <a:pPr lvl="1"/>
            <a:r>
              <a:rPr lang="es-MX" sz="1700" dirty="0"/>
              <a:t>Asignación Acumulador </a:t>
            </a:r>
          </a:p>
          <a:p>
            <a:pPr lvl="1"/>
            <a:r>
              <a:rPr lang="es-MX" sz="1700" dirty="0"/>
              <a:t>Problema 2.4. (Aplicación de estructuras de control secuenciales de asignación acumulador tipo sumas) </a:t>
            </a:r>
          </a:p>
          <a:p>
            <a:pPr lvl="1"/>
            <a:r>
              <a:rPr lang="es-MX" sz="1700" dirty="0"/>
              <a:t>Problema 2.5. (Aplicación de estructuras de control secuenciales de asignación acumulador tipo productos) . </a:t>
            </a:r>
          </a:p>
          <a:p>
            <a:pPr lvl="1"/>
            <a:r>
              <a:rPr lang="es-MX" sz="1700" dirty="0"/>
              <a:t>Asignación de Trabajo </a:t>
            </a:r>
          </a:p>
          <a:p>
            <a:pPr lvl="1"/>
            <a:r>
              <a:rPr lang="es-MX" sz="1700" dirty="0"/>
              <a:t>Problema 2.6. (Aplicación de estructuras de control secuenciales de asignación de trabajo) </a:t>
            </a:r>
          </a:p>
          <a:p>
            <a:pPr lvl="1"/>
            <a:r>
              <a:rPr lang="es-MX" sz="1700" dirty="0"/>
              <a:t>Caso de Estudio 2.1: Encontrar el Perímetro y el Área de un Circulo </a:t>
            </a:r>
          </a:p>
          <a:p>
            <a:pPr lvl="1"/>
            <a:r>
              <a:rPr lang="es-MX" sz="1700" dirty="0"/>
              <a:t>Caso de Estudio 2.2: Encontrar el Perímetro y el Área de un Rectángulo </a:t>
            </a:r>
          </a:p>
          <a:p>
            <a:pPr lvl="1"/>
            <a:r>
              <a:rPr lang="es-MX" sz="1700" dirty="0"/>
              <a:t>Caso de Estudio 2.3: Encontrar la Generatriz, el Área y el Volumen de un Cono </a:t>
            </a:r>
          </a:p>
          <a:p>
            <a:pPr lvl="1"/>
            <a:r>
              <a:rPr lang="es-MX" sz="1700" dirty="0"/>
              <a:t>Caso de Estudio 2.4: Encontrar la distancia, tiempo de vuelo y la altura alcanzada por un proyectil </a:t>
            </a:r>
            <a:endParaRPr lang="es-419" sz="1700" dirty="0"/>
          </a:p>
        </p:txBody>
      </p:sp>
      <p:sp>
        <p:nvSpPr>
          <p:cNvPr id="5" name="4 Marcador de fecha"/>
          <p:cNvSpPr>
            <a:spLocks noGrp="1"/>
          </p:cNvSpPr>
          <p:nvPr>
            <p:ph type="dt" sz="half" idx="10"/>
          </p:nvPr>
        </p:nvSpPr>
        <p:spPr/>
        <p:txBody>
          <a:bodyPr/>
          <a:lstStyle/>
          <a:p>
            <a:fld id="{85E4E129-A937-4BEE-8A17-D7969DFE55C2}" type="datetime1">
              <a:rPr lang="es-EC">
                <a:solidFill>
                  <a:prstClr val="black">
                    <a:lumMod val="65000"/>
                    <a:lumOff val="35000"/>
                  </a:prstClr>
                </a:solidFill>
              </a:rPr>
              <a:pPr/>
              <a:t>26/11/2025</a:t>
            </a:fld>
            <a:endParaRPr lang="es-EC" dirty="0">
              <a:solidFill>
                <a:prstClr val="black">
                  <a:lumMod val="65000"/>
                  <a:lumOff val="35000"/>
                </a:prstClr>
              </a:solidFill>
            </a:endParaRP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12</a:t>
            </a:fld>
            <a:endParaRPr lang="es-EC" dirty="0">
              <a:solidFill>
                <a:prstClr val="black">
                  <a:lumMod val="65000"/>
                  <a:lumOff val="35000"/>
                </a:prstClr>
              </a:solidFill>
            </a:endParaRPr>
          </a:p>
        </p:txBody>
      </p:sp>
    </p:spTree>
    <p:extLst>
      <p:ext uri="{BB962C8B-B14F-4D97-AF65-F5344CB8AC3E}">
        <p14:creationId xmlns:p14="http://schemas.microsoft.com/office/powerpoint/2010/main" val="20175227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703348" y="306225"/>
            <a:ext cx="7171765" cy="948646"/>
          </a:xfrm>
        </p:spPr>
        <p:txBody>
          <a:bodyPr/>
          <a:lstStyle/>
          <a:p>
            <a:br>
              <a:rPr lang="es-MX" sz="6000" b="1" dirty="0">
                <a:solidFill>
                  <a:srgbClr val="FF0000"/>
                </a:solidFill>
              </a:rPr>
            </a:br>
            <a:r>
              <a:rPr lang="es-MX" sz="4800" b="1" dirty="0"/>
              <a:t>Asignación</a:t>
            </a:r>
            <a:endParaRPr lang="en-US" sz="4800" b="1" dirty="0"/>
          </a:p>
        </p:txBody>
      </p:sp>
      <p:sp>
        <p:nvSpPr>
          <p:cNvPr id="5" name="4 Marcador de contenido"/>
          <p:cNvSpPr>
            <a:spLocks noGrp="1"/>
          </p:cNvSpPr>
          <p:nvPr>
            <p:ph idx="1"/>
          </p:nvPr>
        </p:nvSpPr>
        <p:spPr>
          <a:xfrm>
            <a:off x="1038428" y="1519293"/>
            <a:ext cx="9028937" cy="3434671"/>
          </a:xfrm>
        </p:spPr>
        <p:txBody>
          <a:bodyPr>
            <a:normAutofit/>
          </a:bodyPr>
          <a:lstStyle/>
          <a:p>
            <a:pPr algn="just"/>
            <a:r>
              <a:rPr lang="es-MX" sz="1600" dirty="0"/>
              <a:t>La asignación consiste en el paso de valores a una zona de la memoria RAM, tal y como se describió en la sección 1.4.4 sobre el funcionamiento del operador de asignación igual (=). </a:t>
            </a:r>
          </a:p>
          <a:p>
            <a:pPr algn="just"/>
            <a:endParaRPr lang="es-MX" sz="1600" dirty="0"/>
          </a:p>
          <a:p>
            <a:pPr algn="just"/>
            <a:r>
              <a:rPr lang="es-MX" sz="1600" dirty="0"/>
              <a:t>En la memoria RAM se almacenan temporalmente las variables que reciben valores de procesos lectura y de cálculos. La asignación se puede clasificar en cuatro tipos:</a:t>
            </a:r>
          </a:p>
          <a:p>
            <a:pPr algn="just"/>
            <a:endParaRPr lang="es-MX" sz="1600" dirty="0"/>
          </a:p>
          <a:p>
            <a:pPr algn="just"/>
            <a:endParaRPr lang="es-MX" sz="1600" dirty="0"/>
          </a:p>
          <a:p>
            <a:pPr marL="0" indent="0" algn="just">
              <a:buNone/>
            </a:pPr>
            <a:r>
              <a:rPr lang="es-MX" sz="1600" dirty="0"/>
              <a:t>a)Asignación simple; </a:t>
            </a:r>
          </a:p>
          <a:p>
            <a:pPr marL="0" indent="0" algn="just">
              <a:buNone/>
            </a:pPr>
            <a:r>
              <a:rPr lang="es-MX" sz="1600" dirty="0"/>
              <a:t>b) Asignación contador; </a:t>
            </a:r>
          </a:p>
          <a:p>
            <a:pPr marL="0" indent="0" algn="just">
              <a:buNone/>
            </a:pPr>
            <a:r>
              <a:rPr lang="es-MX" sz="1600" dirty="0"/>
              <a:t>c) Asignación acumulador; </a:t>
            </a:r>
          </a:p>
          <a:p>
            <a:pPr marL="0" indent="0" algn="just">
              <a:buNone/>
            </a:pPr>
            <a:r>
              <a:rPr lang="es-MX" sz="1600" dirty="0"/>
              <a:t>d) Asignación de trabajo. </a:t>
            </a:r>
            <a:endParaRPr lang="es-ES" sz="2000" dirty="0"/>
          </a:p>
        </p:txBody>
      </p:sp>
      <p:sp>
        <p:nvSpPr>
          <p:cNvPr id="3" name="2 Marcador de fecha"/>
          <p:cNvSpPr>
            <a:spLocks noGrp="1"/>
          </p:cNvSpPr>
          <p:nvPr>
            <p:ph type="dt" sz="half" idx="10"/>
          </p:nvPr>
        </p:nvSpPr>
        <p:spPr/>
        <p:txBody>
          <a:bodyPr/>
          <a:lstStyle/>
          <a:p>
            <a:fld id="{44C3288D-7DAC-4DD2-9022-6C6BA4238517}" type="datetime1">
              <a:rPr lang="es-EC" smtClean="0"/>
              <a:t>26/11/2025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13</a:t>
            </a:fld>
            <a:endParaRPr lang="es-EC" dirty="0"/>
          </a:p>
        </p:txBody>
      </p:sp>
    </p:spTree>
    <p:extLst>
      <p:ext uri="{BB962C8B-B14F-4D97-AF65-F5344CB8AC3E}">
        <p14:creationId xmlns:p14="http://schemas.microsoft.com/office/powerpoint/2010/main" val="26696240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fontScale="85000" lnSpcReduction="10000"/>
          </a:bodyPr>
          <a:lstStyle/>
          <a:p>
            <a:pPr lvl="1"/>
            <a:r>
              <a:rPr lang="es-MX" sz="1700" dirty="0"/>
              <a:t>Estructuras de Control Secuenciales. </a:t>
            </a:r>
          </a:p>
          <a:p>
            <a:pPr lvl="1"/>
            <a:r>
              <a:rPr lang="es-MX" sz="1700" dirty="0"/>
              <a:t>Escritura. </a:t>
            </a:r>
          </a:p>
          <a:p>
            <a:pPr lvl="1"/>
            <a:r>
              <a:rPr lang="es-MX" sz="1700" dirty="0"/>
              <a:t>Lectura </a:t>
            </a:r>
          </a:p>
          <a:p>
            <a:pPr lvl="1"/>
            <a:r>
              <a:rPr lang="es-MX" sz="1700" dirty="0"/>
              <a:t>Problema 2.1. (Aplicación de estructuras de control secuenciales de escritura y lectura).</a:t>
            </a:r>
          </a:p>
          <a:p>
            <a:pPr lvl="1"/>
            <a:r>
              <a:rPr lang="es-MX" dirty="0"/>
              <a:t>Asignación. </a:t>
            </a:r>
          </a:p>
          <a:p>
            <a:pPr lvl="1"/>
            <a:r>
              <a:rPr lang="es-MX" sz="3300" b="1" dirty="0">
                <a:solidFill>
                  <a:srgbClr val="FF0000"/>
                </a:solidFill>
              </a:rPr>
              <a:t>Asignación Simple </a:t>
            </a:r>
          </a:p>
          <a:p>
            <a:pPr lvl="1"/>
            <a:r>
              <a:rPr lang="es-MX" sz="1700" dirty="0"/>
              <a:t>Problema 2.2. (Aplicación de estructuras de control secuenciales de asignación simple). </a:t>
            </a:r>
          </a:p>
          <a:p>
            <a:pPr lvl="1"/>
            <a:r>
              <a:rPr lang="es-MX" sz="1700" dirty="0"/>
              <a:t>Asignación Contador </a:t>
            </a:r>
          </a:p>
          <a:p>
            <a:pPr lvl="1"/>
            <a:r>
              <a:rPr lang="es-MX" sz="1700" dirty="0"/>
              <a:t>Problema 2.3. (Aplicación de estructuras de control secuenciales de asignación contador). </a:t>
            </a:r>
          </a:p>
          <a:p>
            <a:pPr lvl="1"/>
            <a:r>
              <a:rPr lang="es-MX" sz="1700" dirty="0"/>
              <a:t>Asignación Acumulador </a:t>
            </a:r>
          </a:p>
          <a:p>
            <a:pPr lvl="1"/>
            <a:r>
              <a:rPr lang="es-MX" sz="1700" dirty="0"/>
              <a:t>Problema 2.4. (Aplicación de estructuras de control secuenciales de asignación acumulador tipo sumas) </a:t>
            </a:r>
          </a:p>
          <a:p>
            <a:pPr lvl="1"/>
            <a:r>
              <a:rPr lang="es-MX" sz="1700" dirty="0"/>
              <a:t>Problema 2.5. (Aplicación de estructuras de control secuenciales de asignación acumulador tipo productos) . </a:t>
            </a:r>
          </a:p>
          <a:p>
            <a:pPr lvl="1"/>
            <a:r>
              <a:rPr lang="es-MX" sz="1700" dirty="0"/>
              <a:t>Asignación de Trabajo </a:t>
            </a:r>
          </a:p>
          <a:p>
            <a:pPr lvl="1"/>
            <a:r>
              <a:rPr lang="es-MX" sz="1700" dirty="0"/>
              <a:t>Problema 2.6. (Aplicación de estructuras de control secuenciales de asignación de trabajo) </a:t>
            </a:r>
          </a:p>
          <a:p>
            <a:pPr lvl="1"/>
            <a:r>
              <a:rPr lang="es-MX" sz="1700" dirty="0"/>
              <a:t>Caso de Estudio 2.1: Encontrar el Perímetro y el Área de un Circulo </a:t>
            </a:r>
          </a:p>
          <a:p>
            <a:pPr lvl="1"/>
            <a:r>
              <a:rPr lang="es-MX" sz="1700" dirty="0"/>
              <a:t>Caso de Estudio 2.2: Encontrar el Perímetro y el Área de un Rectángulo </a:t>
            </a:r>
          </a:p>
          <a:p>
            <a:pPr lvl="1"/>
            <a:r>
              <a:rPr lang="es-MX" sz="1700" dirty="0"/>
              <a:t>Caso de Estudio 2.3: Encontrar la Generatriz, el Área y el Volumen de un Cono </a:t>
            </a:r>
          </a:p>
          <a:p>
            <a:pPr lvl="1"/>
            <a:r>
              <a:rPr lang="es-MX" sz="1700" dirty="0"/>
              <a:t>Caso de Estudio 2.4: Encontrar la distancia, tiempo de vuelo y la altura alcanzada por un proyectil </a:t>
            </a:r>
            <a:endParaRPr lang="es-419" sz="1700" dirty="0"/>
          </a:p>
        </p:txBody>
      </p:sp>
      <p:sp>
        <p:nvSpPr>
          <p:cNvPr id="5" name="4 Marcador de fecha"/>
          <p:cNvSpPr>
            <a:spLocks noGrp="1"/>
          </p:cNvSpPr>
          <p:nvPr>
            <p:ph type="dt" sz="half" idx="10"/>
          </p:nvPr>
        </p:nvSpPr>
        <p:spPr/>
        <p:txBody>
          <a:bodyPr/>
          <a:lstStyle/>
          <a:p>
            <a:fld id="{85E4E129-A937-4BEE-8A17-D7969DFE55C2}" type="datetime1">
              <a:rPr lang="es-EC">
                <a:solidFill>
                  <a:prstClr val="black">
                    <a:lumMod val="65000"/>
                    <a:lumOff val="35000"/>
                  </a:prstClr>
                </a:solidFill>
              </a:rPr>
              <a:pPr/>
              <a:t>26/11/2025</a:t>
            </a:fld>
            <a:endParaRPr lang="es-EC" dirty="0">
              <a:solidFill>
                <a:prstClr val="black">
                  <a:lumMod val="65000"/>
                  <a:lumOff val="35000"/>
                </a:prstClr>
              </a:solidFill>
            </a:endParaRP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14</a:t>
            </a:fld>
            <a:endParaRPr lang="es-EC" dirty="0">
              <a:solidFill>
                <a:prstClr val="black">
                  <a:lumMod val="65000"/>
                  <a:lumOff val="35000"/>
                </a:prstClr>
              </a:solidFill>
            </a:endParaRPr>
          </a:p>
        </p:txBody>
      </p:sp>
    </p:spTree>
    <p:extLst>
      <p:ext uri="{BB962C8B-B14F-4D97-AF65-F5344CB8AC3E}">
        <p14:creationId xmlns:p14="http://schemas.microsoft.com/office/powerpoint/2010/main" val="1260624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703348" y="570647"/>
            <a:ext cx="7171765" cy="948646"/>
          </a:xfrm>
        </p:spPr>
        <p:txBody>
          <a:bodyPr/>
          <a:lstStyle/>
          <a:p>
            <a:br>
              <a:rPr lang="es-MX" sz="6000" b="1" dirty="0">
                <a:solidFill>
                  <a:srgbClr val="FF0000"/>
                </a:solidFill>
              </a:rPr>
            </a:br>
            <a:br>
              <a:rPr lang="es-MX" sz="6000" b="1" dirty="0">
                <a:solidFill>
                  <a:srgbClr val="FF0000"/>
                </a:solidFill>
              </a:rPr>
            </a:br>
            <a:r>
              <a:rPr lang="es-MX" sz="4800" b="1" dirty="0"/>
              <a:t>Asignación Simple </a:t>
            </a:r>
            <a:br>
              <a:rPr lang="es-MX" sz="4800" b="1" dirty="0"/>
            </a:br>
            <a:endParaRPr lang="en-US" sz="4800" b="1" dirty="0"/>
          </a:p>
        </p:txBody>
      </p:sp>
      <p:sp>
        <p:nvSpPr>
          <p:cNvPr id="5" name="4 Marcador de contenido"/>
          <p:cNvSpPr>
            <a:spLocks noGrp="1"/>
          </p:cNvSpPr>
          <p:nvPr>
            <p:ph idx="1"/>
          </p:nvPr>
        </p:nvSpPr>
        <p:spPr>
          <a:xfrm>
            <a:off x="1038428" y="1519293"/>
            <a:ext cx="3753491" cy="3434671"/>
          </a:xfrm>
        </p:spPr>
        <p:txBody>
          <a:bodyPr>
            <a:normAutofit/>
          </a:bodyPr>
          <a:lstStyle/>
          <a:p>
            <a:pPr algn="just"/>
            <a:r>
              <a:rPr lang="es-MX" sz="1600" dirty="0"/>
              <a:t>Esta asignación consiste en pasar un valor a una variable. Esta operación se puede representar mediante pseudocódigo y Lenguaje C/C++ como se indica a continuación: </a:t>
            </a:r>
            <a:endParaRPr lang="es-ES" sz="2000" dirty="0"/>
          </a:p>
        </p:txBody>
      </p:sp>
      <p:sp>
        <p:nvSpPr>
          <p:cNvPr id="3" name="2 Marcador de fecha"/>
          <p:cNvSpPr>
            <a:spLocks noGrp="1"/>
          </p:cNvSpPr>
          <p:nvPr>
            <p:ph type="dt" sz="half" idx="10"/>
          </p:nvPr>
        </p:nvSpPr>
        <p:spPr/>
        <p:txBody>
          <a:bodyPr/>
          <a:lstStyle/>
          <a:p>
            <a:fld id="{44C3288D-7DAC-4DD2-9022-6C6BA4238517}" type="datetime1">
              <a:rPr lang="es-EC" smtClean="0"/>
              <a:t>26/11/2025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15</a:t>
            </a:fld>
            <a:endParaRPr lang="es-EC" dirty="0"/>
          </a:p>
        </p:txBody>
      </p:sp>
      <p:pic>
        <p:nvPicPr>
          <p:cNvPr id="7" name="Picture 2">
            <a:extLst>
              <a:ext uri="{FF2B5EF4-FFF2-40B4-BE49-F238E27FC236}">
                <a16:creationId xmlns:a16="http://schemas.microsoft.com/office/drawing/2014/main" id="{23FC0FD3-258F-4CAD-A40C-C197A8D933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62598" y="1519293"/>
            <a:ext cx="5477435" cy="2954106"/>
          </a:xfrm>
          <a:prstGeom prst="rect">
            <a:avLst/>
          </a:prstGeom>
          <a:noFill/>
          <a:extLst>
            <a:ext uri="{909E8E84-426E-40DD-AFC4-6F175D3DCCD1}">
              <a14:hiddenFill xmlns:a14="http://schemas.microsoft.com/office/drawing/2010/main">
                <a:solidFill>
                  <a:srgbClr val="FFFFFF"/>
                </a:solidFill>
              </a14:hiddenFill>
            </a:ext>
          </a:extLst>
        </p:spPr>
      </p:pic>
      <p:sp>
        <p:nvSpPr>
          <p:cNvPr id="8" name="12 CuadroTexto">
            <a:extLst>
              <a:ext uri="{FF2B5EF4-FFF2-40B4-BE49-F238E27FC236}">
                <a16:creationId xmlns:a16="http://schemas.microsoft.com/office/drawing/2014/main" id="{B153FF23-F5BC-4194-9DD8-F77E40779262}"/>
              </a:ext>
            </a:extLst>
          </p:cNvPr>
          <p:cNvSpPr txBox="1"/>
          <p:nvPr/>
        </p:nvSpPr>
        <p:spPr>
          <a:xfrm>
            <a:off x="6062598" y="4726009"/>
            <a:ext cx="4355976" cy="1015663"/>
          </a:xfrm>
          <a:prstGeom prst="rect">
            <a:avLst/>
          </a:prstGeom>
          <a:noFill/>
        </p:spPr>
        <p:txBody>
          <a:bodyPr wrap="square" rtlCol="0">
            <a:spAutoFit/>
          </a:bodyPr>
          <a:lstStyle/>
          <a:p>
            <a:pPr algn="just"/>
            <a:r>
              <a:rPr lang="es-MX" sz="1200" b="1" dirty="0">
                <a:solidFill>
                  <a:schemeClr val="tx1">
                    <a:lumMod val="50000"/>
                    <a:lumOff val="50000"/>
                  </a:schemeClr>
                </a:solidFill>
                <a:latin typeface="+mj-lt"/>
              </a:rPr>
              <a:t>Imagen 2.1 </a:t>
            </a:r>
            <a:r>
              <a:rPr lang="es-MX" sz="1200" dirty="0">
                <a:solidFill>
                  <a:schemeClr val="tx1">
                    <a:lumMod val="50000"/>
                    <a:lumOff val="50000"/>
                  </a:schemeClr>
                </a:solidFill>
                <a:latin typeface="+mj-lt"/>
              </a:rPr>
              <a:t>Representación del lenguaje de programación C.</a:t>
            </a:r>
          </a:p>
          <a:p>
            <a:r>
              <a:rPr lang="es-MX" sz="1200" dirty="0">
                <a:solidFill>
                  <a:schemeClr val="tx1">
                    <a:lumMod val="50000"/>
                    <a:lumOff val="50000"/>
                  </a:schemeClr>
                </a:solidFill>
                <a:latin typeface="+mj-lt"/>
              </a:rPr>
              <a:t>Fuente: MSMK University, 2025.</a:t>
            </a:r>
          </a:p>
          <a:p>
            <a:pPr algn="just"/>
            <a:endParaRPr lang="es-MX" sz="1200" dirty="0">
              <a:solidFill>
                <a:schemeClr val="tx1">
                  <a:lumMod val="50000"/>
                  <a:lumOff val="50000"/>
                </a:schemeClr>
              </a:solidFill>
              <a:latin typeface="+mj-lt"/>
            </a:endParaRPr>
          </a:p>
          <a:p>
            <a:pPr algn="ctr"/>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10889117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fontScale="85000" lnSpcReduction="20000"/>
          </a:bodyPr>
          <a:lstStyle/>
          <a:p>
            <a:pPr lvl="1"/>
            <a:r>
              <a:rPr lang="es-MX" sz="1700" dirty="0"/>
              <a:t>Estructuras de Control Secuenciales. </a:t>
            </a:r>
          </a:p>
          <a:p>
            <a:pPr lvl="1"/>
            <a:r>
              <a:rPr lang="es-MX" sz="1700" dirty="0"/>
              <a:t>Escritura. </a:t>
            </a:r>
          </a:p>
          <a:p>
            <a:pPr lvl="1"/>
            <a:r>
              <a:rPr lang="es-MX" sz="1700" dirty="0"/>
              <a:t>Lectura </a:t>
            </a:r>
          </a:p>
          <a:p>
            <a:pPr lvl="1"/>
            <a:r>
              <a:rPr lang="es-MX" sz="1700" dirty="0"/>
              <a:t>Problema 2.1. (Aplicación de estructuras de control secuenciales de escritura y lectura).</a:t>
            </a:r>
          </a:p>
          <a:p>
            <a:pPr lvl="1"/>
            <a:r>
              <a:rPr lang="es-MX" sz="1700" dirty="0"/>
              <a:t>Asignación. </a:t>
            </a:r>
          </a:p>
          <a:p>
            <a:pPr lvl="1"/>
            <a:r>
              <a:rPr lang="es-MX" sz="1700" dirty="0"/>
              <a:t>Asignación Simple </a:t>
            </a:r>
          </a:p>
          <a:p>
            <a:pPr lvl="1"/>
            <a:r>
              <a:rPr lang="es-MX" sz="3300" b="1" dirty="0">
                <a:solidFill>
                  <a:srgbClr val="FF0000"/>
                </a:solidFill>
              </a:rPr>
              <a:t>Problema 2.2. (Aplicación de estructuras de control secuenciales de asignación simple). </a:t>
            </a:r>
          </a:p>
          <a:p>
            <a:pPr lvl="1"/>
            <a:r>
              <a:rPr lang="es-MX" sz="1700" dirty="0"/>
              <a:t>Asignación Contador </a:t>
            </a:r>
          </a:p>
          <a:p>
            <a:pPr lvl="1"/>
            <a:r>
              <a:rPr lang="es-MX" sz="1700" dirty="0"/>
              <a:t>Problema 2.3. (Aplicación de estructuras de control secuenciales de asignación contador). </a:t>
            </a:r>
          </a:p>
          <a:p>
            <a:pPr lvl="1"/>
            <a:r>
              <a:rPr lang="es-MX" sz="1700" dirty="0"/>
              <a:t>Asignación Acumulador </a:t>
            </a:r>
          </a:p>
          <a:p>
            <a:pPr lvl="1"/>
            <a:r>
              <a:rPr lang="es-MX" sz="1700" dirty="0"/>
              <a:t>Problema 2.4. (Aplicación de estructuras de control secuenciales de asignación acumulador tipo sumas) </a:t>
            </a:r>
          </a:p>
          <a:p>
            <a:pPr lvl="1"/>
            <a:r>
              <a:rPr lang="es-MX" sz="1700" dirty="0"/>
              <a:t>Problema 2.5. (Aplicación de estructuras de control secuenciales de asignación acumulador tipo productos) . </a:t>
            </a:r>
          </a:p>
          <a:p>
            <a:pPr lvl="1"/>
            <a:r>
              <a:rPr lang="es-MX" sz="1700" dirty="0"/>
              <a:t>Asignación de Trabajo </a:t>
            </a:r>
          </a:p>
          <a:p>
            <a:pPr lvl="1"/>
            <a:r>
              <a:rPr lang="es-MX" sz="1700" dirty="0"/>
              <a:t>Problema 2.6. (Aplicación de estructuras de control secuenciales de asignación de trabajo) </a:t>
            </a:r>
          </a:p>
          <a:p>
            <a:pPr lvl="1"/>
            <a:r>
              <a:rPr lang="es-MX" sz="1700" dirty="0"/>
              <a:t>Caso de Estudio 2.1: Encontrar el Perímetro y el Área de un Circulo </a:t>
            </a:r>
          </a:p>
          <a:p>
            <a:pPr lvl="1"/>
            <a:r>
              <a:rPr lang="es-MX" sz="1700" dirty="0"/>
              <a:t>Caso de Estudio 2.2: Encontrar el Perímetro y el Área de un Rectángulo </a:t>
            </a:r>
          </a:p>
          <a:p>
            <a:pPr lvl="1"/>
            <a:r>
              <a:rPr lang="es-MX" sz="1700" dirty="0"/>
              <a:t>Caso de Estudio 2.3: Encontrar la Generatriz, el Área y el Volumen de un Cono </a:t>
            </a:r>
          </a:p>
          <a:p>
            <a:pPr lvl="1"/>
            <a:r>
              <a:rPr lang="es-MX" sz="1700" dirty="0"/>
              <a:t>Caso de Estudio 2.4: Encontrar la distancia, tiempo de vuelo y la altura alcanzada por un proyectil </a:t>
            </a:r>
            <a:endParaRPr lang="es-419" sz="1700" dirty="0"/>
          </a:p>
        </p:txBody>
      </p:sp>
      <p:sp>
        <p:nvSpPr>
          <p:cNvPr id="5" name="4 Marcador de fecha"/>
          <p:cNvSpPr>
            <a:spLocks noGrp="1"/>
          </p:cNvSpPr>
          <p:nvPr>
            <p:ph type="dt" sz="half" idx="10"/>
          </p:nvPr>
        </p:nvSpPr>
        <p:spPr/>
        <p:txBody>
          <a:bodyPr/>
          <a:lstStyle/>
          <a:p>
            <a:fld id="{85E4E129-A937-4BEE-8A17-D7969DFE55C2}" type="datetime1">
              <a:rPr lang="es-EC">
                <a:solidFill>
                  <a:prstClr val="black">
                    <a:lumMod val="65000"/>
                    <a:lumOff val="35000"/>
                  </a:prstClr>
                </a:solidFill>
              </a:rPr>
              <a:pPr/>
              <a:t>26/11/2025</a:t>
            </a:fld>
            <a:endParaRPr lang="es-EC" dirty="0">
              <a:solidFill>
                <a:prstClr val="black">
                  <a:lumMod val="65000"/>
                  <a:lumOff val="35000"/>
                </a:prstClr>
              </a:solidFill>
            </a:endParaRP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16</a:t>
            </a:fld>
            <a:endParaRPr lang="es-EC" dirty="0">
              <a:solidFill>
                <a:prstClr val="black">
                  <a:lumMod val="65000"/>
                  <a:lumOff val="35000"/>
                </a:prstClr>
              </a:solidFill>
            </a:endParaRPr>
          </a:p>
        </p:txBody>
      </p:sp>
    </p:spTree>
    <p:extLst>
      <p:ext uri="{BB962C8B-B14F-4D97-AF65-F5344CB8AC3E}">
        <p14:creationId xmlns:p14="http://schemas.microsoft.com/office/powerpoint/2010/main" val="18160142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134894" y="2122191"/>
            <a:ext cx="7922211" cy="948646"/>
          </a:xfrm>
        </p:spPr>
        <p:txBody>
          <a:bodyPr/>
          <a:lstStyle/>
          <a:p>
            <a:br>
              <a:rPr lang="es-MX" sz="9600" b="1" dirty="0">
                <a:solidFill>
                  <a:srgbClr val="FF0000"/>
                </a:solidFill>
              </a:rPr>
            </a:br>
            <a:br>
              <a:rPr lang="es-MX" sz="9600" b="1" dirty="0">
                <a:solidFill>
                  <a:srgbClr val="FF0000"/>
                </a:solidFill>
              </a:rPr>
            </a:br>
            <a:r>
              <a:rPr lang="es-MX" sz="3600" b="1" dirty="0"/>
              <a:t>Problema 2.2. (Aplicación de estructuras de control secuenciales de asignación simple). </a:t>
            </a:r>
            <a:br>
              <a:rPr lang="es-MX" sz="3600" b="1" dirty="0"/>
            </a:br>
            <a:endParaRPr lang="en-US" sz="8000" b="1" dirty="0"/>
          </a:p>
        </p:txBody>
      </p:sp>
      <p:sp>
        <p:nvSpPr>
          <p:cNvPr id="5" name="4 Marcador de contenido"/>
          <p:cNvSpPr>
            <a:spLocks noGrp="1"/>
          </p:cNvSpPr>
          <p:nvPr>
            <p:ph idx="1"/>
          </p:nvPr>
        </p:nvSpPr>
        <p:spPr>
          <a:xfrm>
            <a:off x="1015279" y="2657397"/>
            <a:ext cx="3753491" cy="3434671"/>
          </a:xfrm>
        </p:spPr>
        <p:txBody>
          <a:bodyPr>
            <a:normAutofit/>
          </a:bodyPr>
          <a:lstStyle/>
          <a:p>
            <a:pPr algn="just"/>
            <a:r>
              <a:rPr lang="es-MX" sz="1600" dirty="0"/>
              <a:t>Escribir un programa que permita probar la asignación simple, donde se asigna un valor a una variable, luego ese mismo valor se asigna a otra utilizando la misma variable y finalmente se imprime los valores de las dos variables.</a:t>
            </a:r>
            <a:endParaRPr lang="es-ES" sz="2000" dirty="0"/>
          </a:p>
        </p:txBody>
      </p:sp>
      <p:sp>
        <p:nvSpPr>
          <p:cNvPr id="3" name="2 Marcador de fecha"/>
          <p:cNvSpPr>
            <a:spLocks noGrp="1"/>
          </p:cNvSpPr>
          <p:nvPr>
            <p:ph type="dt" sz="half" idx="10"/>
          </p:nvPr>
        </p:nvSpPr>
        <p:spPr/>
        <p:txBody>
          <a:bodyPr/>
          <a:lstStyle/>
          <a:p>
            <a:fld id="{44C3288D-7DAC-4DD2-9022-6C6BA4238517}" type="datetime1">
              <a:rPr lang="es-EC" smtClean="0"/>
              <a:t>26/11/2025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17</a:t>
            </a:fld>
            <a:endParaRPr lang="es-EC" dirty="0"/>
          </a:p>
        </p:txBody>
      </p:sp>
      <p:pic>
        <p:nvPicPr>
          <p:cNvPr id="9" name="Imagen 8">
            <a:extLst>
              <a:ext uri="{FF2B5EF4-FFF2-40B4-BE49-F238E27FC236}">
                <a16:creationId xmlns:a16="http://schemas.microsoft.com/office/drawing/2014/main" id="{0AC92360-8CC3-4BDF-B9DF-9617CC608E98}"/>
              </a:ext>
            </a:extLst>
          </p:cNvPr>
          <p:cNvPicPr>
            <a:picLocks noChangeAspect="1"/>
          </p:cNvPicPr>
          <p:nvPr/>
        </p:nvPicPr>
        <p:blipFill>
          <a:blip r:embed="rId2"/>
          <a:stretch>
            <a:fillRect/>
          </a:stretch>
        </p:blipFill>
        <p:spPr>
          <a:xfrm>
            <a:off x="4768770" y="2596514"/>
            <a:ext cx="7245752" cy="3063506"/>
          </a:xfrm>
          <a:prstGeom prst="rect">
            <a:avLst/>
          </a:prstGeom>
        </p:spPr>
      </p:pic>
    </p:spTree>
    <p:extLst>
      <p:ext uri="{BB962C8B-B14F-4D97-AF65-F5344CB8AC3E}">
        <p14:creationId xmlns:p14="http://schemas.microsoft.com/office/powerpoint/2010/main" val="26117402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366388" y="1300389"/>
            <a:ext cx="7922211" cy="948646"/>
          </a:xfrm>
        </p:spPr>
        <p:txBody>
          <a:bodyPr/>
          <a:lstStyle/>
          <a:p>
            <a:br>
              <a:rPr lang="es-MX" sz="9600" b="1" dirty="0">
                <a:solidFill>
                  <a:srgbClr val="FF0000"/>
                </a:solidFill>
              </a:rPr>
            </a:br>
            <a:br>
              <a:rPr lang="es-MX" sz="9600" b="1" dirty="0">
                <a:solidFill>
                  <a:srgbClr val="FF0000"/>
                </a:solidFill>
              </a:rPr>
            </a:br>
            <a:r>
              <a:rPr lang="es-MX" sz="2800" b="1" dirty="0"/>
              <a:t>Problema 2.2. (Aplicación de estructuras de control secuenciales de asignación simple). </a:t>
            </a:r>
            <a:br>
              <a:rPr lang="es-MX" sz="2800" b="1" dirty="0"/>
            </a:br>
            <a:endParaRPr lang="en-US" sz="8000" b="1" dirty="0"/>
          </a:p>
        </p:txBody>
      </p:sp>
      <p:sp>
        <p:nvSpPr>
          <p:cNvPr id="3" name="2 Marcador de fecha"/>
          <p:cNvSpPr>
            <a:spLocks noGrp="1"/>
          </p:cNvSpPr>
          <p:nvPr>
            <p:ph type="dt" sz="half" idx="10"/>
          </p:nvPr>
        </p:nvSpPr>
        <p:spPr/>
        <p:txBody>
          <a:bodyPr/>
          <a:lstStyle/>
          <a:p>
            <a:fld id="{44C3288D-7DAC-4DD2-9022-6C6BA4238517}" type="datetime1">
              <a:rPr lang="es-EC" smtClean="0"/>
              <a:t>26/11/2025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18</a:t>
            </a:fld>
            <a:endParaRPr lang="es-EC" dirty="0"/>
          </a:p>
        </p:txBody>
      </p:sp>
      <p:pic>
        <p:nvPicPr>
          <p:cNvPr id="10" name="Imagen 9">
            <a:extLst>
              <a:ext uri="{FF2B5EF4-FFF2-40B4-BE49-F238E27FC236}">
                <a16:creationId xmlns:a16="http://schemas.microsoft.com/office/drawing/2014/main" id="{42B8E19D-5675-4444-A030-6CD159185696}"/>
              </a:ext>
            </a:extLst>
          </p:cNvPr>
          <p:cNvPicPr>
            <a:picLocks noChangeAspect="1"/>
          </p:cNvPicPr>
          <p:nvPr/>
        </p:nvPicPr>
        <p:blipFill rotWithShape="1">
          <a:blip r:embed="rId2"/>
          <a:srcRect t="2328"/>
          <a:stretch/>
        </p:blipFill>
        <p:spPr>
          <a:xfrm>
            <a:off x="2084171" y="1283022"/>
            <a:ext cx="8758702" cy="5052349"/>
          </a:xfrm>
          <a:prstGeom prst="rect">
            <a:avLst/>
          </a:prstGeom>
        </p:spPr>
      </p:pic>
      <p:sp>
        <p:nvSpPr>
          <p:cNvPr id="11" name="CuadroTexto 10">
            <a:extLst>
              <a:ext uri="{FF2B5EF4-FFF2-40B4-BE49-F238E27FC236}">
                <a16:creationId xmlns:a16="http://schemas.microsoft.com/office/drawing/2014/main" id="{CD2BE8DD-EF49-483E-9C1F-AD72FBE173F3}"/>
              </a:ext>
            </a:extLst>
          </p:cNvPr>
          <p:cNvSpPr txBox="1"/>
          <p:nvPr/>
        </p:nvSpPr>
        <p:spPr>
          <a:xfrm>
            <a:off x="2366388" y="6316251"/>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Programa 2.2</a:t>
            </a:r>
            <a:r>
              <a:rPr lang="es-ES" sz="1200" dirty="0">
                <a:solidFill>
                  <a:schemeClr val="tx1">
                    <a:lumMod val="50000"/>
                    <a:lumOff val="50000"/>
                  </a:schemeClr>
                </a:solidFill>
                <a:latin typeface="+mj-lt"/>
              </a:rPr>
              <a:t>. Código del Programa.</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4313172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366388" y="1300389"/>
            <a:ext cx="7922211" cy="948646"/>
          </a:xfrm>
        </p:spPr>
        <p:txBody>
          <a:bodyPr/>
          <a:lstStyle/>
          <a:p>
            <a:br>
              <a:rPr lang="es-MX" sz="9600" b="1" dirty="0">
                <a:solidFill>
                  <a:srgbClr val="FF0000"/>
                </a:solidFill>
              </a:rPr>
            </a:br>
            <a:br>
              <a:rPr lang="es-MX" sz="9600" b="1" dirty="0">
                <a:solidFill>
                  <a:srgbClr val="FF0000"/>
                </a:solidFill>
              </a:rPr>
            </a:br>
            <a:r>
              <a:rPr lang="es-MX" sz="2800" b="1" dirty="0"/>
              <a:t>Problema 2.2. (Aplicación de estructuras de control secuenciales de asignación simple). </a:t>
            </a:r>
            <a:br>
              <a:rPr lang="es-MX" sz="2800" b="1" dirty="0"/>
            </a:br>
            <a:endParaRPr lang="en-US" sz="8000" b="1" dirty="0"/>
          </a:p>
        </p:txBody>
      </p:sp>
      <p:sp>
        <p:nvSpPr>
          <p:cNvPr id="3" name="2 Marcador de fecha"/>
          <p:cNvSpPr>
            <a:spLocks noGrp="1"/>
          </p:cNvSpPr>
          <p:nvPr>
            <p:ph type="dt" sz="half" idx="10"/>
          </p:nvPr>
        </p:nvSpPr>
        <p:spPr/>
        <p:txBody>
          <a:bodyPr/>
          <a:lstStyle/>
          <a:p>
            <a:fld id="{44C3288D-7DAC-4DD2-9022-6C6BA4238517}" type="datetime1">
              <a:rPr lang="es-EC" smtClean="0"/>
              <a:t>26/11/2025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19</a:t>
            </a:fld>
            <a:endParaRPr lang="es-EC" dirty="0"/>
          </a:p>
        </p:txBody>
      </p:sp>
      <p:pic>
        <p:nvPicPr>
          <p:cNvPr id="5" name="Imagen 4">
            <a:extLst>
              <a:ext uri="{FF2B5EF4-FFF2-40B4-BE49-F238E27FC236}">
                <a16:creationId xmlns:a16="http://schemas.microsoft.com/office/drawing/2014/main" id="{83B4AA31-8D07-4A7B-8EA5-0302E3D450F6}"/>
              </a:ext>
            </a:extLst>
          </p:cNvPr>
          <p:cNvPicPr>
            <a:picLocks noChangeAspect="1"/>
          </p:cNvPicPr>
          <p:nvPr/>
        </p:nvPicPr>
        <p:blipFill>
          <a:blip r:embed="rId2"/>
          <a:stretch>
            <a:fillRect/>
          </a:stretch>
        </p:blipFill>
        <p:spPr>
          <a:xfrm>
            <a:off x="4694028" y="1995912"/>
            <a:ext cx="6697010" cy="1433088"/>
          </a:xfrm>
          <a:prstGeom prst="rect">
            <a:avLst/>
          </a:prstGeom>
        </p:spPr>
      </p:pic>
      <p:sp>
        <p:nvSpPr>
          <p:cNvPr id="9" name="CuadroTexto 8">
            <a:extLst>
              <a:ext uri="{FF2B5EF4-FFF2-40B4-BE49-F238E27FC236}">
                <a16:creationId xmlns:a16="http://schemas.microsoft.com/office/drawing/2014/main" id="{814AC6FD-892C-4828-8EEE-C1E1C70462C3}"/>
              </a:ext>
            </a:extLst>
          </p:cNvPr>
          <p:cNvSpPr txBox="1"/>
          <p:nvPr/>
        </p:nvSpPr>
        <p:spPr>
          <a:xfrm>
            <a:off x="4694028" y="3630867"/>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Ejecución 2.2</a:t>
            </a:r>
            <a:r>
              <a:rPr lang="es-ES" sz="1200" dirty="0">
                <a:solidFill>
                  <a:schemeClr val="tx1">
                    <a:lumMod val="50000"/>
                    <a:lumOff val="50000"/>
                  </a:schemeClr>
                </a:solidFill>
                <a:latin typeface="+mj-lt"/>
              </a:rPr>
              <a:t>. Salida  del Programa.</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
        <p:nvSpPr>
          <p:cNvPr id="12" name="4 Marcador de contenido">
            <a:extLst>
              <a:ext uri="{FF2B5EF4-FFF2-40B4-BE49-F238E27FC236}">
                <a16:creationId xmlns:a16="http://schemas.microsoft.com/office/drawing/2014/main" id="{FE1FEF5A-1A80-4AE0-B268-B604366F2100}"/>
              </a:ext>
            </a:extLst>
          </p:cNvPr>
          <p:cNvSpPr>
            <a:spLocks noGrp="1"/>
          </p:cNvSpPr>
          <p:nvPr>
            <p:ph idx="1"/>
          </p:nvPr>
        </p:nvSpPr>
        <p:spPr>
          <a:xfrm>
            <a:off x="1061577" y="1852409"/>
            <a:ext cx="3371527" cy="2101624"/>
          </a:xfrm>
        </p:spPr>
        <p:txBody>
          <a:bodyPr>
            <a:normAutofit/>
          </a:bodyPr>
          <a:lstStyle/>
          <a:p>
            <a:pPr algn="just"/>
            <a:r>
              <a:rPr lang="es-MX" sz="1600" dirty="0"/>
              <a:t>La Ejecución 2.2, correspondiente a la salida del programa, muestra que al ingresar el valor igual a 7 en la variable ‘a’, se asigna este mismo valor a la variable ‘b’ y se imprimen sus valores. </a:t>
            </a:r>
            <a:endParaRPr lang="es-ES" sz="2000" dirty="0"/>
          </a:p>
        </p:txBody>
      </p:sp>
    </p:spTree>
    <p:extLst>
      <p:ext uri="{BB962C8B-B14F-4D97-AF65-F5344CB8AC3E}">
        <p14:creationId xmlns:p14="http://schemas.microsoft.com/office/powerpoint/2010/main" val="13368065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fontScale="85000" lnSpcReduction="10000"/>
          </a:bodyPr>
          <a:lstStyle/>
          <a:p>
            <a:pPr lvl="1"/>
            <a:r>
              <a:rPr lang="es-MX" sz="1700" dirty="0"/>
              <a:t>Estructuras de Control Secuenciales. </a:t>
            </a:r>
          </a:p>
          <a:p>
            <a:pPr lvl="1"/>
            <a:r>
              <a:rPr lang="es-MX" sz="1700" dirty="0"/>
              <a:t>Escritura. </a:t>
            </a:r>
          </a:p>
          <a:p>
            <a:pPr lvl="1"/>
            <a:r>
              <a:rPr lang="es-MX" sz="1700" dirty="0"/>
              <a:t>Lectura </a:t>
            </a:r>
          </a:p>
          <a:p>
            <a:pPr lvl="1"/>
            <a:r>
              <a:rPr lang="es-MX" sz="1700" dirty="0"/>
              <a:t>Problema 2.1. (Aplicación de estructuras de control secuenciales de escritura y lectura).</a:t>
            </a:r>
          </a:p>
          <a:p>
            <a:pPr lvl="1"/>
            <a:r>
              <a:rPr lang="es-MX" sz="1700" dirty="0"/>
              <a:t>Asignación. </a:t>
            </a:r>
          </a:p>
          <a:p>
            <a:pPr lvl="1"/>
            <a:r>
              <a:rPr lang="es-MX" sz="1700" dirty="0"/>
              <a:t>Asignación Simple </a:t>
            </a:r>
          </a:p>
          <a:p>
            <a:pPr lvl="1"/>
            <a:r>
              <a:rPr lang="es-MX" sz="1700" dirty="0"/>
              <a:t>Problema 2.2. (Aplicación de estructuras de control secuenciales de asignación simple). </a:t>
            </a:r>
          </a:p>
          <a:p>
            <a:pPr lvl="1"/>
            <a:r>
              <a:rPr lang="es-MX" sz="3300" b="1" dirty="0">
                <a:solidFill>
                  <a:srgbClr val="FF0000"/>
                </a:solidFill>
              </a:rPr>
              <a:t>Asignación Contador </a:t>
            </a:r>
          </a:p>
          <a:p>
            <a:pPr lvl="1"/>
            <a:r>
              <a:rPr lang="es-MX" sz="1700" dirty="0"/>
              <a:t>Problema 2.3. (Aplicación de estructuras de control secuenciales de asignación contador). </a:t>
            </a:r>
          </a:p>
          <a:p>
            <a:pPr lvl="1"/>
            <a:r>
              <a:rPr lang="es-MX" sz="1700" dirty="0"/>
              <a:t>Asignación Acumulador </a:t>
            </a:r>
          </a:p>
          <a:p>
            <a:pPr lvl="1"/>
            <a:r>
              <a:rPr lang="es-MX" sz="1700" dirty="0"/>
              <a:t>Problema 2.4. (Aplicación de estructuras de control secuenciales de asignación acumulador tipo sumas) </a:t>
            </a:r>
          </a:p>
          <a:p>
            <a:pPr lvl="1"/>
            <a:r>
              <a:rPr lang="es-MX" sz="1700" dirty="0"/>
              <a:t>Problema 2.5. (Aplicación de estructuras de control secuenciales de asignación acumulador tipo productos) . </a:t>
            </a:r>
          </a:p>
          <a:p>
            <a:pPr lvl="1"/>
            <a:r>
              <a:rPr lang="es-MX" sz="1700" dirty="0"/>
              <a:t>Asignación de Trabajo </a:t>
            </a:r>
          </a:p>
          <a:p>
            <a:pPr lvl="1"/>
            <a:r>
              <a:rPr lang="es-MX" sz="1700" dirty="0"/>
              <a:t>Problema 2.6. (Aplicación de estructuras de control secuenciales de asignación de trabajo) </a:t>
            </a:r>
          </a:p>
          <a:p>
            <a:pPr lvl="1"/>
            <a:r>
              <a:rPr lang="es-MX" sz="1700" dirty="0"/>
              <a:t>Caso de Estudio 2.1: Encontrar el Perímetro y el Área de un Circulo </a:t>
            </a:r>
          </a:p>
          <a:p>
            <a:pPr lvl="1"/>
            <a:r>
              <a:rPr lang="es-MX" sz="1700" dirty="0"/>
              <a:t>Caso de Estudio 2.2: Encontrar el Perímetro y el Área de un Rectángulo </a:t>
            </a:r>
          </a:p>
          <a:p>
            <a:pPr lvl="1"/>
            <a:r>
              <a:rPr lang="es-MX" sz="1700" dirty="0"/>
              <a:t>Caso de Estudio 2.3: Encontrar la Generatriz, el Área y el Volumen de un Cono </a:t>
            </a:r>
          </a:p>
          <a:p>
            <a:pPr lvl="1"/>
            <a:r>
              <a:rPr lang="es-MX" sz="1700" dirty="0"/>
              <a:t>Caso de Estudio 2.4: Encontrar la distancia, tiempo de vuelo y la altura alcanzada por un proyectil </a:t>
            </a:r>
            <a:endParaRPr lang="es-419" sz="1700" dirty="0"/>
          </a:p>
        </p:txBody>
      </p:sp>
      <p:sp>
        <p:nvSpPr>
          <p:cNvPr id="5" name="4 Marcador de fecha"/>
          <p:cNvSpPr>
            <a:spLocks noGrp="1"/>
          </p:cNvSpPr>
          <p:nvPr>
            <p:ph type="dt" sz="half" idx="10"/>
          </p:nvPr>
        </p:nvSpPr>
        <p:spPr/>
        <p:txBody>
          <a:bodyPr/>
          <a:lstStyle/>
          <a:p>
            <a:fld id="{85E4E129-A937-4BEE-8A17-D7969DFE55C2}" type="datetime1">
              <a:rPr lang="es-EC">
                <a:solidFill>
                  <a:prstClr val="black">
                    <a:lumMod val="65000"/>
                    <a:lumOff val="35000"/>
                  </a:prstClr>
                </a:solidFill>
              </a:rPr>
              <a:pPr/>
              <a:t>26/11/2025</a:t>
            </a:fld>
            <a:endParaRPr lang="es-EC" dirty="0">
              <a:solidFill>
                <a:prstClr val="black">
                  <a:lumMod val="65000"/>
                  <a:lumOff val="35000"/>
                </a:prstClr>
              </a:solidFill>
            </a:endParaRP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20</a:t>
            </a:fld>
            <a:endParaRPr lang="es-EC" dirty="0">
              <a:solidFill>
                <a:prstClr val="black">
                  <a:lumMod val="65000"/>
                  <a:lumOff val="35000"/>
                </a:prstClr>
              </a:solidFill>
            </a:endParaRPr>
          </a:p>
        </p:txBody>
      </p:sp>
    </p:spTree>
    <p:extLst>
      <p:ext uri="{BB962C8B-B14F-4D97-AF65-F5344CB8AC3E}">
        <p14:creationId xmlns:p14="http://schemas.microsoft.com/office/powerpoint/2010/main" val="6310597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308514" y="903763"/>
            <a:ext cx="7922211" cy="948646"/>
          </a:xfrm>
        </p:spPr>
        <p:txBody>
          <a:bodyPr/>
          <a:lstStyle/>
          <a:p>
            <a:br>
              <a:rPr lang="es-MX" sz="16600" b="1" dirty="0">
                <a:solidFill>
                  <a:srgbClr val="FF0000"/>
                </a:solidFill>
              </a:rPr>
            </a:br>
            <a:br>
              <a:rPr lang="es-MX" sz="16600" b="1" dirty="0">
                <a:solidFill>
                  <a:srgbClr val="FF0000"/>
                </a:solidFill>
              </a:rPr>
            </a:br>
            <a:r>
              <a:rPr lang="es-MX" sz="4000" b="1" dirty="0"/>
              <a:t>Asignación Contador </a:t>
            </a:r>
            <a:br>
              <a:rPr lang="es-MX" sz="11500" b="1" dirty="0">
                <a:solidFill>
                  <a:srgbClr val="FF0000"/>
                </a:solidFill>
              </a:rPr>
            </a:br>
            <a:endParaRPr lang="en-US" sz="11500" b="1" dirty="0"/>
          </a:p>
        </p:txBody>
      </p:sp>
      <p:sp>
        <p:nvSpPr>
          <p:cNvPr id="3" name="2 Marcador de fecha"/>
          <p:cNvSpPr>
            <a:spLocks noGrp="1"/>
          </p:cNvSpPr>
          <p:nvPr>
            <p:ph type="dt" sz="half" idx="10"/>
          </p:nvPr>
        </p:nvSpPr>
        <p:spPr/>
        <p:txBody>
          <a:bodyPr/>
          <a:lstStyle/>
          <a:p>
            <a:fld id="{44C3288D-7DAC-4DD2-9022-6C6BA4238517}" type="datetime1">
              <a:rPr lang="es-EC" smtClean="0"/>
              <a:t>26/11/2025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21</a:t>
            </a:fld>
            <a:endParaRPr lang="es-EC" dirty="0"/>
          </a:p>
        </p:txBody>
      </p:sp>
      <p:sp>
        <p:nvSpPr>
          <p:cNvPr id="12" name="4 Marcador de contenido">
            <a:extLst>
              <a:ext uri="{FF2B5EF4-FFF2-40B4-BE49-F238E27FC236}">
                <a16:creationId xmlns:a16="http://schemas.microsoft.com/office/drawing/2014/main" id="{FE1FEF5A-1A80-4AE0-B268-B604366F2100}"/>
              </a:ext>
            </a:extLst>
          </p:cNvPr>
          <p:cNvSpPr>
            <a:spLocks noGrp="1"/>
          </p:cNvSpPr>
          <p:nvPr>
            <p:ph idx="1"/>
          </p:nvPr>
        </p:nvSpPr>
        <p:spPr>
          <a:xfrm>
            <a:off x="1061577" y="1852409"/>
            <a:ext cx="3371527" cy="2101624"/>
          </a:xfrm>
        </p:spPr>
        <p:txBody>
          <a:bodyPr>
            <a:normAutofit lnSpcReduction="10000"/>
          </a:bodyPr>
          <a:lstStyle/>
          <a:p>
            <a:pPr algn="just"/>
            <a:r>
              <a:rPr lang="es-MX" sz="1600" dirty="0"/>
              <a:t>Esta asignación consiste en usarla como un verificador del número de veces que se realiza un proceso. Esta operación se puede representar mediante pseudocódigo y Lenguaje C/C++ como se indica a continuación:</a:t>
            </a:r>
            <a:endParaRPr lang="es-ES" sz="2000" dirty="0"/>
          </a:p>
        </p:txBody>
      </p:sp>
      <p:pic>
        <p:nvPicPr>
          <p:cNvPr id="7" name="Imagen 6">
            <a:extLst>
              <a:ext uri="{FF2B5EF4-FFF2-40B4-BE49-F238E27FC236}">
                <a16:creationId xmlns:a16="http://schemas.microsoft.com/office/drawing/2014/main" id="{47439239-AEE0-452C-87B9-1E85E9ED2C96}"/>
              </a:ext>
            </a:extLst>
          </p:cNvPr>
          <p:cNvPicPr>
            <a:picLocks noChangeAspect="1"/>
          </p:cNvPicPr>
          <p:nvPr/>
        </p:nvPicPr>
        <p:blipFill>
          <a:blip r:embed="rId2"/>
          <a:stretch>
            <a:fillRect/>
          </a:stretch>
        </p:blipFill>
        <p:spPr>
          <a:xfrm>
            <a:off x="5061975" y="1711026"/>
            <a:ext cx="4821511" cy="2675779"/>
          </a:xfrm>
          <a:prstGeom prst="rect">
            <a:avLst/>
          </a:prstGeom>
        </p:spPr>
      </p:pic>
      <p:sp>
        <p:nvSpPr>
          <p:cNvPr id="10" name="12 CuadroTexto">
            <a:extLst>
              <a:ext uri="{FF2B5EF4-FFF2-40B4-BE49-F238E27FC236}">
                <a16:creationId xmlns:a16="http://schemas.microsoft.com/office/drawing/2014/main" id="{21733928-1CE4-4E0A-B96B-7AB7337AFEE4}"/>
              </a:ext>
            </a:extLst>
          </p:cNvPr>
          <p:cNvSpPr txBox="1"/>
          <p:nvPr/>
        </p:nvSpPr>
        <p:spPr>
          <a:xfrm>
            <a:off x="5061975" y="4639142"/>
            <a:ext cx="4355976" cy="1015663"/>
          </a:xfrm>
          <a:prstGeom prst="rect">
            <a:avLst/>
          </a:prstGeom>
          <a:noFill/>
        </p:spPr>
        <p:txBody>
          <a:bodyPr wrap="square" rtlCol="0">
            <a:spAutoFit/>
          </a:bodyPr>
          <a:lstStyle/>
          <a:p>
            <a:pPr algn="just"/>
            <a:r>
              <a:rPr lang="es-MX" sz="1200" b="1" dirty="0">
                <a:solidFill>
                  <a:schemeClr val="tx1">
                    <a:lumMod val="50000"/>
                    <a:lumOff val="50000"/>
                  </a:schemeClr>
                </a:solidFill>
                <a:latin typeface="+mj-lt"/>
              </a:rPr>
              <a:t>Imagen 2.2 </a:t>
            </a:r>
            <a:r>
              <a:rPr lang="es-MX" sz="1200" dirty="0">
                <a:solidFill>
                  <a:schemeClr val="tx1">
                    <a:lumMod val="50000"/>
                    <a:lumOff val="50000"/>
                  </a:schemeClr>
                </a:solidFill>
                <a:latin typeface="+mj-lt"/>
              </a:rPr>
              <a:t>Representación del lenguaje de programación C++.</a:t>
            </a:r>
          </a:p>
          <a:p>
            <a:r>
              <a:rPr lang="es-MX" sz="1200" dirty="0">
                <a:solidFill>
                  <a:schemeClr val="tx1">
                    <a:lumMod val="50000"/>
                    <a:lumOff val="50000"/>
                  </a:schemeClr>
                </a:solidFill>
                <a:latin typeface="+mj-lt"/>
              </a:rPr>
              <a:t>Fuente: </a:t>
            </a:r>
            <a:r>
              <a:rPr lang="es-EC" sz="1200" dirty="0">
                <a:solidFill>
                  <a:schemeClr val="tx1">
                    <a:lumMod val="50000"/>
                    <a:lumOff val="50000"/>
                  </a:schemeClr>
                </a:solidFill>
                <a:latin typeface="+mj-lt"/>
              </a:rPr>
              <a:t>CPPCat, 2025.</a:t>
            </a:r>
            <a:r>
              <a:rPr lang="es-MX" sz="1200" dirty="0">
                <a:solidFill>
                  <a:schemeClr val="tx1">
                    <a:lumMod val="50000"/>
                    <a:lumOff val="50000"/>
                  </a:schemeClr>
                </a:solidFill>
                <a:latin typeface="+mj-lt"/>
              </a:rPr>
              <a:t>.</a:t>
            </a:r>
          </a:p>
          <a:p>
            <a:pPr algn="just"/>
            <a:endParaRPr lang="es-MX" sz="1200" dirty="0">
              <a:solidFill>
                <a:schemeClr val="tx1">
                  <a:lumMod val="50000"/>
                  <a:lumOff val="50000"/>
                </a:schemeClr>
              </a:solidFill>
              <a:latin typeface="+mj-lt"/>
            </a:endParaRPr>
          </a:p>
          <a:p>
            <a:pPr algn="ctr"/>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8284630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fontScale="85000" lnSpcReduction="20000"/>
          </a:bodyPr>
          <a:lstStyle/>
          <a:p>
            <a:pPr lvl="1"/>
            <a:r>
              <a:rPr lang="es-MX" sz="1700" dirty="0"/>
              <a:t>Estructuras de Control Secuenciales. </a:t>
            </a:r>
          </a:p>
          <a:p>
            <a:pPr lvl="1"/>
            <a:r>
              <a:rPr lang="es-MX" sz="1700" dirty="0"/>
              <a:t>Escritura. </a:t>
            </a:r>
          </a:p>
          <a:p>
            <a:pPr lvl="1"/>
            <a:r>
              <a:rPr lang="es-MX" sz="1700" dirty="0"/>
              <a:t>Lectura </a:t>
            </a:r>
          </a:p>
          <a:p>
            <a:pPr lvl="1"/>
            <a:r>
              <a:rPr lang="es-MX" sz="1700" dirty="0"/>
              <a:t>Problema 2.1. (Aplicación de estructuras de control secuenciales de escritura y lectura).</a:t>
            </a:r>
          </a:p>
          <a:p>
            <a:pPr lvl="1"/>
            <a:r>
              <a:rPr lang="es-MX" sz="1700" dirty="0"/>
              <a:t>Asignación. </a:t>
            </a:r>
          </a:p>
          <a:p>
            <a:pPr lvl="1"/>
            <a:r>
              <a:rPr lang="es-MX" sz="1700" dirty="0"/>
              <a:t>Asignación Simple </a:t>
            </a:r>
          </a:p>
          <a:p>
            <a:pPr lvl="1"/>
            <a:r>
              <a:rPr lang="es-MX" sz="1700" dirty="0"/>
              <a:t>Problema 2.2. (Aplicación de estructuras de control secuenciales de asignación simple). </a:t>
            </a:r>
          </a:p>
          <a:p>
            <a:pPr lvl="1"/>
            <a:r>
              <a:rPr lang="es-MX" sz="1700" dirty="0"/>
              <a:t>Asignación Contador </a:t>
            </a:r>
          </a:p>
          <a:p>
            <a:pPr lvl="1"/>
            <a:r>
              <a:rPr lang="es-MX" sz="3300" b="1" dirty="0">
                <a:solidFill>
                  <a:srgbClr val="FF0000"/>
                </a:solidFill>
              </a:rPr>
              <a:t>Problema 2.3. (Aplicación de estructuras de control secuenciales de asignación contador). </a:t>
            </a:r>
          </a:p>
          <a:p>
            <a:pPr lvl="1"/>
            <a:r>
              <a:rPr lang="es-MX" sz="1700" dirty="0"/>
              <a:t>Asignación Acumulador </a:t>
            </a:r>
          </a:p>
          <a:p>
            <a:pPr lvl="1"/>
            <a:r>
              <a:rPr lang="es-MX" sz="1700" dirty="0"/>
              <a:t>Problema 2.4. (Aplicación de estructuras de control secuenciales de asignación acumulador tipo sumas) </a:t>
            </a:r>
          </a:p>
          <a:p>
            <a:pPr lvl="1"/>
            <a:r>
              <a:rPr lang="es-MX" sz="1700" dirty="0"/>
              <a:t>Problema 2.5. (Aplicación de estructuras de control secuenciales de asignación acumulador tipo productos) . </a:t>
            </a:r>
          </a:p>
          <a:p>
            <a:pPr lvl="1"/>
            <a:r>
              <a:rPr lang="es-MX" sz="1700" dirty="0"/>
              <a:t>Asignación de Trabajo </a:t>
            </a:r>
          </a:p>
          <a:p>
            <a:pPr lvl="1"/>
            <a:r>
              <a:rPr lang="es-MX" sz="1700" dirty="0"/>
              <a:t>Problema 2.6. (Aplicación de estructuras de control secuenciales de asignación de trabajo) </a:t>
            </a:r>
          </a:p>
          <a:p>
            <a:pPr lvl="1"/>
            <a:r>
              <a:rPr lang="es-MX" sz="1700" dirty="0"/>
              <a:t>Caso de Estudio 2.1: Encontrar el Perímetro y el Área de un Circulo </a:t>
            </a:r>
          </a:p>
          <a:p>
            <a:pPr lvl="1"/>
            <a:r>
              <a:rPr lang="es-MX" sz="1700" dirty="0"/>
              <a:t>Caso de Estudio 2.2: Encontrar el Perímetro y el Área de un Rectángulo </a:t>
            </a:r>
          </a:p>
          <a:p>
            <a:pPr lvl="1"/>
            <a:r>
              <a:rPr lang="es-MX" sz="1700" dirty="0"/>
              <a:t>Caso de Estudio 2.3: Encontrar la Generatriz, el Área y el Volumen de un Cono </a:t>
            </a:r>
          </a:p>
          <a:p>
            <a:pPr lvl="1"/>
            <a:r>
              <a:rPr lang="es-MX" sz="1700" dirty="0"/>
              <a:t>Caso de Estudio 2.4: Encontrar la distancia, tiempo de vuelo y la altura alcanzada por un proyectil </a:t>
            </a:r>
            <a:endParaRPr lang="es-419" sz="1700" dirty="0"/>
          </a:p>
        </p:txBody>
      </p:sp>
      <p:sp>
        <p:nvSpPr>
          <p:cNvPr id="5" name="4 Marcador de fecha"/>
          <p:cNvSpPr>
            <a:spLocks noGrp="1"/>
          </p:cNvSpPr>
          <p:nvPr>
            <p:ph type="dt" sz="half" idx="10"/>
          </p:nvPr>
        </p:nvSpPr>
        <p:spPr/>
        <p:txBody>
          <a:bodyPr/>
          <a:lstStyle/>
          <a:p>
            <a:fld id="{85E4E129-A937-4BEE-8A17-D7969DFE55C2}" type="datetime1">
              <a:rPr lang="es-EC">
                <a:solidFill>
                  <a:prstClr val="black">
                    <a:lumMod val="65000"/>
                    <a:lumOff val="35000"/>
                  </a:prstClr>
                </a:solidFill>
              </a:rPr>
              <a:pPr/>
              <a:t>26/11/2025</a:t>
            </a:fld>
            <a:endParaRPr lang="es-EC" dirty="0">
              <a:solidFill>
                <a:prstClr val="black">
                  <a:lumMod val="65000"/>
                  <a:lumOff val="35000"/>
                </a:prstClr>
              </a:solidFill>
            </a:endParaRP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22</a:t>
            </a:fld>
            <a:endParaRPr lang="es-EC" dirty="0">
              <a:solidFill>
                <a:prstClr val="black">
                  <a:lumMod val="65000"/>
                  <a:lumOff val="35000"/>
                </a:prstClr>
              </a:solidFill>
            </a:endParaRPr>
          </a:p>
        </p:txBody>
      </p:sp>
    </p:spTree>
    <p:extLst>
      <p:ext uri="{BB962C8B-B14F-4D97-AF65-F5344CB8AC3E}">
        <p14:creationId xmlns:p14="http://schemas.microsoft.com/office/powerpoint/2010/main" val="17468297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500131" y="2055727"/>
            <a:ext cx="7719019" cy="1015664"/>
          </a:xfrm>
        </p:spPr>
        <p:txBody>
          <a:bodyPr/>
          <a:lstStyle/>
          <a:p>
            <a:br>
              <a:rPr lang="es-MX" sz="16600" b="1" dirty="0">
                <a:solidFill>
                  <a:srgbClr val="FF0000"/>
                </a:solidFill>
              </a:rPr>
            </a:br>
            <a:r>
              <a:rPr lang="es-MX" sz="2800" b="1" dirty="0"/>
              <a:t>Problema 2.3. (Aplicación de estructuras de control secuenciales de asignación contador). </a:t>
            </a:r>
            <a:br>
              <a:rPr lang="es-MX" sz="2800" b="1" dirty="0">
                <a:solidFill>
                  <a:srgbClr val="FF0000"/>
                </a:solidFill>
              </a:rPr>
            </a:br>
            <a:r>
              <a:rPr lang="es-MX" sz="4000" b="1" dirty="0"/>
              <a:t> </a:t>
            </a:r>
            <a:br>
              <a:rPr lang="es-MX" sz="11500" b="1" dirty="0">
                <a:solidFill>
                  <a:srgbClr val="FF0000"/>
                </a:solidFill>
              </a:rPr>
            </a:br>
            <a:endParaRPr lang="en-US" sz="11500" b="1" dirty="0"/>
          </a:p>
        </p:txBody>
      </p:sp>
      <p:sp>
        <p:nvSpPr>
          <p:cNvPr id="3" name="2 Marcador de fecha"/>
          <p:cNvSpPr>
            <a:spLocks noGrp="1"/>
          </p:cNvSpPr>
          <p:nvPr>
            <p:ph type="dt" sz="half" idx="10"/>
          </p:nvPr>
        </p:nvSpPr>
        <p:spPr/>
        <p:txBody>
          <a:bodyPr/>
          <a:lstStyle/>
          <a:p>
            <a:fld id="{44C3288D-7DAC-4DD2-9022-6C6BA4238517}" type="datetime1">
              <a:rPr lang="es-EC" smtClean="0"/>
              <a:t>26/11/2025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23</a:t>
            </a:fld>
            <a:endParaRPr lang="es-EC" dirty="0"/>
          </a:p>
        </p:txBody>
      </p:sp>
      <p:sp>
        <p:nvSpPr>
          <p:cNvPr id="12" name="4 Marcador de contenido">
            <a:extLst>
              <a:ext uri="{FF2B5EF4-FFF2-40B4-BE49-F238E27FC236}">
                <a16:creationId xmlns:a16="http://schemas.microsoft.com/office/drawing/2014/main" id="{FE1FEF5A-1A80-4AE0-B268-B604366F2100}"/>
              </a:ext>
            </a:extLst>
          </p:cNvPr>
          <p:cNvSpPr>
            <a:spLocks noGrp="1"/>
          </p:cNvSpPr>
          <p:nvPr>
            <p:ph idx="1"/>
          </p:nvPr>
        </p:nvSpPr>
        <p:spPr>
          <a:xfrm>
            <a:off x="1061577" y="1852409"/>
            <a:ext cx="3371527" cy="2101624"/>
          </a:xfrm>
        </p:spPr>
        <p:txBody>
          <a:bodyPr>
            <a:normAutofit fontScale="92500" lnSpcReduction="20000"/>
          </a:bodyPr>
          <a:lstStyle/>
          <a:p>
            <a:pPr algn="just"/>
            <a:r>
              <a:rPr lang="es-MX" sz="1600" dirty="0"/>
              <a:t>Escribir un programa que permita contar desde el uno hasta el cinco, utilizando un contador, donde inicialmente se le asigna el valor de cero a la variable que opera como contador, luego se utiliza este contador para contar hasta cinco y también se imprimen los valores del mismo.</a:t>
            </a:r>
            <a:endParaRPr lang="es-ES" sz="2000" dirty="0"/>
          </a:p>
        </p:txBody>
      </p:sp>
      <p:pic>
        <p:nvPicPr>
          <p:cNvPr id="5" name="Imagen 4">
            <a:extLst>
              <a:ext uri="{FF2B5EF4-FFF2-40B4-BE49-F238E27FC236}">
                <a16:creationId xmlns:a16="http://schemas.microsoft.com/office/drawing/2014/main" id="{4EAFE5B2-CD06-4306-B1D4-E870745CAEDA}"/>
              </a:ext>
            </a:extLst>
          </p:cNvPr>
          <p:cNvPicPr>
            <a:picLocks noChangeAspect="1"/>
          </p:cNvPicPr>
          <p:nvPr/>
        </p:nvPicPr>
        <p:blipFill>
          <a:blip r:embed="rId2"/>
          <a:stretch>
            <a:fillRect/>
          </a:stretch>
        </p:blipFill>
        <p:spPr>
          <a:xfrm>
            <a:off x="4612485" y="1729813"/>
            <a:ext cx="6954220" cy="4113594"/>
          </a:xfrm>
          <a:prstGeom prst="rect">
            <a:avLst/>
          </a:prstGeom>
        </p:spPr>
      </p:pic>
    </p:spTree>
    <p:extLst>
      <p:ext uri="{BB962C8B-B14F-4D97-AF65-F5344CB8AC3E}">
        <p14:creationId xmlns:p14="http://schemas.microsoft.com/office/powerpoint/2010/main" val="5196318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500131" y="2055727"/>
            <a:ext cx="7719019" cy="1015664"/>
          </a:xfrm>
        </p:spPr>
        <p:txBody>
          <a:bodyPr/>
          <a:lstStyle/>
          <a:p>
            <a:br>
              <a:rPr lang="es-MX" sz="16600" b="1" dirty="0">
                <a:solidFill>
                  <a:srgbClr val="FF0000"/>
                </a:solidFill>
              </a:rPr>
            </a:br>
            <a:r>
              <a:rPr lang="es-MX" sz="2800" b="1" dirty="0"/>
              <a:t>Problema 2.3. (Aplicación de estructuras de control secuenciales de asignación contador). </a:t>
            </a:r>
            <a:br>
              <a:rPr lang="es-MX" sz="2800" b="1" dirty="0">
                <a:solidFill>
                  <a:srgbClr val="FF0000"/>
                </a:solidFill>
              </a:rPr>
            </a:br>
            <a:r>
              <a:rPr lang="es-MX" sz="4000" b="1" dirty="0"/>
              <a:t> </a:t>
            </a:r>
            <a:br>
              <a:rPr lang="es-MX" sz="11500" b="1" dirty="0">
                <a:solidFill>
                  <a:srgbClr val="FF0000"/>
                </a:solidFill>
              </a:rPr>
            </a:br>
            <a:endParaRPr lang="en-US" sz="11500" b="1" dirty="0"/>
          </a:p>
        </p:txBody>
      </p:sp>
      <p:sp>
        <p:nvSpPr>
          <p:cNvPr id="3" name="2 Marcador de fecha"/>
          <p:cNvSpPr>
            <a:spLocks noGrp="1"/>
          </p:cNvSpPr>
          <p:nvPr>
            <p:ph type="dt" sz="half" idx="10"/>
          </p:nvPr>
        </p:nvSpPr>
        <p:spPr/>
        <p:txBody>
          <a:bodyPr/>
          <a:lstStyle/>
          <a:p>
            <a:fld id="{44C3288D-7DAC-4DD2-9022-6C6BA4238517}" type="datetime1">
              <a:rPr lang="es-EC" smtClean="0"/>
              <a:t>26/11/2025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24</a:t>
            </a:fld>
            <a:endParaRPr lang="es-EC" dirty="0"/>
          </a:p>
        </p:txBody>
      </p:sp>
      <p:pic>
        <p:nvPicPr>
          <p:cNvPr id="11" name="Imagen 10">
            <a:extLst>
              <a:ext uri="{FF2B5EF4-FFF2-40B4-BE49-F238E27FC236}">
                <a16:creationId xmlns:a16="http://schemas.microsoft.com/office/drawing/2014/main" id="{CE786B49-6A35-4379-B175-E6A64196EDC5}"/>
              </a:ext>
            </a:extLst>
          </p:cNvPr>
          <p:cNvPicPr>
            <a:picLocks noChangeAspect="1"/>
          </p:cNvPicPr>
          <p:nvPr/>
        </p:nvPicPr>
        <p:blipFill rotWithShape="1">
          <a:blip r:embed="rId2"/>
          <a:srcRect b="269"/>
          <a:stretch/>
        </p:blipFill>
        <p:spPr>
          <a:xfrm>
            <a:off x="1414494" y="1319505"/>
            <a:ext cx="8377688" cy="4294217"/>
          </a:xfrm>
          <a:prstGeom prst="rect">
            <a:avLst/>
          </a:prstGeom>
        </p:spPr>
      </p:pic>
      <p:pic>
        <p:nvPicPr>
          <p:cNvPr id="14" name="Imagen 13">
            <a:extLst>
              <a:ext uri="{FF2B5EF4-FFF2-40B4-BE49-F238E27FC236}">
                <a16:creationId xmlns:a16="http://schemas.microsoft.com/office/drawing/2014/main" id="{B4ADBA6F-8728-4A83-ABAF-694895D054EA}"/>
              </a:ext>
            </a:extLst>
          </p:cNvPr>
          <p:cNvPicPr>
            <a:picLocks noChangeAspect="1"/>
          </p:cNvPicPr>
          <p:nvPr/>
        </p:nvPicPr>
        <p:blipFill>
          <a:blip r:embed="rId3"/>
          <a:stretch>
            <a:fillRect/>
          </a:stretch>
        </p:blipFill>
        <p:spPr>
          <a:xfrm>
            <a:off x="1738024" y="5651614"/>
            <a:ext cx="1524213" cy="333422"/>
          </a:xfrm>
          <a:prstGeom prst="rect">
            <a:avLst/>
          </a:prstGeom>
        </p:spPr>
      </p:pic>
      <p:sp>
        <p:nvSpPr>
          <p:cNvPr id="15" name="CuadroTexto 14">
            <a:extLst>
              <a:ext uri="{FF2B5EF4-FFF2-40B4-BE49-F238E27FC236}">
                <a16:creationId xmlns:a16="http://schemas.microsoft.com/office/drawing/2014/main" id="{50127762-1517-41B6-ACBE-946C9A85E8D4}"/>
              </a:ext>
            </a:extLst>
          </p:cNvPr>
          <p:cNvSpPr txBox="1"/>
          <p:nvPr/>
        </p:nvSpPr>
        <p:spPr>
          <a:xfrm>
            <a:off x="1914975" y="6111719"/>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Programa 2.3</a:t>
            </a:r>
            <a:r>
              <a:rPr lang="es-ES" sz="1200" dirty="0">
                <a:solidFill>
                  <a:schemeClr val="tx1">
                    <a:lumMod val="50000"/>
                    <a:lumOff val="50000"/>
                  </a:schemeClr>
                </a:solidFill>
                <a:latin typeface="+mj-lt"/>
              </a:rPr>
              <a:t>. Código del Programa.</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42524226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500131" y="2055727"/>
            <a:ext cx="7719019" cy="1015664"/>
          </a:xfrm>
        </p:spPr>
        <p:txBody>
          <a:bodyPr/>
          <a:lstStyle/>
          <a:p>
            <a:br>
              <a:rPr lang="es-MX" sz="16600" b="1" dirty="0">
                <a:solidFill>
                  <a:srgbClr val="FF0000"/>
                </a:solidFill>
              </a:rPr>
            </a:br>
            <a:r>
              <a:rPr lang="es-MX" sz="2800" b="1" dirty="0"/>
              <a:t>Problema 2.3. (Aplicación de estructuras de control secuenciales de asignación contador). </a:t>
            </a:r>
            <a:br>
              <a:rPr lang="es-MX" sz="2800" b="1" dirty="0">
                <a:solidFill>
                  <a:srgbClr val="FF0000"/>
                </a:solidFill>
              </a:rPr>
            </a:br>
            <a:r>
              <a:rPr lang="es-MX" sz="4000" b="1" dirty="0"/>
              <a:t> </a:t>
            </a:r>
            <a:br>
              <a:rPr lang="es-MX" sz="11500" b="1" dirty="0">
                <a:solidFill>
                  <a:srgbClr val="FF0000"/>
                </a:solidFill>
              </a:rPr>
            </a:br>
            <a:endParaRPr lang="en-US" sz="11500" b="1" dirty="0"/>
          </a:p>
        </p:txBody>
      </p:sp>
      <p:sp>
        <p:nvSpPr>
          <p:cNvPr id="3" name="2 Marcador de fecha"/>
          <p:cNvSpPr>
            <a:spLocks noGrp="1"/>
          </p:cNvSpPr>
          <p:nvPr>
            <p:ph type="dt" sz="half" idx="10"/>
          </p:nvPr>
        </p:nvSpPr>
        <p:spPr/>
        <p:txBody>
          <a:bodyPr/>
          <a:lstStyle/>
          <a:p>
            <a:fld id="{44C3288D-7DAC-4DD2-9022-6C6BA4238517}" type="datetime1">
              <a:rPr lang="es-EC" smtClean="0"/>
              <a:t>26/11/2025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25</a:t>
            </a:fld>
            <a:endParaRPr lang="es-EC" dirty="0"/>
          </a:p>
        </p:txBody>
      </p:sp>
      <p:pic>
        <p:nvPicPr>
          <p:cNvPr id="5" name="Imagen 4">
            <a:extLst>
              <a:ext uri="{FF2B5EF4-FFF2-40B4-BE49-F238E27FC236}">
                <a16:creationId xmlns:a16="http://schemas.microsoft.com/office/drawing/2014/main" id="{5D41E792-65F1-417F-9B32-240FF7DC2641}"/>
              </a:ext>
            </a:extLst>
          </p:cNvPr>
          <p:cNvPicPr>
            <a:picLocks noChangeAspect="1"/>
          </p:cNvPicPr>
          <p:nvPr/>
        </p:nvPicPr>
        <p:blipFill>
          <a:blip r:embed="rId2"/>
          <a:stretch>
            <a:fillRect/>
          </a:stretch>
        </p:blipFill>
        <p:spPr>
          <a:xfrm>
            <a:off x="1656760" y="3148346"/>
            <a:ext cx="6725589" cy="1276528"/>
          </a:xfrm>
          <a:prstGeom prst="rect">
            <a:avLst/>
          </a:prstGeom>
        </p:spPr>
      </p:pic>
      <p:sp>
        <p:nvSpPr>
          <p:cNvPr id="10" name="CuadroTexto 9">
            <a:extLst>
              <a:ext uri="{FF2B5EF4-FFF2-40B4-BE49-F238E27FC236}">
                <a16:creationId xmlns:a16="http://schemas.microsoft.com/office/drawing/2014/main" id="{8E1B2D5A-C427-4BEA-AD00-511FB70E624B}"/>
              </a:ext>
            </a:extLst>
          </p:cNvPr>
          <p:cNvSpPr txBox="1"/>
          <p:nvPr/>
        </p:nvSpPr>
        <p:spPr>
          <a:xfrm>
            <a:off x="1656760" y="4603639"/>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Ejecución 2.3</a:t>
            </a:r>
            <a:r>
              <a:rPr lang="es-ES" sz="1200" dirty="0">
                <a:solidFill>
                  <a:schemeClr val="tx1">
                    <a:lumMod val="50000"/>
                    <a:lumOff val="50000"/>
                  </a:schemeClr>
                </a:solidFill>
                <a:latin typeface="+mj-lt"/>
              </a:rPr>
              <a:t>. Salida  del Programa.</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
        <p:nvSpPr>
          <p:cNvPr id="12" name="4 Marcador de contenido">
            <a:extLst>
              <a:ext uri="{FF2B5EF4-FFF2-40B4-BE49-F238E27FC236}">
                <a16:creationId xmlns:a16="http://schemas.microsoft.com/office/drawing/2014/main" id="{97FC977D-3246-462D-803B-5253E38C74F7}"/>
              </a:ext>
            </a:extLst>
          </p:cNvPr>
          <p:cNvSpPr>
            <a:spLocks noGrp="1"/>
          </p:cNvSpPr>
          <p:nvPr>
            <p:ph idx="1"/>
          </p:nvPr>
        </p:nvSpPr>
        <p:spPr>
          <a:xfrm>
            <a:off x="1385668" y="1616098"/>
            <a:ext cx="3371527" cy="2101624"/>
          </a:xfrm>
        </p:spPr>
        <p:txBody>
          <a:bodyPr>
            <a:normAutofit/>
          </a:bodyPr>
          <a:lstStyle/>
          <a:p>
            <a:pPr algn="just"/>
            <a:r>
              <a:rPr lang="es-MX" sz="1600" dirty="0"/>
              <a:t>La Ejecución 2.3, correspondiente a la salida del programa, muestra que el valor del contador ‘a’ varía entre uno y cinco. </a:t>
            </a:r>
            <a:endParaRPr lang="es-ES" sz="2000" dirty="0"/>
          </a:p>
        </p:txBody>
      </p:sp>
    </p:spTree>
    <p:extLst>
      <p:ext uri="{BB962C8B-B14F-4D97-AF65-F5344CB8AC3E}">
        <p14:creationId xmlns:p14="http://schemas.microsoft.com/office/powerpoint/2010/main" val="19462166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fontScale="85000" lnSpcReduction="10000"/>
          </a:bodyPr>
          <a:lstStyle/>
          <a:p>
            <a:pPr lvl="1"/>
            <a:r>
              <a:rPr lang="es-MX" sz="1700" dirty="0"/>
              <a:t>Estructuras de Control Secuenciales. </a:t>
            </a:r>
          </a:p>
          <a:p>
            <a:pPr lvl="1"/>
            <a:r>
              <a:rPr lang="es-MX" sz="1700" dirty="0"/>
              <a:t>Escritura. </a:t>
            </a:r>
          </a:p>
          <a:p>
            <a:pPr lvl="1"/>
            <a:r>
              <a:rPr lang="es-MX" sz="1700" dirty="0"/>
              <a:t>Lectura </a:t>
            </a:r>
          </a:p>
          <a:p>
            <a:pPr lvl="1"/>
            <a:r>
              <a:rPr lang="es-MX" sz="1700" dirty="0"/>
              <a:t>Problema 2.1. (Aplicación de estructuras de control secuenciales de escritura y lectura).</a:t>
            </a:r>
          </a:p>
          <a:p>
            <a:pPr lvl="1"/>
            <a:r>
              <a:rPr lang="es-MX" sz="1700" dirty="0"/>
              <a:t>Asignación. </a:t>
            </a:r>
          </a:p>
          <a:p>
            <a:pPr lvl="1"/>
            <a:r>
              <a:rPr lang="es-MX" sz="1700" dirty="0"/>
              <a:t>Asignación Simple </a:t>
            </a:r>
          </a:p>
          <a:p>
            <a:pPr lvl="1"/>
            <a:r>
              <a:rPr lang="es-MX" sz="1700" dirty="0"/>
              <a:t>Problema 2.2. (Aplicación de estructuras de control secuenciales de asignación simple). </a:t>
            </a:r>
          </a:p>
          <a:p>
            <a:pPr lvl="1"/>
            <a:r>
              <a:rPr lang="es-MX" sz="1700" dirty="0"/>
              <a:t>Asignación Contador </a:t>
            </a:r>
          </a:p>
          <a:p>
            <a:pPr lvl="1"/>
            <a:r>
              <a:rPr lang="es-MX" sz="1700" dirty="0"/>
              <a:t>Problema 2.3. (Aplicación de estructuras de control secuenciales de asignación contador). </a:t>
            </a:r>
          </a:p>
          <a:p>
            <a:pPr lvl="1"/>
            <a:r>
              <a:rPr lang="es-MX" sz="3300" b="1" dirty="0">
                <a:solidFill>
                  <a:srgbClr val="FF0000"/>
                </a:solidFill>
              </a:rPr>
              <a:t>Asignación Acumulador </a:t>
            </a:r>
          </a:p>
          <a:p>
            <a:pPr lvl="1"/>
            <a:r>
              <a:rPr lang="es-MX" sz="1700" dirty="0"/>
              <a:t>Problema 2.4. (Aplicación de estructuras de control secuenciales de asignación acumulador tipo sumas) </a:t>
            </a:r>
          </a:p>
          <a:p>
            <a:pPr lvl="1"/>
            <a:r>
              <a:rPr lang="es-MX" sz="1700" dirty="0"/>
              <a:t>Problema 2.5. (Aplicación de estructuras de control secuenciales de asignación acumulador tipo productos) . </a:t>
            </a:r>
          </a:p>
          <a:p>
            <a:pPr lvl="1"/>
            <a:r>
              <a:rPr lang="es-MX" sz="1700" dirty="0"/>
              <a:t>Asignación de Trabajo </a:t>
            </a:r>
          </a:p>
          <a:p>
            <a:pPr lvl="1"/>
            <a:r>
              <a:rPr lang="es-MX" sz="1700" dirty="0"/>
              <a:t>Problema 2.6. (Aplicación de estructuras de control secuenciales de asignación de trabajo) </a:t>
            </a:r>
          </a:p>
          <a:p>
            <a:pPr lvl="1"/>
            <a:r>
              <a:rPr lang="es-MX" sz="1700" dirty="0"/>
              <a:t>Caso de Estudio 2.1: Encontrar el Perímetro y el Área de un Circulo </a:t>
            </a:r>
          </a:p>
          <a:p>
            <a:pPr lvl="1"/>
            <a:r>
              <a:rPr lang="es-MX" sz="1700" dirty="0"/>
              <a:t>Caso de Estudio 2.2: Encontrar el Perímetro y el Área de un Rectángulo </a:t>
            </a:r>
          </a:p>
          <a:p>
            <a:pPr lvl="1"/>
            <a:r>
              <a:rPr lang="es-MX" sz="1700" dirty="0"/>
              <a:t>Caso de Estudio 2.3: Encontrar la Generatriz, el Área y el Volumen de un Cono </a:t>
            </a:r>
          </a:p>
          <a:p>
            <a:pPr lvl="1"/>
            <a:r>
              <a:rPr lang="es-MX" sz="1700" dirty="0"/>
              <a:t>Caso de Estudio 2.4: Encontrar la distancia, tiempo de vuelo y la altura alcanzada por un proyectil </a:t>
            </a:r>
            <a:endParaRPr lang="es-419" sz="1700" dirty="0"/>
          </a:p>
        </p:txBody>
      </p:sp>
      <p:sp>
        <p:nvSpPr>
          <p:cNvPr id="5" name="4 Marcador de fecha"/>
          <p:cNvSpPr>
            <a:spLocks noGrp="1"/>
          </p:cNvSpPr>
          <p:nvPr>
            <p:ph type="dt" sz="half" idx="10"/>
          </p:nvPr>
        </p:nvSpPr>
        <p:spPr/>
        <p:txBody>
          <a:bodyPr/>
          <a:lstStyle/>
          <a:p>
            <a:fld id="{85E4E129-A937-4BEE-8A17-D7969DFE55C2}" type="datetime1">
              <a:rPr lang="es-EC">
                <a:solidFill>
                  <a:prstClr val="black">
                    <a:lumMod val="65000"/>
                    <a:lumOff val="35000"/>
                  </a:prstClr>
                </a:solidFill>
              </a:rPr>
              <a:pPr/>
              <a:t>26/11/2025</a:t>
            </a:fld>
            <a:endParaRPr lang="es-EC" dirty="0">
              <a:solidFill>
                <a:prstClr val="black">
                  <a:lumMod val="65000"/>
                  <a:lumOff val="35000"/>
                </a:prstClr>
              </a:solidFill>
            </a:endParaRP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26</a:t>
            </a:fld>
            <a:endParaRPr lang="es-EC" dirty="0">
              <a:solidFill>
                <a:prstClr val="black">
                  <a:lumMod val="65000"/>
                  <a:lumOff val="35000"/>
                </a:prstClr>
              </a:solidFill>
            </a:endParaRPr>
          </a:p>
        </p:txBody>
      </p:sp>
    </p:spTree>
    <p:extLst>
      <p:ext uri="{BB962C8B-B14F-4D97-AF65-F5344CB8AC3E}">
        <p14:creationId xmlns:p14="http://schemas.microsoft.com/office/powerpoint/2010/main" val="41393339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500131" y="2055727"/>
            <a:ext cx="7719019" cy="1015664"/>
          </a:xfrm>
        </p:spPr>
        <p:txBody>
          <a:bodyPr/>
          <a:lstStyle/>
          <a:p>
            <a:br>
              <a:rPr lang="es-MX" sz="16600" b="1" dirty="0">
                <a:solidFill>
                  <a:srgbClr val="FF0000"/>
                </a:solidFill>
              </a:rPr>
            </a:br>
            <a:r>
              <a:rPr lang="es-MX" sz="2800" b="1" dirty="0"/>
              <a:t>Asignación Acumulador </a:t>
            </a:r>
            <a:br>
              <a:rPr lang="es-MX" sz="2800" b="1" dirty="0"/>
            </a:br>
            <a:r>
              <a:rPr lang="es-MX" sz="2800" b="1" dirty="0"/>
              <a:t> </a:t>
            </a:r>
            <a:br>
              <a:rPr lang="es-MX" sz="2800" b="1" dirty="0"/>
            </a:br>
            <a:r>
              <a:rPr lang="es-MX" sz="2800" b="1" dirty="0"/>
              <a:t> </a:t>
            </a:r>
            <a:br>
              <a:rPr lang="es-MX" sz="2800" b="1" dirty="0"/>
            </a:br>
            <a:endParaRPr lang="en-US" sz="2800" b="1" dirty="0"/>
          </a:p>
        </p:txBody>
      </p:sp>
      <p:sp>
        <p:nvSpPr>
          <p:cNvPr id="3" name="2 Marcador de fecha"/>
          <p:cNvSpPr>
            <a:spLocks noGrp="1"/>
          </p:cNvSpPr>
          <p:nvPr>
            <p:ph type="dt" sz="half" idx="10"/>
          </p:nvPr>
        </p:nvSpPr>
        <p:spPr/>
        <p:txBody>
          <a:bodyPr/>
          <a:lstStyle/>
          <a:p>
            <a:fld id="{44C3288D-7DAC-4DD2-9022-6C6BA4238517}" type="datetime1">
              <a:rPr lang="es-EC" smtClean="0"/>
              <a:t>26/11/2025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27</a:t>
            </a:fld>
            <a:endParaRPr lang="es-EC" dirty="0"/>
          </a:p>
        </p:txBody>
      </p:sp>
      <p:sp>
        <p:nvSpPr>
          <p:cNvPr id="12" name="4 Marcador de contenido">
            <a:extLst>
              <a:ext uri="{FF2B5EF4-FFF2-40B4-BE49-F238E27FC236}">
                <a16:creationId xmlns:a16="http://schemas.microsoft.com/office/drawing/2014/main" id="{97FC977D-3246-462D-803B-5253E38C74F7}"/>
              </a:ext>
            </a:extLst>
          </p:cNvPr>
          <p:cNvSpPr>
            <a:spLocks noGrp="1"/>
          </p:cNvSpPr>
          <p:nvPr>
            <p:ph idx="1"/>
          </p:nvPr>
        </p:nvSpPr>
        <p:spPr>
          <a:xfrm>
            <a:off x="1385668" y="1616098"/>
            <a:ext cx="10005370" cy="3395740"/>
          </a:xfrm>
        </p:spPr>
        <p:txBody>
          <a:bodyPr>
            <a:normAutofit/>
          </a:bodyPr>
          <a:lstStyle/>
          <a:p>
            <a:pPr algn="just"/>
            <a:r>
              <a:rPr lang="es-MX" sz="1600" dirty="0"/>
              <a:t>Esta asignación consiste en usarla como un sumador o un producto en un proceso.</a:t>
            </a:r>
          </a:p>
          <a:p>
            <a:pPr marL="0" indent="0" algn="just">
              <a:buNone/>
            </a:pPr>
            <a:r>
              <a:rPr lang="es-MX" sz="1600" dirty="0"/>
              <a:t> </a:t>
            </a:r>
          </a:p>
          <a:p>
            <a:pPr algn="just"/>
            <a:r>
              <a:rPr lang="es-MX" sz="1600" dirty="0"/>
              <a:t>Un sumador generalmente se inicializa con el neutro aditivo que es el valor de 0 (cero) y se aplica la siguiente fórmula: 𝑠𝑢𝑚 = 𝑠𝑢𝑚 + 𝑣𝑎𝑙𝑜𝑟; donde el valor depende de lo que se quiere acumular. </a:t>
            </a:r>
          </a:p>
          <a:p>
            <a:pPr marL="0" indent="0" algn="just">
              <a:buNone/>
            </a:pPr>
            <a:endParaRPr lang="es-MX" sz="1600" dirty="0"/>
          </a:p>
          <a:p>
            <a:pPr algn="just"/>
            <a:r>
              <a:rPr lang="es-MX" sz="1600" dirty="0"/>
              <a:t>Un producto generalmente se inicializa con el neutro multiplicativo que es el valor de 1 (uno) y se aplica la siguiente fórmula: 𝑝𝑟𝑜𝑑 = 𝑝𝑟𝑜𝑑 ∗ 𝑣𝑎𝑙𝑜𝑟; donde el valor depende de lo que se quiere acumular. Estas operaciones se pueden representar mediante pseudocódigo y Lenguaje C/C++ como se indican a continuación en los siguientes ejercicios:</a:t>
            </a:r>
            <a:endParaRPr lang="es-ES" sz="2000" dirty="0"/>
          </a:p>
        </p:txBody>
      </p:sp>
    </p:spTree>
    <p:extLst>
      <p:ext uri="{BB962C8B-B14F-4D97-AF65-F5344CB8AC3E}">
        <p14:creationId xmlns:p14="http://schemas.microsoft.com/office/powerpoint/2010/main" val="2534706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fontScale="85000" lnSpcReduction="20000"/>
          </a:bodyPr>
          <a:lstStyle/>
          <a:p>
            <a:pPr lvl="1"/>
            <a:r>
              <a:rPr lang="es-MX" sz="1700" dirty="0"/>
              <a:t>Estructuras de Control Secuenciales. </a:t>
            </a:r>
          </a:p>
          <a:p>
            <a:pPr lvl="1"/>
            <a:r>
              <a:rPr lang="es-MX" sz="1700" dirty="0"/>
              <a:t>Escritura. </a:t>
            </a:r>
          </a:p>
          <a:p>
            <a:pPr lvl="1"/>
            <a:r>
              <a:rPr lang="es-MX" sz="1700" dirty="0"/>
              <a:t>Lectura </a:t>
            </a:r>
          </a:p>
          <a:p>
            <a:pPr lvl="1"/>
            <a:r>
              <a:rPr lang="es-MX" sz="1700" dirty="0"/>
              <a:t>Problema 2.1. (Aplicación de estructuras de control secuenciales de escritura y lectura).</a:t>
            </a:r>
          </a:p>
          <a:p>
            <a:pPr lvl="1"/>
            <a:r>
              <a:rPr lang="es-MX" sz="1700" dirty="0"/>
              <a:t>Asignación. </a:t>
            </a:r>
          </a:p>
          <a:p>
            <a:pPr lvl="1"/>
            <a:r>
              <a:rPr lang="es-MX" sz="1700" dirty="0"/>
              <a:t>Asignación Simple </a:t>
            </a:r>
          </a:p>
          <a:p>
            <a:pPr lvl="1"/>
            <a:r>
              <a:rPr lang="es-MX" sz="1700" dirty="0"/>
              <a:t>Problema 2.2. (Aplicación de estructuras de control secuenciales de asignación simple). </a:t>
            </a:r>
          </a:p>
          <a:p>
            <a:pPr lvl="1"/>
            <a:r>
              <a:rPr lang="es-MX" sz="1700" dirty="0"/>
              <a:t>Asignación Contador </a:t>
            </a:r>
          </a:p>
          <a:p>
            <a:pPr lvl="1"/>
            <a:r>
              <a:rPr lang="es-MX" sz="1700" dirty="0"/>
              <a:t>Problema 2.3. (Aplicación de estructuras de control secuenciales de asignación contador). </a:t>
            </a:r>
          </a:p>
          <a:p>
            <a:pPr lvl="1"/>
            <a:r>
              <a:rPr lang="es-MX" sz="1700" dirty="0"/>
              <a:t>Asignación Acumulador </a:t>
            </a:r>
          </a:p>
          <a:p>
            <a:pPr lvl="1"/>
            <a:r>
              <a:rPr lang="es-MX" sz="3300" b="1" dirty="0">
                <a:solidFill>
                  <a:srgbClr val="FF0000"/>
                </a:solidFill>
              </a:rPr>
              <a:t>Problema 2.4. (Aplicación de estructuras de control secuenciales de asignación acumulador tipo sumas) </a:t>
            </a:r>
          </a:p>
          <a:p>
            <a:pPr lvl="1"/>
            <a:r>
              <a:rPr lang="es-MX" sz="1700" dirty="0"/>
              <a:t>Problema 2.5. (Aplicación de estructuras de control secuenciales de asignación acumulador tipo productos) . </a:t>
            </a:r>
          </a:p>
          <a:p>
            <a:pPr lvl="1"/>
            <a:r>
              <a:rPr lang="es-MX" sz="1700" dirty="0"/>
              <a:t>Asignación de Trabajo </a:t>
            </a:r>
          </a:p>
          <a:p>
            <a:pPr lvl="1"/>
            <a:r>
              <a:rPr lang="es-MX" sz="1700" dirty="0"/>
              <a:t>Problema 2.6. (Aplicación de estructuras de control secuenciales de asignación de trabajo) </a:t>
            </a:r>
          </a:p>
          <a:p>
            <a:pPr lvl="1"/>
            <a:r>
              <a:rPr lang="es-MX" sz="1700" dirty="0"/>
              <a:t>Caso de Estudio 2.1: Encontrar el Perímetro y el Área de un Circulo </a:t>
            </a:r>
          </a:p>
          <a:p>
            <a:pPr lvl="1"/>
            <a:r>
              <a:rPr lang="es-MX" sz="1700" dirty="0"/>
              <a:t>Caso de Estudio 2.2: Encontrar el Perímetro y el Área de un Rectángulo </a:t>
            </a:r>
          </a:p>
          <a:p>
            <a:pPr lvl="1"/>
            <a:r>
              <a:rPr lang="es-MX" sz="1700" dirty="0"/>
              <a:t>Caso de Estudio 2.3: Encontrar la Generatriz, el Área y el Volumen de un Cono </a:t>
            </a:r>
          </a:p>
          <a:p>
            <a:pPr lvl="1"/>
            <a:r>
              <a:rPr lang="es-MX" sz="1700" dirty="0"/>
              <a:t>Caso de Estudio 2.4: Encontrar la distancia, tiempo de vuelo y la altura alcanzada por un proyectil </a:t>
            </a:r>
            <a:endParaRPr lang="es-419" sz="1700" dirty="0"/>
          </a:p>
        </p:txBody>
      </p:sp>
      <p:sp>
        <p:nvSpPr>
          <p:cNvPr id="5" name="4 Marcador de fecha"/>
          <p:cNvSpPr>
            <a:spLocks noGrp="1"/>
          </p:cNvSpPr>
          <p:nvPr>
            <p:ph type="dt" sz="half" idx="10"/>
          </p:nvPr>
        </p:nvSpPr>
        <p:spPr/>
        <p:txBody>
          <a:bodyPr/>
          <a:lstStyle/>
          <a:p>
            <a:fld id="{85E4E129-A937-4BEE-8A17-D7969DFE55C2}" type="datetime1">
              <a:rPr lang="es-EC">
                <a:solidFill>
                  <a:prstClr val="black">
                    <a:lumMod val="65000"/>
                    <a:lumOff val="35000"/>
                  </a:prstClr>
                </a:solidFill>
              </a:rPr>
              <a:pPr/>
              <a:t>26/11/2025</a:t>
            </a:fld>
            <a:endParaRPr lang="es-EC" dirty="0">
              <a:solidFill>
                <a:prstClr val="black">
                  <a:lumMod val="65000"/>
                  <a:lumOff val="35000"/>
                </a:prstClr>
              </a:solidFill>
            </a:endParaRP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28</a:t>
            </a:fld>
            <a:endParaRPr lang="es-EC" dirty="0">
              <a:solidFill>
                <a:prstClr val="black">
                  <a:lumMod val="65000"/>
                  <a:lumOff val="35000"/>
                </a:prstClr>
              </a:solidFill>
            </a:endParaRPr>
          </a:p>
        </p:txBody>
      </p:sp>
    </p:spTree>
    <p:extLst>
      <p:ext uri="{BB962C8B-B14F-4D97-AF65-F5344CB8AC3E}">
        <p14:creationId xmlns:p14="http://schemas.microsoft.com/office/powerpoint/2010/main" val="35031380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500131" y="2055727"/>
            <a:ext cx="7719019" cy="1015664"/>
          </a:xfrm>
        </p:spPr>
        <p:txBody>
          <a:bodyPr/>
          <a:lstStyle/>
          <a:p>
            <a:br>
              <a:rPr lang="es-MX" sz="2800" b="1" dirty="0">
                <a:solidFill>
                  <a:srgbClr val="FF0000"/>
                </a:solidFill>
              </a:rPr>
            </a:br>
            <a:r>
              <a:rPr lang="es-MX" sz="2800" b="1" dirty="0"/>
              <a:t> </a:t>
            </a:r>
            <a:br>
              <a:rPr lang="es-MX" sz="2800" b="1" dirty="0"/>
            </a:br>
            <a:r>
              <a:rPr lang="es-MX" sz="2800" b="1" dirty="0"/>
              <a:t>Problema 2.4. (Aplicación de estructuras de control secuenciales de asignación acumulador tipo sumas) </a:t>
            </a:r>
            <a:br>
              <a:rPr lang="es-MX" sz="9600" b="1" dirty="0">
                <a:solidFill>
                  <a:srgbClr val="FF0000"/>
                </a:solidFill>
              </a:rPr>
            </a:br>
            <a:endParaRPr lang="en-US" sz="11500" b="1" dirty="0"/>
          </a:p>
        </p:txBody>
      </p:sp>
      <p:sp>
        <p:nvSpPr>
          <p:cNvPr id="3" name="2 Marcador de fecha"/>
          <p:cNvSpPr>
            <a:spLocks noGrp="1"/>
          </p:cNvSpPr>
          <p:nvPr>
            <p:ph type="dt" sz="half" idx="10"/>
          </p:nvPr>
        </p:nvSpPr>
        <p:spPr/>
        <p:txBody>
          <a:bodyPr/>
          <a:lstStyle/>
          <a:p>
            <a:fld id="{44C3288D-7DAC-4DD2-9022-6C6BA4238517}" type="datetime1">
              <a:rPr lang="es-EC" smtClean="0"/>
              <a:t>26/11/2025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29</a:t>
            </a:fld>
            <a:endParaRPr lang="es-EC" dirty="0"/>
          </a:p>
        </p:txBody>
      </p:sp>
      <p:sp>
        <p:nvSpPr>
          <p:cNvPr id="12" name="4 Marcador de contenido">
            <a:extLst>
              <a:ext uri="{FF2B5EF4-FFF2-40B4-BE49-F238E27FC236}">
                <a16:creationId xmlns:a16="http://schemas.microsoft.com/office/drawing/2014/main" id="{97FC977D-3246-462D-803B-5253E38C74F7}"/>
              </a:ext>
            </a:extLst>
          </p:cNvPr>
          <p:cNvSpPr>
            <a:spLocks noGrp="1"/>
          </p:cNvSpPr>
          <p:nvPr>
            <p:ph idx="1"/>
          </p:nvPr>
        </p:nvSpPr>
        <p:spPr>
          <a:xfrm>
            <a:off x="527281" y="2369548"/>
            <a:ext cx="4204904" cy="3047404"/>
          </a:xfrm>
        </p:spPr>
        <p:txBody>
          <a:bodyPr>
            <a:normAutofit/>
          </a:bodyPr>
          <a:lstStyle/>
          <a:p>
            <a:pPr algn="just"/>
            <a:r>
              <a:rPr lang="es-MX" sz="1600" dirty="0"/>
              <a:t>Escribir un programa que permita realizar la sumatoria de los cinco primeros dígitos, es decir, 1+2+3+4+5, utilizando cinco variables y un acumulador de sumas. A cada variable se le asigna uno de los dígitos y luego se le asigna al acumulador cada variable, para finalmente imprimir el valor del acumulador. </a:t>
            </a:r>
            <a:endParaRPr lang="es-ES" sz="2000" dirty="0"/>
          </a:p>
        </p:txBody>
      </p:sp>
      <p:pic>
        <p:nvPicPr>
          <p:cNvPr id="7" name="Imagen 6">
            <a:extLst>
              <a:ext uri="{FF2B5EF4-FFF2-40B4-BE49-F238E27FC236}">
                <a16:creationId xmlns:a16="http://schemas.microsoft.com/office/drawing/2014/main" id="{043DF669-A30C-4E82-9D8E-CAD09A52BC02}"/>
              </a:ext>
            </a:extLst>
          </p:cNvPr>
          <p:cNvPicPr>
            <a:picLocks noChangeAspect="1"/>
          </p:cNvPicPr>
          <p:nvPr/>
        </p:nvPicPr>
        <p:blipFill>
          <a:blip r:embed="rId2"/>
          <a:stretch>
            <a:fillRect/>
          </a:stretch>
        </p:blipFill>
        <p:spPr>
          <a:xfrm>
            <a:off x="4773362" y="2212398"/>
            <a:ext cx="6992326" cy="4292574"/>
          </a:xfrm>
          <a:prstGeom prst="rect">
            <a:avLst/>
          </a:prstGeom>
        </p:spPr>
      </p:pic>
    </p:spTree>
    <p:extLst>
      <p:ext uri="{BB962C8B-B14F-4D97-AF65-F5344CB8AC3E}">
        <p14:creationId xmlns:p14="http://schemas.microsoft.com/office/powerpoint/2010/main" val="20317028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fecha"/>
          <p:cNvSpPr>
            <a:spLocks noGrp="1"/>
          </p:cNvSpPr>
          <p:nvPr>
            <p:ph type="dt" sz="half" idx="10"/>
          </p:nvPr>
        </p:nvSpPr>
        <p:spPr/>
        <p:txBody>
          <a:bodyPr/>
          <a:lstStyle/>
          <a:p>
            <a:fld id="{44C3288D-7DAC-4DD2-9022-6C6BA4238517}" type="datetime1">
              <a:rPr lang="es-EC" smtClean="0"/>
              <a:t>26/11/2025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30</a:t>
            </a:fld>
            <a:endParaRPr lang="es-EC" dirty="0"/>
          </a:p>
        </p:txBody>
      </p:sp>
      <p:pic>
        <p:nvPicPr>
          <p:cNvPr id="9" name="Imagen 8">
            <a:extLst>
              <a:ext uri="{FF2B5EF4-FFF2-40B4-BE49-F238E27FC236}">
                <a16:creationId xmlns:a16="http://schemas.microsoft.com/office/drawing/2014/main" id="{E4E03693-0F55-4EBA-AEF2-B1A3DCD67C02}"/>
              </a:ext>
            </a:extLst>
          </p:cNvPr>
          <p:cNvPicPr>
            <a:picLocks noChangeAspect="1"/>
          </p:cNvPicPr>
          <p:nvPr/>
        </p:nvPicPr>
        <p:blipFill rotWithShape="1">
          <a:blip r:embed="rId2"/>
          <a:srcRect t="746"/>
          <a:stretch/>
        </p:blipFill>
        <p:spPr>
          <a:xfrm>
            <a:off x="1719335" y="88022"/>
            <a:ext cx="9346061" cy="6268329"/>
          </a:xfrm>
          <a:prstGeom prst="rect">
            <a:avLst/>
          </a:prstGeom>
        </p:spPr>
      </p:pic>
      <p:sp>
        <p:nvSpPr>
          <p:cNvPr id="13" name="CuadroTexto 12">
            <a:extLst>
              <a:ext uri="{FF2B5EF4-FFF2-40B4-BE49-F238E27FC236}">
                <a16:creationId xmlns:a16="http://schemas.microsoft.com/office/drawing/2014/main" id="{E00265BA-5E7D-496B-9BDB-B0770E8334D2}"/>
              </a:ext>
            </a:extLst>
          </p:cNvPr>
          <p:cNvSpPr txBox="1"/>
          <p:nvPr/>
        </p:nvSpPr>
        <p:spPr>
          <a:xfrm>
            <a:off x="2377962" y="6356351"/>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Programa 2.4</a:t>
            </a:r>
            <a:r>
              <a:rPr lang="es-ES" sz="1200" dirty="0">
                <a:solidFill>
                  <a:schemeClr val="tx1">
                    <a:lumMod val="50000"/>
                    <a:lumOff val="50000"/>
                  </a:schemeClr>
                </a:solidFill>
                <a:latin typeface="+mj-lt"/>
              </a:rPr>
              <a:t>. Código del Programa.</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24642513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500131" y="2055727"/>
            <a:ext cx="7719019" cy="1015664"/>
          </a:xfrm>
        </p:spPr>
        <p:txBody>
          <a:bodyPr/>
          <a:lstStyle/>
          <a:p>
            <a:br>
              <a:rPr lang="es-MX" sz="2800" b="1" dirty="0">
                <a:solidFill>
                  <a:srgbClr val="FF0000"/>
                </a:solidFill>
              </a:rPr>
            </a:br>
            <a:r>
              <a:rPr lang="es-MX" sz="2800" b="1" dirty="0"/>
              <a:t> </a:t>
            </a:r>
            <a:br>
              <a:rPr lang="es-MX" sz="2800" b="1" dirty="0"/>
            </a:br>
            <a:r>
              <a:rPr lang="es-MX" sz="2800" b="1" dirty="0"/>
              <a:t>Problema 2.4. (Aplicación de estructuras de control secuenciales de asignación acumulador tipo sumas) </a:t>
            </a:r>
            <a:br>
              <a:rPr lang="es-MX" sz="9600" b="1" dirty="0">
                <a:solidFill>
                  <a:srgbClr val="FF0000"/>
                </a:solidFill>
              </a:rPr>
            </a:br>
            <a:endParaRPr lang="en-US" sz="11500" b="1" dirty="0"/>
          </a:p>
        </p:txBody>
      </p:sp>
      <p:sp>
        <p:nvSpPr>
          <p:cNvPr id="3" name="2 Marcador de fecha"/>
          <p:cNvSpPr>
            <a:spLocks noGrp="1"/>
          </p:cNvSpPr>
          <p:nvPr>
            <p:ph type="dt" sz="half" idx="10"/>
          </p:nvPr>
        </p:nvSpPr>
        <p:spPr/>
        <p:txBody>
          <a:bodyPr/>
          <a:lstStyle/>
          <a:p>
            <a:fld id="{44C3288D-7DAC-4DD2-9022-6C6BA4238517}" type="datetime1">
              <a:rPr lang="es-EC" smtClean="0"/>
              <a:t>26/11/2025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31</a:t>
            </a:fld>
            <a:endParaRPr lang="es-EC" dirty="0"/>
          </a:p>
        </p:txBody>
      </p:sp>
      <p:sp>
        <p:nvSpPr>
          <p:cNvPr id="12" name="4 Marcador de contenido">
            <a:extLst>
              <a:ext uri="{FF2B5EF4-FFF2-40B4-BE49-F238E27FC236}">
                <a16:creationId xmlns:a16="http://schemas.microsoft.com/office/drawing/2014/main" id="{97FC977D-3246-462D-803B-5253E38C74F7}"/>
              </a:ext>
            </a:extLst>
          </p:cNvPr>
          <p:cNvSpPr>
            <a:spLocks noGrp="1"/>
          </p:cNvSpPr>
          <p:nvPr>
            <p:ph idx="1"/>
          </p:nvPr>
        </p:nvSpPr>
        <p:spPr>
          <a:xfrm>
            <a:off x="527281" y="2369548"/>
            <a:ext cx="4204904" cy="3047404"/>
          </a:xfrm>
        </p:spPr>
        <p:txBody>
          <a:bodyPr>
            <a:normAutofit/>
          </a:bodyPr>
          <a:lstStyle/>
          <a:p>
            <a:pPr algn="just"/>
            <a:r>
              <a:rPr lang="es-MX" sz="1600" dirty="0"/>
              <a:t>La Ejecución 2.4, correspondiente a la salida del programa, muestra que la variable ‘sum’ tiene acumulado el valor de 15 que representa la sumatoria de los cinco primeros dígitos. </a:t>
            </a:r>
            <a:endParaRPr lang="es-ES" sz="2000" dirty="0"/>
          </a:p>
        </p:txBody>
      </p:sp>
      <p:pic>
        <p:nvPicPr>
          <p:cNvPr id="5" name="Imagen 4">
            <a:extLst>
              <a:ext uri="{FF2B5EF4-FFF2-40B4-BE49-F238E27FC236}">
                <a16:creationId xmlns:a16="http://schemas.microsoft.com/office/drawing/2014/main" id="{DD800AAC-2077-486D-A8C7-8EAC16F22CC0}"/>
              </a:ext>
            </a:extLst>
          </p:cNvPr>
          <p:cNvPicPr>
            <a:picLocks noChangeAspect="1"/>
          </p:cNvPicPr>
          <p:nvPr/>
        </p:nvPicPr>
        <p:blipFill>
          <a:blip r:embed="rId2"/>
          <a:stretch>
            <a:fillRect/>
          </a:stretch>
        </p:blipFill>
        <p:spPr>
          <a:xfrm>
            <a:off x="823187" y="3893250"/>
            <a:ext cx="6077798" cy="1436609"/>
          </a:xfrm>
          <a:prstGeom prst="rect">
            <a:avLst/>
          </a:prstGeom>
        </p:spPr>
      </p:pic>
      <p:sp>
        <p:nvSpPr>
          <p:cNvPr id="9" name="CuadroTexto 8">
            <a:extLst>
              <a:ext uri="{FF2B5EF4-FFF2-40B4-BE49-F238E27FC236}">
                <a16:creationId xmlns:a16="http://schemas.microsoft.com/office/drawing/2014/main" id="{6C68463F-FEEC-4844-AC23-271A9E018879}"/>
              </a:ext>
            </a:extLst>
          </p:cNvPr>
          <p:cNvSpPr txBox="1"/>
          <p:nvPr/>
        </p:nvSpPr>
        <p:spPr>
          <a:xfrm>
            <a:off x="823187" y="5416952"/>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Ejecución 2.4.</a:t>
            </a:r>
            <a:r>
              <a:rPr lang="es-ES" sz="1200" dirty="0">
                <a:solidFill>
                  <a:schemeClr val="tx1">
                    <a:lumMod val="50000"/>
                    <a:lumOff val="50000"/>
                  </a:schemeClr>
                </a:solidFill>
                <a:latin typeface="+mj-lt"/>
              </a:rPr>
              <a:t> Salida  del Programa.</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2699558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fontScale="85000" lnSpcReduction="20000"/>
          </a:bodyPr>
          <a:lstStyle/>
          <a:p>
            <a:pPr lvl="1"/>
            <a:r>
              <a:rPr lang="es-MX" sz="1700" dirty="0"/>
              <a:t>Estructuras de Control Secuenciales. </a:t>
            </a:r>
          </a:p>
          <a:p>
            <a:pPr lvl="1"/>
            <a:r>
              <a:rPr lang="es-MX" sz="1700" dirty="0"/>
              <a:t>Escritura. </a:t>
            </a:r>
          </a:p>
          <a:p>
            <a:pPr lvl="1"/>
            <a:r>
              <a:rPr lang="es-MX" sz="1700" dirty="0"/>
              <a:t>Lectura </a:t>
            </a:r>
          </a:p>
          <a:p>
            <a:pPr lvl="1"/>
            <a:r>
              <a:rPr lang="es-MX" sz="1700" dirty="0"/>
              <a:t>Problema 2.1. (Aplicación de estructuras de control secuenciales de escritura y lectura).</a:t>
            </a:r>
          </a:p>
          <a:p>
            <a:pPr lvl="1"/>
            <a:r>
              <a:rPr lang="es-MX" sz="1700" dirty="0"/>
              <a:t>Asignación. </a:t>
            </a:r>
          </a:p>
          <a:p>
            <a:pPr lvl="1"/>
            <a:r>
              <a:rPr lang="es-MX" sz="1700" dirty="0"/>
              <a:t>Asignación Simple </a:t>
            </a:r>
          </a:p>
          <a:p>
            <a:pPr lvl="1"/>
            <a:r>
              <a:rPr lang="es-MX" sz="1700" dirty="0"/>
              <a:t>Problema 2.2. (Aplicación de estructuras de control secuenciales de asignación simple). </a:t>
            </a:r>
          </a:p>
          <a:p>
            <a:pPr lvl="1"/>
            <a:r>
              <a:rPr lang="es-MX" sz="1700" dirty="0"/>
              <a:t>Asignación Contador </a:t>
            </a:r>
          </a:p>
          <a:p>
            <a:pPr lvl="1"/>
            <a:r>
              <a:rPr lang="es-MX" sz="1700" dirty="0"/>
              <a:t>Problema 2.3. (Aplicación de estructuras de control secuenciales de asignación contador). </a:t>
            </a:r>
          </a:p>
          <a:p>
            <a:pPr lvl="1"/>
            <a:r>
              <a:rPr lang="es-MX" sz="1700" dirty="0"/>
              <a:t>Asignación Acumulador </a:t>
            </a:r>
          </a:p>
          <a:p>
            <a:pPr lvl="1"/>
            <a:r>
              <a:rPr lang="es-MX" sz="1700" dirty="0"/>
              <a:t>Problema 2.4. (Aplicación de estructuras de control secuenciales de asignación acumulador tipo sumas) </a:t>
            </a:r>
          </a:p>
          <a:p>
            <a:pPr lvl="1"/>
            <a:r>
              <a:rPr lang="es-MX" sz="3300" b="1" dirty="0">
                <a:solidFill>
                  <a:srgbClr val="FF0000"/>
                </a:solidFill>
              </a:rPr>
              <a:t>Problema 2.5. (Aplicación de estructuras de control secuenciales de asignación acumulador tipo productos) . </a:t>
            </a:r>
          </a:p>
          <a:p>
            <a:pPr lvl="1"/>
            <a:r>
              <a:rPr lang="es-MX" sz="1700" dirty="0"/>
              <a:t>Asignación de Trabajo </a:t>
            </a:r>
          </a:p>
          <a:p>
            <a:pPr lvl="1"/>
            <a:r>
              <a:rPr lang="es-MX" sz="1700" dirty="0"/>
              <a:t>Problema 2.6. (Aplicación de estructuras de control secuenciales de asignación de trabajo) </a:t>
            </a:r>
          </a:p>
          <a:p>
            <a:pPr lvl="1"/>
            <a:r>
              <a:rPr lang="es-MX" sz="1700" dirty="0"/>
              <a:t>Caso de Estudio 2.1: Encontrar el Perímetro y el Área de un Circulo </a:t>
            </a:r>
          </a:p>
          <a:p>
            <a:pPr lvl="1"/>
            <a:r>
              <a:rPr lang="es-MX" sz="1700" dirty="0"/>
              <a:t>Caso de Estudio 2.2: Encontrar el Perímetro y el Área de un Rectángulo </a:t>
            </a:r>
          </a:p>
          <a:p>
            <a:pPr lvl="1"/>
            <a:r>
              <a:rPr lang="es-MX" sz="1700" dirty="0"/>
              <a:t>Caso de Estudio 2.3: Encontrar la Generatriz, el Área y el Volumen de un Cono </a:t>
            </a:r>
          </a:p>
          <a:p>
            <a:pPr lvl="1"/>
            <a:r>
              <a:rPr lang="es-MX" sz="1700" dirty="0"/>
              <a:t>Caso de Estudio 2.4: Encontrar la distancia, tiempo de vuelo y la altura alcanzada por un proyectil </a:t>
            </a:r>
            <a:endParaRPr lang="es-419" sz="1700" dirty="0"/>
          </a:p>
        </p:txBody>
      </p:sp>
      <p:sp>
        <p:nvSpPr>
          <p:cNvPr id="5" name="4 Marcador de fecha"/>
          <p:cNvSpPr>
            <a:spLocks noGrp="1"/>
          </p:cNvSpPr>
          <p:nvPr>
            <p:ph type="dt" sz="half" idx="10"/>
          </p:nvPr>
        </p:nvSpPr>
        <p:spPr/>
        <p:txBody>
          <a:bodyPr/>
          <a:lstStyle/>
          <a:p>
            <a:fld id="{85E4E129-A937-4BEE-8A17-D7969DFE55C2}" type="datetime1">
              <a:rPr lang="es-EC">
                <a:solidFill>
                  <a:prstClr val="black">
                    <a:lumMod val="65000"/>
                    <a:lumOff val="35000"/>
                  </a:prstClr>
                </a:solidFill>
              </a:rPr>
              <a:pPr/>
              <a:t>26/11/2025</a:t>
            </a:fld>
            <a:endParaRPr lang="es-EC" dirty="0">
              <a:solidFill>
                <a:prstClr val="black">
                  <a:lumMod val="65000"/>
                  <a:lumOff val="35000"/>
                </a:prstClr>
              </a:solidFill>
            </a:endParaRP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32</a:t>
            </a:fld>
            <a:endParaRPr lang="es-EC" dirty="0">
              <a:solidFill>
                <a:prstClr val="black">
                  <a:lumMod val="65000"/>
                  <a:lumOff val="35000"/>
                </a:prstClr>
              </a:solidFill>
            </a:endParaRPr>
          </a:p>
        </p:txBody>
      </p:sp>
    </p:spTree>
    <p:extLst>
      <p:ext uri="{BB962C8B-B14F-4D97-AF65-F5344CB8AC3E}">
        <p14:creationId xmlns:p14="http://schemas.microsoft.com/office/powerpoint/2010/main" val="12603994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629733" y="2834040"/>
            <a:ext cx="7719019" cy="1015664"/>
          </a:xfrm>
        </p:spPr>
        <p:txBody>
          <a:bodyPr/>
          <a:lstStyle/>
          <a:p>
            <a:br>
              <a:rPr lang="es-MX" sz="2800" b="1" dirty="0">
                <a:solidFill>
                  <a:srgbClr val="FF0000"/>
                </a:solidFill>
              </a:rPr>
            </a:br>
            <a:r>
              <a:rPr lang="es-MX" sz="2400" b="1" dirty="0"/>
              <a:t> </a:t>
            </a:r>
            <a:br>
              <a:rPr lang="es-MX" sz="2400" b="1" dirty="0"/>
            </a:br>
            <a:r>
              <a:rPr lang="es-MX" sz="2400" b="1" dirty="0"/>
              <a:t>Problema 2.5. (Aplicación de estructuras de control secuenciales de asignación acumulador tipo productos) </a:t>
            </a:r>
            <a:r>
              <a:rPr lang="es-MX" sz="9600" b="1" dirty="0">
                <a:solidFill>
                  <a:srgbClr val="FF0000"/>
                </a:solidFill>
              </a:rPr>
              <a:t> </a:t>
            </a:r>
            <a:br>
              <a:rPr lang="es-MX" sz="9600" b="1" dirty="0">
                <a:solidFill>
                  <a:srgbClr val="FF0000"/>
                </a:solidFill>
              </a:rPr>
            </a:br>
            <a:br>
              <a:rPr lang="es-MX" sz="9600" b="1" dirty="0">
                <a:solidFill>
                  <a:srgbClr val="FF0000"/>
                </a:solidFill>
              </a:rPr>
            </a:br>
            <a:endParaRPr lang="en-US" sz="11500" b="1" dirty="0"/>
          </a:p>
        </p:txBody>
      </p:sp>
      <p:sp>
        <p:nvSpPr>
          <p:cNvPr id="3" name="2 Marcador de fecha"/>
          <p:cNvSpPr>
            <a:spLocks noGrp="1"/>
          </p:cNvSpPr>
          <p:nvPr>
            <p:ph type="dt" sz="half" idx="10"/>
          </p:nvPr>
        </p:nvSpPr>
        <p:spPr/>
        <p:txBody>
          <a:bodyPr/>
          <a:lstStyle/>
          <a:p>
            <a:fld id="{44C3288D-7DAC-4DD2-9022-6C6BA4238517}" type="datetime1">
              <a:rPr lang="es-EC" smtClean="0"/>
              <a:t>26/11/2025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33</a:t>
            </a:fld>
            <a:endParaRPr lang="es-EC" dirty="0"/>
          </a:p>
        </p:txBody>
      </p:sp>
      <p:sp>
        <p:nvSpPr>
          <p:cNvPr id="12" name="4 Marcador de contenido">
            <a:extLst>
              <a:ext uri="{FF2B5EF4-FFF2-40B4-BE49-F238E27FC236}">
                <a16:creationId xmlns:a16="http://schemas.microsoft.com/office/drawing/2014/main" id="{97FC977D-3246-462D-803B-5253E38C74F7}"/>
              </a:ext>
            </a:extLst>
          </p:cNvPr>
          <p:cNvSpPr>
            <a:spLocks noGrp="1"/>
          </p:cNvSpPr>
          <p:nvPr>
            <p:ph idx="1"/>
          </p:nvPr>
        </p:nvSpPr>
        <p:spPr>
          <a:xfrm>
            <a:off x="527281" y="2369548"/>
            <a:ext cx="4204904" cy="3047404"/>
          </a:xfrm>
        </p:spPr>
        <p:txBody>
          <a:bodyPr>
            <a:normAutofit/>
          </a:bodyPr>
          <a:lstStyle/>
          <a:p>
            <a:pPr algn="just"/>
            <a:r>
              <a:rPr lang="es-MX" sz="1600" dirty="0"/>
              <a:t>Escribir un programa que permita realizar el producto de los cinco primeros dígitos, es decir, 1*2*3*4*5, utilizando cinco variables y un acumulador de productos. A cada variable se le asigna uno de los dígitos y luego se le asigna al acumulador cada variable, para finalmente imprimir el valor del acumulador</a:t>
            </a:r>
            <a:endParaRPr lang="es-ES" sz="2000" dirty="0"/>
          </a:p>
        </p:txBody>
      </p:sp>
      <p:pic>
        <p:nvPicPr>
          <p:cNvPr id="7" name="Imagen 6">
            <a:extLst>
              <a:ext uri="{FF2B5EF4-FFF2-40B4-BE49-F238E27FC236}">
                <a16:creationId xmlns:a16="http://schemas.microsoft.com/office/drawing/2014/main" id="{70F9972E-BBFA-492C-904B-953B2EA56198}"/>
              </a:ext>
            </a:extLst>
          </p:cNvPr>
          <p:cNvPicPr>
            <a:picLocks noChangeAspect="1"/>
          </p:cNvPicPr>
          <p:nvPr/>
        </p:nvPicPr>
        <p:blipFill>
          <a:blip r:embed="rId2"/>
          <a:stretch>
            <a:fillRect/>
          </a:stretch>
        </p:blipFill>
        <p:spPr>
          <a:xfrm>
            <a:off x="5208450" y="2369548"/>
            <a:ext cx="6182588" cy="813490"/>
          </a:xfrm>
          <a:prstGeom prst="rect">
            <a:avLst/>
          </a:prstGeom>
        </p:spPr>
      </p:pic>
      <p:pic>
        <p:nvPicPr>
          <p:cNvPr id="10" name="Imagen 9">
            <a:extLst>
              <a:ext uri="{FF2B5EF4-FFF2-40B4-BE49-F238E27FC236}">
                <a16:creationId xmlns:a16="http://schemas.microsoft.com/office/drawing/2014/main" id="{7D93A203-64B0-4930-B08D-56B3545D9487}"/>
              </a:ext>
            </a:extLst>
          </p:cNvPr>
          <p:cNvPicPr>
            <a:picLocks noChangeAspect="1"/>
          </p:cNvPicPr>
          <p:nvPr/>
        </p:nvPicPr>
        <p:blipFill>
          <a:blip r:embed="rId3"/>
          <a:stretch>
            <a:fillRect/>
          </a:stretch>
        </p:blipFill>
        <p:spPr>
          <a:xfrm>
            <a:off x="5241127" y="3174556"/>
            <a:ext cx="6173061" cy="3546919"/>
          </a:xfrm>
          <a:prstGeom prst="rect">
            <a:avLst/>
          </a:prstGeom>
        </p:spPr>
      </p:pic>
    </p:spTree>
    <p:extLst>
      <p:ext uri="{BB962C8B-B14F-4D97-AF65-F5344CB8AC3E}">
        <p14:creationId xmlns:p14="http://schemas.microsoft.com/office/powerpoint/2010/main" val="13449218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fecha"/>
          <p:cNvSpPr>
            <a:spLocks noGrp="1"/>
          </p:cNvSpPr>
          <p:nvPr>
            <p:ph type="dt" sz="half" idx="10"/>
          </p:nvPr>
        </p:nvSpPr>
        <p:spPr/>
        <p:txBody>
          <a:bodyPr/>
          <a:lstStyle/>
          <a:p>
            <a:fld id="{44C3288D-7DAC-4DD2-9022-6C6BA4238517}" type="datetime1">
              <a:rPr lang="es-EC" smtClean="0"/>
              <a:t>26/11/2025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34</a:t>
            </a:fld>
            <a:endParaRPr lang="es-EC" dirty="0"/>
          </a:p>
        </p:txBody>
      </p:sp>
      <p:pic>
        <p:nvPicPr>
          <p:cNvPr id="15" name="Imagen 14">
            <a:extLst>
              <a:ext uri="{FF2B5EF4-FFF2-40B4-BE49-F238E27FC236}">
                <a16:creationId xmlns:a16="http://schemas.microsoft.com/office/drawing/2014/main" id="{7BE7582B-886F-4BF3-980F-28A97482B13C}"/>
              </a:ext>
            </a:extLst>
          </p:cNvPr>
          <p:cNvPicPr>
            <a:picLocks noChangeAspect="1"/>
          </p:cNvPicPr>
          <p:nvPr/>
        </p:nvPicPr>
        <p:blipFill>
          <a:blip r:embed="rId2"/>
          <a:stretch>
            <a:fillRect/>
          </a:stretch>
        </p:blipFill>
        <p:spPr>
          <a:xfrm>
            <a:off x="1820099" y="0"/>
            <a:ext cx="8087830" cy="5359078"/>
          </a:xfrm>
          <a:prstGeom prst="rect">
            <a:avLst/>
          </a:prstGeom>
        </p:spPr>
      </p:pic>
      <p:pic>
        <p:nvPicPr>
          <p:cNvPr id="19" name="Imagen 18">
            <a:extLst>
              <a:ext uri="{FF2B5EF4-FFF2-40B4-BE49-F238E27FC236}">
                <a16:creationId xmlns:a16="http://schemas.microsoft.com/office/drawing/2014/main" id="{C463958D-77C8-4BD9-BABA-0A69265E54A8}"/>
              </a:ext>
            </a:extLst>
          </p:cNvPr>
          <p:cNvPicPr>
            <a:picLocks noChangeAspect="1"/>
          </p:cNvPicPr>
          <p:nvPr/>
        </p:nvPicPr>
        <p:blipFill>
          <a:blip r:embed="rId3"/>
          <a:stretch>
            <a:fillRect/>
          </a:stretch>
        </p:blipFill>
        <p:spPr>
          <a:xfrm>
            <a:off x="3076153" y="2905052"/>
            <a:ext cx="6039693" cy="1047896"/>
          </a:xfrm>
          <a:prstGeom prst="rect">
            <a:avLst/>
          </a:prstGeom>
        </p:spPr>
      </p:pic>
      <p:pic>
        <p:nvPicPr>
          <p:cNvPr id="21" name="Imagen 20">
            <a:extLst>
              <a:ext uri="{FF2B5EF4-FFF2-40B4-BE49-F238E27FC236}">
                <a16:creationId xmlns:a16="http://schemas.microsoft.com/office/drawing/2014/main" id="{F1B14925-68D2-4F98-8A3F-DA9A9FA99B27}"/>
              </a:ext>
            </a:extLst>
          </p:cNvPr>
          <p:cNvPicPr>
            <a:picLocks noChangeAspect="1"/>
          </p:cNvPicPr>
          <p:nvPr/>
        </p:nvPicPr>
        <p:blipFill>
          <a:blip r:embed="rId3"/>
          <a:stretch>
            <a:fillRect/>
          </a:stretch>
        </p:blipFill>
        <p:spPr>
          <a:xfrm>
            <a:off x="2127029" y="5465230"/>
            <a:ext cx="6039693" cy="1047896"/>
          </a:xfrm>
          <a:prstGeom prst="rect">
            <a:avLst/>
          </a:prstGeom>
        </p:spPr>
      </p:pic>
      <p:sp>
        <p:nvSpPr>
          <p:cNvPr id="22" name="CuadroTexto 21">
            <a:extLst>
              <a:ext uri="{FF2B5EF4-FFF2-40B4-BE49-F238E27FC236}">
                <a16:creationId xmlns:a16="http://schemas.microsoft.com/office/drawing/2014/main" id="{6F54BF63-F845-4304-B5BF-95F2A1CC7A60}"/>
              </a:ext>
            </a:extLst>
          </p:cNvPr>
          <p:cNvSpPr txBox="1"/>
          <p:nvPr/>
        </p:nvSpPr>
        <p:spPr>
          <a:xfrm>
            <a:off x="2377962" y="6356351"/>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Programa 2.5</a:t>
            </a:r>
            <a:r>
              <a:rPr lang="es-ES" sz="1200" dirty="0">
                <a:solidFill>
                  <a:schemeClr val="tx1">
                    <a:lumMod val="50000"/>
                    <a:lumOff val="50000"/>
                  </a:schemeClr>
                </a:solidFill>
                <a:latin typeface="+mj-lt"/>
              </a:rPr>
              <a:t>. Código del Programa.</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25165129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629733" y="2834040"/>
            <a:ext cx="7719019" cy="1015664"/>
          </a:xfrm>
        </p:spPr>
        <p:txBody>
          <a:bodyPr/>
          <a:lstStyle/>
          <a:p>
            <a:br>
              <a:rPr lang="es-MX" sz="2800" b="1" dirty="0">
                <a:solidFill>
                  <a:srgbClr val="FF0000"/>
                </a:solidFill>
              </a:rPr>
            </a:br>
            <a:r>
              <a:rPr lang="es-MX" sz="2400" b="1" dirty="0"/>
              <a:t> </a:t>
            </a:r>
            <a:br>
              <a:rPr lang="es-MX" sz="2400" b="1" dirty="0"/>
            </a:br>
            <a:r>
              <a:rPr lang="es-MX" sz="2400" b="1" dirty="0"/>
              <a:t>Problema 2.5. (Aplicación de estructuras de control secuenciales de asignación acumulador tipo productos) </a:t>
            </a:r>
            <a:r>
              <a:rPr lang="es-MX" sz="9600" b="1" dirty="0">
                <a:solidFill>
                  <a:srgbClr val="FF0000"/>
                </a:solidFill>
              </a:rPr>
              <a:t> </a:t>
            </a:r>
            <a:br>
              <a:rPr lang="es-MX" sz="9600" b="1" dirty="0">
                <a:solidFill>
                  <a:srgbClr val="FF0000"/>
                </a:solidFill>
              </a:rPr>
            </a:br>
            <a:br>
              <a:rPr lang="es-MX" sz="9600" b="1" dirty="0">
                <a:solidFill>
                  <a:srgbClr val="FF0000"/>
                </a:solidFill>
              </a:rPr>
            </a:br>
            <a:endParaRPr lang="en-US" sz="11500" b="1" dirty="0"/>
          </a:p>
        </p:txBody>
      </p:sp>
      <p:sp>
        <p:nvSpPr>
          <p:cNvPr id="3" name="2 Marcador de fecha"/>
          <p:cNvSpPr>
            <a:spLocks noGrp="1"/>
          </p:cNvSpPr>
          <p:nvPr>
            <p:ph type="dt" sz="half" idx="10"/>
          </p:nvPr>
        </p:nvSpPr>
        <p:spPr/>
        <p:txBody>
          <a:bodyPr/>
          <a:lstStyle/>
          <a:p>
            <a:fld id="{44C3288D-7DAC-4DD2-9022-6C6BA4238517}" type="datetime1">
              <a:rPr lang="es-EC" smtClean="0"/>
              <a:t>26/11/2025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35</a:t>
            </a:fld>
            <a:endParaRPr lang="es-EC" dirty="0"/>
          </a:p>
        </p:txBody>
      </p:sp>
      <p:sp>
        <p:nvSpPr>
          <p:cNvPr id="12" name="4 Marcador de contenido">
            <a:extLst>
              <a:ext uri="{FF2B5EF4-FFF2-40B4-BE49-F238E27FC236}">
                <a16:creationId xmlns:a16="http://schemas.microsoft.com/office/drawing/2014/main" id="{97FC977D-3246-462D-803B-5253E38C74F7}"/>
              </a:ext>
            </a:extLst>
          </p:cNvPr>
          <p:cNvSpPr>
            <a:spLocks noGrp="1"/>
          </p:cNvSpPr>
          <p:nvPr>
            <p:ph idx="1"/>
          </p:nvPr>
        </p:nvSpPr>
        <p:spPr>
          <a:xfrm>
            <a:off x="527281" y="2369548"/>
            <a:ext cx="4204904" cy="3047404"/>
          </a:xfrm>
        </p:spPr>
        <p:txBody>
          <a:bodyPr>
            <a:normAutofit/>
          </a:bodyPr>
          <a:lstStyle/>
          <a:p>
            <a:pPr algn="just"/>
            <a:r>
              <a:rPr lang="es-MX" sz="1600" dirty="0"/>
              <a:t>La Ejecución 2.5, correspondiente a la salida del programa, muestra que la variable ‘</a:t>
            </a:r>
            <a:r>
              <a:rPr lang="es-MX" sz="1600" dirty="0" err="1"/>
              <a:t>prod</a:t>
            </a:r>
            <a:r>
              <a:rPr lang="es-MX" sz="1600" dirty="0"/>
              <a:t>’ tiene acumulado el valor de 120 que representa el producto de los cinco primeros dígitos.</a:t>
            </a:r>
            <a:endParaRPr lang="es-ES" sz="2000" dirty="0"/>
          </a:p>
        </p:txBody>
      </p:sp>
      <p:pic>
        <p:nvPicPr>
          <p:cNvPr id="5" name="Imagen 4">
            <a:extLst>
              <a:ext uri="{FF2B5EF4-FFF2-40B4-BE49-F238E27FC236}">
                <a16:creationId xmlns:a16="http://schemas.microsoft.com/office/drawing/2014/main" id="{E71B390F-660E-46A3-A329-EA93E4888291}"/>
              </a:ext>
            </a:extLst>
          </p:cNvPr>
          <p:cNvPicPr>
            <a:picLocks noChangeAspect="1"/>
          </p:cNvPicPr>
          <p:nvPr/>
        </p:nvPicPr>
        <p:blipFill>
          <a:blip r:embed="rId2"/>
          <a:stretch>
            <a:fillRect/>
          </a:stretch>
        </p:blipFill>
        <p:spPr>
          <a:xfrm>
            <a:off x="5202465" y="2372441"/>
            <a:ext cx="5953956" cy="1343031"/>
          </a:xfrm>
          <a:prstGeom prst="rect">
            <a:avLst/>
          </a:prstGeom>
        </p:spPr>
      </p:pic>
      <p:sp>
        <p:nvSpPr>
          <p:cNvPr id="11" name="CuadroTexto 10">
            <a:extLst>
              <a:ext uri="{FF2B5EF4-FFF2-40B4-BE49-F238E27FC236}">
                <a16:creationId xmlns:a16="http://schemas.microsoft.com/office/drawing/2014/main" id="{6770A573-C4A7-4F9F-A5A0-1849E72B854F}"/>
              </a:ext>
            </a:extLst>
          </p:cNvPr>
          <p:cNvSpPr txBox="1"/>
          <p:nvPr/>
        </p:nvSpPr>
        <p:spPr>
          <a:xfrm>
            <a:off x="5202465" y="4066415"/>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Ejecución 2.5.</a:t>
            </a:r>
            <a:r>
              <a:rPr lang="es-ES" sz="1200" dirty="0">
                <a:solidFill>
                  <a:schemeClr val="tx1">
                    <a:lumMod val="50000"/>
                    <a:lumOff val="50000"/>
                  </a:schemeClr>
                </a:solidFill>
                <a:latin typeface="+mj-lt"/>
              </a:rPr>
              <a:t> Salida  del Programa.</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26238271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fontScale="85000" lnSpcReduction="10000"/>
          </a:bodyPr>
          <a:lstStyle/>
          <a:p>
            <a:pPr lvl="1"/>
            <a:r>
              <a:rPr lang="es-MX" sz="1700" dirty="0"/>
              <a:t>Estructuras de Control Secuenciales. </a:t>
            </a:r>
          </a:p>
          <a:p>
            <a:pPr lvl="1"/>
            <a:r>
              <a:rPr lang="es-MX" sz="1700" dirty="0"/>
              <a:t>Escritura. </a:t>
            </a:r>
          </a:p>
          <a:p>
            <a:pPr lvl="1"/>
            <a:r>
              <a:rPr lang="es-MX" sz="1700" dirty="0"/>
              <a:t>Lectura </a:t>
            </a:r>
          </a:p>
          <a:p>
            <a:pPr lvl="1"/>
            <a:r>
              <a:rPr lang="es-MX" sz="1700" dirty="0"/>
              <a:t>Problema 2.1. (Aplicación de estructuras de control secuenciales de escritura y lectura).</a:t>
            </a:r>
          </a:p>
          <a:p>
            <a:pPr lvl="1"/>
            <a:r>
              <a:rPr lang="es-MX" sz="1700" dirty="0"/>
              <a:t>Asignación. </a:t>
            </a:r>
          </a:p>
          <a:p>
            <a:pPr lvl="1"/>
            <a:r>
              <a:rPr lang="es-MX" sz="1700" dirty="0"/>
              <a:t>Asignación Simple </a:t>
            </a:r>
          </a:p>
          <a:p>
            <a:pPr lvl="1"/>
            <a:r>
              <a:rPr lang="es-MX" sz="1700" dirty="0"/>
              <a:t>Problema 2.2. (Aplicación de estructuras de control secuenciales de asignación simple). </a:t>
            </a:r>
          </a:p>
          <a:p>
            <a:pPr lvl="1"/>
            <a:r>
              <a:rPr lang="es-MX" sz="1700" dirty="0"/>
              <a:t>Asignación Contador </a:t>
            </a:r>
          </a:p>
          <a:p>
            <a:pPr lvl="1"/>
            <a:r>
              <a:rPr lang="es-MX" sz="1700" dirty="0"/>
              <a:t>Problema 2.3. (Aplicación de estructuras de control secuenciales de asignación contador). </a:t>
            </a:r>
          </a:p>
          <a:p>
            <a:pPr lvl="1"/>
            <a:r>
              <a:rPr lang="es-MX" sz="1700" dirty="0"/>
              <a:t>Asignación Acumulador </a:t>
            </a:r>
          </a:p>
          <a:p>
            <a:pPr lvl="1"/>
            <a:r>
              <a:rPr lang="es-MX" sz="1700" dirty="0"/>
              <a:t>Problema 2.4. (Aplicación de estructuras de control secuenciales de asignación acumulador tipo sumas) </a:t>
            </a:r>
          </a:p>
          <a:p>
            <a:pPr lvl="1"/>
            <a:r>
              <a:rPr lang="es-MX" sz="1700" dirty="0"/>
              <a:t>Problema 2.5. (Aplicación de estructuras de control secuenciales de asignación acumulador tipo productos) . </a:t>
            </a:r>
          </a:p>
          <a:p>
            <a:pPr lvl="1"/>
            <a:r>
              <a:rPr lang="es-MX" sz="3300" b="1" dirty="0">
                <a:solidFill>
                  <a:srgbClr val="FF0000"/>
                </a:solidFill>
              </a:rPr>
              <a:t>Asignación de Trabajo </a:t>
            </a:r>
          </a:p>
          <a:p>
            <a:pPr lvl="1"/>
            <a:r>
              <a:rPr lang="es-MX" sz="1700" dirty="0"/>
              <a:t>Problema 2.6. (Aplicación de estructuras de control secuenciales de asignación de trabajo) </a:t>
            </a:r>
          </a:p>
          <a:p>
            <a:pPr lvl="1"/>
            <a:r>
              <a:rPr lang="es-MX" sz="1700" dirty="0"/>
              <a:t>Caso de Estudio 2.1: Encontrar el Perímetro y el Área de un Circulo </a:t>
            </a:r>
          </a:p>
          <a:p>
            <a:pPr lvl="1"/>
            <a:r>
              <a:rPr lang="es-MX" sz="1700" dirty="0"/>
              <a:t>Caso de Estudio 2.2: Encontrar el Perímetro y el Área de un Rectángulo </a:t>
            </a:r>
          </a:p>
          <a:p>
            <a:pPr lvl="1"/>
            <a:r>
              <a:rPr lang="es-MX" sz="1700" dirty="0"/>
              <a:t>Caso de Estudio 2.3: Encontrar la Generatriz, el Área y el Volumen de un Cono </a:t>
            </a:r>
          </a:p>
          <a:p>
            <a:pPr lvl="1"/>
            <a:r>
              <a:rPr lang="es-MX" sz="1700" dirty="0"/>
              <a:t>Caso de Estudio 2.4: Encontrar la distancia, tiempo de vuelo y la altura alcanzada por un proyectil </a:t>
            </a:r>
            <a:endParaRPr lang="es-419" sz="1700" dirty="0"/>
          </a:p>
        </p:txBody>
      </p:sp>
      <p:sp>
        <p:nvSpPr>
          <p:cNvPr id="5" name="4 Marcador de fecha"/>
          <p:cNvSpPr>
            <a:spLocks noGrp="1"/>
          </p:cNvSpPr>
          <p:nvPr>
            <p:ph type="dt" sz="half" idx="10"/>
          </p:nvPr>
        </p:nvSpPr>
        <p:spPr/>
        <p:txBody>
          <a:bodyPr/>
          <a:lstStyle/>
          <a:p>
            <a:fld id="{85E4E129-A937-4BEE-8A17-D7969DFE55C2}" type="datetime1">
              <a:rPr lang="es-EC">
                <a:solidFill>
                  <a:prstClr val="black">
                    <a:lumMod val="65000"/>
                    <a:lumOff val="35000"/>
                  </a:prstClr>
                </a:solidFill>
              </a:rPr>
              <a:pPr/>
              <a:t>26/11/2025</a:t>
            </a:fld>
            <a:endParaRPr lang="es-EC" dirty="0">
              <a:solidFill>
                <a:prstClr val="black">
                  <a:lumMod val="65000"/>
                  <a:lumOff val="35000"/>
                </a:prstClr>
              </a:solidFill>
            </a:endParaRP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36</a:t>
            </a:fld>
            <a:endParaRPr lang="es-EC">
              <a:solidFill>
                <a:prstClr val="black">
                  <a:lumMod val="65000"/>
                  <a:lumOff val="35000"/>
                </a:prstClr>
              </a:solidFill>
            </a:endParaRPr>
          </a:p>
        </p:txBody>
      </p:sp>
    </p:spTree>
    <p:extLst>
      <p:ext uri="{BB962C8B-B14F-4D97-AF65-F5344CB8AC3E}">
        <p14:creationId xmlns:p14="http://schemas.microsoft.com/office/powerpoint/2010/main" val="41467272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536195" y="2228949"/>
            <a:ext cx="7719019" cy="1015664"/>
          </a:xfrm>
        </p:spPr>
        <p:txBody>
          <a:bodyPr/>
          <a:lstStyle/>
          <a:p>
            <a:br>
              <a:rPr lang="es-MX" sz="2800" b="1" dirty="0">
                <a:solidFill>
                  <a:srgbClr val="FF0000"/>
                </a:solidFill>
              </a:rPr>
            </a:br>
            <a:r>
              <a:rPr lang="es-MX" sz="2400" b="1" dirty="0"/>
              <a:t> </a:t>
            </a:r>
            <a:br>
              <a:rPr lang="es-MX" sz="2400" b="1" dirty="0"/>
            </a:br>
            <a:r>
              <a:rPr lang="es-MX" sz="4400" b="1" dirty="0"/>
              <a:t>Asignación de Trabajo </a:t>
            </a:r>
            <a:br>
              <a:rPr lang="es-MX" sz="4400" b="1" dirty="0"/>
            </a:br>
            <a:br>
              <a:rPr lang="es-MX" sz="4400" b="1" dirty="0"/>
            </a:br>
            <a:br>
              <a:rPr lang="es-MX" sz="4400" b="1" dirty="0"/>
            </a:br>
            <a:endParaRPr lang="en-US" sz="2400" b="1" dirty="0"/>
          </a:p>
        </p:txBody>
      </p:sp>
      <p:sp>
        <p:nvSpPr>
          <p:cNvPr id="3" name="2 Marcador de fecha"/>
          <p:cNvSpPr>
            <a:spLocks noGrp="1"/>
          </p:cNvSpPr>
          <p:nvPr>
            <p:ph type="dt" sz="half" idx="10"/>
          </p:nvPr>
        </p:nvSpPr>
        <p:spPr/>
        <p:txBody>
          <a:bodyPr/>
          <a:lstStyle/>
          <a:p>
            <a:fld id="{44C3288D-7DAC-4DD2-9022-6C6BA4238517}" type="datetime1">
              <a:rPr lang="es-EC" smtClean="0"/>
              <a:t>26/11/2025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37</a:t>
            </a:fld>
            <a:endParaRPr lang="es-EC"/>
          </a:p>
        </p:txBody>
      </p:sp>
      <p:sp>
        <p:nvSpPr>
          <p:cNvPr id="12" name="4 Marcador de contenido">
            <a:extLst>
              <a:ext uri="{FF2B5EF4-FFF2-40B4-BE49-F238E27FC236}">
                <a16:creationId xmlns:a16="http://schemas.microsoft.com/office/drawing/2014/main" id="{97FC977D-3246-462D-803B-5253E38C74F7}"/>
              </a:ext>
            </a:extLst>
          </p:cNvPr>
          <p:cNvSpPr>
            <a:spLocks noGrp="1"/>
          </p:cNvSpPr>
          <p:nvPr>
            <p:ph idx="1"/>
          </p:nvPr>
        </p:nvSpPr>
        <p:spPr>
          <a:xfrm>
            <a:off x="527281" y="2369548"/>
            <a:ext cx="4204904" cy="3047404"/>
          </a:xfrm>
        </p:spPr>
        <p:txBody>
          <a:bodyPr>
            <a:normAutofit/>
          </a:bodyPr>
          <a:lstStyle/>
          <a:p>
            <a:pPr algn="just"/>
            <a:r>
              <a:rPr lang="es-MX" sz="1600" dirty="0"/>
              <a:t>Esta asignación consiste en recibir el resultado de una operación o fórmula matemática que involucre muchas variables. Esta operación se puede representar mediante pseudocódigo y Lenguaje C/C++ como se indica a continuación:</a:t>
            </a:r>
            <a:endParaRPr lang="es-ES" sz="2000" dirty="0"/>
          </a:p>
        </p:txBody>
      </p:sp>
      <p:pic>
        <p:nvPicPr>
          <p:cNvPr id="4098" name="Picture 2" descr="c++ 20">
            <a:extLst>
              <a:ext uri="{FF2B5EF4-FFF2-40B4-BE49-F238E27FC236}">
                <a16:creationId xmlns:a16="http://schemas.microsoft.com/office/drawing/2014/main" id="{A4E89C3B-F4EF-4F17-BCB3-0C32E198C9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72732" y="1718901"/>
            <a:ext cx="5137636" cy="3420198"/>
          </a:xfrm>
          <a:prstGeom prst="rect">
            <a:avLst/>
          </a:prstGeom>
          <a:noFill/>
          <a:extLst>
            <a:ext uri="{909E8E84-426E-40DD-AFC4-6F175D3DCCD1}">
              <a14:hiddenFill xmlns:a14="http://schemas.microsoft.com/office/drawing/2010/main">
                <a:solidFill>
                  <a:srgbClr val="FFFFFF"/>
                </a:solidFill>
              </a14:hiddenFill>
            </a:ext>
          </a:extLst>
        </p:spPr>
      </p:pic>
      <p:sp>
        <p:nvSpPr>
          <p:cNvPr id="9" name="12 CuadroTexto">
            <a:extLst>
              <a:ext uri="{FF2B5EF4-FFF2-40B4-BE49-F238E27FC236}">
                <a16:creationId xmlns:a16="http://schemas.microsoft.com/office/drawing/2014/main" id="{C6ED635D-AF1B-454B-9F96-4ED0842CAC15}"/>
              </a:ext>
            </a:extLst>
          </p:cNvPr>
          <p:cNvSpPr txBox="1"/>
          <p:nvPr/>
        </p:nvSpPr>
        <p:spPr>
          <a:xfrm>
            <a:off x="5443729" y="5416952"/>
            <a:ext cx="4355976" cy="1015663"/>
          </a:xfrm>
          <a:prstGeom prst="rect">
            <a:avLst/>
          </a:prstGeom>
          <a:noFill/>
        </p:spPr>
        <p:txBody>
          <a:bodyPr wrap="square" rtlCol="0">
            <a:spAutoFit/>
          </a:bodyPr>
          <a:lstStyle/>
          <a:p>
            <a:pPr algn="just"/>
            <a:r>
              <a:rPr lang="es-MX" sz="1200" b="1" dirty="0">
                <a:solidFill>
                  <a:schemeClr val="tx1">
                    <a:lumMod val="50000"/>
                    <a:lumOff val="50000"/>
                  </a:schemeClr>
                </a:solidFill>
                <a:latin typeface="+mj-lt"/>
              </a:rPr>
              <a:t>Imagen 2.3 </a:t>
            </a:r>
            <a:r>
              <a:rPr lang="es-MX" sz="1200" dirty="0">
                <a:solidFill>
                  <a:schemeClr val="tx1">
                    <a:lumMod val="50000"/>
                    <a:lumOff val="50000"/>
                  </a:schemeClr>
                </a:solidFill>
                <a:latin typeface="+mj-lt"/>
              </a:rPr>
              <a:t>Representación del lenguaje C++ en entornos modernos..</a:t>
            </a:r>
          </a:p>
          <a:p>
            <a:r>
              <a:rPr lang="es-MX" sz="1200" dirty="0">
                <a:solidFill>
                  <a:schemeClr val="tx1">
                    <a:lumMod val="50000"/>
                    <a:lumOff val="50000"/>
                  </a:schemeClr>
                </a:solidFill>
                <a:latin typeface="+mj-lt"/>
              </a:rPr>
              <a:t>Fuente: </a:t>
            </a:r>
            <a:r>
              <a:rPr lang="es-EC" sz="1200" dirty="0" err="1">
                <a:solidFill>
                  <a:schemeClr val="tx1">
                    <a:lumMod val="50000"/>
                    <a:lumOff val="50000"/>
                  </a:schemeClr>
                </a:solidFill>
                <a:latin typeface="+mj-lt"/>
              </a:rPr>
              <a:t>Incredibuild</a:t>
            </a:r>
            <a:r>
              <a:rPr lang="es-EC" sz="1200" dirty="0">
                <a:solidFill>
                  <a:schemeClr val="tx1">
                    <a:lumMod val="50000"/>
                    <a:lumOff val="50000"/>
                  </a:schemeClr>
                </a:solidFill>
                <a:latin typeface="+mj-lt"/>
              </a:rPr>
              <a:t>, 2025.</a:t>
            </a:r>
            <a:endParaRPr lang="es-MX" sz="1200" dirty="0">
              <a:solidFill>
                <a:schemeClr val="tx1">
                  <a:lumMod val="50000"/>
                  <a:lumOff val="50000"/>
                </a:schemeClr>
              </a:solidFill>
              <a:latin typeface="+mj-lt"/>
            </a:endParaRPr>
          </a:p>
          <a:p>
            <a:pPr algn="just"/>
            <a:endParaRPr lang="es-MX" sz="1200" dirty="0">
              <a:solidFill>
                <a:schemeClr val="tx1">
                  <a:lumMod val="50000"/>
                  <a:lumOff val="50000"/>
                </a:schemeClr>
              </a:solidFill>
              <a:latin typeface="+mj-lt"/>
            </a:endParaRPr>
          </a:p>
          <a:p>
            <a:pPr algn="ctr"/>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2100228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fontScale="85000" lnSpcReduction="20000"/>
          </a:bodyPr>
          <a:lstStyle/>
          <a:p>
            <a:pPr lvl="1"/>
            <a:r>
              <a:rPr lang="es-MX" sz="1700" dirty="0"/>
              <a:t>Estructuras de Control Secuenciales. </a:t>
            </a:r>
          </a:p>
          <a:p>
            <a:pPr lvl="1"/>
            <a:r>
              <a:rPr lang="es-MX" sz="1700" dirty="0"/>
              <a:t>Escritura. </a:t>
            </a:r>
          </a:p>
          <a:p>
            <a:pPr lvl="1"/>
            <a:r>
              <a:rPr lang="es-MX" sz="1700" dirty="0"/>
              <a:t>Lectura </a:t>
            </a:r>
          </a:p>
          <a:p>
            <a:pPr lvl="1"/>
            <a:r>
              <a:rPr lang="es-MX" sz="1700" dirty="0"/>
              <a:t>Problema 2.1. (Aplicación de estructuras de control secuenciales de escritura y lectura).</a:t>
            </a:r>
          </a:p>
          <a:p>
            <a:pPr lvl="1"/>
            <a:r>
              <a:rPr lang="es-MX" sz="1700" dirty="0"/>
              <a:t>Asignación. </a:t>
            </a:r>
          </a:p>
          <a:p>
            <a:pPr lvl="1"/>
            <a:r>
              <a:rPr lang="es-MX" sz="1700" dirty="0"/>
              <a:t>Asignación Simple </a:t>
            </a:r>
          </a:p>
          <a:p>
            <a:pPr lvl="1"/>
            <a:r>
              <a:rPr lang="es-MX" sz="1700" dirty="0"/>
              <a:t>Problema 2.2. (Aplicación de estructuras de control secuenciales de asignación simple). </a:t>
            </a:r>
          </a:p>
          <a:p>
            <a:pPr lvl="1"/>
            <a:r>
              <a:rPr lang="es-MX" sz="1700" dirty="0"/>
              <a:t>Asignación Contador </a:t>
            </a:r>
          </a:p>
          <a:p>
            <a:pPr lvl="1"/>
            <a:r>
              <a:rPr lang="es-MX" sz="1700" dirty="0"/>
              <a:t>Problema 2.3. (Aplicación de estructuras de control secuenciales de asignación contador). </a:t>
            </a:r>
          </a:p>
          <a:p>
            <a:pPr lvl="1"/>
            <a:r>
              <a:rPr lang="es-MX" sz="1700" dirty="0"/>
              <a:t>Asignación Acumulador </a:t>
            </a:r>
          </a:p>
          <a:p>
            <a:pPr lvl="1"/>
            <a:r>
              <a:rPr lang="es-MX" sz="1700" dirty="0"/>
              <a:t>Problema 2.4. (Aplicación de estructuras de control secuenciales de asignación acumulador tipo sumas) </a:t>
            </a:r>
          </a:p>
          <a:p>
            <a:pPr lvl="1"/>
            <a:r>
              <a:rPr lang="es-MX" sz="1700" dirty="0"/>
              <a:t>Problema 2.5. (Aplicación de estructuras de control secuenciales de asignación acumulador tipo productos) . </a:t>
            </a:r>
          </a:p>
          <a:p>
            <a:pPr lvl="1"/>
            <a:r>
              <a:rPr lang="es-MX" sz="1700" dirty="0"/>
              <a:t>Asignación de Trabajo </a:t>
            </a:r>
          </a:p>
          <a:p>
            <a:pPr lvl="1"/>
            <a:r>
              <a:rPr lang="es-MX" sz="3300" b="1" dirty="0">
                <a:solidFill>
                  <a:srgbClr val="FF0000"/>
                </a:solidFill>
              </a:rPr>
              <a:t>Problema 2.6. (Aplicación de estructuras de control secuenciales de asignación de trabajo) </a:t>
            </a:r>
          </a:p>
          <a:p>
            <a:pPr lvl="1"/>
            <a:r>
              <a:rPr lang="es-MX" sz="1700" dirty="0"/>
              <a:t>Caso de Estudio 2.1: Encontrar el Perímetro y el Área de un Circulo </a:t>
            </a:r>
          </a:p>
          <a:p>
            <a:pPr lvl="1"/>
            <a:r>
              <a:rPr lang="es-MX" sz="1700" dirty="0"/>
              <a:t>Caso de Estudio 2.2: Encontrar el Perímetro y el Área de un Rectángulo </a:t>
            </a:r>
          </a:p>
          <a:p>
            <a:pPr lvl="1"/>
            <a:r>
              <a:rPr lang="es-MX" sz="1700" dirty="0"/>
              <a:t>Caso de Estudio 2.3: Encontrar la Generatriz, el Área y el Volumen de un Cono </a:t>
            </a:r>
          </a:p>
          <a:p>
            <a:pPr lvl="1"/>
            <a:r>
              <a:rPr lang="es-MX" sz="1700" dirty="0"/>
              <a:t>Caso de Estudio 2.4: Encontrar la distancia, tiempo de vuelo y la altura alcanzada por un proyectil </a:t>
            </a:r>
            <a:endParaRPr lang="es-419" sz="1700" dirty="0"/>
          </a:p>
        </p:txBody>
      </p:sp>
      <p:sp>
        <p:nvSpPr>
          <p:cNvPr id="5" name="4 Marcador de fecha"/>
          <p:cNvSpPr>
            <a:spLocks noGrp="1"/>
          </p:cNvSpPr>
          <p:nvPr>
            <p:ph type="dt" sz="half" idx="10"/>
          </p:nvPr>
        </p:nvSpPr>
        <p:spPr/>
        <p:txBody>
          <a:bodyPr/>
          <a:lstStyle/>
          <a:p>
            <a:fld id="{85E4E129-A937-4BEE-8A17-D7969DFE55C2}" type="datetime1">
              <a:rPr lang="es-EC">
                <a:solidFill>
                  <a:prstClr val="black">
                    <a:lumMod val="65000"/>
                    <a:lumOff val="35000"/>
                  </a:prstClr>
                </a:solidFill>
              </a:rPr>
              <a:pPr/>
              <a:t>26/11/2025</a:t>
            </a:fld>
            <a:endParaRPr lang="es-EC" dirty="0">
              <a:solidFill>
                <a:prstClr val="black">
                  <a:lumMod val="65000"/>
                  <a:lumOff val="35000"/>
                </a:prstClr>
              </a:solidFill>
            </a:endParaRP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38</a:t>
            </a:fld>
            <a:endParaRPr lang="es-EC">
              <a:solidFill>
                <a:prstClr val="black">
                  <a:lumMod val="65000"/>
                  <a:lumOff val="35000"/>
                </a:prstClr>
              </a:solidFill>
            </a:endParaRPr>
          </a:p>
        </p:txBody>
      </p:sp>
    </p:spTree>
    <p:extLst>
      <p:ext uri="{BB962C8B-B14F-4D97-AF65-F5344CB8AC3E}">
        <p14:creationId xmlns:p14="http://schemas.microsoft.com/office/powerpoint/2010/main" val="17150883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629733" y="3931589"/>
            <a:ext cx="7719019" cy="1015664"/>
          </a:xfrm>
        </p:spPr>
        <p:txBody>
          <a:bodyPr/>
          <a:lstStyle/>
          <a:p>
            <a:br>
              <a:rPr lang="es-MX" sz="2800" b="1" dirty="0">
                <a:solidFill>
                  <a:srgbClr val="FF0000"/>
                </a:solidFill>
              </a:rPr>
            </a:br>
            <a:r>
              <a:rPr lang="es-MX" sz="2400" b="1" dirty="0"/>
              <a:t> </a:t>
            </a:r>
            <a:br>
              <a:rPr lang="es-MX" sz="2400" b="1" dirty="0"/>
            </a:br>
            <a:r>
              <a:rPr lang="es-MX" sz="3200" b="1" dirty="0"/>
              <a:t>Problema 2.6. (Aplicación de estructuras de control secuenciales de asignación de trabajo) </a:t>
            </a:r>
            <a:br>
              <a:rPr lang="es-MX" sz="3200" b="1" dirty="0">
                <a:solidFill>
                  <a:srgbClr val="FF0000"/>
                </a:solidFill>
              </a:rPr>
            </a:br>
            <a:r>
              <a:rPr lang="es-MX" sz="3200" b="1" dirty="0"/>
              <a:t> </a:t>
            </a:r>
            <a:br>
              <a:rPr lang="es-MX" sz="3200" b="1" dirty="0"/>
            </a:br>
            <a:br>
              <a:rPr lang="es-MX" sz="3200" b="1" dirty="0"/>
            </a:br>
            <a:br>
              <a:rPr lang="es-MX" sz="3200" b="1" dirty="0"/>
            </a:br>
            <a:endParaRPr lang="en-US" sz="2400" b="1" dirty="0"/>
          </a:p>
        </p:txBody>
      </p:sp>
      <p:sp>
        <p:nvSpPr>
          <p:cNvPr id="3" name="2 Marcador de fecha"/>
          <p:cNvSpPr>
            <a:spLocks noGrp="1"/>
          </p:cNvSpPr>
          <p:nvPr>
            <p:ph type="dt" sz="half" idx="10"/>
          </p:nvPr>
        </p:nvSpPr>
        <p:spPr/>
        <p:txBody>
          <a:bodyPr/>
          <a:lstStyle/>
          <a:p>
            <a:fld id="{44C3288D-7DAC-4DD2-9022-6C6BA4238517}" type="datetime1">
              <a:rPr lang="es-EC" smtClean="0"/>
              <a:t>26/11/2025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39</a:t>
            </a:fld>
            <a:endParaRPr lang="es-EC"/>
          </a:p>
        </p:txBody>
      </p:sp>
      <p:sp>
        <p:nvSpPr>
          <p:cNvPr id="12" name="4 Marcador de contenido">
            <a:extLst>
              <a:ext uri="{FF2B5EF4-FFF2-40B4-BE49-F238E27FC236}">
                <a16:creationId xmlns:a16="http://schemas.microsoft.com/office/drawing/2014/main" id="{97FC977D-3246-462D-803B-5253E38C74F7}"/>
              </a:ext>
            </a:extLst>
          </p:cNvPr>
          <p:cNvSpPr>
            <a:spLocks noGrp="1"/>
          </p:cNvSpPr>
          <p:nvPr>
            <p:ph idx="1"/>
          </p:nvPr>
        </p:nvSpPr>
        <p:spPr>
          <a:xfrm>
            <a:off x="527281" y="2369548"/>
            <a:ext cx="4204904" cy="3047404"/>
          </a:xfrm>
        </p:spPr>
        <p:txBody>
          <a:bodyPr>
            <a:normAutofit/>
          </a:bodyPr>
          <a:lstStyle/>
          <a:p>
            <a:pPr algn="just"/>
            <a:r>
              <a:rPr lang="es-MX" sz="1600" dirty="0"/>
              <a:t>Escribir un programa que permita probar la siguiente expresión matemática: 𝑉 = 𝑎𝑏𝑐, que corresponde al volumen de un paralelepípedo, para lo cual se deben utilizar tres variables, donde las variables ‘a’, ‘b’ y ‘c’ tienen los siguientes valores de 5, 2 y 7 respectivamente.</a:t>
            </a:r>
            <a:endParaRPr lang="es-ES" sz="2000" dirty="0"/>
          </a:p>
        </p:txBody>
      </p:sp>
      <p:pic>
        <p:nvPicPr>
          <p:cNvPr id="5" name="Imagen 4">
            <a:extLst>
              <a:ext uri="{FF2B5EF4-FFF2-40B4-BE49-F238E27FC236}">
                <a16:creationId xmlns:a16="http://schemas.microsoft.com/office/drawing/2014/main" id="{10FEC7F2-AAE2-4389-BBC7-37567D825EA6}"/>
              </a:ext>
            </a:extLst>
          </p:cNvPr>
          <p:cNvPicPr>
            <a:picLocks noChangeAspect="1"/>
          </p:cNvPicPr>
          <p:nvPr/>
        </p:nvPicPr>
        <p:blipFill>
          <a:blip r:embed="rId2"/>
          <a:stretch>
            <a:fillRect/>
          </a:stretch>
        </p:blipFill>
        <p:spPr>
          <a:xfrm>
            <a:off x="4949807" y="2347309"/>
            <a:ext cx="6315956" cy="3370585"/>
          </a:xfrm>
          <a:prstGeom prst="rect">
            <a:avLst/>
          </a:prstGeom>
        </p:spPr>
      </p:pic>
    </p:spTree>
    <p:extLst>
      <p:ext uri="{BB962C8B-B14F-4D97-AF65-F5344CB8AC3E}">
        <p14:creationId xmlns:p14="http://schemas.microsoft.com/office/powerpoint/2010/main" val="13039814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629733" y="3931589"/>
            <a:ext cx="7719019" cy="1015664"/>
          </a:xfrm>
        </p:spPr>
        <p:txBody>
          <a:bodyPr/>
          <a:lstStyle/>
          <a:p>
            <a:br>
              <a:rPr lang="es-MX" sz="2800" b="1" dirty="0">
                <a:solidFill>
                  <a:srgbClr val="FF0000"/>
                </a:solidFill>
              </a:rPr>
            </a:br>
            <a:r>
              <a:rPr lang="es-MX" sz="2400" b="1" dirty="0"/>
              <a:t> </a:t>
            </a:r>
            <a:br>
              <a:rPr lang="es-MX" sz="2400" b="1" dirty="0"/>
            </a:br>
            <a:r>
              <a:rPr lang="es-MX" sz="3200" b="1" dirty="0"/>
              <a:t>Problema 2.6. (Aplicación de estructuras de control secuenciales de asignación de trabajo) </a:t>
            </a:r>
            <a:br>
              <a:rPr lang="es-MX" sz="3200" b="1" dirty="0">
                <a:solidFill>
                  <a:srgbClr val="FF0000"/>
                </a:solidFill>
              </a:rPr>
            </a:br>
            <a:r>
              <a:rPr lang="es-MX" sz="3200" b="1" dirty="0"/>
              <a:t> </a:t>
            </a:r>
            <a:br>
              <a:rPr lang="es-MX" sz="3200" b="1" dirty="0"/>
            </a:br>
            <a:br>
              <a:rPr lang="es-MX" sz="3200" b="1" dirty="0"/>
            </a:br>
            <a:br>
              <a:rPr lang="es-MX" sz="3200" b="1" dirty="0"/>
            </a:br>
            <a:endParaRPr lang="en-US" sz="2400" b="1" dirty="0"/>
          </a:p>
        </p:txBody>
      </p:sp>
      <p:sp>
        <p:nvSpPr>
          <p:cNvPr id="3" name="2 Marcador de fecha"/>
          <p:cNvSpPr>
            <a:spLocks noGrp="1"/>
          </p:cNvSpPr>
          <p:nvPr>
            <p:ph type="dt" sz="half" idx="10"/>
          </p:nvPr>
        </p:nvSpPr>
        <p:spPr/>
        <p:txBody>
          <a:bodyPr/>
          <a:lstStyle/>
          <a:p>
            <a:fld id="{44C3288D-7DAC-4DD2-9022-6C6BA4238517}" type="datetime1">
              <a:rPr lang="es-EC" smtClean="0"/>
              <a:t>26/11/2025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40</a:t>
            </a:fld>
            <a:endParaRPr lang="es-EC"/>
          </a:p>
        </p:txBody>
      </p:sp>
      <p:pic>
        <p:nvPicPr>
          <p:cNvPr id="9" name="Imagen 8">
            <a:extLst>
              <a:ext uri="{FF2B5EF4-FFF2-40B4-BE49-F238E27FC236}">
                <a16:creationId xmlns:a16="http://schemas.microsoft.com/office/drawing/2014/main" id="{C333044D-2967-490A-914F-E2BCF5D0A786}"/>
              </a:ext>
            </a:extLst>
          </p:cNvPr>
          <p:cNvPicPr>
            <a:picLocks noChangeAspect="1"/>
          </p:cNvPicPr>
          <p:nvPr/>
        </p:nvPicPr>
        <p:blipFill>
          <a:blip r:embed="rId2"/>
          <a:stretch>
            <a:fillRect/>
          </a:stretch>
        </p:blipFill>
        <p:spPr>
          <a:xfrm>
            <a:off x="1843248" y="1950901"/>
            <a:ext cx="5853917" cy="2314898"/>
          </a:xfrm>
          <a:prstGeom prst="rect">
            <a:avLst/>
          </a:prstGeom>
        </p:spPr>
      </p:pic>
      <p:pic>
        <p:nvPicPr>
          <p:cNvPr id="11" name="Imagen 10">
            <a:extLst>
              <a:ext uri="{FF2B5EF4-FFF2-40B4-BE49-F238E27FC236}">
                <a16:creationId xmlns:a16="http://schemas.microsoft.com/office/drawing/2014/main" id="{88199B86-3DB0-4726-8337-B6A410322D0E}"/>
              </a:ext>
            </a:extLst>
          </p:cNvPr>
          <p:cNvPicPr>
            <a:picLocks noChangeAspect="1"/>
          </p:cNvPicPr>
          <p:nvPr/>
        </p:nvPicPr>
        <p:blipFill>
          <a:blip r:embed="rId3"/>
          <a:stretch>
            <a:fillRect/>
          </a:stretch>
        </p:blipFill>
        <p:spPr>
          <a:xfrm>
            <a:off x="2036432" y="4260088"/>
            <a:ext cx="5896798" cy="2181529"/>
          </a:xfrm>
          <a:prstGeom prst="rect">
            <a:avLst/>
          </a:prstGeom>
        </p:spPr>
      </p:pic>
      <p:sp>
        <p:nvSpPr>
          <p:cNvPr id="13" name="CuadroTexto 12">
            <a:extLst>
              <a:ext uri="{FF2B5EF4-FFF2-40B4-BE49-F238E27FC236}">
                <a16:creationId xmlns:a16="http://schemas.microsoft.com/office/drawing/2014/main" id="{2937A740-3625-4614-8E60-5897562B1094}"/>
              </a:ext>
            </a:extLst>
          </p:cNvPr>
          <p:cNvSpPr txBox="1"/>
          <p:nvPr/>
        </p:nvSpPr>
        <p:spPr>
          <a:xfrm>
            <a:off x="2377962" y="6356351"/>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Programa 2.5</a:t>
            </a:r>
            <a:r>
              <a:rPr lang="es-ES" sz="1200" dirty="0">
                <a:solidFill>
                  <a:schemeClr val="tx1">
                    <a:lumMod val="50000"/>
                    <a:lumOff val="50000"/>
                  </a:schemeClr>
                </a:solidFill>
                <a:latin typeface="+mj-lt"/>
              </a:rPr>
              <a:t>. Código del Programa.</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402399209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629733" y="3931589"/>
            <a:ext cx="7719019" cy="1015664"/>
          </a:xfrm>
        </p:spPr>
        <p:txBody>
          <a:bodyPr/>
          <a:lstStyle/>
          <a:p>
            <a:br>
              <a:rPr lang="es-MX" sz="2800" b="1" dirty="0">
                <a:solidFill>
                  <a:srgbClr val="FF0000"/>
                </a:solidFill>
              </a:rPr>
            </a:br>
            <a:r>
              <a:rPr lang="es-MX" sz="2400" b="1" dirty="0"/>
              <a:t> </a:t>
            </a:r>
            <a:br>
              <a:rPr lang="es-MX" sz="2400" b="1" dirty="0"/>
            </a:br>
            <a:r>
              <a:rPr lang="es-MX" sz="3200" b="1" dirty="0"/>
              <a:t>Problema 2.6. (Aplicación de estructuras de control secuenciales de asignación de trabajo) </a:t>
            </a:r>
            <a:br>
              <a:rPr lang="es-MX" sz="3200" b="1" dirty="0">
                <a:solidFill>
                  <a:srgbClr val="FF0000"/>
                </a:solidFill>
              </a:rPr>
            </a:br>
            <a:r>
              <a:rPr lang="es-MX" sz="3200" b="1" dirty="0"/>
              <a:t> </a:t>
            </a:r>
            <a:br>
              <a:rPr lang="es-MX" sz="3200" b="1" dirty="0"/>
            </a:br>
            <a:br>
              <a:rPr lang="es-MX" sz="3200" b="1" dirty="0"/>
            </a:br>
            <a:br>
              <a:rPr lang="es-MX" sz="3200" b="1" dirty="0"/>
            </a:br>
            <a:endParaRPr lang="en-US" sz="2400" b="1" dirty="0"/>
          </a:p>
        </p:txBody>
      </p:sp>
      <p:sp>
        <p:nvSpPr>
          <p:cNvPr id="3" name="2 Marcador de fecha"/>
          <p:cNvSpPr>
            <a:spLocks noGrp="1"/>
          </p:cNvSpPr>
          <p:nvPr>
            <p:ph type="dt" sz="half" idx="10"/>
          </p:nvPr>
        </p:nvSpPr>
        <p:spPr/>
        <p:txBody>
          <a:bodyPr/>
          <a:lstStyle/>
          <a:p>
            <a:fld id="{44C3288D-7DAC-4DD2-9022-6C6BA4238517}" type="datetime1">
              <a:rPr lang="es-EC" smtClean="0"/>
              <a:t>26/11/2025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41</a:t>
            </a:fld>
            <a:endParaRPr lang="es-EC"/>
          </a:p>
        </p:txBody>
      </p:sp>
      <p:sp>
        <p:nvSpPr>
          <p:cNvPr id="12" name="4 Marcador de contenido">
            <a:extLst>
              <a:ext uri="{FF2B5EF4-FFF2-40B4-BE49-F238E27FC236}">
                <a16:creationId xmlns:a16="http://schemas.microsoft.com/office/drawing/2014/main" id="{97FC977D-3246-462D-803B-5253E38C74F7}"/>
              </a:ext>
            </a:extLst>
          </p:cNvPr>
          <p:cNvSpPr>
            <a:spLocks noGrp="1"/>
          </p:cNvSpPr>
          <p:nvPr>
            <p:ph idx="1"/>
          </p:nvPr>
        </p:nvSpPr>
        <p:spPr>
          <a:xfrm>
            <a:off x="527281" y="2369548"/>
            <a:ext cx="4204904" cy="3047404"/>
          </a:xfrm>
        </p:spPr>
        <p:txBody>
          <a:bodyPr>
            <a:normAutofit/>
          </a:bodyPr>
          <a:lstStyle/>
          <a:p>
            <a:pPr algn="just"/>
            <a:r>
              <a:rPr lang="es-MX" sz="1600" dirty="0"/>
              <a:t>La Ejecución 2.6, correspondiente a la salida del programa, muestra que el valor de la expresión matemática evaluada es igual a 38.</a:t>
            </a:r>
            <a:endParaRPr lang="es-ES" sz="2000" dirty="0"/>
          </a:p>
        </p:txBody>
      </p:sp>
      <p:pic>
        <p:nvPicPr>
          <p:cNvPr id="7" name="Imagen 6">
            <a:extLst>
              <a:ext uri="{FF2B5EF4-FFF2-40B4-BE49-F238E27FC236}">
                <a16:creationId xmlns:a16="http://schemas.microsoft.com/office/drawing/2014/main" id="{BF33D43A-281E-448E-8065-9D03E067C06F}"/>
              </a:ext>
            </a:extLst>
          </p:cNvPr>
          <p:cNvPicPr>
            <a:picLocks noChangeAspect="1"/>
          </p:cNvPicPr>
          <p:nvPr/>
        </p:nvPicPr>
        <p:blipFill>
          <a:blip r:embed="rId2"/>
          <a:stretch>
            <a:fillRect/>
          </a:stretch>
        </p:blipFill>
        <p:spPr>
          <a:xfrm>
            <a:off x="918786" y="3645360"/>
            <a:ext cx="6541031" cy="1588121"/>
          </a:xfrm>
          <a:prstGeom prst="rect">
            <a:avLst/>
          </a:prstGeom>
        </p:spPr>
      </p:pic>
      <p:sp>
        <p:nvSpPr>
          <p:cNvPr id="9" name="CuadroTexto 8">
            <a:extLst>
              <a:ext uri="{FF2B5EF4-FFF2-40B4-BE49-F238E27FC236}">
                <a16:creationId xmlns:a16="http://schemas.microsoft.com/office/drawing/2014/main" id="{6067BD95-090B-4059-BC6A-EFCE028B9D79}"/>
              </a:ext>
            </a:extLst>
          </p:cNvPr>
          <p:cNvSpPr txBox="1"/>
          <p:nvPr/>
        </p:nvSpPr>
        <p:spPr>
          <a:xfrm>
            <a:off x="918786" y="5519710"/>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Ejecución 2.6.</a:t>
            </a:r>
            <a:r>
              <a:rPr lang="es-ES" sz="1200" dirty="0">
                <a:solidFill>
                  <a:schemeClr val="tx1">
                    <a:lumMod val="50000"/>
                    <a:lumOff val="50000"/>
                  </a:schemeClr>
                </a:solidFill>
                <a:latin typeface="+mj-lt"/>
              </a:rPr>
              <a:t> Salida  del Programa.</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344641525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fontScale="85000" lnSpcReduction="20000"/>
          </a:bodyPr>
          <a:lstStyle/>
          <a:p>
            <a:pPr lvl="1"/>
            <a:r>
              <a:rPr lang="es-MX" sz="1700" dirty="0"/>
              <a:t>Estructuras de Control Secuenciales. </a:t>
            </a:r>
          </a:p>
          <a:p>
            <a:pPr lvl="1"/>
            <a:r>
              <a:rPr lang="es-MX" sz="1700" dirty="0"/>
              <a:t>Escritura. </a:t>
            </a:r>
          </a:p>
          <a:p>
            <a:pPr lvl="1"/>
            <a:r>
              <a:rPr lang="es-MX" sz="1700" dirty="0"/>
              <a:t>Lectura </a:t>
            </a:r>
          </a:p>
          <a:p>
            <a:pPr lvl="1"/>
            <a:r>
              <a:rPr lang="es-MX" sz="1700" dirty="0"/>
              <a:t>Problema 2.1. (Aplicación de estructuras de control secuenciales de escritura y lectura).</a:t>
            </a:r>
          </a:p>
          <a:p>
            <a:pPr lvl="1"/>
            <a:r>
              <a:rPr lang="es-MX" sz="1700" dirty="0"/>
              <a:t>Asignación. </a:t>
            </a:r>
          </a:p>
          <a:p>
            <a:pPr lvl="1"/>
            <a:r>
              <a:rPr lang="es-MX" sz="1700" dirty="0"/>
              <a:t>Asignación Simple </a:t>
            </a:r>
          </a:p>
          <a:p>
            <a:pPr lvl="1"/>
            <a:r>
              <a:rPr lang="es-MX" sz="1700" dirty="0"/>
              <a:t>Problema 2.2. (Aplicación de estructuras de control secuenciales de asignación simple). </a:t>
            </a:r>
          </a:p>
          <a:p>
            <a:pPr lvl="1"/>
            <a:r>
              <a:rPr lang="es-MX" sz="1700" dirty="0"/>
              <a:t>Asignación Contador </a:t>
            </a:r>
          </a:p>
          <a:p>
            <a:pPr lvl="1"/>
            <a:r>
              <a:rPr lang="es-MX" sz="1700" dirty="0"/>
              <a:t>Problema 2.3. (Aplicación de estructuras de control secuenciales de asignación contador). </a:t>
            </a:r>
          </a:p>
          <a:p>
            <a:pPr lvl="1"/>
            <a:r>
              <a:rPr lang="es-MX" sz="1700" dirty="0"/>
              <a:t>Asignación Acumulador </a:t>
            </a:r>
          </a:p>
          <a:p>
            <a:pPr lvl="1"/>
            <a:r>
              <a:rPr lang="es-MX" sz="1700" dirty="0"/>
              <a:t>Problema 2.4. (Aplicación de estructuras de control secuenciales de asignación acumulador tipo sumas) </a:t>
            </a:r>
          </a:p>
          <a:p>
            <a:pPr lvl="1"/>
            <a:r>
              <a:rPr lang="es-MX" sz="1700" dirty="0"/>
              <a:t>Problema 2.5. (Aplicación de estructuras de control secuenciales de asignación acumulador tipo productos) . </a:t>
            </a:r>
          </a:p>
          <a:p>
            <a:pPr lvl="1"/>
            <a:r>
              <a:rPr lang="es-MX" sz="1700" dirty="0"/>
              <a:t>Asignación de Trabajo </a:t>
            </a:r>
          </a:p>
          <a:p>
            <a:pPr lvl="1"/>
            <a:r>
              <a:rPr lang="es-MX" sz="1700" dirty="0"/>
              <a:t>Problema 2.6. (Aplicación de estructuras de control secuenciales de asignación de trabajo) </a:t>
            </a:r>
          </a:p>
          <a:p>
            <a:pPr lvl="1"/>
            <a:r>
              <a:rPr lang="es-MX" sz="3300" b="1" dirty="0">
                <a:solidFill>
                  <a:srgbClr val="FF0000"/>
                </a:solidFill>
              </a:rPr>
              <a:t>Caso de Estudio 2.1: Encontrar el Perímetro y el Área de un Circulo </a:t>
            </a:r>
          </a:p>
          <a:p>
            <a:pPr lvl="1"/>
            <a:r>
              <a:rPr lang="es-MX" sz="1700" dirty="0"/>
              <a:t>Caso de Estudio 2.2: Encontrar el Perímetro y el Área de un Rectángulo </a:t>
            </a:r>
          </a:p>
          <a:p>
            <a:pPr lvl="1"/>
            <a:r>
              <a:rPr lang="es-MX" sz="1700" dirty="0"/>
              <a:t>Caso de Estudio 2.3: Encontrar la Generatriz, el Área y el Volumen de un Cono </a:t>
            </a:r>
          </a:p>
          <a:p>
            <a:pPr lvl="1"/>
            <a:r>
              <a:rPr lang="es-MX" sz="1700" dirty="0"/>
              <a:t>Caso de Estudio 2.4: Encontrar la distancia, tiempo de vuelo y la altura alcanzada por un proyectil </a:t>
            </a:r>
            <a:endParaRPr lang="es-419" sz="1700" dirty="0"/>
          </a:p>
        </p:txBody>
      </p:sp>
      <p:sp>
        <p:nvSpPr>
          <p:cNvPr id="5" name="4 Marcador de fecha"/>
          <p:cNvSpPr>
            <a:spLocks noGrp="1"/>
          </p:cNvSpPr>
          <p:nvPr>
            <p:ph type="dt" sz="half" idx="10"/>
          </p:nvPr>
        </p:nvSpPr>
        <p:spPr/>
        <p:txBody>
          <a:bodyPr/>
          <a:lstStyle/>
          <a:p>
            <a:fld id="{85E4E129-A937-4BEE-8A17-D7969DFE55C2}" type="datetime1">
              <a:rPr lang="es-EC">
                <a:solidFill>
                  <a:prstClr val="black">
                    <a:lumMod val="65000"/>
                    <a:lumOff val="35000"/>
                  </a:prstClr>
                </a:solidFill>
              </a:rPr>
              <a:pPr/>
              <a:t>26/11/2025</a:t>
            </a:fld>
            <a:endParaRPr lang="es-EC" dirty="0">
              <a:solidFill>
                <a:prstClr val="black">
                  <a:lumMod val="65000"/>
                  <a:lumOff val="35000"/>
                </a:prstClr>
              </a:solidFill>
            </a:endParaRP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42</a:t>
            </a:fld>
            <a:endParaRPr lang="es-EC">
              <a:solidFill>
                <a:prstClr val="black">
                  <a:lumMod val="65000"/>
                  <a:lumOff val="35000"/>
                </a:prstClr>
              </a:solidFill>
            </a:endParaRPr>
          </a:p>
        </p:txBody>
      </p:sp>
    </p:spTree>
    <p:extLst>
      <p:ext uri="{BB962C8B-B14F-4D97-AF65-F5344CB8AC3E}">
        <p14:creationId xmlns:p14="http://schemas.microsoft.com/office/powerpoint/2010/main" val="400903650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629733" y="3931589"/>
            <a:ext cx="7719019" cy="1015664"/>
          </a:xfrm>
        </p:spPr>
        <p:txBody>
          <a:bodyPr/>
          <a:lstStyle/>
          <a:p>
            <a:r>
              <a:rPr lang="es-MX" sz="3200" b="1" dirty="0"/>
              <a:t>Caso de Estudio 2.1: Encontrar el Perímetro y el Área de un Circulo </a:t>
            </a:r>
            <a:br>
              <a:rPr lang="es-MX" sz="3200" b="1" dirty="0">
                <a:solidFill>
                  <a:srgbClr val="FF0000"/>
                </a:solidFill>
              </a:rPr>
            </a:br>
            <a:br>
              <a:rPr lang="es-MX" sz="3200" b="1" dirty="0">
                <a:solidFill>
                  <a:srgbClr val="FF0000"/>
                </a:solidFill>
              </a:rPr>
            </a:br>
            <a:r>
              <a:rPr lang="es-MX" sz="3200" b="1" dirty="0"/>
              <a:t> </a:t>
            </a:r>
            <a:br>
              <a:rPr lang="es-MX" sz="3200" b="1" dirty="0"/>
            </a:br>
            <a:br>
              <a:rPr lang="es-MX" sz="3200" b="1" dirty="0"/>
            </a:br>
            <a:br>
              <a:rPr lang="es-MX" sz="3200" b="1" dirty="0"/>
            </a:br>
            <a:endParaRPr lang="en-US" sz="2400" b="1" dirty="0"/>
          </a:p>
        </p:txBody>
      </p:sp>
      <p:sp>
        <p:nvSpPr>
          <p:cNvPr id="3" name="2 Marcador de fecha"/>
          <p:cNvSpPr>
            <a:spLocks noGrp="1"/>
          </p:cNvSpPr>
          <p:nvPr>
            <p:ph type="dt" sz="half" idx="10"/>
          </p:nvPr>
        </p:nvSpPr>
        <p:spPr/>
        <p:txBody>
          <a:bodyPr/>
          <a:lstStyle/>
          <a:p>
            <a:fld id="{44C3288D-7DAC-4DD2-9022-6C6BA4238517}" type="datetime1">
              <a:rPr lang="es-EC" smtClean="0"/>
              <a:t>26/11/2025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43</a:t>
            </a:fld>
            <a:endParaRPr lang="es-EC"/>
          </a:p>
        </p:txBody>
      </p:sp>
      <p:sp>
        <p:nvSpPr>
          <p:cNvPr id="12" name="4 Marcador de contenido">
            <a:extLst>
              <a:ext uri="{FF2B5EF4-FFF2-40B4-BE49-F238E27FC236}">
                <a16:creationId xmlns:a16="http://schemas.microsoft.com/office/drawing/2014/main" id="{97FC977D-3246-462D-803B-5253E38C74F7}"/>
              </a:ext>
            </a:extLst>
          </p:cNvPr>
          <p:cNvSpPr>
            <a:spLocks noGrp="1"/>
          </p:cNvSpPr>
          <p:nvPr>
            <p:ph idx="1"/>
          </p:nvPr>
        </p:nvSpPr>
        <p:spPr>
          <a:xfrm>
            <a:off x="527281" y="2369548"/>
            <a:ext cx="4204904" cy="3047404"/>
          </a:xfrm>
        </p:spPr>
        <p:txBody>
          <a:bodyPr>
            <a:normAutofit/>
          </a:bodyPr>
          <a:lstStyle/>
          <a:p>
            <a:pPr algn="just"/>
            <a:r>
              <a:rPr lang="es-MX" sz="1600" dirty="0"/>
              <a:t>A) Problema</a:t>
            </a:r>
          </a:p>
          <a:p>
            <a:pPr marL="0" indent="0" algn="just">
              <a:buNone/>
            </a:pPr>
            <a:endParaRPr lang="es-MX" sz="1600" dirty="0"/>
          </a:p>
          <a:p>
            <a:pPr marL="0" indent="0" algn="just">
              <a:buNone/>
            </a:pPr>
            <a:r>
              <a:rPr lang="es-MX" sz="1600" dirty="0"/>
              <a:t> Escribir un programa para calcular e imprimir el perímetro y el área de un círculo. (Ver Figura 2.1.1)</a:t>
            </a:r>
            <a:endParaRPr lang="es-ES" sz="2000" dirty="0"/>
          </a:p>
        </p:txBody>
      </p:sp>
      <p:pic>
        <p:nvPicPr>
          <p:cNvPr id="5" name="Imagen 4">
            <a:extLst>
              <a:ext uri="{FF2B5EF4-FFF2-40B4-BE49-F238E27FC236}">
                <a16:creationId xmlns:a16="http://schemas.microsoft.com/office/drawing/2014/main" id="{A0252374-8F41-4DAC-96E7-47A1B6E38934}"/>
              </a:ext>
            </a:extLst>
          </p:cNvPr>
          <p:cNvPicPr>
            <a:picLocks noChangeAspect="1"/>
          </p:cNvPicPr>
          <p:nvPr/>
        </p:nvPicPr>
        <p:blipFill>
          <a:blip r:embed="rId2"/>
          <a:stretch>
            <a:fillRect/>
          </a:stretch>
        </p:blipFill>
        <p:spPr>
          <a:xfrm>
            <a:off x="6096000" y="2070287"/>
            <a:ext cx="2478398" cy="2160563"/>
          </a:xfrm>
          <a:prstGeom prst="rect">
            <a:avLst/>
          </a:prstGeom>
        </p:spPr>
      </p:pic>
      <p:sp>
        <p:nvSpPr>
          <p:cNvPr id="10" name="CuadroTexto 9">
            <a:extLst>
              <a:ext uri="{FF2B5EF4-FFF2-40B4-BE49-F238E27FC236}">
                <a16:creationId xmlns:a16="http://schemas.microsoft.com/office/drawing/2014/main" id="{059C31C6-B0A0-452D-9146-3103AD0A9F26}"/>
              </a:ext>
            </a:extLst>
          </p:cNvPr>
          <p:cNvSpPr txBox="1"/>
          <p:nvPr/>
        </p:nvSpPr>
        <p:spPr>
          <a:xfrm>
            <a:off x="5514981" y="4300922"/>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Figura 2.1.1</a:t>
            </a:r>
            <a:r>
              <a:rPr lang="es-ES" sz="1200" dirty="0">
                <a:solidFill>
                  <a:schemeClr val="tx1">
                    <a:lumMod val="50000"/>
                    <a:lumOff val="50000"/>
                  </a:schemeClr>
                </a:solidFill>
                <a:latin typeface="+mj-lt"/>
              </a:rPr>
              <a:t> El círculo y sus fórmulas .</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224588167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629733" y="3931589"/>
            <a:ext cx="7719019" cy="1015664"/>
          </a:xfrm>
        </p:spPr>
        <p:txBody>
          <a:bodyPr/>
          <a:lstStyle/>
          <a:p>
            <a:r>
              <a:rPr lang="es-MX" sz="3200" b="1" dirty="0"/>
              <a:t>Caso de Estudio 2.1: Encontrar el Perímetro y el Área de un Circulo </a:t>
            </a:r>
            <a:br>
              <a:rPr lang="es-MX" sz="3200" b="1" dirty="0">
                <a:solidFill>
                  <a:srgbClr val="FF0000"/>
                </a:solidFill>
              </a:rPr>
            </a:br>
            <a:br>
              <a:rPr lang="es-MX" sz="3200" b="1" dirty="0">
                <a:solidFill>
                  <a:srgbClr val="FF0000"/>
                </a:solidFill>
              </a:rPr>
            </a:br>
            <a:r>
              <a:rPr lang="es-MX" sz="3200" b="1" dirty="0"/>
              <a:t> </a:t>
            </a:r>
            <a:br>
              <a:rPr lang="es-MX" sz="3200" b="1" dirty="0"/>
            </a:br>
            <a:br>
              <a:rPr lang="es-MX" sz="3200" b="1" dirty="0"/>
            </a:br>
            <a:br>
              <a:rPr lang="es-MX" sz="3200" b="1" dirty="0"/>
            </a:br>
            <a:endParaRPr lang="en-US" sz="2400" b="1" dirty="0"/>
          </a:p>
        </p:txBody>
      </p:sp>
      <p:sp>
        <p:nvSpPr>
          <p:cNvPr id="3" name="2 Marcador de fecha"/>
          <p:cNvSpPr>
            <a:spLocks noGrp="1"/>
          </p:cNvSpPr>
          <p:nvPr>
            <p:ph type="dt" sz="half" idx="10"/>
          </p:nvPr>
        </p:nvSpPr>
        <p:spPr/>
        <p:txBody>
          <a:bodyPr/>
          <a:lstStyle/>
          <a:p>
            <a:fld id="{44C3288D-7DAC-4DD2-9022-6C6BA4238517}" type="datetime1">
              <a:rPr lang="es-EC" smtClean="0"/>
              <a:t>26/11/2025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44</a:t>
            </a:fld>
            <a:endParaRPr lang="es-EC"/>
          </a:p>
        </p:txBody>
      </p:sp>
      <p:sp>
        <p:nvSpPr>
          <p:cNvPr id="12" name="4 Marcador de contenido">
            <a:extLst>
              <a:ext uri="{FF2B5EF4-FFF2-40B4-BE49-F238E27FC236}">
                <a16:creationId xmlns:a16="http://schemas.microsoft.com/office/drawing/2014/main" id="{97FC977D-3246-462D-803B-5253E38C74F7}"/>
              </a:ext>
            </a:extLst>
          </p:cNvPr>
          <p:cNvSpPr>
            <a:spLocks noGrp="1"/>
          </p:cNvSpPr>
          <p:nvPr>
            <p:ph idx="1"/>
          </p:nvPr>
        </p:nvSpPr>
        <p:spPr>
          <a:xfrm>
            <a:off x="1908838" y="1899849"/>
            <a:ext cx="8663018" cy="4593548"/>
          </a:xfrm>
        </p:spPr>
        <p:txBody>
          <a:bodyPr>
            <a:normAutofit/>
          </a:bodyPr>
          <a:lstStyle/>
          <a:p>
            <a:pPr algn="just"/>
            <a:r>
              <a:rPr lang="es-MX" sz="1600" dirty="0"/>
              <a:t>Análisis </a:t>
            </a:r>
          </a:p>
          <a:p>
            <a:pPr marL="0" indent="0" algn="just">
              <a:buNone/>
            </a:pPr>
            <a:endParaRPr lang="es-MX" sz="1600" dirty="0"/>
          </a:p>
          <a:p>
            <a:pPr marL="0" indent="0" algn="just">
              <a:buNone/>
            </a:pPr>
            <a:r>
              <a:rPr lang="es-MX" sz="1600" dirty="0"/>
              <a:t>Claramente, se puede ver que la entrada del problema es el radio del círculo. Hay dos salidas requeridas: el perímetro y el área del círculo. Partiendo de un conocimiento básico de geometría, se sabe que hay una relación entre el radio del círculo con el perímetro y con el área de la figura geométrica. Las fórmulas requeridas se incluyen en el requerimiento de los datos. </a:t>
            </a:r>
          </a:p>
          <a:p>
            <a:pPr marL="0" indent="0" algn="just">
              <a:buNone/>
            </a:pPr>
            <a:endParaRPr lang="es-MX" sz="1600" dirty="0"/>
          </a:p>
          <a:p>
            <a:pPr marL="0" indent="0" algn="just">
              <a:buNone/>
            </a:pPr>
            <a:r>
              <a:rPr lang="es-MX" sz="1600" dirty="0"/>
              <a:t>B.1) Requerimiento de los Datos </a:t>
            </a:r>
          </a:p>
          <a:p>
            <a:pPr marL="0" indent="0" algn="just">
              <a:buNone/>
            </a:pPr>
            <a:r>
              <a:rPr lang="es-MX" sz="1600" b="1" dirty="0"/>
              <a:t>Constante del Problema </a:t>
            </a:r>
            <a:r>
              <a:rPr lang="es-MX" sz="1600" dirty="0"/>
              <a:t>PI = 3.141596 </a:t>
            </a:r>
          </a:p>
          <a:p>
            <a:pPr marL="0" indent="0" algn="just">
              <a:buNone/>
            </a:pPr>
            <a:r>
              <a:rPr lang="es-MX" sz="1600" b="1" dirty="0"/>
              <a:t>Entradas del Problema </a:t>
            </a:r>
          </a:p>
          <a:p>
            <a:pPr marL="0" indent="0" algn="just">
              <a:buNone/>
            </a:pPr>
            <a:r>
              <a:rPr lang="es-MX" sz="1600" dirty="0"/>
              <a:t>radio /* radio del círculo */ </a:t>
            </a:r>
          </a:p>
          <a:p>
            <a:pPr marL="0" indent="0" algn="just">
              <a:buNone/>
            </a:pPr>
            <a:r>
              <a:rPr lang="es-MX" sz="1600" b="1" dirty="0"/>
              <a:t>Salidas del Problema </a:t>
            </a:r>
          </a:p>
          <a:p>
            <a:pPr marL="0" indent="0" algn="just">
              <a:buNone/>
            </a:pPr>
            <a:r>
              <a:rPr lang="es-MX" sz="1600" dirty="0"/>
              <a:t>perímetro /* perímetro del círculo */</a:t>
            </a:r>
          </a:p>
          <a:p>
            <a:pPr marL="0" indent="0" algn="just">
              <a:buNone/>
            </a:pPr>
            <a:r>
              <a:rPr lang="es-EC" sz="1600" dirty="0" err="1"/>
              <a:t>area</a:t>
            </a:r>
            <a:r>
              <a:rPr lang="es-EC" sz="1600" dirty="0"/>
              <a:t> /* área del círculo */</a:t>
            </a:r>
            <a:endParaRPr lang="es-ES" sz="2000" dirty="0"/>
          </a:p>
        </p:txBody>
      </p:sp>
    </p:spTree>
    <p:extLst>
      <p:ext uri="{BB962C8B-B14F-4D97-AF65-F5344CB8AC3E}">
        <p14:creationId xmlns:p14="http://schemas.microsoft.com/office/powerpoint/2010/main" val="202357824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629733" y="3931589"/>
            <a:ext cx="7719019" cy="1015664"/>
          </a:xfrm>
        </p:spPr>
        <p:txBody>
          <a:bodyPr/>
          <a:lstStyle/>
          <a:p>
            <a:r>
              <a:rPr lang="es-MX" sz="3200" b="1" dirty="0"/>
              <a:t>Caso de Estudio 2.1: Encontrar el Perímetro y el Área de un Circulo </a:t>
            </a:r>
            <a:br>
              <a:rPr lang="es-MX" sz="3200" b="1" dirty="0">
                <a:solidFill>
                  <a:srgbClr val="FF0000"/>
                </a:solidFill>
              </a:rPr>
            </a:br>
            <a:br>
              <a:rPr lang="es-MX" sz="3200" b="1" dirty="0">
                <a:solidFill>
                  <a:srgbClr val="FF0000"/>
                </a:solidFill>
              </a:rPr>
            </a:br>
            <a:r>
              <a:rPr lang="es-MX" sz="3200" b="1" dirty="0"/>
              <a:t> </a:t>
            </a:r>
            <a:br>
              <a:rPr lang="es-MX" sz="3200" b="1" dirty="0"/>
            </a:br>
            <a:br>
              <a:rPr lang="es-MX" sz="3200" b="1" dirty="0"/>
            </a:br>
            <a:br>
              <a:rPr lang="es-MX" sz="3200" b="1" dirty="0"/>
            </a:br>
            <a:endParaRPr lang="en-US" sz="2400" b="1" dirty="0"/>
          </a:p>
        </p:txBody>
      </p:sp>
      <p:sp>
        <p:nvSpPr>
          <p:cNvPr id="3" name="2 Marcador de fecha"/>
          <p:cNvSpPr>
            <a:spLocks noGrp="1"/>
          </p:cNvSpPr>
          <p:nvPr>
            <p:ph type="dt" sz="half" idx="10"/>
          </p:nvPr>
        </p:nvSpPr>
        <p:spPr/>
        <p:txBody>
          <a:bodyPr/>
          <a:lstStyle/>
          <a:p>
            <a:fld id="{44C3288D-7DAC-4DD2-9022-6C6BA4238517}" type="datetime1">
              <a:rPr lang="es-EC" smtClean="0"/>
              <a:t>26/11/2025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45</a:t>
            </a:fld>
            <a:endParaRPr lang="es-EC"/>
          </a:p>
        </p:txBody>
      </p:sp>
      <p:sp>
        <p:nvSpPr>
          <p:cNvPr id="12" name="4 Marcador de contenido">
            <a:extLst>
              <a:ext uri="{FF2B5EF4-FFF2-40B4-BE49-F238E27FC236}">
                <a16:creationId xmlns:a16="http://schemas.microsoft.com/office/drawing/2014/main" id="{97FC977D-3246-462D-803B-5253E38C74F7}"/>
              </a:ext>
            </a:extLst>
          </p:cNvPr>
          <p:cNvSpPr>
            <a:spLocks noGrp="1"/>
          </p:cNvSpPr>
          <p:nvPr>
            <p:ph idx="1"/>
          </p:nvPr>
        </p:nvSpPr>
        <p:spPr>
          <a:xfrm>
            <a:off x="527281" y="2369548"/>
            <a:ext cx="4204904" cy="3047404"/>
          </a:xfrm>
        </p:spPr>
        <p:txBody>
          <a:bodyPr>
            <a:normAutofit/>
          </a:bodyPr>
          <a:lstStyle/>
          <a:p>
            <a:pPr algn="just"/>
            <a:r>
              <a:rPr lang="es-MX" sz="1600" dirty="0"/>
              <a:t>B.2) Diagrama de Entrada-Salida</a:t>
            </a:r>
          </a:p>
          <a:p>
            <a:pPr marL="0" indent="0" algn="just">
              <a:buNone/>
            </a:pPr>
            <a:endParaRPr lang="es-MX" sz="1600" dirty="0"/>
          </a:p>
          <a:p>
            <a:pPr marL="0" indent="0" algn="just">
              <a:buNone/>
            </a:pPr>
            <a:r>
              <a:rPr lang="es-MX" sz="1600" dirty="0"/>
              <a:t> En la Figura 2.1.2 se muestra el Diagrama de Entrada-Salida del programa donde se identifican y se diagraman las entradas, salidas y auxiliares del problema como son: a) Entradas: la variable ‘radio’; b) Salidas: las variables ‘perímetro’ y ‘área’; c) Auxiliares: la constante PI</a:t>
            </a:r>
            <a:endParaRPr lang="es-ES" sz="2000" dirty="0"/>
          </a:p>
        </p:txBody>
      </p:sp>
      <p:pic>
        <p:nvPicPr>
          <p:cNvPr id="9" name="Imagen 8">
            <a:extLst>
              <a:ext uri="{FF2B5EF4-FFF2-40B4-BE49-F238E27FC236}">
                <a16:creationId xmlns:a16="http://schemas.microsoft.com/office/drawing/2014/main" id="{AF7D3910-4D06-4BD6-B389-9CD017B90F3D}"/>
              </a:ext>
            </a:extLst>
          </p:cNvPr>
          <p:cNvPicPr>
            <a:picLocks noChangeAspect="1"/>
          </p:cNvPicPr>
          <p:nvPr/>
        </p:nvPicPr>
        <p:blipFill>
          <a:blip r:embed="rId2"/>
          <a:stretch>
            <a:fillRect/>
          </a:stretch>
        </p:blipFill>
        <p:spPr>
          <a:xfrm>
            <a:off x="5193409" y="2036561"/>
            <a:ext cx="5277587" cy="3380391"/>
          </a:xfrm>
          <a:prstGeom prst="rect">
            <a:avLst/>
          </a:prstGeom>
        </p:spPr>
      </p:pic>
      <p:sp>
        <p:nvSpPr>
          <p:cNvPr id="13" name="CuadroTexto 12">
            <a:extLst>
              <a:ext uri="{FF2B5EF4-FFF2-40B4-BE49-F238E27FC236}">
                <a16:creationId xmlns:a16="http://schemas.microsoft.com/office/drawing/2014/main" id="{BBC2DABC-6068-4EA1-BE5A-B2600A42E479}"/>
              </a:ext>
            </a:extLst>
          </p:cNvPr>
          <p:cNvSpPr txBox="1"/>
          <p:nvPr/>
        </p:nvSpPr>
        <p:spPr>
          <a:xfrm>
            <a:off x="5958088" y="5416952"/>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Figura </a:t>
            </a:r>
            <a:r>
              <a:rPr lang="es-EC" sz="1200" dirty="0">
                <a:solidFill>
                  <a:schemeClr val="tx1">
                    <a:lumMod val="50000"/>
                    <a:lumOff val="50000"/>
                  </a:schemeClr>
                </a:solidFill>
                <a:latin typeface="+mj-lt"/>
              </a:rPr>
              <a:t>Diagrama de Entrada-Salida del Programa</a:t>
            </a:r>
            <a:r>
              <a:rPr lang="es-ES" sz="1200" dirty="0">
                <a:solidFill>
                  <a:schemeClr val="tx1">
                    <a:lumMod val="50000"/>
                    <a:lumOff val="50000"/>
                  </a:schemeClr>
                </a:solidFill>
                <a:latin typeface="+mj-lt"/>
              </a:rPr>
              <a:t> .</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5283920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629733" y="3931589"/>
            <a:ext cx="7719019" cy="1015664"/>
          </a:xfrm>
        </p:spPr>
        <p:txBody>
          <a:bodyPr/>
          <a:lstStyle/>
          <a:p>
            <a:r>
              <a:rPr lang="es-MX" sz="3200" b="1" dirty="0"/>
              <a:t>Caso de Estudio 2.1: Encontrar el Perímetro y el Área de un Circulo </a:t>
            </a:r>
            <a:br>
              <a:rPr lang="es-MX" sz="3200" b="1" dirty="0">
                <a:solidFill>
                  <a:srgbClr val="FF0000"/>
                </a:solidFill>
              </a:rPr>
            </a:br>
            <a:br>
              <a:rPr lang="es-MX" sz="3200" b="1" dirty="0">
                <a:solidFill>
                  <a:srgbClr val="FF0000"/>
                </a:solidFill>
              </a:rPr>
            </a:br>
            <a:r>
              <a:rPr lang="es-MX" sz="3200" b="1" dirty="0"/>
              <a:t> </a:t>
            </a:r>
            <a:br>
              <a:rPr lang="es-MX" sz="3200" b="1" dirty="0"/>
            </a:br>
            <a:br>
              <a:rPr lang="es-MX" sz="3200" b="1" dirty="0"/>
            </a:br>
            <a:br>
              <a:rPr lang="es-MX" sz="3200" b="1" dirty="0"/>
            </a:br>
            <a:endParaRPr lang="en-US" sz="2400" b="1" dirty="0"/>
          </a:p>
        </p:txBody>
      </p:sp>
      <p:sp>
        <p:nvSpPr>
          <p:cNvPr id="3" name="2 Marcador de fecha"/>
          <p:cNvSpPr>
            <a:spLocks noGrp="1"/>
          </p:cNvSpPr>
          <p:nvPr>
            <p:ph type="dt" sz="half" idx="10"/>
          </p:nvPr>
        </p:nvSpPr>
        <p:spPr/>
        <p:txBody>
          <a:bodyPr/>
          <a:lstStyle/>
          <a:p>
            <a:fld id="{44C3288D-7DAC-4DD2-9022-6C6BA4238517}" type="datetime1">
              <a:rPr lang="es-EC" smtClean="0"/>
              <a:t>26/11/2025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46</a:t>
            </a:fld>
            <a:endParaRPr lang="es-EC"/>
          </a:p>
        </p:txBody>
      </p:sp>
      <p:sp>
        <p:nvSpPr>
          <p:cNvPr id="12" name="4 Marcador de contenido">
            <a:extLst>
              <a:ext uri="{FF2B5EF4-FFF2-40B4-BE49-F238E27FC236}">
                <a16:creationId xmlns:a16="http://schemas.microsoft.com/office/drawing/2014/main" id="{97FC977D-3246-462D-803B-5253E38C74F7}"/>
              </a:ext>
            </a:extLst>
          </p:cNvPr>
          <p:cNvSpPr>
            <a:spLocks noGrp="1"/>
          </p:cNvSpPr>
          <p:nvPr>
            <p:ph idx="1"/>
          </p:nvPr>
        </p:nvSpPr>
        <p:spPr>
          <a:xfrm>
            <a:off x="1177013" y="1869664"/>
            <a:ext cx="10214025" cy="4123849"/>
          </a:xfrm>
        </p:spPr>
        <p:txBody>
          <a:bodyPr>
            <a:normAutofit/>
          </a:bodyPr>
          <a:lstStyle/>
          <a:p>
            <a:pPr algn="just"/>
            <a:r>
              <a:rPr lang="es-MX" sz="1600" dirty="0"/>
              <a:t>C) Diseño </a:t>
            </a:r>
          </a:p>
          <a:p>
            <a:pPr marL="0" indent="0" algn="just">
              <a:buNone/>
            </a:pPr>
            <a:endParaRPr lang="es-MX" sz="1600" dirty="0"/>
          </a:p>
          <a:p>
            <a:pPr marL="0" indent="0" algn="just">
              <a:buNone/>
            </a:pPr>
            <a:r>
              <a:rPr lang="es-MX" sz="1600" dirty="0"/>
              <a:t>Una vez que se conoce las entradas y las salidas del problema, se deben listar los pasos necesarios para resolver el problema, es decir, el algoritmo. </a:t>
            </a:r>
          </a:p>
          <a:p>
            <a:pPr marL="0" indent="0" algn="just">
              <a:buNone/>
            </a:pPr>
            <a:endParaRPr lang="es-MX" sz="1600" dirty="0"/>
          </a:p>
          <a:p>
            <a:pPr marL="0" indent="0" algn="just">
              <a:buNone/>
            </a:pPr>
            <a:r>
              <a:rPr lang="es-MX" sz="1600" dirty="0"/>
              <a:t>Algoritmo </a:t>
            </a:r>
          </a:p>
          <a:p>
            <a:pPr marL="0" indent="0" algn="just">
              <a:buNone/>
            </a:pPr>
            <a:endParaRPr lang="es-MX" sz="1600" dirty="0"/>
          </a:p>
          <a:p>
            <a:pPr algn="just"/>
            <a:r>
              <a:rPr lang="es-MX" sz="1600" dirty="0"/>
              <a:t>1. Leer el radio del círculo. </a:t>
            </a:r>
          </a:p>
          <a:p>
            <a:pPr algn="just"/>
            <a:r>
              <a:rPr lang="es-MX" sz="1600" dirty="0"/>
              <a:t>2. Calcular el perímetro. </a:t>
            </a:r>
          </a:p>
          <a:p>
            <a:pPr algn="just"/>
            <a:r>
              <a:rPr lang="es-MX" sz="1600" dirty="0"/>
              <a:t>2.1. Asignar el producto de dos veces PI por el radio a la variable ‘perímetro’. 3. Calcular el área. </a:t>
            </a:r>
          </a:p>
          <a:p>
            <a:pPr algn="just"/>
            <a:r>
              <a:rPr lang="es-MX" sz="1600" dirty="0"/>
              <a:t>3.1. Asignar el producto de PI por el cuadrado del radio a la variable ‘área’. </a:t>
            </a:r>
          </a:p>
          <a:p>
            <a:pPr algn="just"/>
            <a:r>
              <a:rPr lang="es-MX" sz="1600" dirty="0"/>
              <a:t>4. Imprimir el valor de la variable ‘perímetro’ y de la variable ‘área’.</a:t>
            </a:r>
            <a:endParaRPr lang="es-ES" sz="2000" dirty="0"/>
          </a:p>
        </p:txBody>
      </p:sp>
    </p:spTree>
    <p:extLst>
      <p:ext uri="{BB962C8B-B14F-4D97-AF65-F5344CB8AC3E}">
        <p14:creationId xmlns:p14="http://schemas.microsoft.com/office/powerpoint/2010/main" val="194381394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629733" y="3931589"/>
            <a:ext cx="7719019" cy="1015664"/>
          </a:xfrm>
        </p:spPr>
        <p:txBody>
          <a:bodyPr/>
          <a:lstStyle/>
          <a:p>
            <a:r>
              <a:rPr lang="es-MX" sz="3200" b="1" dirty="0"/>
              <a:t>Caso de Estudio 2.1: Encontrar el Perímetro y el Área de un Circulo </a:t>
            </a:r>
            <a:br>
              <a:rPr lang="es-MX" sz="3200" b="1" dirty="0">
                <a:solidFill>
                  <a:srgbClr val="FF0000"/>
                </a:solidFill>
              </a:rPr>
            </a:br>
            <a:br>
              <a:rPr lang="es-MX" sz="3200" b="1" dirty="0">
                <a:solidFill>
                  <a:srgbClr val="FF0000"/>
                </a:solidFill>
              </a:rPr>
            </a:br>
            <a:r>
              <a:rPr lang="es-MX" sz="3200" b="1" dirty="0"/>
              <a:t> </a:t>
            </a:r>
            <a:br>
              <a:rPr lang="es-MX" sz="3200" b="1" dirty="0"/>
            </a:br>
            <a:br>
              <a:rPr lang="es-MX" sz="3200" b="1" dirty="0"/>
            </a:br>
            <a:br>
              <a:rPr lang="es-MX" sz="3200" b="1" dirty="0"/>
            </a:br>
            <a:endParaRPr lang="en-US" sz="2400" b="1" dirty="0"/>
          </a:p>
        </p:txBody>
      </p:sp>
      <p:sp>
        <p:nvSpPr>
          <p:cNvPr id="3" name="2 Marcador de fecha"/>
          <p:cNvSpPr>
            <a:spLocks noGrp="1"/>
          </p:cNvSpPr>
          <p:nvPr>
            <p:ph type="dt" sz="half" idx="10"/>
          </p:nvPr>
        </p:nvSpPr>
        <p:spPr/>
        <p:txBody>
          <a:bodyPr/>
          <a:lstStyle/>
          <a:p>
            <a:fld id="{44C3288D-7DAC-4DD2-9022-6C6BA4238517}" type="datetime1">
              <a:rPr lang="es-EC" smtClean="0"/>
              <a:t>26/11/2025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47</a:t>
            </a:fld>
            <a:endParaRPr lang="es-EC"/>
          </a:p>
        </p:txBody>
      </p:sp>
      <p:sp>
        <p:nvSpPr>
          <p:cNvPr id="12" name="4 Marcador de contenido">
            <a:extLst>
              <a:ext uri="{FF2B5EF4-FFF2-40B4-BE49-F238E27FC236}">
                <a16:creationId xmlns:a16="http://schemas.microsoft.com/office/drawing/2014/main" id="{97FC977D-3246-462D-803B-5253E38C74F7}"/>
              </a:ext>
            </a:extLst>
          </p:cNvPr>
          <p:cNvSpPr>
            <a:spLocks noGrp="1"/>
          </p:cNvSpPr>
          <p:nvPr>
            <p:ph idx="1"/>
          </p:nvPr>
        </p:nvSpPr>
        <p:spPr>
          <a:xfrm>
            <a:off x="1177013" y="1869664"/>
            <a:ext cx="4517731" cy="4123849"/>
          </a:xfrm>
        </p:spPr>
        <p:txBody>
          <a:bodyPr>
            <a:normAutofit/>
          </a:bodyPr>
          <a:lstStyle/>
          <a:p>
            <a:pPr algn="just"/>
            <a:r>
              <a:rPr lang="es-MX" sz="1600" dirty="0"/>
              <a:t>D) Implementación </a:t>
            </a:r>
          </a:p>
          <a:p>
            <a:pPr marL="0" indent="0" algn="just">
              <a:buNone/>
            </a:pPr>
            <a:endParaRPr lang="es-MX" sz="1600" dirty="0"/>
          </a:p>
          <a:p>
            <a:pPr marL="0" indent="0" algn="just">
              <a:buNone/>
            </a:pPr>
            <a:r>
              <a:rPr lang="es-MX" sz="1600" dirty="0"/>
              <a:t>Para implementar la solución, se debe escribir el algoritmo como un programa de C/C++ que contenga toda la información necesaria para completar la traducción a lenguaje máquina. En la Tabla 2.1.1 se muestra el código del programa en C/C++.</a:t>
            </a:r>
            <a:endParaRPr lang="es-ES" sz="2000" dirty="0"/>
          </a:p>
        </p:txBody>
      </p:sp>
      <p:pic>
        <p:nvPicPr>
          <p:cNvPr id="5" name="Imagen 4">
            <a:extLst>
              <a:ext uri="{FF2B5EF4-FFF2-40B4-BE49-F238E27FC236}">
                <a16:creationId xmlns:a16="http://schemas.microsoft.com/office/drawing/2014/main" id="{C04C7941-0AA6-412F-B949-BA6FA5D830D8}"/>
              </a:ext>
            </a:extLst>
          </p:cNvPr>
          <p:cNvPicPr>
            <a:picLocks noChangeAspect="1"/>
          </p:cNvPicPr>
          <p:nvPr/>
        </p:nvPicPr>
        <p:blipFill rotWithShape="1">
          <a:blip r:embed="rId2"/>
          <a:srcRect l="1988"/>
          <a:stretch/>
        </p:blipFill>
        <p:spPr>
          <a:xfrm>
            <a:off x="5955550" y="1483547"/>
            <a:ext cx="4803494" cy="1669027"/>
          </a:xfrm>
          <a:prstGeom prst="rect">
            <a:avLst/>
          </a:prstGeom>
        </p:spPr>
      </p:pic>
      <p:pic>
        <p:nvPicPr>
          <p:cNvPr id="8" name="Imagen 7">
            <a:extLst>
              <a:ext uri="{FF2B5EF4-FFF2-40B4-BE49-F238E27FC236}">
                <a16:creationId xmlns:a16="http://schemas.microsoft.com/office/drawing/2014/main" id="{A5832F7B-5688-4892-A516-ADFC09262B4D}"/>
              </a:ext>
            </a:extLst>
          </p:cNvPr>
          <p:cNvPicPr>
            <a:picLocks noChangeAspect="1"/>
          </p:cNvPicPr>
          <p:nvPr/>
        </p:nvPicPr>
        <p:blipFill>
          <a:blip r:embed="rId3"/>
          <a:stretch>
            <a:fillRect/>
          </a:stretch>
        </p:blipFill>
        <p:spPr>
          <a:xfrm>
            <a:off x="5684487" y="3221640"/>
            <a:ext cx="5074557" cy="3300120"/>
          </a:xfrm>
          <a:prstGeom prst="rect">
            <a:avLst/>
          </a:prstGeom>
        </p:spPr>
      </p:pic>
      <p:sp>
        <p:nvSpPr>
          <p:cNvPr id="10" name="CuadroTexto 9">
            <a:extLst>
              <a:ext uri="{FF2B5EF4-FFF2-40B4-BE49-F238E27FC236}">
                <a16:creationId xmlns:a16="http://schemas.microsoft.com/office/drawing/2014/main" id="{B876590C-8366-42FD-9D8C-FBF45645D670}"/>
              </a:ext>
            </a:extLst>
          </p:cNvPr>
          <p:cNvSpPr txBox="1"/>
          <p:nvPr/>
        </p:nvSpPr>
        <p:spPr>
          <a:xfrm>
            <a:off x="5052493" y="6457601"/>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Programa 2.1</a:t>
            </a:r>
            <a:r>
              <a:rPr lang="es-ES" sz="1200" dirty="0">
                <a:solidFill>
                  <a:schemeClr val="tx1">
                    <a:lumMod val="50000"/>
                    <a:lumOff val="50000"/>
                  </a:schemeClr>
                </a:solidFill>
                <a:latin typeface="+mj-lt"/>
              </a:rPr>
              <a:t>. Código del Programa Caso de Estudio.</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163140169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629733" y="3931589"/>
            <a:ext cx="7719019" cy="1015664"/>
          </a:xfrm>
        </p:spPr>
        <p:txBody>
          <a:bodyPr/>
          <a:lstStyle/>
          <a:p>
            <a:r>
              <a:rPr lang="es-MX" sz="3200" b="1" dirty="0"/>
              <a:t>Caso de Estudio 2.1: Encontrar el Perímetro y el Área de un Circulo </a:t>
            </a:r>
            <a:br>
              <a:rPr lang="es-MX" sz="3200" b="1" dirty="0">
                <a:solidFill>
                  <a:srgbClr val="FF0000"/>
                </a:solidFill>
              </a:rPr>
            </a:br>
            <a:br>
              <a:rPr lang="es-MX" sz="3200" b="1" dirty="0">
                <a:solidFill>
                  <a:srgbClr val="FF0000"/>
                </a:solidFill>
              </a:rPr>
            </a:br>
            <a:r>
              <a:rPr lang="es-MX" sz="3200" b="1" dirty="0"/>
              <a:t> </a:t>
            </a:r>
            <a:br>
              <a:rPr lang="es-MX" sz="3200" b="1" dirty="0"/>
            </a:br>
            <a:br>
              <a:rPr lang="es-MX" sz="3200" b="1" dirty="0"/>
            </a:br>
            <a:br>
              <a:rPr lang="es-MX" sz="3200" b="1" dirty="0"/>
            </a:br>
            <a:endParaRPr lang="en-US" sz="2400" b="1" dirty="0"/>
          </a:p>
        </p:txBody>
      </p:sp>
      <p:sp>
        <p:nvSpPr>
          <p:cNvPr id="3" name="2 Marcador de fecha"/>
          <p:cNvSpPr>
            <a:spLocks noGrp="1"/>
          </p:cNvSpPr>
          <p:nvPr>
            <p:ph type="dt" sz="half" idx="10"/>
          </p:nvPr>
        </p:nvSpPr>
        <p:spPr/>
        <p:txBody>
          <a:bodyPr/>
          <a:lstStyle/>
          <a:p>
            <a:fld id="{44C3288D-7DAC-4DD2-9022-6C6BA4238517}" type="datetime1">
              <a:rPr lang="es-EC" smtClean="0"/>
              <a:t>26/11/2025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48</a:t>
            </a:fld>
            <a:endParaRPr lang="es-EC"/>
          </a:p>
        </p:txBody>
      </p:sp>
      <p:sp>
        <p:nvSpPr>
          <p:cNvPr id="12" name="4 Marcador de contenido">
            <a:extLst>
              <a:ext uri="{FF2B5EF4-FFF2-40B4-BE49-F238E27FC236}">
                <a16:creationId xmlns:a16="http://schemas.microsoft.com/office/drawing/2014/main" id="{97FC977D-3246-462D-803B-5253E38C74F7}"/>
              </a:ext>
            </a:extLst>
          </p:cNvPr>
          <p:cNvSpPr>
            <a:spLocks noGrp="1"/>
          </p:cNvSpPr>
          <p:nvPr>
            <p:ph idx="1"/>
          </p:nvPr>
        </p:nvSpPr>
        <p:spPr>
          <a:xfrm>
            <a:off x="1177014" y="1869664"/>
            <a:ext cx="3545458" cy="4123849"/>
          </a:xfrm>
        </p:spPr>
        <p:txBody>
          <a:bodyPr>
            <a:normAutofit/>
          </a:bodyPr>
          <a:lstStyle/>
          <a:p>
            <a:pPr algn="just"/>
            <a:r>
              <a:rPr lang="es-MX" sz="1600" dirty="0"/>
              <a:t>E) Pruebas </a:t>
            </a:r>
          </a:p>
          <a:p>
            <a:pPr marL="0" indent="0" algn="just">
              <a:buNone/>
            </a:pPr>
            <a:endParaRPr lang="es-MX" sz="1600" dirty="0"/>
          </a:p>
          <a:p>
            <a:pPr marL="0" indent="0" algn="just">
              <a:buNone/>
            </a:pPr>
            <a:r>
              <a:rPr lang="es-MX" sz="1600" dirty="0"/>
              <a:t>La Tabla 2.1.2 muestra un ejemplo de la salida del programa, donde se puede ver que los resultados del programa tienen sentido, comparando estos resultados con los datos devueltos por una calculadora, donde como se puede ver en la siguiente salida del programa, se le pide al usuario que ingrese un valor para el radio que puede ser ‘5’ y el programa calcula los valores del perímetro y del área como son ‘31.41’ y ‘78.53’ respectivamente. </a:t>
            </a:r>
            <a:endParaRPr lang="es-ES" sz="2000" dirty="0"/>
          </a:p>
        </p:txBody>
      </p:sp>
      <p:sp>
        <p:nvSpPr>
          <p:cNvPr id="10" name="CuadroTexto 9">
            <a:extLst>
              <a:ext uri="{FF2B5EF4-FFF2-40B4-BE49-F238E27FC236}">
                <a16:creationId xmlns:a16="http://schemas.microsoft.com/office/drawing/2014/main" id="{B876590C-8366-42FD-9D8C-FBF45645D670}"/>
              </a:ext>
            </a:extLst>
          </p:cNvPr>
          <p:cNvSpPr txBox="1"/>
          <p:nvPr/>
        </p:nvSpPr>
        <p:spPr>
          <a:xfrm>
            <a:off x="5052493" y="4682305"/>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Ejecución del Programa  2.1</a:t>
            </a:r>
            <a:r>
              <a:rPr lang="es-ES" sz="1200" dirty="0">
                <a:solidFill>
                  <a:schemeClr val="tx1">
                    <a:lumMod val="50000"/>
                    <a:lumOff val="50000"/>
                  </a:schemeClr>
                </a:solidFill>
                <a:latin typeface="+mj-lt"/>
              </a:rPr>
              <a:t>. Ejecución del Programa Caso de Estudio.</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pic>
        <p:nvPicPr>
          <p:cNvPr id="7" name="Imagen 6">
            <a:extLst>
              <a:ext uri="{FF2B5EF4-FFF2-40B4-BE49-F238E27FC236}">
                <a16:creationId xmlns:a16="http://schemas.microsoft.com/office/drawing/2014/main" id="{11017B29-7594-4DA7-82CA-4EC62CEF8AC9}"/>
              </a:ext>
            </a:extLst>
          </p:cNvPr>
          <p:cNvPicPr>
            <a:picLocks noChangeAspect="1"/>
          </p:cNvPicPr>
          <p:nvPr/>
        </p:nvPicPr>
        <p:blipFill rotWithShape="1">
          <a:blip r:embed="rId2"/>
          <a:srcRect r="51459"/>
          <a:stretch/>
        </p:blipFill>
        <p:spPr>
          <a:xfrm>
            <a:off x="5052493" y="2663060"/>
            <a:ext cx="3431970" cy="1758469"/>
          </a:xfrm>
          <a:prstGeom prst="rect">
            <a:avLst/>
          </a:prstGeom>
        </p:spPr>
      </p:pic>
    </p:spTree>
    <p:extLst>
      <p:ext uri="{BB962C8B-B14F-4D97-AF65-F5344CB8AC3E}">
        <p14:creationId xmlns:p14="http://schemas.microsoft.com/office/powerpoint/2010/main" val="120633456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fontScale="85000" lnSpcReduction="20000"/>
          </a:bodyPr>
          <a:lstStyle/>
          <a:p>
            <a:pPr lvl="1"/>
            <a:r>
              <a:rPr lang="es-MX" sz="1700" dirty="0"/>
              <a:t>Estructuras de Control Secuenciales. </a:t>
            </a:r>
          </a:p>
          <a:p>
            <a:pPr lvl="1"/>
            <a:r>
              <a:rPr lang="es-MX" sz="1700" dirty="0"/>
              <a:t>Escritura. </a:t>
            </a:r>
          </a:p>
          <a:p>
            <a:pPr lvl="1"/>
            <a:r>
              <a:rPr lang="es-MX" sz="1700" dirty="0"/>
              <a:t>Lectura </a:t>
            </a:r>
          </a:p>
          <a:p>
            <a:pPr lvl="1"/>
            <a:r>
              <a:rPr lang="es-MX" sz="1700" dirty="0"/>
              <a:t>Problema 2.1. (Aplicación de estructuras de control secuenciales de escritura y lectura).</a:t>
            </a:r>
          </a:p>
          <a:p>
            <a:pPr lvl="1"/>
            <a:r>
              <a:rPr lang="es-MX" sz="1700" dirty="0"/>
              <a:t>Asignación. </a:t>
            </a:r>
          </a:p>
          <a:p>
            <a:pPr lvl="1"/>
            <a:r>
              <a:rPr lang="es-MX" sz="1700" dirty="0"/>
              <a:t>Asignación Simple </a:t>
            </a:r>
          </a:p>
          <a:p>
            <a:pPr lvl="1"/>
            <a:r>
              <a:rPr lang="es-MX" sz="1700" dirty="0"/>
              <a:t>Problema 2.2. (Aplicación de estructuras de control secuenciales de asignación simple). </a:t>
            </a:r>
          </a:p>
          <a:p>
            <a:pPr lvl="1"/>
            <a:r>
              <a:rPr lang="es-MX" sz="1700" dirty="0"/>
              <a:t>Asignación Contador </a:t>
            </a:r>
          </a:p>
          <a:p>
            <a:pPr lvl="1"/>
            <a:r>
              <a:rPr lang="es-MX" sz="1700" dirty="0"/>
              <a:t>Problema 2.3. (Aplicación de estructuras de control secuenciales de asignación contador). </a:t>
            </a:r>
          </a:p>
          <a:p>
            <a:pPr lvl="1"/>
            <a:r>
              <a:rPr lang="es-MX" sz="1700" dirty="0"/>
              <a:t>Asignación Acumulador </a:t>
            </a:r>
          </a:p>
          <a:p>
            <a:pPr lvl="1"/>
            <a:r>
              <a:rPr lang="es-MX" sz="1700" dirty="0"/>
              <a:t>Problema 2.4. (Aplicación de estructuras de control secuenciales de asignación acumulador tipo sumas) </a:t>
            </a:r>
          </a:p>
          <a:p>
            <a:pPr lvl="1"/>
            <a:r>
              <a:rPr lang="es-MX" sz="1700" dirty="0"/>
              <a:t>Problema 2.5. (Aplicación de estructuras de control secuenciales de asignación acumulador tipo productos) . </a:t>
            </a:r>
          </a:p>
          <a:p>
            <a:pPr lvl="1"/>
            <a:r>
              <a:rPr lang="es-MX" sz="1700" dirty="0"/>
              <a:t>Asignación de Trabajo </a:t>
            </a:r>
          </a:p>
          <a:p>
            <a:pPr lvl="1"/>
            <a:r>
              <a:rPr lang="es-MX" sz="1700" dirty="0"/>
              <a:t>Problema 2.6. (Aplicación de estructuras de control secuenciales de asignación de trabajo) </a:t>
            </a:r>
          </a:p>
          <a:p>
            <a:pPr lvl="1"/>
            <a:r>
              <a:rPr lang="es-MX" sz="1700" dirty="0"/>
              <a:t>Caso de Estudio 2.1: Encontrar el Perímetro y el Área de un Circulo </a:t>
            </a:r>
          </a:p>
          <a:p>
            <a:pPr lvl="1">
              <a:lnSpc>
                <a:spcPct val="90000"/>
              </a:lnSpc>
            </a:pPr>
            <a:r>
              <a:rPr lang="es-MX" sz="3300" b="1" dirty="0">
                <a:solidFill>
                  <a:srgbClr val="FF0000"/>
                </a:solidFill>
              </a:rPr>
              <a:t>Caso de Estudio 2.2: Encontrar el Perímetro y el Área de un Rectángulo </a:t>
            </a:r>
          </a:p>
          <a:p>
            <a:pPr lvl="1"/>
            <a:r>
              <a:rPr lang="es-MX" sz="1700" dirty="0"/>
              <a:t>Caso de Estudio 2.3: Encontrar la Generatriz, el Área y el Volumen de un Cono </a:t>
            </a:r>
          </a:p>
          <a:p>
            <a:pPr lvl="1"/>
            <a:r>
              <a:rPr lang="es-MX" sz="1700" dirty="0"/>
              <a:t>Caso de Estudio 2.4: Encontrar la distancia, tiempo de vuelo y la altura alcanzada por un proyectil </a:t>
            </a:r>
            <a:endParaRPr lang="es-419" sz="1700" dirty="0"/>
          </a:p>
        </p:txBody>
      </p:sp>
      <p:sp>
        <p:nvSpPr>
          <p:cNvPr id="5" name="4 Marcador de fecha"/>
          <p:cNvSpPr>
            <a:spLocks noGrp="1"/>
          </p:cNvSpPr>
          <p:nvPr>
            <p:ph type="dt" sz="half" idx="10"/>
          </p:nvPr>
        </p:nvSpPr>
        <p:spPr/>
        <p:txBody>
          <a:bodyPr/>
          <a:lstStyle/>
          <a:p>
            <a:fld id="{85E4E129-A937-4BEE-8A17-D7969DFE55C2}" type="datetime1">
              <a:rPr lang="es-EC">
                <a:solidFill>
                  <a:prstClr val="black">
                    <a:lumMod val="65000"/>
                    <a:lumOff val="35000"/>
                  </a:prstClr>
                </a:solidFill>
              </a:rPr>
              <a:pPr/>
              <a:t>26/11/2025</a:t>
            </a:fld>
            <a:endParaRPr lang="es-EC" dirty="0">
              <a:solidFill>
                <a:prstClr val="black">
                  <a:lumMod val="65000"/>
                  <a:lumOff val="35000"/>
                </a:prstClr>
              </a:solidFill>
            </a:endParaRP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49</a:t>
            </a:fld>
            <a:endParaRPr lang="es-EC">
              <a:solidFill>
                <a:prstClr val="black">
                  <a:lumMod val="65000"/>
                  <a:lumOff val="35000"/>
                </a:prstClr>
              </a:solidFill>
            </a:endParaRPr>
          </a:p>
        </p:txBody>
      </p:sp>
    </p:spTree>
    <p:extLst>
      <p:ext uri="{BB962C8B-B14F-4D97-AF65-F5344CB8AC3E}">
        <p14:creationId xmlns:p14="http://schemas.microsoft.com/office/powerpoint/2010/main" val="90842479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655471" y="933216"/>
            <a:ext cx="7719019" cy="1015664"/>
          </a:xfrm>
        </p:spPr>
        <p:txBody>
          <a:bodyPr/>
          <a:lstStyle/>
          <a:p>
            <a:r>
              <a:rPr lang="es-MX" sz="3200" b="1" dirty="0"/>
              <a:t>Caso de Estudio 2.2: Encontrar el Perímetro y el Área de un Rectángulo</a:t>
            </a:r>
            <a:br>
              <a:rPr lang="es-MX" sz="3200" b="1" dirty="0"/>
            </a:br>
            <a:endParaRPr lang="en-US" sz="3200" b="1" dirty="0"/>
          </a:p>
        </p:txBody>
      </p:sp>
      <p:sp>
        <p:nvSpPr>
          <p:cNvPr id="3" name="2 Marcador de fecha"/>
          <p:cNvSpPr>
            <a:spLocks noGrp="1"/>
          </p:cNvSpPr>
          <p:nvPr>
            <p:ph type="dt" sz="half" idx="10"/>
          </p:nvPr>
        </p:nvSpPr>
        <p:spPr/>
        <p:txBody>
          <a:bodyPr/>
          <a:lstStyle/>
          <a:p>
            <a:fld id="{44C3288D-7DAC-4DD2-9022-6C6BA4238517}" type="datetime1">
              <a:rPr lang="es-EC" smtClean="0"/>
              <a:t>26/11/2025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50</a:t>
            </a:fld>
            <a:endParaRPr lang="es-EC"/>
          </a:p>
        </p:txBody>
      </p:sp>
      <p:sp>
        <p:nvSpPr>
          <p:cNvPr id="12" name="4 Marcador de contenido">
            <a:extLst>
              <a:ext uri="{FF2B5EF4-FFF2-40B4-BE49-F238E27FC236}">
                <a16:creationId xmlns:a16="http://schemas.microsoft.com/office/drawing/2014/main" id="{97FC977D-3246-462D-803B-5253E38C74F7}"/>
              </a:ext>
            </a:extLst>
          </p:cNvPr>
          <p:cNvSpPr>
            <a:spLocks noGrp="1"/>
          </p:cNvSpPr>
          <p:nvPr>
            <p:ph idx="1"/>
          </p:nvPr>
        </p:nvSpPr>
        <p:spPr>
          <a:xfrm>
            <a:off x="527281" y="2369548"/>
            <a:ext cx="4204904" cy="3047404"/>
          </a:xfrm>
        </p:spPr>
        <p:txBody>
          <a:bodyPr>
            <a:normAutofit/>
          </a:bodyPr>
          <a:lstStyle/>
          <a:p>
            <a:pPr algn="just"/>
            <a:r>
              <a:rPr lang="es-MX" sz="1600" dirty="0"/>
              <a:t>A) Problema </a:t>
            </a:r>
          </a:p>
          <a:p>
            <a:pPr algn="just"/>
            <a:r>
              <a:rPr lang="es-MX" sz="1600" dirty="0"/>
              <a:t>Escribir un programa para calcular e imprimir el perímetro y el área de un rectángulo. (Ver Figura 2.2.1</a:t>
            </a:r>
            <a:endParaRPr lang="es-ES" sz="2000" dirty="0"/>
          </a:p>
        </p:txBody>
      </p:sp>
      <p:sp>
        <p:nvSpPr>
          <p:cNvPr id="10" name="CuadroTexto 9">
            <a:extLst>
              <a:ext uri="{FF2B5EF4-FFF2-40B4-BE49-F238E27FC236}">
                <a16:creationId xmlns:a16="http://schemas.microsoft.com/office/drawing/2014/main" id="{059C31C6-B0A0-452D-9146-3103AD0A9F26}"/>
              </a:ext>
            </a:extLst>
          </p:cNvPr>
          <p:cNvSpPr txBox="1"/>
          <p:nvPr/>
        </p:nvSpPr>
        <p:spPr>
          <a:xfrm>
            <a:off x="5514981" y="4300922"/>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Figura 2.2.1</a:t>
            </a:r>
            <a:r>
              <a:rPr lang="es-ES" sz="1200" dirty="0">
                <a:solidFill>
                  <a:schemeClr val="tx1">
                    <a:lumMod val="50000"/>
                    <a:lumOff val="50000"/>
                  </a:schemeClr>
                </a:solidFill>
                <a:latin typeface="+mj-lt"/>
              </a:rPr>
              <a:t> </a:t>
            </a:r>
            <a:r>
              <a:rPr lang="es-MX" sz="1200" dirty="0">
                <a:solidFill>
                  <a:schemeClr val="tx1">
                    <a:lumMod val="50000"/>
                    <a:lumOff val="50000"/>
                  </a:schemeClr>
                </a:solidFill>
                <a:latin typeface="+mj-lt"/>
              </a:rPr>
              <a:t>El rectángulo y sus fórmulas</a:t>
            </a:r>
            <a:r>
              <a:rPr lang="es-ES" sz="1200" dirty="0">
                <a:solidFill>
                  <a:schemeClr val="tx1">
                    <a:lumMod val="50000"/>
                    <a:lumOff val="50000"/>
                  </a:schemeClr>
                </a:solidFill>
                <a:latin typeface="+mj-lt"/>
              </a:rPr>
              <a:t> .</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pic>
        <p:nvPicPr>
          <p:cNvPr id="7" name="Imagen 6">
            <a:extLst>
              <a:ext uri="{FF2B5EF4-FFF2-40B4-BE49-F238E27FC236}">
                <a16:creationId xmlns:a16="http://schemas.microsoft.com/office/drawing/2014/main" id="{FEB60685-52C4-4D18-A2E6-488CBFE51B55}"/>
              </a:ext>
            </a:extLst>
          </p:cNvPr>
          <p:cNvPicPr>
            <a:picLocks noChangeAspect="1"/>
          </p:cNvPicPr>
          <p:nvPr/>
        </p:nvPicPr>
        <p:blipFill>
          <a:blip r:embed="rId2"/>
          <a:stretch>
            <a:fillRect/>
          </a:stretch>
        </p:blipFill>
        <p:spPr>
          <a:xfrm>
            <a:off x="5245069" y="2071049"/>
            <a:ext cx="3991529" cy="2099665"/>
          </a:xfrm>
          <a:prstGeom prst="rect">
            <a:avLst/>
          </a:prstGeom>
        </p:spPr>
      </p:pic>
    </p:spTree>
    <p:extLst>
      <p:ext uri="{BB962C8B-B14F-4D97-AF65-F5344CB8AC3E}">
        <p14:creationId xmlns:p14="http://schemas.microsoft.com/office/powerpoint/2010/main" val="9544650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655471" y="933216"/>
            <a:ext cx="7719019" cy="1015664"/>
          </a:xfrm>
        </p:spPr>
        <p:txBody>
          <a:bodyPr/>
          <a:lstStyle/>
          <a:p>
            <a:r>
              <a:rPr lang="es-MX" sz="3200" b="1" dirty="0"/>
              <a:t>Caso de Estudio 2.2: Encontrar el Perímetro y el Área de un Rectángulo</a:t>
            </a:r>
            <a:br>
              <a:rPr lang="es-MX" sz="3200" b="1" dirty="0"/>
            </a:br>
            <a:endParaRPr lang="en-US" sz="3200" b="1" dirty="0"/>
          </a:p>
        </p:txBody>
      </p:sp>
      <p:sp>
        <p:nvSpPr>
          <p:cNvPr id="3" name="2 Marcador de fecha"/>
          <p:cNvSpPr>
            <a:spLocks noGrp="1"/>
          </p:cNvSpPr>
          <p:nvPr>
            <p:ph type="dt" sz="half" idx="10"/>
          </p:nvPr>
        </p:nvSpPr>
        <p:spPr/>
        <p:txBody>
          <a:bodyPr/>
          <a:lstStyle/>
          <a:p>
            <a:fld id="{44C3288D-7DAC-4DD2-9022-6C6BA4238517}" type="datetime1">
              <a:rPr lang="es-EC" smtClean="0"/>
              <a:t>26/11/2025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51</a:t>
            </a:fld>
            <a:endParaRPr lang="es-EC"/>
          </a:p>
        </p:txBody>
      </p:sp>
      <p:sp>
        <p:nvSpPr>
          <p:cNvPr id="12" name="4 Marcador de contenido">
            <a:extLst>
              <a:ext uri="{FF2B5EF4-FFF2-40B4-BE49-F238E27FC236}">
                <a16:creationId xmlns:a16="http://schemas.microsoft.com/office/drawing/2014/main" id="{97FC977D-3246-462D-803B-5253E38C74F7}"/>
              </a:ext>
            </a:extLst>
          </p:cNvPr>
          <p:cNvSpPr>
            <a:spLocks noGrp="1"/>
          </p:cNvSpPr>
          <p:nvPr>
            <p:ph idx="1"/>
          </p:nvPr>
        </p:nvSpPr>
        <p:spPr>
          <a:xfrm>
            <a:off x="562006" y="1628768"/>
            <a:ext cx="11371494" cy="5092708"/>
          </a:xfrm>
        </p:spPr>
        <p:txBody>
          <a:bodyPr>
            <a:normAutofit lnSpcReduction="10000"/>
          </a:bodyPr>
          <a:lstStyle/>
          <a:p>
            <a:pPr marL="0" indent="0" algn="just">
              <a:buNone/>
            </a:pPr>
            <a:r>
              <a:rPr lang="es-MX" sz="1600" dirty="0"/>
              <a:t>B) Análisis </a:t>
            </a:r>
          </a:p>
          <a:p>
            <a:pPr marL="0" indent="0" algn="just">
              <a:buNone/>
            </a:pPr>
            <a:r>
              <a:rPr lang="es-MX" sz="1600" dirty="0"/>
              <a:t>Claramente, se puede ver que las entradas del problema son el ancho y el largo del rectángulo. Hay dos salidas requeridas: el perímetro y el área del rectángulo. Partiendo de un conocimiento básico de geometría, se sabe que hay una relación entre el ancho y el largo del rectángulo con el perímetro y con el área de la figura geométrica. Las fórmulas requeridas se incluyen en el requerimiento de los datos.</a:t>
            </a:r>
          </a:p>
          <a:p>
            <a:pPr marL="0" indent="0" algn="just">
              <a:buNone/>
            </a:pPr>
            <a:endParaRPr lang="es-MX" sz="1600" dirty="0"/>
          </a:p>
          <a:p>
            <a:pPr marL="0" indent="0" algn="just">
              <a:buNone/>
            </a:pPr>
            <a:r>
              <a:rPr lang="es-MX" sz="1600" dirty="0"/>
              <a:t>B.1) Requerimiento de los Datos </a:t>
            </a:r>
          </a:p>
          <a:p>
            <a:pPr marL="0" indent="0" algn="just">
              <a:buNone/>
            </a:pPr>
            <a:r>
              <a:rPr lang="es-MX" sz="1600" dirty="0"/>
              <a:t>Entradas del Problema </a:t>
            </a:r>
          </a:p>
          <a:p>
            <a:pPr marL="0" indent="0" algn="just">
              <a:buNone/>
            </a:pPr>
            <a:r>
              <a:rPr lang="es-MX" sz="1600" dirty="0"/>
              <a:t>ancho /* ancho del rectángulo */</a:t>
            </a:r>
          </a:p>
          <a:p>
            <a:pPr marL="0" indent="0" algn="just">
              <a:buNone/>
            </a:pPr>
            <a:r>
              <a:rPr lang="es-MX" sz="1600" dirty="0"/>
              <a:t> largo /* largo del rectángulo */</a:t>
            </a:r>
          </a:p>
          <a:p>
            <a:pPr marL="0" indent="0" algn="just">
              <a:buNone/>
            </a:pPr>
            <a:endParaRPr lang="es-MX" sz="1600" dirty="0"/>
          </a:p>
          <a:p>
            <a:pPr marL="0" indent="0" algn="just">
              <a:buNone/>
            </a:pPr>
            <a:r>
              <a:rPr lang="es-MX" sz="1600" dirty="0"/>
              <a:t> Salidas del Problema</a:t>
            </a:r>
          </a:p>
          <a:p>
            <a:pPr marL="0" indent="0" algn="just">
              <a:buNone/>
            </a:pPr>
            <a:r>
              <a:rPr lang="es-MX" sz="1600" dirty="0"/>
              <a:t> perímetro /* perímetro del rectángulo */ </a:t>
            </a:r>
          </a:p>
          <a:p>
            <a:pPr marL="0" indent="0" algn="just">
              <a:buNone/>
            </a:pPr>
            <a:r>
              <a:rPr lang="es-MX" sz="1600" dirty="0"/>
              <a:t>área /* área del rectángulo */ </a:t>
            </a:r>
          </a:p>
          <a:p>
            <a:pPr marL="0" indent="0" algn="just">
              <a:buNone/>
            </a:pPr>
            <a:endParaRPr lang="es-MX" sz="1600" dirty="0"/>
          </a:p>
          <a:p>
            <a:pPr marL="0" indent="0" algn="just">
              <a:buNone/>
            </a:pPr>
            <a:r>
              <a:rPr lang="es-MX" sz="1600" dirty="0"/>
              <a:t>Fórmulas Relevantes </a:t>
            </a:r>
          </a:p>
          <a:p>
            <a:pPr marL="0" indent="0" algn="just">
              <a:buNone/>
            </a:pPr>
            <a:r>
              <a:rPr lang="es-MX" sz="1600" dirty="0"/>
              <a:t>𝑃 = 2𝑎 + 2𝑏 (1) /* Fórmula del perímetro de un rectángulo */</a:t>
            </a:r>
          </a:p>
          <a:p>
            <a:pPr marL="0" indent="0" algn="just">
              <a:buNone/>
            </a:pPr>
            <a:r>
              <a:rPr lang="es-MX" sz="1600" dirty="0"/>
              <a:t>𝐴 = 𝑎𝑏 (2) /* Fórmula del área de un rectángulo */</a:t>
            </a:r>
            <a:endParaRPr lang="es-ES" sz="2000" dirty="0"/>
          </a:p>
        </p:txBody>
      </p:sp>
    </p:spTree>
    <p:extLst>
      <p:ext uri="{BB962C8B-B14F-4D97-AF65-F5344CB8AC3E}">
        <p14:creationId xmlns:p14="http://schemas.microsoft.com/office/powerpoint/2010/main" val="244748193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655471" y="933216"/>
            <a:ext cx="7719019" cy="1015664"/>
          </a:xfrm>
        </p:spPr>
        <p:txBody>
          <a:bodyPr/>
          <a:lstStyle/>
          <a:p>
            <a:r>
              <a:rPr lang="es-MX" sz="3200" b="1" dirty="0"/>
              <a:t>Caso de Estudio 2.2: Encontrar el Perímetro y el Área de un Rectángulo</a:t>
            </a:r>
            <a:br>
              <a:rPr lang="es-MX" sz="3200" b="1" dirty="0"/>
            </a:br>
            <a:endParaRPr lang="en-US" sz="3200" b="1" dirty="0"/>
          </a:p>
        </p:txBody>
      </p:sp>
      <p:sp>
        <p:nvSpPr>
          <p:cNvPr id="3" name="2 Marcador de fecha"/>
          <p:cNvSpPr>
            <a:spLocks noGrp="1"/>
          </p:cNvSpPr>
          <p:nvPr>
            <p:ph type="dt" sz="half" idx="10"/>
          </p:nvPr>
        </p:nvSpPr>
        <p:spPr/>
        <p:txBody>
          <a:bodyPr/>
          <a:lstStyle/>
          <a:p>
            <a:fld id="{44C3288D-7DAC-4DD2-9022-6C6BA4238517}" type="datetime1">
              <a:rPr lang="es-EC" smtClean="0"/>
              <a:t>26/11/2025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52</a:t>
            </a:fld>
            <a:endParaRPr lang="es-EC"/>
          </a:p>
        </p:txBody>
      </p:sp>
      <p:sp>
        <p:nvSpPr>
          <p:cNvPr id="12" name="4 Marcador de contenido">
            <a:extLst>
              <a:ext uri="{FF2B5EF4-FFF2-40B4-BE49-F238E27FC236}">
                <a16:creationId xmlns:a16="http://schemas.microsoft.com/office/drawing/2014/main" id="{97FC977D-3246-462D-803B-5253E38C74F7}"/>
              </a:ext>
            </a:extLst>
          </p:cNvPr>
          <p:cNvSpPr>
            <a:spLocks noGrp="1"/>
          </p:cNvSpPr>
          <p:nvPr>
            <p:ph idx="1"/>
          </p:nvPr>
        </p:nvSpPr>
        <p:spPr>
          <a:xfrm>
            <a:off x="562006" y="1628768"/>
            <a:ext cx="7331928" cy="4505814"/>
          </a:xfrm>
        </p:spPr>
        <p:txBody>
          <a:bodyPr>
            <a:normAutofit/>
          </a:bodyPr>
          <a:lstStyle/>
          <a:p>
            <a:pPr marL="0" indent="0" algn="just">
              <a:buNone/>
            </a:pPr>
            <a:r>
              <a:rPr lang="es-MX" sz="1600" dirty="0"/>
              <a:t>C) Diseño </a:t>
            </a:r>
          </a:p>
          <a:p>
            <a:pPr marL="0" indent="0" algn="just">
              <a:buNone/>
            </a:pPr>
            <a:r>
              <a:rPr lang="es-MX" sz="1600" dirty="0"/>
              <a:t>Una vez que se conoce las entradas y las salidas del problema, se deben listar los pasos necesarios para resolver el problema, es decir, el algoritmo. Algoritmo</a:t>
            </a:r>
          </a:p>
          <a:p>
            <a:pPr marL="0" indent="0" algn="just">
              <a:buNone/>
            </a:pPr>
            <a:r>
              <a:rPr lang="es-MX" sz="1600" dirty="0"/>
              <a:t> 1. Leer el ancho del rectángulo. </a:t>
            </a:r>
          </a:p>
          <a:p>
            <a:pPr marL="0" indent="0" algn="just">
              <a:buNone/>
            </a:pPr>
            <a:r>
              <a:rPr lang="es-MX" sz="1600" dirty="0"/>
              <a:t>2. Leer el largo del rectángulo. </a:t>
            </a:r>
          </a:p>
          <a:p>
            <a:pPr marL="0" indent="0" algn="just">
              <a:buNone/>
            </a:pPr>
            <a:r>
              <a:rPr lang="es-MX" sz="1600" dirty="0"/>
              <a:t>3. Calcular el perímetro. </a:t>
            </a:r>
          </a:p>
          <a:p>
            <a:pPr marL="0" indent="0" algn="just">
              <a:buNone/>
            </a:pPr>
            <a:r>
              <a:rPr lang="es-MX" sz="1600" dirty="0"/>
              <a:t>3.1. Asignar el producto de dos veces el ancho por dos veces el largo a la variable ‘perímetro’. </a:t>
            </a:r>
          </a:p>
          <a:p>
            <a:pPr marL="0" indent="0" algn="just">
              <a:buNone/>
            </a:pPr>
            <a:r>
              <a:rPr lang="es-MX" sz="1600" dirty="0"/>
              <a:t>4. Calcular el área.</a:t>
            </a:r>
          </a:p>
          <a:p>
            <a:pPr marL="0" indent="0" algn="just">
              <a:buNone/>
            </a:pPr>
            <a:r>
              <a:rPr lang="es-MX" sz="1600" dirty="0"/>
              <a:t> 4.1. Asignar el producto del ancho por el largo a la variable ‘área’. </a:t>
            </a:r>
          </a:p>
          <a:p>
            <a:pPr marL="0" indent="0" algn="just">
              <a:buNone/>
            </a:pPr>
            <a:r>
              <a:rPr lang="es-MX" sz="1600" dirty="0"/>
              <a:t>5. Imprimir el valor de la variable ‘perímetro’ y de la variable ‘área’.</a:t>
            </a:r>
            <a:endParaRPr lang="es-ES" sz="2000" dirty="0"/>
          </a:p>
        </p:txBody>
      </p:sp>
    </p:spTree>
    <p:extLst>
      <p:ext uri="{BB962C8B-B14F-4D97-AF65-F5344CB8AC3E}">
        <p14:creationId xmlns:p14="http://schemas.microsoft.com/office/powerpoint/2010/main" val="231150455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655471" y="933216"/>
            <a:ext cx="7719019" cy="1015664"/>
          </a:xfrm>
        </p:spPr>
        <p:txBody>
          <a:bodyPr/>
          <a:lstStyle/>
          <a:p>
            <a:r>
              <a:rPr lang="es-MX" sz="3200" b="1" dirty="0"/>
              <a:t>Caso de Estudio 2.2: Encontrar el Perímetro y el Área de un Rectángulo</a:t>
            </a:r>
            <a:br>
              <a:rPr lang="es-MX" sz="3200" b="1" dirty="0"/>
            </a:br>
            <a:endParaRPr lang="en-US" sz="3200" b="1" dirty="0"/>
          </a:p>
        </p:txBody>
      </p:sp>
      <p:sp>
        <p:nvSpPr>
          <p:cNvPr id="3" name="2 Marcador de fecha"/>
          <p:cNvSpPr>
            <a:spLocks noGrp="1"/>
          </p:cNvSpPr>
          <p:nvPr>
            <p:ph type="dt" sz="half" idx="10"/>
          </p:nvPr>
        </p:nvSpPr>
        <p:spPr/>
        <p:txBody>
          <a:bodyPr/>
          <a:lstStyle/>
          <a:p>
            <a:fld id="{44C3288D-7DAC-4DD2-9022-6C6BA4238517}" type="datetime1">
              <a:rPr lang="es-EC" smtClean="0"/>
              <a:t>26/11/2025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53</a:t>
            </a:fld>
            <a:endParaRPr lang="es-EC"/>
          </a:p>
        </p:txBody>
      </p:sp>
      <p:sp>
        <p:nvSpPr>
          <p:cNvPr id="12" name="4 Marcador de contenido">
            <a:extLst>
              <a:ext uri="{FF2B5EF4-FFF2-40B4-BE49-F238E27FC236}">
                <a16:creationId xmlns:a16="http://schemas.microsoft.com/office/drawing/2014/main" id="{97FC977D-3246-462D-803B-5253E38C74F7}"/>
              </a:ext>
            </a:extLst>
          </p:cNvPr>
          <p:cNvSpPr>
            <a:spLocks noGrp="1"/>
          </p:cNvSpPr>
          <p:nvPr>
            <p:ph idx="1"/>
          </p:nvPr>
        </p:nvSpPr>
        <p:spPr>
          <a:xfrm>
            <a:off x="527281" y="2369548"/>
            <a:ext cx="4204904" cy="3047404"/>
          </a:xfrm>
        </p:spPr>
        <p:txBody>
          <a:bodyPr>
            <a:normAutofit/>
          </a:bodyPr>
          <a:lstStyle/>
          <a:p>
            <a:pPr algn="just"/>
            <a:r>
              <a:rPr lang="es-MX" sz="1600" dirty="0"/>
              <a:t>D) Implementación Para implementar la solución, se debe escribir el algoritmo como un programa de C/C++ que contenga toda la información necesaria para completar la traducción a lenguaje máquina. En la Tabla 2.2.1 se muestra el código del programa en C/C++.</a:t>
            </a:r>
            <a:endParaRPr lang="es-ES" sz="2000" dirty="0"/>
          </a:p>
        </p:txBody>
      </p:sp>
      <p:pic>
        <p:nvPicPr>
          <p:cNvPr id="5" name="Imagen 4">
            <a:extLst>
              <a:ext uri="{FF2B5EF4-FFF2-40B4-BE49-F238E27FC236}">
                <a16:creationId xmlns:a16="http://schemas.microsoft.com/office/drawing/2014/main" id="{D5D54DC5-F14A-49E0-AAE3-53ED010E2C53}"/>
              </a:ext>
            </a:extLst>
          </p:cNvPr>
          <p:cNvPicPr>
            <a:picLocks noChangeAspect="1"/>
          </p:cNvPicPr>
          <p:nvPr/>
        </p:nvPicPr>
        <p:blipFill>
          <a:blip r:embed="rId2"/>
          <a:stretch>
            <a:fillRect/>
          </a:stretch>
        </p:blipFill>
        <p:spPr>
          <a:xfrm>
            <a:off x="5289630" y="1190128"/>
            <a:ext cx="4760791" cy="4952449"/>
          </a:xfrm>
          <a:prstGeom prst="rect">
            <a:avLst/>
          </a:prstGeom>
        </p:spPr>
      </p:pic>
      <p:sp>
        <p:nvSpPr>
          <p:cNvPr id="11" name="CuadroTexto 10">
            <a:extLst>
              <a:ext uri="{FF2B5EF4-FFF2-40B4-BE49-F238E27FC236}">
                <a16:creationId xmlns:a16="http://schemas.microsoft.com/office/drawing/2014/main" id="{352C24C8-B500-4B70-AE9C-9D9A80236B7C}"/>
              </a:ext>
            </a:extLst>
          </p:cNvPr>
          <p:cNvSpPr txBox="1"/>
          <p:nvPr/>
        </p:nvSpPr>
        <p:spPr>
          <a:xfrm>
            <a:off x="5289630" y="6288753"/>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Programa 2.2.1</a:t>
            </a:r>
            <a:r>
              <a:rPr lang="es-ES" sz="1200" dirty="0">
                <a:solidFill>
                  <a:schemeClr val="tx1">
                    <a:lumMod val="50000"/>
                    <a:lumOff val="50000"/>
                  </a:schemeClr>
                </a:solidFill>
                <a:latin typeface="+mj-lt"/>
              </a:rPr>
              <a:t> Código del Programa Caso de Estudio.</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190585046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655471" y="933216"/>
            <a:ext cx="7719019" cy="1015664"/>
          </a:xfrm>
        </p:spPr>
        <p:txBody>
          <a:bodyPr/>
          <a:lstStyle/>
          <a:p>
            <a:r>
              <a:rPr lang="es-MX" sz="3200" b="1" dirty="0"/>
              <a:t>Caso de Estudio 2.2: Encontrar el Perímetro y el Área de un Rectángulo</a:t>
            </a:r>
            <a:br>
              <a:rPr lang="es-MX" sz="3200" b="1" dirty="0"/>
            </a:br>
            <a:endParaRPr lang="en-US" sz="3200" b="1" dirty="0"/>
          </a:p>
        </p:txBody>
      </p:sp>
      <p:sp>
        <p:nvSpPr>
          <p:cNvPr id="3" name="2 Marcador de fecha"/>
          <p:cNvSpPr>
            <a:spLocks noGrp="1"/>
          </p:cNvSpPr>
          <p:nvPr>
            <p:ph type="dt" sz="half" idx="10"/>
          </p:nvPr>
        </p:nvSpPr>
        <p:spPr/>
        <p:txBody>
          <a:bodyPr/>
          <a:lstStyle/>
          <a:p>
            <a:fld id="{44C3288D-7DAC-4DD2-9022-6C6BA4238517}" type="datetime1">
              <a:rPr lang="es-EC" smtClean="0"/>
              <a:t>26/11/2025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54</a:t>
            </a:fld>
            <a:endParaRPr lang="es-EC"/>
          </a:p>
        </p:txBody>
      </p:sp>
      <p:sp>
        <p:nvSpPr>
          <p:cNvPr id="12" name="4 Marcador de contenido">
            <a:extLst>
              <a:ext uri="{FF2B5EF4-FFF2-40B4-BE49-F238E27FC236}">
                <a16:creationId xmlns:a16="http://schemas.microsoft.com/office/drawing/2014/main" id="{97FC977D-3246-462D-803B-5253E38C74F7}"/>
              </a:ext>
            </a:extLst>
          </p:cNvPr>
          <p:cNvSpPr>
            <a:spLocks noGrp="1"/>
          </p:cNvSpPr>
          <p:nvPr>
            <p:ph idx="1"/>
          </p:nvPr>
        </p:nvSpPr>
        <p:spPr>
          <a:xfrm>
            <a:off x="527281" y="2369548"/>
            <a:ext cx="4204904" cy="3047404"/>
          </a:xfrm>
        </p:spPr>
        <p:txBody>
          <a:bodyPr>
            <a:normAutofit/>
          </a:bodyPr>
          <a:lstStyle/>
          <a:p>
            <a:pPr algn="just"/>
            <a:r>
              <a:rPr lang="es-MX" sz="1600" dirty="0"/>
              <a:t>E) Pruebas </a:t>
            </a:r>
          </a:p>
          <a:p>
            <a:pPr marL="0" indent="0" algn="just">
              <a:buNone/>
            </a:pPr>
            <a:endParaRPr lang="es-MX" sz="1600" dirty="0"/>
          </a:p>
          <a:p>
            <a:pPr marL="0" indent="0" algn="just">
              <a:buNone/>
            </a:pPr>
            <a:r>
              <a:rPr lang="es-MX" sz="1600" dirty="0"/>
              <a:t>La Tabla 2.2.2 muestra un ejemplo de la salida del programa, donde se puede ver que los resultados del programa tienen sentido, comparando estos resultados con los datos devueltos por una calculadora. </a:t>
            </a:r>
            <a:endParaRPr lang="es-ES" sz="2000" dirty="0"/>
          </a:p>
        </p:txBody>
      </p:sp>
      <p:pic>
        <p:nvPicPr>
          <p:cNvPr id="7" name="Imagen 6">
            <a:extLst>
              <a:ext uri="{FF2B5EF4-FFF2-40B4-BE49-F238E27FC236}">
                <a16:creationId xmlns:a16="http://schemas.microsoft.com/office/drawing/2014/main" id="{CAF5A955-1D86-4154-B48A-7BDBBBD55A30}"/>
              </a:ext>
            </a:extLst>
          </p:cNvPr>
          <p:cNvPicPr>
            <a:picLocks noChangeAspect="1"/>
          </p:cNvPicPr>
          <p:nvPr/>
        </p:nvPicPr>
        <p:blipFill>
          <a:blip r:embed="rId2"/>
          <a:stretch>
            <a:fillRect/>
          </a:stretch>
        </p:blipFill>
        <p:spPr>
          <a:xfrm>
            <a:off x="4889998" y="2789971"/>
            <a:ext cx="6115904" cy="1782029"/>
          </a:xfrm>
          <a:prstGeom prst="rect">
            <a:avLst/>
          </a:prstGeom>
        </p:spPr>
      </p:pic>
      <p:sp>
        <p:nvSpPr>
          <p:cNvPr id="10" name="CuadroTexto 9">
            <a:extLst>
              <a:ext uri="{FF2B5EF4-FFF2-40B4-BE49-F238E27FC236}">
                <a16:creationId xmlns:a16="http://schemas.microsoft.com/office/drawing/2014/main" id="{5EAA7C61-4254-4B23-8FC4-0EFB82147811}"/>
              </a:ext>
            </a:extLst>
          </p:cNvPr>
          <p:cNvSpPr txBox="1"/>
          <p:nvPr/>
        </p:nvSpPr>
        <p:spPr>
          <a:xfrm>
            <a:off x="4933442" y="4766760"/>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Ejecución del Programa  2.2.2</a:t>
            </a:r>
            <a:r>
              <a:rPr lang="es-ES" sz="1200" dirty="0">
                <a:solidFill>
                  <a:schemeClr val="tx1">
                    <a:lumMod val="50000"/>
                    <a:lumOff val="50000"/>
                  </a:schemeClr>
                </a:solidFill>
                <a:latin typeface="+mj-lt"/>
              </a:rPr>
              <a:t> Ejecución del Programa Caso de Estudio.</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311307361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fontScale="85000" lnSpcReduction="20000"/>
          </a:bodyPr>
          <a:lstStyle/>
          <a:p>
            <a:pPr lvl="1"/>
            <a:r>
              <a:rPr lang="es-MX" sz="1700" dirty="0"/>
              <a:t>Estructuras de Control Secuenciales. </a:t>
            </a:r>
          </a:p>
          <a:p>
            <a:pPr lvl="1"/>
            <a:r>
              <a:rPr lang="es-MX" sz="1700" dirty="0"/>
              <a:t>Escritura. </a:t>
            </a:r>
          </a:p>
          <a:p>
            <a:pPr lvl="1"/>
            <a:r>
              <a:rPr lang="es-MX" sz="1700" dirty="0"/>
              <a:t>Lectura </a:t>
            </a:r>
          </a:p>
          <a:p>
            <a:pPr lvl="1"/>
            <a:r>
              <a:rPr lang="es-MX" sz="1700" dirty="0"/>
              <a:t>Problema 2.1. (Aplicación de estructuras de control secuenciales de escritura y lectura).</a:t>
            </a:r>
          </a:p>
          <a:p>
            <a:pPr lvl="1"/>
            <a:r>
              <a:rPr lang="es-MX" sz="1700" dirty="0"/>
              <a:t>Asignación. </a:t>
            </a:r>
          </a:p>
          <a:p>
            <a:pPr lvl="1"/>
            <a:r>
              <a:rPr lang="es-MX" sz="1700" dirty="0"/>
              <a:t>Asignación Simple </a:t>
            </a:r>
          </a:p>
          <a:p>
            <a:pPr lvl="1"/>
            <a:r>
              <a:rPr lang="es-MX" sz="1700" dirty="0"/>
              <a:t>Problema 2.2. (Aplicación de estructuras de control secuenciales de asignación simple). </a:t>
            </a:r>
          </a:p>
          <a:p>
            <a:pPr lvl="1"/>
            <a:r>
              <a:rPr lang="es-MX" sz="1700" dirty="0"/>
              <a:t>Asignación Contador </a:t>
            </a:r>
          </a:p>
          <a:p>
            <a:pPr lvl="1"/>
            <a:r>
              <a:rPr lang="es-MX" sz="1700" dirty="0"/>
              <a:t>Problema 2.3. (Aplicación de estructuras de control secuenciales de asignación contador). </a:t>
            </a:r>
          </a:p>
          <a:p>
            <a:pPr lvl="1"/>
            <a:r>
              <a:rPr lang="es-MX" sz="1700" dirty="0"/>
              <a:t>Asignación Acumulador </a:t>
            </a:r>
          </a:p>
          <a:p>
            <a:pPr lvl="1"/>
            <a:r>
              <a:rPr lang="es-MX" sz="1700" dirty="0"/>
              <a:t>Problema 2.4. (Aplicación de estructuras de control secuenciales de asignación acumulador tipo sumas) </a:t>
            </a:r>
          </a:p>
          <a:p>
            <a:pPr lvl="1"/>
            <a:r>
              <a:rPr lang="es-MX" sz="1700" dirty="0"/>
              <a:t>Problema 2.5. (Aplicación de estructuras de control secuenciales de asignación acumulador tipo productos) . </a:t>
            </a:r>
          </a:p>
          <a:p>
            <a:pPr lvl="1"/>
            <a:r>
              <a:rPr lang="es-MX" sz="1700" dirty="0"/>
              <a:t>Asignación de Trabajo </a:t>
            </a:r>
          </a:p>
          <a:p>
            <a:pPr lvl="1"/>
            <a:r>
              <a:rPr lang="es-MX" sz="1700" dirty="0"/>
              <a:t>Problema 2.6. (Aplicación de estructuras de control secuenciales de asignación de trabajo) </a:t>
            </a:r>
          </a:p>
          <a:p>
            <a:pPr lvl="1"/>
            <a:r>
              <a:rPr lang="es-MX" sz="1700" dirty="0"/>
              <a:t>Caso de Estudio 2.1: Encontrar el Perímetro y el Área de un Circulo </a:t>
            </a:r>
          </a:p>
          <a:p>
            <a:pPr lvl="1"/>
            <a:r>
              <a:rPr lang="es-MX" sz="1700" dirty="0"/>
              <a:t>Caso de Estudio 2.2: Encontrar el Perímetro y el Área de un Rectángulo </a:t>
            </a:r>
          </a:p>
          <a:p>
            <a:pPr lvl="1">
              <a:lnSpc>
                <a:spcPct val="80000"/>
              </a:lnSpc>
            </a:pPr>
            <a:r>
              <a:rPr lang="es-MX" sz="3300" b="1" dirty="0">
                <a:solidFill>
                  <a:srgbClr val="FF0000"/>
                </a:solidFill>
              </a:rPr>
              <a:t>Caso de Estudio 2.3: Encontrar la Generatriz, el Área y el Volumen de un Cono </a:t>
            </a:r>
          </a:p>
          <a:p>
            <a:pPr lvl="1"/>
            <a:r>
              <a:rPr lang="es-MX" sz="1700" dirty="0"/>
              <a:t>Caso de Estudio 2.4: Encontrar la distancia, tiempo de vuelo y la altura alcanzada por un proyectil </a:t>
            </a:r>
            <a:endParaRPr lang="es-419" sz="1700" dirty="0"/>
          </a:p>
        </p:txBody>
      </p:sp>
      <p:sp>
        <p:nvSpPr>
          <p:cNvPr id="5" name="4 Marcador de fecha"/>
          <p:cNvSpPr>
            <a:spLocks noGrp="1"/>
          </p:cNvSpPr>
          <p:nvPr>
            <p:ph type="dt" sz="half" idx="10"/>
          </p:nvPr>
        </p:nvSpPr>
        <p:spPr/>
        <p:txBody>
          <a:bodyPr/>
          <a:lstStyle/>
          <a:p>
            <a:fld id="{85E4E129-A937-4BEE-8A17-D7969DFE55C2}" type="datetime1">
              <a:rPr lang="es-EC">
                <a:solidFill>
                  <a:prstClr val="black">
                    <a:lumMod val="65000"/>
                    <a:lumOff val="35000"/>
                  </a:prstClr>
                </a:solidFill>
              </a:rPr>
              <a:pPr/>
              <a:t>26/11/2025</a:t>
            </a:fld>
            <a:endParaRPr lang="es-EC" dirty="0">
              <a:solidFill>
                <a:prstClr val="black">
                  <a:lumMod val="65000"/>
                  <a:lumOff val="35000"/>
                </a:prstClr>
              </a:solidFill>
            </a:endParaRP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55</a:t>
            </a:fld>
            <a:endParaRPr lang="es-EC">
              <a:solidFill>
                <a:prstClr val="black">
                  <a:lumMod val="65000"/>
                  <a:lumOff val="35000"/>
                </a:prstClr>
              </a:solidFill>
            </a:endParaRPr>
          </a:p>
        </p:txBody>
      </p:sp>
    </p:spTree>
    <p:extLst>
      <p:ext uri="{BB962C8B-B14F-4D97-AF65-F5344CB8AC3E}">
        <p14:creationId xmlns:p14="http://schemas.microsoft.com/office/powerpoint/2010/main" val="304921619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156094" y="1766594"/>
            <a:ext cx="7719019" cy="1015664"/>
          </a:xfrm>
        </p:spPr>
        <p:txBody>
          <a:bodyPr/>
          <a:lstStyle/>
          <a:p>
            <a:r>
              <a:rPr lang="es-MX" sz="3200" b="1" dirty="0"/>
              <a:t>Caso de Estudio 2.3: Encontrar la Generatriz, el Área y el Volumen de un Cono </a:t>
            </a:r>
            <a:br>
              <a:rPr lang="es-MX" sz="1600" b="1" dirty="0">
                <a:solidFill>
                  <a:srgbClr val="FF0000"/>
                </a:solidFill>
              </a:rPr>
            </a:br>
            <a:endParaRPr lang="en-US" sz="1600" b="1" dirty="0"/>
          </a:p>
        </p:txBody>
      </p:sp>
      <p:sp>
        <p:nvSpPr>
          <p:cNvPr id="3" name="2 Marcador de fecha"/>
          <p:cNvSpPr>
            <a:spLocks noGrp="1"/>
          </p:cNvSpPr>
          <p:nvPr>
            <p:ph type="dt" sz="half" idx="10"/>
          </p:nvPr>
        </p:nvSpPr>
        <p:spPr/>
        <p:txBody>
          <a:bodyPr/>
          <a:lstStyle/>
          <a:p>
            <a:fld id="{44C3288D-7DAC-4DD2-9022-6C6BA4238517}" type="datetime1">
              <a:rPr lang="es-EC" smtClean="0"/>
              <a:t>26/11/2025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56</a:t>
            </a:fld>
            <a:endParaRPr lang="es-EC"/>
          </a:p>
        </p:txBody>
      </p:sp>
      <p:sp>
        <p:nvSpPr>
          <p:cNvPr id="12" name="4 Marcador de contenido">
            <a:extLst>
              <a:ext uri="{FF2B5EF4-FFF2-40B4-BE49-F238E27FC236}">
                <a16:creationId xmlns:a16="http://schemas.microsoft.com/office/drawing/2014/main" id="{97FC977D-3246-462D-803B-5253E38C74F7}"/>
              </a:ext>
            </a:extLst>
          </p:cNvPr>
          <p:cNvSpPr>
            <a:spLocks noGrp="1"/>
          </p:cNvSpPr>
          <p:nvPr>
            <p:ph idx="1"/>
          </p:nvPr>
        </p:nvSpPr>
        <p:spPr>
          <a:xfrm>
            <a:off x="527281" y="2369548"/>
            <a:ext cx="4204904" cy="3047404"/>
          </a:xfrm>
        </p:spPr>
        <p:txBody>
          <a:bodyPr>
            <a:normAutofit/>
          </a:bodyPr>
          <a:lstStyle/>
          <a:p>
            <a:pPr algn="just"/>
            <a:r>
              <a:rPr lang="es-MX" sz="1600" dirty="0"/>
              <a:t>A) Problema </a:t>
            </a:r>
          </a:p>
          <a:p>
            <a:pPr marL="0" indent="0" algn="just">
              <a:buNone/>
            </a:pPr>
            <a:endParaRPr lang="es-MX" sz="1600" dirty="0"/>
          </a:p>
          <a:p>
            <a:pPr marL="0" indent="0" algn="just">
              <a:buNone/>
            </a:pPr>
            <a:r>
              <a:rPr lang="es-MX" sz="1600" dirty="0"/>
              <a:t>Escribir un programa para calcular e imprimir la generatriz, el área y el volumen de un cono. (Ver Figura 2.2.1) </a:t>
            </a:r>
            <a:endParaRPr lang="es-ES" sz="2000" dirty="0"/>
          </a:p>
        </p:txBody>
      </p:sp>
      <p:sp>
        <p:nvSpPr>
          <p:cNvPr id="10" name="CuadroTexto 9">
            <a:extLst>
              <a:ext uri="{FF2B5EF4-FFF2-40B4-BE49-F238E27FC236}">
                <a16:creationId xmlns:a16="http://schemas.microsoft.com/office/drawing/2014/main" id="{059C31C6-B0A0-452D-9146-3103AD0A9F26}"/>
              </a:ext>
            </a:extLst>
          </p:cNvPr>
          <p:cNvSpPr txBox="1"/>
          <p:nvPr/>
        </p:nvSpPr>
        <p:spPr>
          <a:xfrm>
            <a:off x="5715921" y="4445075"/>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Figura 2.3.1</a:t>
            </a:r>
            <a:r>
              <a:rPr lang="es-ES" sz="1200" dirty="0">
                <a:solidFill>
                  <a:schemeClr val="tx1">
                    <a:lumMod val="50000"/>
                    <a:lumOff val="50000"/>
                  </a:schemeClr>
                </a:solidFill>
                <a:latin typeface="+mj-lt"/>
              </a:rPr>
              <a:t> </a:t>
            </a:r>
            <a:r>
              <a:rPr lang="es-MX" sz="1200" dirty="0">
                <a:solidFill>
                  <a:schemeClr val="tx1">
                    <a:lumMod val="50000"/>
                    <a:lumOff val="50000"/>
                  </a:schemeClr>
                </a:solidFill>
                <a:latin typeface="+mj-lt"/>
              </a:rPr>
              <a:t>El  cono y sus fórmulas</a:t>
            </a:r>
            <a:r>
              <a:rPr lang="es-ES" sz="1200" dirty="0">
                <a:solidFill>
                  <a:schemeClr val="tx1">
                    <a:lumMod val="50000"/>
                    <a:lumOff val="50000"/>
                  </a:schemeClr>
                </a:solidFill>
                <a:latin typeface="+mj-lt"/>
              </a:rPr>
              <a:t> .</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pic>
        <p:nvPicPr>
          <p:cNvPr id="5" name="Imagen 4">
            <a:extLst>
              <a:ext uri="{FF2B5EF4-FFF2-40B4-BE49-F238E27FC236}">
                <a16:creationId xmlns:a16="http://schemas.microsoft.com/office/drawing/2014/main" id="{1368A312-F2DA-49E2-B9FE-DAC950009569}"/>
              </a:ext>
            </a:extLst>
          </p:cNvPr>
          <p:cNvPicPr>
            <a:picLocks noChangeAspect="1"/>
          </p:cNvPicPr>
          <p:nvPr/>
        </p:nvPicPr>
        <p:blipFill>
          <a:blip r:embed="rId2"/>
          <a:stretch>
            <a:fillRect/>
          </a:stretch>
        </p:blipFill>
        <p:spPr>
          <a:xfrm>
            <a:off x="5715921" y="2557078"/>
            <a:ext cx="2753109" cy="1743844"/>
          </a:xfrm>
          <a:prstGeom prst="rect">
            <a:avLst/>
          </a:prstGeom>
        </p:spPr>
      </p:pic>
    </p:spTree>
    <p:extLst>
      <p:ext uri="{BB962C8B-B14F-4D97-AF65-F5344CB8AC3E}">
        <p14:creationId xmlns:p14="http://schemas.microsoft.com/office/powerpoint/2010/main" val="147606726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156094" y="1002665"/>
            <a:ext cx="7719019" cy="1015664"/>
          </a:xfrm>
        </p:spPr>
        <p:txBody>
          <a:bodyPr/>
          <a:lstStyle/>
          <a:p>
            <a:r>
              <a:rPr lang="es-MX" sz="2800" b="1" dirty="0"/>
              <a:t>Caso de Estudio 2.3: Encontrar la Generatriz, el Área y el Volumen de un Cono </a:t>
            </a:r>
            <a:br>
              <a:rPr lang="es-MX" sz="1600" b="1" dirty="0">
                <a:solidFill>
                  <a:srgbClr val="FF0000"/>
                </a:solidFill>
              </a:rPr>
            </a:br>
            <a:endParaRPr lang="en-US" sz="1600" b="1" dirty="0"/>
          </a:p>
        </p:txBody>
      </p:sp>
      <p:sp>
        <p:nvSpPr>
          <p:cNvPr id="3" name="2 Marcador de fecha"/>
          <p:cNvSpPr>
            <a:spLocks noGrp="1"/>
          </p:cNvSpPr>
          <p:nvPr>
            <p:ph type="dt" sz="half" idx="10"/>
          </p:nvPr>
        </p:nvSpPr>
        <p:spPr/>
        <p:txBody>
          <a:bodyPr/>
          <a:lstStyle/>
          <a:p>
            <a:fld id="{44C3288D-7DAC-4DD2-9022-6C6BA4238517}" type="datetime1">
              <a:rPr lang="es-EC" smtClean="0"/>
              <a:t>26/11/2025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57</a:t>
            </a:fld>
            <a:endParaRPr lang="es-EC"/>
          </a:p>
        </p:txBody>
      </p:sp>
      <p:sp>
        <p:nvSpPr>
          <p:cNvPr id="12" name="4 Marcador de contenido">
            <a:extLst>
              <a:ext uri="{FF2B5EF4-FFF2-40B4-BE49-F238E27FC236}">
                <a16:creationId xmlns:a16="http://schemas.microsoft.com/office/drawing/2014/main" id="{97FC977D-3246-462D-803B-5253E38C74F7}"/>
              </a:ext>
            </a:extLst>
          </p:cNvPr>
          <p:cNvSpPr>
            <a:spLocks noGrp="1"/>
          </p:cNvSpPr>
          <p:nvPr>
            <p:ph idx="1"/>
          </p:nvPr>
        </p:nvSpPr>
        <p:spPr>
          <a:xfrm>
            <a:off x="527281" y="1655180"/>
            <a:ext cx="11209448" cy="5202820"/>
          </a:xfrm>
        </p:spPr>
        <p:txBody>
          <a:bodyPr>
            <a:normAutofit fontScale="92500" lnSpcReduction="20000"/>
          </a:bodyPr>
          <a:lstStyle/>
          <a:p>
            <a:pPr algn="just"/>
            <a:r>
              <a:rPr lang="es-MX" sz="1600" dirty="0"/>
              <a:t>B) Análisis</a:t>
            </a:r>
          </a:p>
          <a:p>
            <a:pPr marL="0" indent="0" algn="just">
              <a:buNone/>
            </a:pPr>
            <a:r>
              <a:rPr lang="es-MX" sz="1600" dirty="0"/>
              <a:t> Claramente, se puede ver que las entradas del problema son el radio y la altura del cono. Hay tres salidas requeridas: la generatriz, el área y el volumen del cilindro. Partiendo de un conocimiento básico de geometría, se sabe que hay una relación entre el radio y la altura del rectángulo con la generatriz, con el área y con el volumen de la figura geométrica. Las fórmulas requeridas se incluyen en el requerimiento de los datos. </a:t>
            </a:r>
          </a:p>
          <a:p>
            <a:pPr marL="0" indent="0" algn="just">
              <a:buNone/>
            </a:pPr>
            <a:endParaRPr lang="es-MX" sz="1600" dirty="0"/>
          </a:p>
          <a:p>
            <a:pPr marL="0" indent="0" algn="just">
              <a:buNone/>
            </a:pPr>
            <a:r>
              <a:rPr lang="es-MX" sz="1600" dirty="0"/>
              <a:t>B.1) Requerimiento de los Datos </a:t>
            </a:r>
          </a:p>
          <a:p>
            <a:pPr marL="0" indent="0" algn="just">
              <a:buNone/>
            </a:pPr>
            <a:endParaRPr lang="es-MX" sz="1600" dirty="0"/>
          </a:p>
          <a:p>
            <a:pPr marL="0" indent="0" algn="just">
              <a:buNone/>
            </a:pPr>
            <a:r>
              <a:rPr lang="es-MX" sz="1600" dirty="0"/>
              <a:t>Constante del Problema PI = 3.141596</a:t>
            </a:r>
          </a:p>
          <a:p>
            <a:pPr marL="0" indent="0" algn="just">
              <a:buNone/>
            </a:pPr>
            <a:r>
              <a:rPr lang="es-MX" sz="1600" dirty="0"/>
              <a:t> Entradas del Problema </a:t>
            </a:r>
          </a:p>
          <a:p>
            <a:pPr marL="0" indent="0" algn="just">
              <a:buNone/>
            </a:pPr>
            <a:r>
              <a:rPr lang="es-MX" sz="1600" dirty="0"/>
              <a:t>r /* radio del cono */ </a:t>
            </a:r>
          </a:p>
          <a:p>
            <a:pPr marL="0" indent="0" algn="just">
              <a:buNone/>
            </a:pPr>
            <a:r>
              <a:rPr lang="es-MX" sz="1600" dirty="0"/>
              <a:t>h /* altura del cono */ </a:t>
            </a:r>
          </a:p>
          <a:p>
            <a:pPr marL="0" indent="0" algn="just">
              <a:buNone/>
            </a:pPr>
            <a:r>
              <a:rPr lang="es-MX" sz="1600" dirty="0"/>
              <a:t>Salidas del Problema </a:t>
            </a:r>
          </a:p>
          <a:p>
            <a:pPr marL="0" indent="0" algn="just">
              <a:buNone/>
            </a:pPr>
            <a:r>
              <a:rPr lang="es-MX" sz="1600" dirty="0"/>
              <a:t>g /* generatriz del cono */ área /* </a:t>
            </a:r>
          </a:p>
          <a:p>
            <a:pPr marL="0" indent="0" algn="just">
              <a:buNone/>
            </a:pPr>
            <a:r>
              <a:rPr lang="es-MX" sz="1600" dirty="0"/>
              <a:t>área del cono */ volumen /* </a:t>
            </a:r>
          </a:p>
          <a:p>
            <a:pPr marL="0" indent="0" algn="just">
              <a:buNone/>
            </a:pPr>
            <a:r>
              <a:rPr lang="es-MX" sz="1600" dirty="0"/>
              <a:t>volumen del cono */ </a:t>
            </a:r>
          </a:p>
          <a:p>
            <a:pPr marL="0" indent="0" algn="just">
              <a:buNone/>
            </a:pPr>
            <a:endParaRPr lang="es-MX" sz="1600" dirty="0"/>
          </a:p>
          <a:p>
            <a:pPr marL="0" indent="0" algn="just">
              <a:buNone/>
            </a:pPr>
            <a:r>
              <a:rPr lang="es-MX" sz="1600" dirty="0"/>
              <a:t>Fórmulas Relevantes </a:t>
            </a:r>
          </a:p>
          <a:p>
            <a:pPr marL="0" indent="0" algn="just">
              <a:buNone/>
            </a:pPr>
            <a:r>
              <a:rPr lang="es-MX" sz="1600" dirty="0"/>
              <a:t>Fórmula de la generatriz de un cono */  𝑔 = √𝑟 2 + ℎ 2 (1) /*</a:t>
            </a:r>
          </a:p>
          <a:p>
            <a:pPr marL="0" indent="0" algn="just">
              <a:buNone/>
            </a:pPr>
            <a:r>
              <a:rPr lang="es-MX" sz="1600" dirty="0"/>
              <a:t>Fórmula del área de un cono */  𝐴 = 𝜋 ∙ 𝑟 ∙ 𝑔 + 𝜋 ∙ 𝑟 2 (2) /*</a:t>
            </a:r>
          </a:p>
          <a:p>
            <a:pPr marL="0" indent="0" algn="just">
              <a:buNone/>
            </a:pPr>
            <a:r>
              <a:rPr lang="es-MX" sz="1600" dirty="0"/>
              <a:t>Fórmula del volumen de un cono * 𝑉 = 1 3 𝜋 ∙ 𝑟 2 ∙ ℎ (3) /*</a:t>
            </a:r>
          </a:p>
          <a:p>
            <a:pPr marL="0" indent="0" algn="just">
              <a:buNone/>
            </a:pPr>
            <a:r>
              <a:rPr lang="es-MX" sz="1200" dirty="0"/>
              <a:t> </a:t>
            </a:r>
            <a:endParaRPr lang="es-ES" sz="1600" dirty="0"/>
          </a:p>
        </p:txBody>
      </p:sp>
    </p:spTree>
    <p:extLst>
      <p:ext uri="{BB962C8B-B14F-4D97-AF65-F5344CB8AC3E}">
        <p14:creationId xmlns:p14="http://schemas.microsoft.com/office/powerpoint/2010/main" val="209596552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156094" y="1002665"/>
            <a:ext cx="7719019" cy="1015664"/>
          </a:xfrm>
        </p:spPr>
        <p:txBody>
          <a:bodyPr/>
          <a:lstStyle/>
          <a:p>
            <a:r>
              <a:rPr lang="es-MX" sz="2800" b="1" dirty="0"/>
              <a:t>Caso de Estudio 2.3: Encontrar la Generatriz, el Área y el Volumen de un Cono </a:t>
            </a:r>
            <a:br>
              <a:rPr lang="es-MX" sz="1600" b="1" dirty="0">
                <a:solidFill>
                  <a:srgbClr val="FF0000"/>
                </a:solidFill>
              </a:rPr>
            </a:br>
            <a:endParaRPr lang="en-US" sz="1600" b="1" dirty="0"/>
          </a:p>
        </p:txBody>
      </p:sp>
      <p:sp>
        <p:nvSpPr>
          <p:cNvPr id="3" name="2 Marcador de fecha"/>
          <p:cNvSpPr>
            <a:spLocks noGrp="1"/>
          </p:cNvSpPr>
          <p:nvPr>
            <p:ph type="dt" sz="half" idx="10"/>
          </p:nvPr>
        </p:nvSpPr>
        <p:spPr/>
        <p:txBody>
          <a:bodyPr/>
          <a:lstStyle/>
          <a:p>
            <a:fld id="{44C3288D-7DAC-4DD2-9022-6C6BA4238517}" type="datetime1">
              <a:rPr lang="es-EC" smtClean="0"/>
              <a:t>26/11/2025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58</a:t>
            </a:fld>
            <a:endParaRPr lang="es-EC"/>
          </a:p>
        </p:txBody>
      </p:sp>
      <p:sp>
        <p:nvSpPr>
          <p:cNvPr id="12" name="4 Marcador de contenido">
            <a:extLst>
              <a:ext uri="{FF2B5EF4-FFF2-40B4-BE49-F238E27FC236}">
                <a16:creationId xmlns:a16="http://schemas.microsoft.com/office/drawing/2014/main" id="{97FC977D-3246-462D-803B-5253E38C74F7}"/>
              </a:ext>
            </a:extLst>
          </p:cNvPr>
          <p:cNvSpPr>
            <a:spLocks noGrp="1"/>
          </p:cNvSpPr>
          <p:nvPr>
            <p:ph idx="1"/>
          </p:nvPr>
        </p:nvSpPr>
        <p:spPr>
          <a:xfrm>
            <a:off x="527281" y="1655179"/>
            <a:ext cx="5188640" cy="4701171"/>
          </a:xfrm>
        </p:spPr>
        <p:txBody>
          <a:bodyPr>
            <a:normAutofit fontScale="85000" lnSpcReduction="10000"/>
          </a:bodyPr>
          <a:lstStyle/>
          <a:p>
            <a:pPr algn="just"/>
            <a:r>
              <a:rPr lang="es-MX" sz="2000" dirty="0"/>
              <a:t>B.2) Diagrama de Entrada-Salida En la Figura 2.3.2 se muestra el diagrama de Entrada-Salida del programa donde se identifican y se diagraman las entradas, salidas y auxiliares del problema como son: a) Entradas: la variable ‘r’ (radio) y la variable ‘h’ (altura); b) Salidas: las variables ‘g’ (generatriz), ‘área’ y ‘volumen’; c) Auxiliares: la constante PI</a:t>
            </a:r>
          </a:p>
          <a:p>
            <a:pPr marL="0" indent="0" algn="just">
              <a:buNone/>
            </a:pPr>
            <a:endParaRPr lang="es-MX" sz="2000" dirty="0"/>
          </a:p>
          <a:p>
            <a:pPr algn="just"/>
            <a:r>
              <a:rPr lang="es-MX" sz="2000" dirty="0"/>
              <a:t>B.2) Diagrama de Proceso En la Figura 2.3.2 se muestra el diagrama de procesos del problema donde se identifican y se diagraman las entradas, salidas y auxiliares del problema como son: a) Entradas: la variable ‘r’ (radio) y la variable ‘h’ (altura); b) Salidas: las variables ‘g’ (generatriz), ‘</a:t>
            </a:r>
            <a:r>
              <a:rPr lang="es-MX" sz="2000" dirty="0" err="1"/>
              <a:t>area</a:t>
            </a:r>
            <a:r>
              <a:rPr lang="es-MX" sz="2000" dirty="0"/>
              <a:t>’ y ‘volumen’; c) Auxiliares: la constante PI.</a:t>
            </a:r>
            <a:endParaRPr lang="es-ES" sz="2800" dirty="0"/>
          </a:p>
        </p:txBody>
      </p:sp>
      <p:pic>
        <p:nvPicPr>
          <p:cNvPr id="5" name="Imagen 4">
            <a:extLst>
              <a:ext uri="{FF2B5EF4-FFF2-40B4-BE49-F238E27FC236}">
                <a16:creationId xmlns:a16="http://schemas.microsoft.com/office/drawing/2014/main" id="{52F9EB25-6692-4607-B6DC-6D2B9570AE96}"/>
              </a:ext>
            </a:extLst>
          </p:cNvPr>
          <p:cNvPicPr>
            <a:picLocks noChangeAspect="1"/>
          </p:cNvPicPr>
          <p:nvPr/>
        </p:nvPicPr>
        <p:blipFill>
          <a:blip r:embed="rId2"/>
          <a:stretch>
            <a:fillRect/>
          </a:stretch>
        </p:blipFill>
        <p:spPr>
          <a:xfrm>
            <a:off x="6096000" y="1510497"/>
            <a:ext cx="3486637" cy="2529068"/>
          </a:xfrm>
          <a:prstGeom prst="rect">
            <a:avLst/>
          </a:prstGeom>
        </p:spPr>
      </p:pic>
      <p:sp>
        <p:nvSpPr>
          <p:cNvPr id="8" name="CuadroTexto 7">
            <a:extLst>
              <a:ext uri="{FF2B5EF4-FFF2-40B4-BE49-F238E27FC236}">
                <a16:creationId xmlns:a16="http://schemas.microsoft.com/office/drawing/2014/main" id="{EC335BB3-E2F2-4627-A66B-625C884BEF22}"/>
              </a:ext>
            </a:extLst>
          </p:cNvPr>
          <p:cNvSpPr txBox="1"/>
          <p:nvPr/>
        </p:nvSpPr>
        <p:spPr>
          <a:xfrm>
            <a:off x="5715921" y="4445075"/>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Figura 2.3.2</a:t>
            </a:r>
            <a:r>
              <a:rPr lang="es-ES" sz="1200" dirty="0">
                <a:solidFill>
                  <a:schemeClr val="tx1">
                    <a:lumMod val="50000"/>
                    <a:lumOff val="50000"/>
                  </a:schemeClr>
                </a:solidFill>
                <a:latin typeface="+mj-lt"/>
              </a:rPr>
              <a:t> </a:t>
            </a:r>
            <a:r>
              <a:rPr lang="es-EC" sz="1200" dirty="0">
                <a:solidFill>
                  <a:schemeClr val="tx1">
                    <a:lumMod val="50000"/>
                    <a:lumOff val="50000"/>
                  </a:schemeClr>
                </a:solidFill>
                <a:latin typeface="+mj-lt"/>
              </a:rPr>
              <a:t>Diagrama de Entrada-Salida del Programa.</a:t>
            </a:r>
            <a:r>
              <a:rPr lang="es-ES" sz="1200" dirty="0">
                <a:solidFill>
                  <a:schemeClr val="tx1">
                    <a:lumMod val="50000"/>
                    <a:lumOff val="50000"/>
                  </a:schemeClr>
                </a:solidFill>
                <a:latin typeface="+mj-lt"/>
              </a:rPr>
              <a:t> .</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308488791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156094" y="1002665"/>
            <a:ext cx="7719019" cy="1015664"/>
          </a:xfrm>
        </p:spPr>
        <p:txBody>
          <a:bodyPr/>
          <a:lstStyle/>
          <a:p>
            <a:r>
              <a:rPr lang="es-MX" sz="2800" b="1" dirty="0"/>
              <a:t>Caso de Estudio 2.3: Encontrar la Generatriz, el Área y el Volumen de un Cono </a:t>
            </a:r>
            <a:br>
              <a:rPr lang="es-MX" sz="1600" b="1" dirty="0">
                <a:solidFill>
                  <a:srgbClr val="FF0000"/>
                </a:solidFill>
              </a:rPr>
            </a:br>
            <a:endParaRPr lang="en-US" sz="1600" b="1" dirty="0"/>
          </a:p>
        </p:txBody>
      </p:sp>
      <p:sp>
        <p:nvSpPr>
          <p:cNvPr id="3" name="2 Marcador de fecha"/>
          <p:cNvSpPr>
            <a:spLocks noGrp="1"/>
          </p:cNvSpPr>
          <p:nvPr>
            <p:ph type="dt" sz="half" idx="10"/>
          </p:nvPr>
        </p:nvSpPr>
        <p:spPr/>
        <p:txBody>
          <a:bodyPr/>
          <a:lstStyle/>
          <a:p>
            <a:fld id="{44C3288D-7DAC-4DD2-9022-6C6BA4238517}" type="datetime1">
              <a:rPr lang="es-EC" smtClean="0"/>
              <a:t>26/11/2025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59</a:t>
            </a:fld>
            <a:endParaRPr lang="es-EC"/>
          </a:p>
        </p:txBody>
      </p:sp>
      <p:sp>
        <p:nvSpPr>
          <p:cNvPr id="12" name="4 Marcador de contenido">
            <a:extLst>
              <a:ext uri="{FF2B5EF4-FFF2-40B4-BE49-F238E27FC236}">
                <a16:creationId xmlns:a16="http://schemas.microsoft.com/office/drawing/2014/main" id="{97FC977D-3246-462D-803B-5253E38C74F7}"/>
              </a:ext>
            </a:extLst>
          </p:cNvPr>
          <p:cNvSpPr>
            <a:spLocks noGrp="1"/>
          </p:cNvSpPr>
          <p:nvPr>
            <p:ph idx="1"/>
          </p:nvPr>
        </p:nvSpPr>
        <p:spPr>
          <a:xfrm>
            <a:off x="527280" y="1655179"/>
            <a:ext cx="10863758" cy="4701171"/>
          </a:xfrm>
        </p:spPr>
        <p:txBody>
          <a:bodyPr>
            <a:normAutofit fontScale="92500" lnSpcReduction="10000"/>
          </a:bodyPr>
          <a:lstStyle/>
          <a:p>
            <a:pPr algn="just"/>
            <a:r>
              <a:rPr lang="es-MX" sz="1800" dirty="0"/>
              <a:t>C) Diseño </a:t>
            </a:r>
          </a:p>
          <a:p>
            <a:pPr marL="0" indent="0" algn="just">
              <a:buNone/>
            </a:pPr>
            <a:endParaRPr lang="es-MX" sz="1800" dirty="0"/>
          </a:p>
          <a:p>
            <a:pPr marL="0" indent="0" algn="just">
              <a:buNone/>
            </a:pPr>
            <a:r>
              <a:rPr lang="es-MX" sz="1800" dirty="0"/>
              <a:t>Una vez que se conoce las entradas y las salidas del problema, se deben listar los pasos necesarios para resolver el problema, es decir, el algoritmo. Algoritmo </a:t>
            </a:r>
          </a:p>
          <a:p>
            <a:pPr marL="457200" indent="-457200" algn="just">
              <a:buAutoNum type="arabicPeriod"/>
            </a:pPr>
            <a:r>
              <a:rPr lang="es-MX" sz="1800" dirty="0"/>
              <a:t>Leer el radio del cono, utilizando la variable ‘r’. </a:t>
            </a:r>
          </a:p>
          <a:p>
            <a:pPr marL="457200" indent="-457200" algn="just">
              <a:buAutoNum type="arabicPeriod"/>
            </a:pPr>
            <a:r>
              <a:rPr lang="es-MX" sz="1800" dirty="0"/>
              <a:t>Leer la altura del cono, utilizando la variable ‘h’.</a:t>
            </a:r>
          </a:p>
          <a:p>
            <a:pPr marL="457200" indent="-457200" algn="just">
              <a:buAutoNum type="arabicPeriod"/>
            </a:pPr>
            <a:r>
              <a:rPr lang="es-MX" sz="1800" dirty="0"/>
              <a:t>Calcular la generatriz del cono. </a:t>
            </a:r>
          </a:p>
          <a:p>
            <a:pPr marL="0" indent="0" algn="just">
              <a:buNone/>
            </a:pPr>
            <a:r>
              <a:rPr lang="es-MX" sz="1800" dirty="0"/>
              <a:t>3.1. Asignar la raíz cuadrada de la suma del cuadrado del radio más el cuadrado de la altura (‘h’), a la variable ‘g’ (generatriz). </a:t>
            </a:r>
          </a:p>
          <a:p>
            <a:pPr marL="0" indent="0" algn="just">
              <a:buNone/>
            </a:pPr>
            <a:r>
              <a:rPr lang="es-MX" sz="1800" dirty="0"/>
              <a:t>4. Calcular el área. </a:t>
            </a:r>
          </a:p>
          <a:p>
            <a:pPr marL="0" indent="0" algn="just">
              <a:buNone/>
            </a:pPr>
            <a:r>
              <a:rPr lang="es-MX" sz="1800" dirty="0"/>
              <a:t>4.1. Asignar la suma entre el producto de PI por el radio y por la altura más el producto de PI por el cuadrado del radio, a la variable ‘área’. </a:t>
            </a:r>
          </a:p>
          <a:p>
            <a:pPr marL="0" indent="0" algn="just">
              <a:buNone/>
            </a:pPr>
            <a:r>
              <a:rPr lang="es-MX" sz="1800" dirty="0"/>
              <a:t>5. Calcular el volumen. </a:t>
            </a:r>
          </a:p>
          <a:p>
            <a:pPr marL="0" indent="0" algn="just">
              <a:buNone/>
            </a:pPr>
            <a:r>
              <a:rPr lang="es-MX" sz="1800" dirty="0"/>
              <a:t>5.1. Asignar el producto de un tercio por PI por el cuadrado del radio y por la altura, a la variable ‘volumen’. </a:t>
            </a:r>
          </a:p>
          <a:p>
            <a:pPr marL="0" indent="0" algn="just">
              <a:buNone/>
            </a:pPr>
            <a:r>
              <a:rPr lang="es-MX" sz="1800" dirty="0"/>
              <a:t>6. Imprimir el valor de la variable ‘g’ (generatriz), de la variable ‘</a:t>
            </a:r>
            <a:r>
              <a:rPr lang="es-MX" sz="1800" dirty="0" err="1"/>
              <a:t>area</a:t>
            </a:r>
            <a:r>
              <a:rPr lang="es-MX" sz="1800" dirty="0"/>
              <a:t>’ y de la variable ‘volumen’. </a:t>
            </a:r>
            <a:endParaRPr lang="es-ES" dirty="0"/>
          </a:p>
        </p:txBody>
      </p:sp>
    </p:spTree>
    <p:extLst>
      <p:ext uri="{BB962C8B-B14F-4D97-AF65-F5344CB8AC3E}">
        <p14:creationId xmlns:p14="http://schemas.microsoft.com/office/powerpoint/2010/main" val="139484122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fecha"/>
          <p:cNvSpPr>
            <a:spLocks noGrp="1"/>
          </p:cNvSpPr>
          <p:nvPr>
            <p:ph type="dt" sz="half" idx="10"/>
          </p:nvPr>
        </p:nvSpPr>
        <p:spPr/>
        <p:txBody>
          <a:bodyPr/>
          <a:lstStyle/>
          <a:p>
            <a:fld id="{44C3288D-7DAC-4DD2-9022-6C6BA4238517}" type="datetime1">
              <a:rPr lang="es-EC" smtClean="0"/>
              <a:t>26/11/2025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60</a:t>
            </a:fld>
            <a:endParaRPr lang="es-EC"/>
          </a:p>
        </p:txBody>
      </p:sp>
      <p:sp>
        <p:nvSpPr>
          <p:cNvPr id="12" name="4 Marcador de contenido">
            <a:extLst>
              <a:ext uri="{FF2B5EF4-FFF2-40B4-BE49-F238E27FC236}">
                <a16:creationId xmlns:a16="http://schemas.microsoft.com/office/drawing/2014/main" id="{97FC977D-3246-462D-803B-5253E38C74F7}"/>
              </a:ext>
            </a:extLst>
          </p:cNvPr>
          <p:cNvSpPr>
            <a:spLocks noGrp="1"/>
          </p:cNvSpPr>
          <p:nvPr>
            <p:ph idx="1"/>
          </p:nvPr>
        </p:nvSpPr>
        <p:spPr>
          <a:xfrm>
            <a:off x="527280" y="1655180"/>
            <a:ext cx="3338664" cy="1875098"/>
          </a:xfrm>
        </p:spPr>
        <p:txBody>
          <a:bodyPr>
            <a:normAutofit fontScale="62500" lnSpcReduction="20000"/>
          </a:bodyPr>
          <a:lstStyle/>
          <a:p>
            <a:pPr marL="0" indent="0" algn="just">
              <a:buNone/>
            </a:pPr>
            <a:r>
              <a:rPr lang="es-MX" dirty="0"/>
              <a:t>D) Implementación Para implementar la solución, se debe escribir el algoritmo como un programa de C/C++ que contenga toda la información necesaria para completar la traducción a lenguaje máquina. En la Tabla 2.3.1 se muestra el código del programa en C/C++</a:t>
            </a:r>
            <a:endParaRPr lang="es-ES" dirty="0"/>
          </a:p>
        </p:txBody>
      </p:sp>
      <p:pic>
        <p:nvPicPr>
          <p:cNvPr id="5" name="Imagen 4">
            <a:extLst>
              <a:ext uri="{FF2B5EF4-FFF2-40B4-BE49-F238E27FC236}">
                <a16:creationId xmlns:a16="http://schemas.microsoft.com/office/drawing/2014/main" id="{67AF4E22-94A7-4BD2-8492-C865B617BE6C}"/>
              </a:ext>
            </a:extLst>
          </p:cNvPr>
          <p:cNvPicPr>
            <a:picLocks noChangeAspect="1"/>
          </p:cNvPicPr>
          <p:nvPr/>
        </p:nvPicPr>
        <p:blipFill rotWithShape="1">
          <a:blip r:embed="rId2"/>
          <a:srcRect t="1033"/>
          <a:stretch/>
        </p:blipFill>
        <p:spPr>
          <a:xfrm>
            <a:off x="4222713" y="1701478"/>
            <a:ext cx="6198098" cy="4432904"/>
          </a:xfrm>
          <a:prstGeom prst="rect">
            <a:avLst/>
          </a:prstGeom>
        </p:spPr>
      </p:pic>
      <p:pic>
        <p:nvPicPr>
          <p:cNvPr id="8" name="Imagen 7">
            <a:extLst>
              <a:ext uri="{FF2B5EF4-FFF2-40B4-BE49-F238E27FC236}">
                <a16:creationId xmlns:a16="http://schemas.microsoft.com/office/drawing/2014/main" id="{F9222DA7-BB08-4F27-A834-321346C7FB6F}"/>
              </a:ext>
            </a:extLst>
          </p:cNvPr>
          <p:cNvPicPr>
            <a:picLocks noChangeAspect="1"/>
          </p:cNvPicPr>
          <p:nvPr/>
        </p:nvPicPr>
        <p:blipFill>
          <a:blip r:embed="rId3"/>
          <a:stretch>
            <a:fillRect/>
          </a:stretch>
        </p:blipFill>
        <p:spPr>
          <a:xfrm>
            <a:off x="4306677" y="254810"/>
            <a:ext cx="6114133" cy="1400370"/>
          </a:xfrm>
          <a:prstGeom prst="rect">
            <a:avLst/>
          </a:prstGeom>
        </p:spPr>
      </p:pic>
      <p:sp>
        <p:nvSpPr>
          <p:cNvPr id="13" name="CuadroTexto 12">
            <a:extLst>
              <a:ext uri="{FF2B5EF4-FFF2-40B4-BE49-F238E27FC236}">
                <a16:creationId xmlns:a16="http://schemas.microsoft.com/office/drawing/2014/main" id="{E9F31DB5-DE5F-4226-AE31-FC0C52886CF3}"/>
              </a:ext>
            </a:extLst>
          </p:cNvPr>
          <p:cNvSpPr txBox="1"/>
          <p:nvPr/>
        </p:nvSpPr>
        <p:spPr>
          <a:xfrm>
            <a:off x="4795387" y="6215747"/>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Programa 2.3.1.</a:t>
            </a:r>
            <a:r>
              <a:rPr lang="es-ES" sz="1200" dirty="0">
                <a:solidFill>
                  <a:schemeClr val="tx1">
                    <a:lumMod val="50000"/>
                    <a:lumOff val="50000"/>
                  </a:schemeClr>
                </a:solidFill>
                <a:latin typeface="+mj-lt"/>
              </a:rPr>
              <a:t> Código del Programa Caso de Estudio.</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360666565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156094" y="1002665"/>
            <a:ext cx="7719019" cy="1015664"/>
          </a:xfrm>
        </p:spPr>
        <p:txBody>
          <a:bodyPr/>
          <a:lstStyle/>
          <a:p>
            <a:r>
              <a:rPr lang="es-MX" sz="2800" b="1" dirty="0"/>
              <a:t>Caso de Estudio 2.3: Encontrar la Generatriz, el Área y el Volumen de un Cono </a:t>
            </a:r>
            <a:br>
              <a:rPr lang="es-MX" sz="1600" b="1" dirty="0">
                <a:solidFill>
                  <a:srgbClr val="FF0000"/>
                </a:solidFill>
              </a:rPr>
            </a:br>
            <a:endParaRPr lang="en-US" sz="1600" b="1" dirty="0"/>
          </a:p>
        </p:txBody>
      </p:sp>
      <p:sp>
        <p:nvSpPr>
          <p:cNvPr id="3" name="2 Marcador de fecha"/>
          <p:cNvSpPr>
            <a:spLocks noGrp="1"/>
          </p:cNvSpPr>
          <p:nvPr>
            <p:ph type="dt" sz="half" idx="10"/>
          </p:nvPr>
        </p:nvSpPr>
        <p:spPr/>
        <p:txBody>
          <a:bodyPr/>
          <a:lstStyle/>
          <a:p>
            <a:fld id="{44C3288D-7DAC-4DD2-9022-6C6BA4238517}" type="datetime1">
              <a:rPr lang="es-EC" smtClean="0"/>
              <a:t>26/11/2025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61</a:t>
            </a:fld>
            <a:endParaRPr lang="es-EC"/>
          </a:p>
        </p:txBody>
      </p:sp>
      <p:sp>
        <p:nvSpPr>
          <p:cNvPr id="12" name="4 Marcador de contenido">
            <a:extLst>
              <a:ext uri="{FF2B5EF4-FFF2-40B4-BE49-F238E27FC236}">
                <a16:creationId xmlns:a16="http://schemas.microsoft.com/office/drawing/2014/main" id="{97FC977D-3246-462D-803B-5253E38C74F7}"/>
              </a:ext>
            </a:extLst>
          </p:cNvPr>
          <p:cNvSpPr>
            <a:spLocks noGrp="1"/>
          </p:cNvSpPr>
          <p:nvPr>
            <p:ph idx="1"/>
          </p:nvPr>
        </p:nvSpPr>
        <p:spPr>
          <a:xfrm>
            <a:off x="527280" y="1655179"/>
            <a:ext cx="4773925" cy="1666755"/>
          </a:xfrm>
        </p:spPr>
        <p:txBody>
          <a:bodyPr>
            <a:normAutofit fontScale="70000" lnSpcReduction="20000"/>
          </a:bodyPr>
          <a:lstStyle/>
          <a:p>
            <a:pPr algn="just"/>
            <a:r>
              <a:rPr lang="es-MX" dirty="0"/>
              <a:t>E) Pruebas La Tabla 2.3.2 muestra un ejemplo de la salida del programa, donde se puede ver que los resultados del programa tienen sentido, comparando estos resultados con los datos devueltos por una calculadora.</a:t>
            </a:r>
            <a:endParaRPr lang="es-ES" dirty="0"/>
          </a:p>
        </p:txBody>
      </p:sp>
      <p:pic>
        <p:nvPicPr>
          <p:cNvPr id="5" name="Imagen 4">
            <a:extLst>
              <a:ext uri="{FF2B5EF4-FFF2-40B4-BE49-F238E27FC236}">
                <a16:creationId xmlns:a16="http://schemas.microsoft.com/office/drawing/2014/main" id="{74B3E158-E4A6-4871-AD57-47021A4FFB3E}"/>
              </a:ext>
            </a:extLst>
          </p:cNvPr>
          <p:cNvPicPr>
            <a:picLocks noChangeAspect="1"/>
          </p:cNvPicPr>
          <p:nvPr/>
        </p:nvPicPr>
        <p:blipFill>
          <a:blip r:embed="rId2"/>
          <a:stretch>
            <a:fillRect/>
          </a:stretch>
        </p:blipFill>
        <p:spPr>
          <a:xfrm>
            <a:off x="1013811" y="3146786"/>
            <a:ext cx="6382411" cy="1692886"/>
          </a:xfrm>
          <a:prstGeom prst="rect">
            <a:avLst/>
          </a:prstGeom>
        </p:spPr>
      </p:pic>
      <p:sp>
        <p:nvSpPr>
          <p:cNvPr id="8" name="CuadroTexto 7">
            <a:extLst>
              <a:ext uri="{FF2B5EF4-FFF2-40B4-BE49-F238E27FC236}">
                <a16:creationId xmlns:a16="http://schemas.microsoft.com/office/drawing/2014/main" id="{E4CA0BF1-27F8-46BF-9A9E-2AF1ACDEED3B}"/>
              </a:ext>
            </a:extLst>
          </p:cNvPr>
          <p:cNvSpPr txBox="1"/>
          <p:nvPr/>
        </p:nvSpPr>
        <p:spPr>
          <a:xfrm>
            <a:off x="962854" y="4910574"/>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Ejecución del Programa  2.3.2</a:t>
            </a:r>
            <a:r>
              <a:rPr lang="es-ES" sz="1200" dirty="0">
                <a:solidFill>
                  <a:schemeClr val="tx1">
                    <a:lumMod val="50000"/>
                    <a:lumOff val="50000"/>
                  </a:schemeClr>
                </a:solidFill>
                <a:latin typeface="+mj-lt"/>
              </a:rPr>
              <a:t> Ejecución del Programa Caso de Estudio.</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330117564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fontScale="85000" lnSpcReduction="20000"/>
          </a:bodyPr>
          <a:lstStyle/>
          <a:p>
            <a:pPr lvl="1"/>
            <a:r>
              <a:rPr lang="es-MX" sz="1700" dirty="0"/>
              <a:t>Estructuras de Control Secuenciales. </a:t>
            </a:r>
          </a:p>
          <a:p>
            <a:pPr lvl="1"/>
            <a:r>
              <a:rPr lang="es-MX" sz="1700" dirty="0"/>
              <a:t>Escritura. </a:t>
            </a:r>
          </a:p>
          <a:p>
            <a:pPr lvl="1"/>
            <a:r>
              <a:rPr lang="es-MX" sz="1700" dirty="0"/>
              <a:t>Lectura </a:t>
            </a:r>
          </a:p>
          <a:p>
            <a:pPr lvl="1"/>
            <a:r>
              <a:rPr lang="es-MX" sz="1700" dirty="0"/>
              <a:t>Problema 2.1. (Aplicación de estructuras de control secuenciales de escritura y lectura).</a:t>
            </a:r>
          </a:p>
          <a:p>
            <a:pPr lvl="1"/>
            <a:r>
              <a:rPr lang="es-MX" sz="1700" dirty="0"/>
              <a:t>Asignación. </a:t>
            </a:r>
          </a:p>
          <a:p>
            <a:pPr lvl="1"/>
            <a:r>
              <a:rPr lang="es-MX" sz="1700" dirty="0"/>
              <a:t>Asignación Simple </a:t>
            </a:r>
          </a:p>
          <a:p>
            <a:pPr lvl="1"/>
            <a:r>
              <a:rPr lang="es-MX" sz="1700" dirty="0"/>
              <a:t>Problema 2.2. (Aplicación de estructuras de control secuenciales de asignación simple). </a:t>
            </a:r>
          </a:p>
          <a:p>
            <a:pPr lvl="1"/>
            <a:r>
              <a:rPr lang="es-MX" sz="1700" dirty="0"/>
              <a:t>Asignación Contador </a:t>
            </a:r>
          </a:p>
          <a:p>
            <a:pPr lvl="1"/>
            <a:r>
              <a:rPr lang="es-MX" sz="1700" dirty="0"/>
              <a:t>Problema 2.3. (Aplicación de estructuras de control secuenciales de asignación contador). </a:t>
            </a:r>
          </a:p>
          <a:p>
            <a:pPr lvl="1"/>
            <a:r>
              <a:rPr lang="es-MX" sz="1700" dirty="0"/>
              <a:t>Asignación Acumulador </a:t>
            </a:r>
          </a:p>
          <a:p>
            <a:pPr lvl="1"/>
            <a:r>
              <a:rPr lang="es-MX" sz="1700" dirty="0"/>
              <a:t>Problema 2.4. (Aplicación de estructuras de control secuenciales de asignación acumulador tipo sumas) </a:t>
            </a:r>
          </a:p>
          <a:p>
            <a:pPr lvl="1"/>
            <a:r>
              <a:rPr lang="es-MX" sz="1700" dirty="0"/>
              <a:t>Problema 2.5. (Aplicación de estructuras de control secuenciales de asignación acumulador tipo productos) . </a:t>
            </a:r>
          </a:p>
          <a:p>
            <a:pPr lvl="1"/>
            <a:r>
              <a:rPr lang="es-MX" sz="1700" dirty="0"/>
              <a:t>Asignación de Trabajo </a:t>
            </a:r>
          </a:p>
          <a:p>
            <a:pPr lvl="1"/>
            <a:r>
              <a:rPr lang="es-MX" sz="1700" dirty="0"/>
              <a:t>Problema 2.6. (Aplicación de estructuras de control secuenciales de asignación de trabajo) </a:t>
            </a:r>
          </a:p>
          <a:p>
            <a:pPr lvl="1"/>
            <a:r>
              <a:rPr lang="es-MX" sz="1700" dirty="0"/>
              <a:t>Caso de Estudio 2.1: Encontrar el Perímetro y el Área de un Circulo </a:t>
            </a:r>
          </a:p>
          <a:p>
            <a:pPr lvl="1"/>
            <a:r>
              <a:rPr lang="es-MX" sz="1700" dirty="0"/>
              <a:t>Caso de Estudio 2.2: Encontrar el Perímetro y el Área de un Rectángulo </a:t>
            </a:r>
          </a:p>
          <a:p>
            <a:pPr lvl="1"/>
            <a:r>
              <a:rPr lang="es-MX" sz="1700" dirty="0"/>
              <a:t>Caso de Estudio 2.3: Encontrar la Generatriz, el Área y el Volumen de un Cono </a:t>
            </a:r>
          </a:p>
          <a:p>
            <a:pPr lvl="1">
              <a:lnSpc>
                <a:spcPct val="70000"/>
              </a:lnSpc>
            </a:pPr>
            <a:r>
              <a:rPr lang="es-MX" sz="3300" b="1" dirty="0">
                <a:solidFill>
                  <a:srgbClr val="FF0000"/>
                </a:solidFill>
              </a:rPr>
              <a:t>Caso de Estudio 2.4: Encontrar la distancia, tiempo de vuelo y la altura alcanzada por un proyectil </a:t>
            </a:r>
            <a:endParaRPr lang="es-419" sz="3300" b="1" dirty="0">
              <a:solidFill>
                <a:srgbClr val="FF0000"/>
              </a:solidFill>
            </a:endParaRPr>
          </a:p>
        </p:txBody>
      </p:sp>
      <p:sp>
        <p:nvSpPr>
          <p:cNvPr id="5" name="4 Marcador de fecha"/>
          <p:cNvSpPr>
            <a:spLocks noGrp="1"/>
          </p:cNvSpPr>
          <p:nvPr>
            <p:ph type="dt" sz="half" idx="10"/>
          </p:nvPr>
        </p:nvSpPr>
        <p:spPr/>
        <p:txBody>
          <a:bodyPr/>
          <a:lstStyle/>
          <a:p>
            <a:fld id="{85E4E129-A937-4BEE-8A17-D7969DFE55C2}" type="datetime1">
              <a:rPr lang="es-EC">
                <a:solidFill>
                  <a:prstClr val="black">
                    <a:lumMod val="65000"/>
                    <a:lumOff val="35000"/>
                  </a:prstClr>
                </a:solidFill>
              </a:rPr>
              <a:pPr/>
              <a:t>26/11/2025</a:t>
            </a:fld>
            <a:endParaRPr lang="es-EC" dirty="0">
              <a:solidFill>
                <a:prstClr val="black">
                  <a:lumMod val="65000"/>
                  <a:lumOff val="35000"/>
                </a:prstClr>
              </a:solidFill>
            </a:endParaRP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62</a:t>
            </a:fld>
            <a:endParaRPr lang="es-EC">
              <a:solidFill>
                <a:prstClr val="black">
                  <a:lumMod val="65000"/>
                  <a:lumOff val="35000"/>
                </a:prstClr>
              </a:solidFill>
            </a:endParaRPr>
          </a:p>
        </p:txBody>
      </p:sp>
    </p:spTree>
    <p:extLst>
      <p:ext uri="{BB962C8B-B14F-4D97-AF65-F5344CB8AC3E}">
        <p14:creationId xmlns:p14="http://schemas.microsoft.com/office/powerpoint/2010/main" val="365549769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364439" y="1833889"/>
            <a:ext cx="7719019" cy="1015664"/>
          </a:xfrm>
        </p:spPr>
        <p:txBody>
          <a:bodyPr/>
          <a:lstStyle/>
          <a:p>
            <a:r>
              <a:rPr lang="es-MX" sz="2400" b="1" dirty="0"/>
              <a:t>Caso de Estudio 2.4: Encontrar la distancia, tiempo de vuelo y la altura alcanzada por un proyectil </a:t>
            </a:r>
            <a:br>
              <a:rPr lang="es-419" sz="3600" b="1" dirty="0">
                <a:solidFill>
                  <a:srgbClr val="FF0000"/>
                </a:solidFill>
              </a:rPr>
            </a:br>
            <a:br>
              <a:rPr lang="es-MX" sz="3600" b="1" dirty="0">
                <a:solidFill>
                  <a:srgbClr val="FF0000"/>
                </a:solidFill>
              </a:rPr>
            </a:br>
            <a:endParaRPr lang="en-US" sz="3600" b="1" dirty="0"/>
          </a:p>
        </p:txBody>
      </p:sp>
      <p:sp>
        <p:nvSpPr>
          <p:cNvPr id="3" name="2 Marcador de fecha"/>
          <p:cNvSpPr>
            <a:spLocks noGrp="1"/>
          </p:cNvSpPr>
          <p:nvPr>
            <p:ph type="dt" sz="half" idx="10"/>
          </p:nvPr>
        </p:nvSpPr>
        <p:spPr/>
        <p:txBody>
          <a:bodyPr/>
          <a:lstStyle/>
          <a:p>
            <a:fld id="{44C3288D-7DAC-4DD2-9022-6C6BA4238517}" type="datetime1">
              <a:rPr lang="es-EC" smtClean="0"/>
              <a:t>26/11/2025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63</a:t>
            </a:fld>
            <a:endParaRPr lang="es-EC"/>
          </a:p>
        </p:txBody>
      </p:sp>
      <p:sp>
        <p:nvSpPr>
          <p:cNvPr id="12" name="4 Marcador de contenido">
            <a:extLst>
              <a:ext uri="{FF2B5EF4-FFF2-40B4-BE49-F238E27FC236}">
                <a16:creationId xmlns:a16="http://schemas.microsoft.com/office/drawing/2014/main" id="{97FC977D-3246-462D-803B-5253E38C74F7}"/>
              </a:ext>
            </a:extLst>
          </p:cNvPr>
          <p:cNvSpPr>
            <a:spLocks noGrp="1"/>
          </p:cNvSpPr>
          <p:nvPr>
            <p:ph idx="1"/>
          </p:nvPr>
        </p:nvSpPr>
        <p:spPr>
          <a:xfrm>
            <a:off x="527280" y="1655179"/>
            <a:ext cx="4912822" cy="4701172"/>
          </a:xfrm>
        </p:spPr>
        <p:txBody>
          <a:bodyPr>
            <a:normAutofit fontScale="70000" lnSpcReduction="20000"/>
          </a:bodyPr>
          <a:lstStyle/>
          <a:p>
            <a:pPr algn="just"/>
            <a:r>
              <a:rPr lang="es-MX" dirty="0"/>
              <a:t>Escribir un programa para calcular e imprimir la altura ‘𝑦’ y la distancia ‘ℎ’ entre el punto 𝐴 y 𝐵, donde se encuentra un blanco para práctica de tiro (𝐵) en un plano inclinado cuya forma corresponde a un triángulo rectángulo como se muestra en la Figura 2.4.1. En la parte inferior correspondiente al punto 𝐴 se encuentra un aprendiz de tiro al blanco cuya distancia en la base del triángulo es conocida. Se sabe además que el aprendiz dispara un proyectil con un ángulo 𝜃 (𝑡ℎ𝑒𝑡𝑎) de lanzamiento conocido con respecto a la horizontal y con una velocidad 𝑉0 conocida, de acuerdo a las siguientes fórmulas matemáticas. (Problema adaptado de Serway y Jewett, 2005). </a:t>
            </a:r>
            <a:endParaRPr lang="es-ES" dirty="0"/>
          </a:p>
        </p:txBody>
      </p:sp>
      <p:sp>
        <p:nvSpPr>
          <p:cNvPr id="10" name="CuadroTexto 9">
            <a:extLst>
              <a:ext uri="{FF2B5EF4-FFF2-40B4-BE49-F238E27FC236}">
                <a16:creationId xmlns:a16="http://schemas.microsoft.com/office/drawing/2014/main" id="{ADFEE275-4F0B-4547-B113-1C250C1261DC}"/>
              </a:ext>
            </a:extLst>
          </p:cNvPr>
          <p:cNvSpPr txBox="1"/>
          <p:nvPr/>
        </p:nvSpPr>
        <p:spPr>
          <a:xfrm>
            <a:off x="5565377" y="5894686"/>
            <a:ext cx="5052749" cy="461665"/>
          </a:xfrm>
          <a:prstGeom prst="rect">
            <a:avLst/>
          </a:prstGeom>
          <a:noFill/>
        </p:spPr>
        <p:txBody>
          <a:bodyPr wrap="square">
            <a:spAutoFit/>
          </a:bodyPr>
          <a:lstStyle/>
          <a:p>
            <a:pPr algn="just"/>
            <a:r>
              <a:rPr lang="es-ES" sz="1200" b="1" dirty="0">
                <a:solidFill>
                  <a:schemeClr val="tx1">
                    <a:lumMod val="50000"/>
                    <a:lumOff val="50000"/>
                  </a:schemeClr>
                </a:solidFill>
                <a:latin typeface="+mj-lt"/>
              </a:rPr>
              <a:t>Figura 2.4.1.</a:t>
            </a:r>
            <a:r>
              <a:rPr lang="es-ES" sz="1200" dirty="0">
                <a:solidFill>
                  <a:schemeClr val="tx1">
                    <a:lumMod val="50000"/>
                    <a:lumOff val="50000"/>
                  </a:schemeClr>
                </a:solidFill>
                <a:latin typeface="+mj-lt"/>
              </a:rPr>
              <a:t> T</a:t>
            </a:r>
            <a:r>
              <a:rPr lang="es-MX" sz="1200" dirty="0">
                <a:solidFill>
                  <a:schemeClr val="tx1">
                    <a:lumMod val="50000"/>
                    <a:lumOff val="50000"/>
                  </a:schemeClr>
                </a:solidFill>
                <a:latin typeface="+mj-lt"/>
              </a:rPr>
              <a:t>iro parabólico en un plano inclinado. (Serway, R., Jewett, J., 2005)</a:t>
            </a:r>
            <a:endParaRPr lang="es-EC" sz="1200" dirty="0">
              <a:solidFill>
                <a:schemeClr val="tx1">
                  <a:lumMod val="50000"/>
                  <a:lumOff val="50000"/>
                </a:schemeClr>
              </a:solidFill>
              <a:latin typeface="+mj-lt"/>
            </a:endParaRPr>
          </a:p>
        </p:txBody>
      </p:sp>
      <p:pic>
        <p:nvPicPr>
          <p:cNvPr id="11" name="Imagen 10">
            <a:extLst>
              <a:ext uri="{FF2B5EF4-FFF2-40B4-BE49-F238E27FC236}">
                <a16:creationId xmlns:a16="http://schemas.microsoft.com/office/drawing/2014/main" id="{C75532D7-5F95-454F-B22B-06EA5806D8A9}"/>
              </a:ext>
            </a:extLst>
          </p:cNvPr>
          <p:cNvPicPr>
            <a:picLocks noChangeAspect="1"/>
          </p:cNvPicPr>
          <p:nvPr/>
        </p:nvPicPr>
        <p:blipFill>
          <a:blip r:embed="rId2"/>
          <a:stretch>
            <a:fillRect/>
          </a:stretch>
        </p:blipFill>
        <p:spPr>
          <a:xfrm>
            <a:off x="5340774" y="1467592"/>
            <a:ext cx="6287377" cy="2763921"/>
          </a:xfrm>
          <a:prstGeom prst="rect">
            <a:avLst/>
          </a:prstGeom>
        </p:spPr>
      </p:pic>
      <p:pic>
        <p:nvPicPr>
          <p:cNvPr id="5" name="Imagen 4">
            <a:extLst>
              <a:ext uri="{FF2B5EF4-FFF2-40B4-BE49-F238E27FC236}">
                <a16:creationId xmlns:a16="http://schemas.microsoft.com/office/drawing/2014/main" id="{5B48B55E-7662-441D-A528-5F96D05BDB54}"/>
              </a:ext>
            </a:extLst>
          </p:cNvPr>
          <p:cNvPicPr>
            <a:picLocks noChangeAspect="1"/>
          </p:cNvPicPr>
          <p:nvPr/>
        </p:nvPicPr>
        <p:blipFill>
          <a:blip r:embed="rId3"/>
          <a:stretch>
            <a:fillRect/>
          </a:stretch>
        </p:blipFill>
        <p:spPr>
          <a:xfrm>
            <a:off x="5565377" y="4798563"/>
            <a:ext cx="3181794" cy="990738"/>
          </a:xfrm>
          <a:prstGeom prst="rect">
            <a:avLst/>
          </a:prstGeom>
        </p:spPr>
      </p:pic>
    </p:spTree>
    <p:extLst>
      <p:ext uri="{BB962C8B-B14F-4D97-AF65-F5344CB8AC3E}">
        <p14:creationId xmlns:p14="http://schemas.microsoft.com/office/powerpoint/2010/main" val="294773982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364439" y="1833889"/>
            <a:ext cx="7719019" cy="1015664"/>
          </a:xfrm>
        </p:spPr>
        <p:txBody>
          <a:bodyPr/>
          <a:lstStyle/>
          <a:p>
            <a:r>
              <a:rPr lang="es-MX" sz="2400" b="1" dirty="0"/>
              <a:t>Caso de Estudio 2.4: Encontrar la distancia, tiempo de vuelo y la altura alcanzada por un proyectil </a:t>
            </a:r>
            <a:br>
              <a:rPr lang="es-419" sz="3600" b="1" dirty="0">
                <a:solidFill>
                  <a:srgbClr val="FF0000"/>
                </a:solidFill>
              </a:rPr>
            </a:br>
            <a:br>
              <a:rPr lang="es-MX" sz="3600" b="1" dirty="0">
                <a:solidFill>
                  <a:srgbClr val="FF0000"/>
                </a:solidFill>
              </a:rPr>
            </a:br>
            <a:endParaRPr lang="en-US" sz="3600" b="1" dirty="0"/>
          </a:p>
        </p:txBody>
      </p:sp>
      <p:sp>
        <p:nvSpPr>
          <p:cNvPr id="3" name="2 Marcador de fecha"/>
          <p:cNvSpPr>
            <a:spLocks noGrp="1"/>
          </p:cNvSpPr>
          <p:nvPr>
            <p:ph type="dt" sz="half" idx="10"/>
          </p:nvPr>
        </p:nvSpPr>
        <p:spPr/>
        <p:txBody>
          <a:bodyPr/>
          <a:lstStyle/>
          <a:p>
            <a:fld id="{44C3288D-7DAC-4DD2-9022-6C6BA4238517}" type="datetime1">
              <a:rPr lang="es-EC" smtClean="0"/>
              <a:t>26/11/2025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64</a:t>
            </a:fld>
            <a:endParaRPr lang="es-EC"/>
          </a:p>
        </p:txBody>
      </p:sp>
      <p:sp>
        <p:nvSpPr>
          <p:cNvPr id="12" name="4 Marcador de contenido">
            <a:extLst>
              <a:ext uri="{FF2B5EF4-FFF2-40B4-BE49-F238E27FC236}">
                <a16:creationId xmlns:a16="http://schemas.microsoft.com/office/drawing/2014/main" id="{97FC977D-3246-462D-803B-5253E38C74F7}"/>
              </a:ext>
            </a:extLst>
          </p:cNvPr>
          <p:cNvSpPr>
            <a:spLocks noGrp="1"/>
          </p:cNvSpPr>
          <p:nvPr>
            <p:ph idx="1"/>
          </p:nvPr>
        </p:nvSpPr>
        <p:spPr>
          <a:xfrm>
            <a:off x="527280" y="1655179"/>
            <a:ext cx="10863758" cy="4701172"/>
          </a:xfrm>
        </p:spPr>
        <p:txBody>
          <a:bodyPr>
            <a:normAutofit fontScale="70000" lnSpcReduction="20000"/>
          </a:bodyPr>
          <a:lstStyle/>
          <a:p>
            <a:pPr algn="just"/>
            <a:r>
              <a:rPr lang="es-MX" dirty="0"/>
              <a:t>B) Análisis </a:t>
            </a:r>
          </a:p>
          <a:p>
            <a:pPr marL="0" indent="0" algn="just">
              <a:buNone/>
            </a:pPr>
            <a:r>
              <a:rPr lang="es-MX" dirty="0"/>
              <a:t>Claramente, se puede ver que las entradas del problema son la distancia horizontal del plano inclinado, la velocidad inicial de lanzamiento del proyectil y el ángulo de lanzamiento theta en grados .Hay dos salidas requeridas que son la distancia vertical del plano inclinado y la distancia entre el punto A y B del plano inclinado. Partiendo de un conocimiento básico de Física, se sabe que hay una relación entre la velocidad, la distancia horizontal del plano inclinado y el ángulo de lanzamiento con la distancia vertical del plano inclinado y la hipotenusa del triángulo rectángulo. Las fórmulas requeridas se incluyen en el requerimiento de los datos. </a:t>
            </a:r>
          </a:p>
          <a:p>
            <a:pPr marL="0" indent="0" algn="just">
              <a:buNone/>
            </a:pPr>
            <a:r>
              <a:rPr lang="es-MX" dirty="0"/>
              <a:t>B.1) Requerimiento de los </a:t>
            </a:r>
          </a:p>
          <a:p>
            <a:pPr marL="0" indent="0" algn="just">
              <a:buNone/>
            </a:pPr>
            <a:r>
              <a:rPr lang="es-MX" dirty="0"/>
              <a:t>Constante del Problema </a:t>
            </a:r>
          </a:p>
          <a:p>
            <a:pPr marL="0" indent="0" algn="just">
              <a:buNone/>
            </a:pPr>
            <a:r>
              <a:rPr lang="es-MX" dirty="0"/>
              <a:t>PI = 3.141592 </a:t>
            </a:r>
          </a:p>
          <a:p>
            <a:pPr marL="0" indent="0" algn="just">
              <a:buNone/>
            </a:pPr>
            <a:r>
              <a:rPr lang="es-MX" dirty="0"/>
              <a:t>g = 9.80665 </a:t>
            </a:r>
          </a:p>
          <a:p>
            <a:pPr marL="0" indent="0" algn="just">
              <a:buNone/>
            </a:pPr>
            <a:r>
              <a:rPr lang="es-MX" dirty="0"/>
              <a:t>Entradas del Problema </a:t>
            </a:r>
          </a:p>
          <a:p>
            <a:pPr marL="0" indent="0" algn="just">
              <a:buNone/>
            </a:pPr>
            <a:r>
              <a:rPr lang="es-MX" dirty="0"/>
              <a:t>x /* distancia horizontal del plano inclinado */ </a:t>
            </a:r>
          </a:p>
          <a:p>
            <a:pPr marL="0" indent="0" algn="just">
              <a:buNone/>
            </a:pPr>
            <a:r>
              <a:rPr lang="es-MX" dirty="0"/>
              <a:t>theta /* ángulo de lanzamiento */ </a:t>
            </a:r>
          </a:p>
          <a:p>
            <a:pPr marL="0" indent="0" algn="just">
              <a:buNone/>
            </a:pPr>
            <a:r>
              <a:rPr lang="es-MX" dirty="0"/>
              <a:t>Vo /* velocidad inicial de lanzamiento */ </a:t>
            </a:r>
          </a:p>
          <a:p>
            <a:pPr marL="0" indent="0" algn="just">
              <a:buNone/>
            </a:pPr>
            <a:r>
              <a:rPr lang="es-MX" dirty="0"/>
              <a:t>Salidas del Problema</a:t>
            </a:r>
          </a:p>
          <a:p>
            <a:pPr marL="0" indent="0" algn="just">
              <a:buNone/>
            </a:pPr>
            <a:r>
              <a:rPr lang="es-MX" dirty="0"/>
              <a:t> y /* distancia vertical del plano inclinado */</a:t>
            </a:r>
          </a:p>
          <a:p>
            <a:pPr marL="0" indent="0" algn="just">
              <a:buNone/>
            </a:pPr>
            <a:r>
              <a:rPr lang="es-MX" dirty="0"/>
              <a:t> h /* distancia entre el punto A y B del plano inclinado */</a:t>
            </a:r>
            <a:endParaRPr lang="es-ES" dirty="0"/>
          </a:p>
        </p:txBody>
      </p:sp>
    </p:spTree>
    <p:extLst>
      <p:ext uri="{BB962C8B-B14F-4D97-AF65-F5344CB8AC3E}">
        <p14:creationId xmlns:p14="http://schemas.microsoft.com/office/powerpoint/2010/main" val="100781210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364439" y="1833889"/>
            <a:ext cx="7719019" cy="1015664"/>
          </a:xfrm>
        </p:spPr>
        <p:txBody>
          <a:bodyPr/>
          <a:lstStyle/>
          <a:p>
            <a:r>
              <a:rPr lang="es-MX" sz="2400" b="1" dirty="0"/>
              <a:t>Caso de Estudio 2.4: Encontrar la distancia, tiempo de vuelo y la altura alcanzada por un proyectil </a:t>
            </a:r>
            <a:br>
              <a:rPr lang="es-419" sz="3600" b="1" dirty="0">
                <a:solidFill>
                  <a:srgbClr val="FF0000"/>
                </a:solidFill>
              </a:rPr>
            </a:br>
            <a:br>
              <a:rPr lang="es-MX" sz="3600" b="1" dirty="0">
                <a:solidFill>
                  <a:srgbClr val="FF0000"/>
                </a:solidFill>
              </a:rPr>
            </a:br>
            <a:endParaRPr lang="en-US" sz="3600" b="1" dirty="0"/>
          </a:p>
        </p:txBody>
      </p:sp>
      <p:sp>
        <p:nvSpPr>
          <p:cNvPr id="3" name="2 Marcador de fecha"/>
          <p:cNvSpPr>
            <a:spLocks noGrp="1"/>
          </p:cNvSpPr>
          <p:nvPr>
            <p:ph type="dt" sz="half" idx="10"/>
          </p:nvPr>
        </p:nvSpPr>
        <p:spPr/>
        <p:txBody>
          <a:bodyPr/>
          <a:lstStyle/>
          <a:p>
            <a:fld id="{44C3288D-7DAC-4DD2-9022-6C6BA4238517}" type="datetime1">
              <a:rPr lang="es-EC" smtClean="0"/>
              <a:t>26/11/2025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65</a:t>
            </a:fld>
            <a:endParaRPr lang="es-EC"/>
          </a:p>
        </p:txBody>
      </p:sp>
      <p:sp>
        <p:nvSpPr>
          <p:cNvPr id="12" name="4 Marcador de contenido">
            <a:extLst>
              <a:ext uri="{FF2B5EF4-FFF2-40B4-BE49-F238E27FC236}">
                <a16:creationId xmlns:a16="http://schemas.microsoft.com/office/drawing/2014/main" id="{97FC977D-3246-462D-803B-5253E38C74F7}"/>
              </a:ext>
            </a:extLst>
          </p:cNvPr>
          <p:cNvSpPr>
            <a:spLocks noGrp="1"/>
          </p:cNvSpPr>
          <p:nvPr>
            <p:ph idx="1"/>
          </p:nvPr>
        </p:nvSpPr>
        <p:spPr>
          <a:xfrm>
            <a:off x="527280" y="1655179"/>
            <a:ext cx="4820224" cy="4271059"/>
          </a:xfrm>
        </p:spPr>
        <p:txBody>
          <a:bodyPr>
            <a:normAutofit fontScale="92500" lnSpcReduction="20000"/>
          </a:bodyPr>
          <a:lstStyle/>
          <a:p>
            <a:pPr marL="0" indent="0" algn="just">
              <a:buNone/>
            </a:pPr>
            <a:r>
              <a:rPr lang="es-MX" dirty="0"/>
              <a:t>B.2) Diagrama de Entrada-Salida En la Figura 2.4.2 se muestra el diagrama de Entrada-Salida del programa donde se identifican y se diagraman las entradas, salidas y auxiliares del problema como son: a) Entradas: la variable ‘x’ (distancia horizontal), la variable ‘Vo’ (velocidad inicial), y la variable ‘theta’ (ángulo); b) Salidas: las variables ‘y’ (distancia vertical) y ‘h’ (hipotenusa); c) Auxiliares: la constante ‘PI’ y la constante ‘g’ (gravedad).</a:t>
            </a:r>
            <a:endParaRPr lang="es-ES" dirty="0"/>
          </a:p>
        </p:txBody>
      </p:sp>
      <p:pic>
        <p:nvPicPr>
          <p:cNvPr id="5" name="Imagen 4">
            <a:extLst>
              <a:ext uri="{FF2B5EF4-FFF2-40B4-BE49-F238E27FC236}">
                <a16:creationId xmlns:a16="http://schemas.microsoft.com/office/drawing/2014/main" id="{2200CA14-9A1E-4D47-8EAB-030EA9EE26BB}"/>
              </a:ext>
            </a:extLst>
          </p:cNvPr>
          <p:cNvPicPr>
            <a:picLocks noChangeAspect="1"/>
          </p:cNvPicPr>
          <p:nvPr/>
        </p:nvPicPr>
        <p:blipFill>
          <a:blip r:embed="rId2"/>
          <a:stretch>
            <a:fillRect/>
          </a:stretch>
        </p:blipFill>
        <p:spPr>
          <a:xfrm>
            <a:off x="5931350" y="1579614"/>
            <a:ext cx="5562311" cy="1524213"/>
          </a:xfrm>
          <a:prstGeom prst="rect">
            <a:avLst/>
          </a:prstGeom>
        </p:spPr>
      </p:pic>
      <p:pic>
        <p:nvPicPr>
          <p:cNvPr id="8" name="Imagen 7">
            <a:extLst>
              <a:ext uri="{FF2B5EF4-FFF2-40B4-BE49-F238E27FC236}">
                <a16:creationId xmlns:a16="http://schemas.microsoft.com/office/drawing/2014/main" id="{E147D097-182A-4D03-9DEB-78C3E0F3CAF1}"/>
              </a:ext>
            </a:extLst>
          </p:cNvPr>
          <p:cNvPicPr>
            <a:picLocks noChangeAspect="1"/>
          </p:cNvPicPr>
          <p:nvPr/>
        </p:nvPicPr>
        <p:blipFill>
          <a:blip r:embed="rId3"/>
          <a:stretch>
            <a:fillRect/>
          </a:stretch>
        </p:blipFill>
        <p:spPr>
          <a:xfrm>
            <a:off x="6080567" y="3358102"/>
            <a:ext cx="3991532" cy="2562583"/>
          </a:xfrm>
          <a:prstGeom prst="rect">
            <a:avLst/>
          </a:prstGeom>
        </p:spPr>
      </p:pic>
    </p:spTree>
    <p:extLst>
      <p:ext uri="{BB962C8B-B14F-4D97-AF65-F5344CB8AC3E}">
        <p14:creationId xmlns:p14="http://schemas.microsoft.com/office/powerpoint/2010/main" val="256373275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364439" y="1833889"/>
            <a:ext cx="7719019" cy="1015664"/>
          </a:xfrm>
        </p:spPr>
        <p:txBody>
          <a:bodyPr/>
          <a:lstStyle/>
          <a:p>
            <a:r>
              <a:rPr lang="es-MX" sz="2400" b="1" dirty="0"/>
              <a:t>Caso de Estudio 2.4: Encontrar la distancia, tiempo de vuelo y la altura alcanzada por un proyectil </a:t>
            </a:r>
            <a:br>
              <a:rPr lang="es-419" sz="3600" b="1" dirty="0">
                <a:solidFill>
                  <a:srgbClr val="FF0000"/>
                </a:solidFill>
              </a:rPr>
            </a:br>
            <a:br>
              <a:rPr lang="es-MX" sz="3600" b="1" dirty="0">
                <a:solidFill>
                  <a:srgbClr val="FF0000"/>
                </a:solidFill>
              </a:rPr>
            </a:br>
            <a:endParaRPr lang="en-US" sz="3600" b="1" dirty="0"/>
          </a:p>
        </p:txBody>
      </p:sp>
      <p:sp>
        <p:nvSpPr>
          <p:cNvPr id="3" name="2 Marcador de fecha"/>
          <p:cNvSpPr>
            <a:spLocks noGrp="1"/>
          </p:cNvSpPr>
          <p:nvPr>
            <p:ph type="dt" sz="half" idx="10"/>
          </p:nvPr>
        </p:nvSpPr>
        <p:spPr/>
        <p:txBody>
          <a:bodyPr/>
          <a:lstStyle/>
          <a:p>
            <a:fld id="{44C3288D-7DAC-4DD2-9022-6C6BA4238517}" type="datetime1">
              <a:rPr lang="es-EC" smtClean="0"/>
              <a:t>26/11/2025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66</a:t>
            </a:fld>
            <a:endParaRPr lang="es-EC"/>
          </a:p>
        </p:txBody>
      </p:sp>
      <p:sp>
        <p:nvSpPr>
          <p:cNvPr id="12" name="4 Marcador de contenido">
            <a:extLst>
              <a:ext uri="{FF2B5EF4-FFF2-40B4-BE49-F238E27FC236}">
                <a16:creationId xmlns:a16="http://schemas.microsoft.com/office/drawing/2014/main" id="{97FC977D-3246-462D-803B-5253E38C74F7}"/>
              </a:ext>
            </a:extLst>
          </p:cNvPr>
          <p:cNvSpPr>
            <a:spLocks noGrp="1"/>
          </p:cNvSpPr>
          <p:nvPr>
            <p:ph idx="1"/>
          </p:nvPr>
        </p:nvSpPr>
        <p:spPr>
          <a:xfrm>
            <a:off x="527279" y="1655179"/>
            <a:ext cx="10738483" cy="4132163"/>
          </a:xfrm>
        </p:spPr>
        <p:txBody>
          <a:bodyPr>
            <a:normAutofit fontScale="62500" lnSpcReduction="20000"/>
          </a:bodyPr>
          <a:lstStyle/>
          <a:p>
            <a:pPr marL="0" indent="0" algn="just">
              <a:buNone/>
            </a:pPr>
            <a:r>
              <a:rPr lang="es-MX" dirty="0"/>
              <a:t>C) Diseño </a:t>
            </a:r>
          </a:p>
          <a:p>
            <a:pPr marL="0" indent="0" algn="just">
              <a:buNone/>
            </a:pPr>
            <a:r>
              <a:rPr lang="es-MX" dirty="0"/>
              <a:t>Una vez que se conocen las entradas y las salidas del problema, se deben listar los pasos necesarios para resolver el problema, es decir, el algoritmo. Algoritmo 1. Leer el valor de la distancia horizontal del plano en [m], utilizando la variable ‘x’. </a:t>
            </a:r>
          </a:p>
          <a:p>
            <a:pPr marL="0" indent="0" algn="just">
              <a:buNone/>
            </a:pPr>
            <a:r>
              <a:rPr lang="es-MX" dirty="0"/>
              <a:t>2. Leer el valor del ángulo theta en grados, utilizando la variable ‘theta’. </a:t>
            </a:r>
          </a:p>
          <a:p>
            <a:pPr marL="0" indent="0" algn="just">
              <a:buNone/>
            </a:pPr>
            <a:r>
              <a:rPr lang="es-MX" dirty="0"/>
              <a:t>3. Leer el valor de la velocidad inicial de lanzamiento en [m/seg], utilizando la variable ‘Vo’. </a:t>
            </a:r>
          </a:p>
          <a:p>
            <a:pPr marL="0" indent="0" algn="just">
              <a:buNone/>
            </a:pPr>
            <a:r>
              <a:rPr lang="es-MX" dirty="0"/>
              <a:t>4. Convertir el ángulo theta de grados a radianes. </a:t>
            </a:r>
          </a:p>
          <a:p>
            <a:pPr marL="0" indent="0" algn="just">
              <a:buNone/>
            </a:pPr>
            <a:r>
              <a:rPr lang="es-MX" dirty="0"/>
              <a:t>4.1. Asignar a la variable theta el producto del ángulo theta por la constante PI y dividirlo para el valor de 180 grados. </a:t>
            </a:r>
          </a:p>
          <a:p>
            <a:pPr marL="0" indent="0" algn="just">
              <a:buNone/>
            </a:pPr>
            <a:r>
              <a:rPr lang="es-MX" dirty="0"/>
              <a:t>5. Calcular la distancia vertical del plano inclinado. </a:t>
            </a:r>
          </a:p>
          <a:p>
            <a:pPr marL="0" indent="0" algn="just">
              <a:buNone/>
            </a:pPr>
            <a:r>
              <a:rPr lang="es-MX" dirty="0"/>
              <a:t>5.1. Asignar a la variable ‘y’ (distancia vertical) los valores que contempla la fórmula de la distancia vertical del plano inclinado (1), según la Física Clásica. </a:t>
            </a:r>
          </a:p>
          <a:p>
            <a:pPr marL="0" indent="0" algn="just">
              <a:buNone/>
            </a:pPr>
            <a:r>
              <a:rPr lang="es-MX" dirty="0"/>
              <a:t>6. Calcular la distancia entre el punto A y B del plano inclinado, que viene a ser la hipotenusa del triángulo rectángulo formado. </a:t>
            </a:r>
          </a:p>
          <a:p>
            <a:pPr marL="0" indent="0" algn="just">
              <a:buNone/>
            </a:pPr>
            <a:r>
              <a:rPr lang="es-MX" dirty="0"/>
              <a:t>6.1. Asignar a la variable ‘h’ (hipotenusa) los valores que contempla la fórmula de la hipotenusa (3), según la Geometría Euclideana. </a:t>
            </a:r>
          </a:p>
          <a:p>
            <a:pPr marL="0" indent="0" algn="just">
              <a:buNone/>
            </a:pPr>
            <a:r>
              <a:rPr lang="es-MX" dirty="0"/>
              <a:t>7. Imprimir los valores de la variable ‘y’ (distancia vertical) en [m] y de la variable ‘h’ (hipotenusa) en [m].</a:t>
            </a:r>
            <a:endParaRPr lang="es-ES" dirty="0"/>
          </a:p>
        </p:txBody>
      </p:sp>
    </p:spTree>
    <p:extLst>
      <p:ext uri="{BB962C8B-B14F-4D97-AF65-F5344CB8AC3E}">
        <p14:creationId xmlns:p14="http://schemas.microsoft.com/office/powerpoint/2010/main" val="62407562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fecha"/>
          <p:cNvSpPr>
            <a:spLocks noGrp="1"/>
          </p:cNvSpPr>
          <p:nvPr>
            <p:ph type="dt" sz="half" idx="10"/>
          </p:nvPr>
        </p:nvSpPr>
        <p:spPr/>
        <p:txBody>
          <a:bodyPr/>
          <a:lstStyle/>
          <a:p>
            <a:fld id="{44C3288D-7DAC-4DD2-9022-6C6BA4238517}" type="datetime1">
              <a:rPr lang="es-EC" smtClean="0"/>
              <a:t>26/11/2025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67</a:t>
            </a:fld>
            <a:endParaRPr lang="es-EC"/>
          </a:p>
        </p:txBody>
      </p:sp>
      <p:sp>
        <p:nvSpPr>
          <p:cNvPr id="12" name="4 Marcador de contenido">
            <a:extLst>
              <a:ext uri="{FF2B5EF4-FFF2-40B4-BE49-F238E27FC236}">
                <a16:creationId xmlns:a16="http://schemas.microsoft.com/office/drawing/2014/main" id="{97FC977D-3246-462D-803B-5253E38C74F7}"/>
              </a:ext>
            </a:extLst>
          </p:cNvPr>
          <p:cNvSpPr>
            <a:spLocks noGrp="1"/>
          </p:cNvSpPr>
          <p:nvPr>
            <p:ph idx="1"/>
          </p:nvPr>
        </p:nvSpPr>
        <p:spPr>
          <a:xfrm>
            <a:off x="527280" y="1655180"/>
            <a:ext cx="3685906" cy="2592729"/>
          </a:xfrm>
        </p:spPr>
        <p:txBody>
          <a:bodyPr>
            <a:normAutofit fontScale="70000" lnSpcReduction="20000"/>
          </a:bodyPr>
          <a:lstStyle/>
          <a:p>
            <a:pPr marL="0" indent="0" algn="just">
              <a:buNone/>
            </a:pPr>
            <a:r>
              <a:rPr lang="es-MX" dirty="0"/>
              <a:t>D) Implementación </a:t>
            </a:r>
          </a:p>
          <a:p>
            <a:pPr marL="0" indent="0" algn="just">
              <a:buNone/>
            </a:pPr>
            <a:r>
              <a:rPr lang="es-MX" dirty="0"/>
              <a:t>Para implementar la solución, se debe escribir el algoritmo como un programa de C/C++ que contenga toda la información necesaria para completar la traducción a lenguaje máquina. En la Tabla 2.4.1 se muestra el código del programa en C/C++.</a:t>
            </a:r>
            <a:endParaRPr lang="es-ES" dirty="0"/>
          </a:p>
        </p:txBody>
      </p:sp>
      <p:pic>
        <p:nvPicPr>
          <p:cNvPr id="5" name="Imagen 4">
            <a:extLst>
              <a:ext uri="{FF2B5EF4-FFF2-40B4-BE49-F238E27FC236}">
                <a16:creationId xmlns:a16="http://schemas.microsoft.com/office/drawing/2014/main" id="{820D0F0D-6C24-4DD1-984F-131A069CBBB4}"/>
              </a:ext>
            </a:extLst>
          </p:cNvPr>
          <p:cNvPicPr>
            <a:picLocks noChangeAspect="1"/>
          </p:cNvPicPr>
          <p:nvPr/>
        </p:nvPicPr>
        <p:blipFill>
          <a:blip r:embed="rId2"/>
          <a:stretch>
            <a:fillRect/>
          </a:stretch>
        </p:blipFill>
        <p:spPr>
          <a:xfrm>
            <a:off x="4421529" y="80495"/>
            <a:ext cx="7718809" cy="6697010"/>
          </a:xfrm>
          <a:prstGeom prst="rect">
            <a:avLst/>
          </a:prstGeom>
        </p:spPr>
      </p:pic>
      <p:sp>
        <p:nvSpPr>
          <p:cNvPr id="10" name="CuadroTexto 9">
            <a:extLst>
              <a:ext uri="{FF2B5EF4-FFF2-40B4-BE49-F238E27FC236}">
                <a16:creationId xmlns:a16="http://schemas.microsoft.com/office/drawing/2014/main" id="{07742D02-A9A4-4405-9E62-063A1ABCF531}"/>
              </a:ext>
            </a:extLst>
          </p:cNvPr>
          <p:cNvSpPr txBox="1"/>
          <p:nvPr/>
        </p:nvSpPr>
        <p:spPr>
          <a:xfrm>
            <a:off x="926237" y="6206409"/>
            <a:ext cx="3918454"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Programa 2.4.1</a:t>
            </a:r>
            <a:r>
              <a:rPr lang="es-ES" sz="1200" dirty="0">
                <a:solidFill>
                  <a:schemeClr val="tx1">
                    <a:lumMod val="50000"/>
                    <a:lumOff val="50000"/>
                  </a:schemeClr>
                </a:solidFill>
                <a:latin typeface="+mj-lt"/>
              </a:rPr>
              <a:t> Código del Programa Caso de Estudio.</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73402261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364439" y="1833889"/>
            <a:ext cx="7719019" cy="1015664"/>
          </a:xfrm>
        </p:spPr>
        <p:txBody>
          <a:bodyPr/>
          <a:lstStyle/>
          <a:p>
            <a:r>
              <a:rPr lang="es-MX" sz="2400" b="1" dirty="0"/>
              <a:t>Caso de Estudio 2.4: Encontrar la distancia, tiempo de vuelo y la altura alcanzada por un proyectil </a:t>
            </a:r>
            <a:br>
              <a:rPr lang="es-419" sz="3600" b="1" dirty="0">
                <a:solidFill>
                  <a:srgbClr val="FF0000"/>
                </a:solidFill>
              </a:rPr>
            </a:br>
            <a:br>
              <a:rPr lang="es-MX" sz="3600" b="1" dirty="0">
                <a:solidFill>
                  <a:srgbClr val="FF0000"/>
                </a:solidFill>
              </a:rPr>
            </a:br>
            <a:endParaRPr lang="en-US" sz="3600" b="1" dirty="0"/>
          </a:p>
        </p:txBody>
      </p:sp>
      <p:sp>
        <p:nvSpPr>
          <p:cNvPr id="3" name="2 Marcador de fecha"/>
          <p:cNvSpPr>
            <a:spLocks noGrp="1"/>
          </p:cNvSpPr>
          <p:nvPr>
            <p:ph type="dt" sz="half" idx="10"/>
          </p:nvPr>
        </p:nvSpPr>
        <p:spPr/>
        <p:txBody>
          <a:bodyPr/>
          <a:lstStyle/>
          <a:p>
            <a:fld id="{44C3288D-7DAC-4DD2-9022-6C6BA4238517}" type="datetime1">
              <a:rPr lang="es-EC" smtClean="0"/>
              <a:t>26/11/2025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68</a:t>
            </a:fld>
            <a:endParaRPr lang="es-EC"/>
          </a:p>
        </p:txBody>
      </p:sp>
      <p:sp>
        <p:nvSpPr>
          <p:cNvPr id="12" name="4 Marcador de contenido">
            <a:extLst>
              <a:ext uri="{FF2B5EF4-FFF2-40B4-BE49-F238E27FC236}">
                <a16:creationId xmlns:a16="http://schemas.microsoft.com/office/drawing/2014/main" id="{97FC977D-3246-462D-803B-5253E38C74F7}"/>
              </a:ext>
            </a:extLst>
          </p:cNvPr>
          <p:cNvSpPr>
            <a:spLocks noGrp="1"/>
          </p:cNvSpPr>
          <p:nvPr>
            <p:ph idx="1"/>
          </p:nvPr>
        </p:nvSpPr>
        <p:spPr>
          <a:xfrm>
            <a:off x="527279" y="1655179"/>
            <a:ext cx="4681329" cy="2951545"/>
          </a:xfrm>
        </p:spPr>
        <p:txBody>
          <a:bodyPr>
            <a:normAutofit fontScale="92500"/>
          </a:bodyPr>
          <a:lstStyle/>
          <a:p>
            <a:pPr marL="0" indent="0" algn="just">
              <a:buNone/>
            </a:pPr>
            <a:r>
              <a:rPr lang="es-MX" dirty="0"/>
              <a:t>E) Pruebas </a:t>
            </a:r>
          </a:p>
          <a:p>
            <a:pPr marL="0" indent="0" algn="just">
              <a:buNone/>
            </a:pPr>
            <a:r>
              <a:rPr lang="es-MX" dirty="0"/>
              <a:t>En la Tabla 2.4.2 se muestra un ejemplo de la salida del programa, donde se puede ver que los resultados del programa tienen sentido, comparando estos resultados con los datos devueltos por una calculadora</a:t>
            </a:r>
            <a:endParaRPr lang="es-ES" dirty="0"/>
          </a:p>
        </p:txBody>
      </p:sp>
      <p:pic>
        <p:nvPicPr>
          <p:cNvPr id="5" name="Imagen 4">
            <a:extLst>
              <a:ext uri="{FF2B5EF4-FFF2-40B4-BE49-F238E27FC236}">
                <a16:creationId xmlns:a16="http://schemas.microsoft.com/office/drawing/2014/main" id="{C68ED7CF-35A1-4A4D-9F2F-C67FCAA713BD}"/>
              </a:ext>
            </a:extLst>
          </p:cNvPr>
          <p:cNvPicPr>
            <a:picLocks noChangeAspect="1"/>
          </p:cNvPicPr>
          <p:nvPr/>
        </p:nvPicPr>
        <p:blipFill>
          <a:blip r:embed="rId2"/>
          <a:stretch>
            <a:fillRect/>
          </a:stretch>
        </p:blipFill>
        <p:spPr>
          <a:xfrm>
            <a:off x="6321792" y="1929447"/>
            <a:ext cx="4943971" cy="2295312"/>
          </a:xfrm>
          <a:prstGeom prst="rect">
            <a:avLst/>
          </a:prstGeom>
        </p:spPr>
      </p:pic>
      <p:sp>
        <p:nvSpPr>
          <p:cNvPr id="9" name="CuadroTexto 8">
            <a:extLst>
              <a:ext uri="{FF2B5EF4-FFF2-40B4-BE49-F238E27FC236}">
                <a16:creationId xmlns:a16="http://schemas.microsoft.com/office/drawing/2014/main" id="{2A560EE7-31A9-4D6B-8CE8-E321517E7FC7}"/>
              </a:ext>
            </a:extLst>
          </p:cNvPr>
          <p:cNvSpPr txBox="1"/>
          <p:nvPr/>
        </p:nvSpPr>
        <p:spPr>
          <a:xfrm>
            <a:off x="5708474" y="4436012"/>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Ejecución del Programa  2.4.2</a:t>
            </a:r>
            <a:r>
              <a:rPr lang="es-ES" sz="1200" dirty="0">
                <a:solidFill>
                  <a:schemeClr val="tx1">
                    <a:lumMod val="50000"/>
                    <a:lumOff val="50000"/>
                  </a:schemeClr>
                </a:solidFill>
                <a:latin typeface="+mj-lt"/>
              </a:rPr>
              <a:t> Ejecución del Programa Caso de Estudio.</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364143691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fontScale="85000" lnSpcReduction="20000"/>
          </a:bodyPr>
          <a:lstStyle/>
          <a:p>
            <a:pPr lvl="1"/>
            <a:r>
              <a:rPr lang="es-MX" sz="1700" dirty="0"/>
              <a:t>Estructuras de Control Secuenciales. </a:t>
            </a:r>
          </a:p>
          <a:p>
            <a:pPr lvl="1"/>
            <a:r>
              <a:rPr lang="es-MX" sz="1700" dirty="0"/>
              <a:t>Escritura. </a:t>
            </a:r>
          </a:p>
          <a:p>
            <a:pPr lvl="1"/>
            <a:r>
              <a:rPr lang="es-MX" sz="1700" dirty="0"/>
              <a:t>Lectura </a:t>
            </a:r>
          </a:p>
          <a:p>
            <a:pPr lvl="1"/>
            <a:r>
              <a:rPr lang="es-MX" sz="1700" dirty="0"/>
              <a:t>Problema 2.1. (Aplicación de estructuras de control secuenciales de escritura y lectura).</a:t>
            </a:r>
          </a:p>
          <a:p>
            <a:pPr lvl="1"/>
            <a:r>
              <a:rPr lang="es-MX" sz="1700" dirty="0"/>
              <a:t>Asignación. </a:t>
            </a:r>
          </a:p>
          <a:p>
            <a:pPr lvl="1"/>
            <a:r>
              <a:rPr lang="es-MX" sz="1700" dirty="0"/>
              <a:t>Asignación Simple </a:t>
            </a:r>
          </a:p>
          <a:p>
            <a:pPr lvl="1"/>
            <a:r>
              <a:rPr lang="es-MX" sz="1700" dirty="0"/>
              <a:t>Problema 2.2. (Aplicación de estructuras de control secuenciales de asignación simple). </a:t>
            </a:r>
          </a:p>
          <a:p>
            <a:pPr lvl="1"/>
            <a:r>
              <a:rPr lang="es-MX" sz="1700" dirty="0"/>
              <a:t>Asignación Contador </a:t>
            </a:r>
          </a:p>
          <a:p>
            <a:pPr lvl="1"/>
            <a:r>
              <a:rPr lang="es-MX" sz="1700" dirty="0"/>
              <a:t>Problema 2.3. (Aplicación de estructuras de control secuenciales de asignación contador). </a:t>
            </a:r>
          </a:p>
          <a:p>
            <a:pPr lvl="1"/>
            <a:r>
              <a:rPr lang="es-MX" sz="1700" dirty="0"/>
              <a:t>Asignación Acumulador </a:t>
            </a:r>
          </a:p>
          <a:p>
            <a:pPr lvl="1"/>
            <a:r>
              <a:rPr lang="es-MX" sz="1700" dirty="0"/>
              <a:t>Problema 2.4. (Aplicación de estructuras de control secuenciales de asignación acumulador tipo sumas) </a:t>
            </a:r>
          </a:p>
          <a:p>
            <a:pPr lvl="1"/>
            <a:r>
              <a:rPr lang="es-MX" sz="1700" dirty="0"/>
              <a:t>Problema 2.5. (Aplicación de estructuras de control secuenciales de asignación acumulador tipo productos) . </a:t>
            </a:r>
          </a:p>
          <a:p>
            <a:pPr lvl="1"/>
            <a:r>
              <a:rPr lang="es-MX" sz="1700" dirty="0"/>
              <a:t>Asignación de Trabajo </a:t>
            </a:r>
          </a:p>
          <a:p>
            <a:pPr lvl="1"/>
            <a:r>
              <a:rPr lang="es-MX" sz="1700" dirty="0"/>
              <a:t>Problema 2.6. (Aplicación de estructuras de control secuenciales de asignación de trabajo) </a:t>
            </a:r>
          </a:p>
          <a:p>
            <a:pPr lvl="1"/>
            <a:r>
              <a:rPr lang="es-MX" sz="1700" dirty="0"/>
              <a:t>Caso de Estudio 2.1: Encontrar el Perímetro y el Área de un Circulo </a:t>
            </a:r>
          </a:p>
          <a:p>
            <a:pPr lvl="1"/>
            <a:r>
              <a:rPr lang="es-MX" sz="1700" dirty="0"/>
              <a:t>Caso de Estudio 2.2: Encontrar el Perímetro y el Área de un Rectángulo </a:t>
            </a:r>
          </a:p>
          <a:p>
            <a:pPr lvl="1"/>
            <a:r>
              <a:rPr lang="es-MX" sz="1700" dirty="0"/>
              <a:t>Caso de Estudio 2.3: Encontrar la Generatriz, el Área y el Volumen de un Cono </a:t>
            </a:r>
          </a:p>
          <a:p>
            <a:pPr lvl="1">
              <a:lnSpc>
                <a:spcPct val="70000"/>
              </a:lnSpc>
            </a:pPr>
            <a:r>
              <a:rPr lang="es-MX" dirty="0"/>
              <a:t>Caso de Estudio 2.4: Encontrar la distancia, tiempo de vuelo y la altura alcanzada por un proyectil </a:t>
            </a:r>
          </a:p>
          <a:p>
            <a:pPr lvl="1">
              <a:lnSpc>
                <a:spcPct val="70000"/>
              </a:lnSpc>
            </a:pPr>
            <a:r>
              <a:rPr lang="es-MX" sz="3300" b="1" dirty="0">
                <a:solidFill>
                  <a:srgbClr val="FF0000"/>
                </a:solidFill>
              </a:rPr>
              <a:t>Caso de Estudio 2.5: Encontrar la distancia, tiempo de vuelo y la altura alcanzada por un proyectil.</a:t>
            </a:r>
            <a:endParaRPr lang="es-419" sz="3300" b="1" dirty="0">
              <a:solidFill>
                <a:srgbClr val="FF0000"/>
              </a:solidFill>
            </a:endParaRPr>
          </a:p>
        </p:txBody>
      </p:sp>
      <p:sp>
        <p:nvSpPr>
          <p:cNvPr id="5" name="4 Marcador de fecha"/>
          <p:cNvSpPr>
            <a:spLocks noGrp="1"/>
          </p:cNvSpPr>
          <p:nvPr>
            <p:ph type="dt" sz="half" idx="10"/>
          </p:nvPr>
        </p:nvSpPr>
        <p:spPr/>
        <p:txBody>
          <a:bodyPr/>
          <a:lstStyle/>
          <a:p>
            <a:fld id="{85E4E129-A937-4BEE-8A17-D7969DFE55C2}" type="datetime1">
              <a:rPr lang="es-EC">
                <a:solidFill>
                  <a:prstClr val="black">
                    <a:lumMod val="65000"/>
                    <a:lumOff val="35000"/>
                  </a:prstClr>
                </a:solidFill>
              </a:rPr>
              <a:pPr/>
              <a:t>26/11/2025</a:t>
            </a:fld>
            <a:endParaRPr lang="es-EC" dirty="0">
              <a:solidFill>
                <a:prstClr val="black">
                  <a:lumMod val="65000"/>
                  <a:lumOff val="35000"/>
                </a:prstClr>
              </a:solidFill>
            </a:endParaRP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69</a:t>
            </a:fld>
            <a:endParaRPr lang="es-EC">
              <a:solidFill>
                <a:prstClr val="black">
                  <a:lumMod val="65000"/>
                  <a:lumOff val="35000"/>
                </a:prstClr>
              </a:solidFill>
            </a:endParaRPr>
          </a:p>
        </p:txBody>
      </p:sp>
    </p:spTree>
    <p:extLst>
      <p:ext uri="{BB962C8B-B14F-4D97-AF65-F5344CB8AC3E}">
        <p14:creationId xmlns:p14="http://schemas.microsoft.com/office/powerpoint/2010/main" val="170873634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462282" y="2654172"/>
            <a:ext cx="7719019" cy="1015664"/>
          </a:xfrm>
        </p:spPr>
        <p:txBody>
          <a:bodyPr/>
          <a:lstStyle/>
          <a:p>
            <a:r>
              <a:rPr lang="es-MX" sz="2400" b="1" dirty="0"/>
              <a:t>Caso de Estudio 2.5: Encontrar la distancia, tiempo de vuelo y la altura alcanzada por un proyectil.</a:t>
            </a:r>
            <a:br>
              <a:rPr lang="es-419" sz="3600" b="1" dirty="0">
                <a:solidFill>
                  <a:srgbClr val="FF0000"/>
                </a:solidFill>
              </a:rPr>
            </a:br>
            <a:br>
              <a:rPr lang="es-419" sz="3600" b="1" dirty="0">
                <a:solidFill>
                  <a:srgbClr val="FF0000"/>
                </a:solidFill>
              </a:rPr>
            </a:br>
            <a:br>
              <a:rPr lang="es-MX" sz="3600" b="1" dirty="0">
                <a:solidFill>
                  <a:srgbClr val="FF0000"/>
                </a:solidFill>
              </a:rPr>
            </a:br>
            <a:endParaRPr lang="en-US" sz="3600" b="1" dirty="0"/>
          </a:p>
        </p:txBody>
      </p:sp>
      <p:sp>
        <p:nvSpPr>
          <p:cNvPr id="3" name="2 Marcador de fecha"/>
          <p:cNvSpPr>
            <a:spLocks noGrp="1"/>
          </p:cNvSpPr>
          <p:nvPr>
            <p:ph type="dt" sz="half" idx="10"/>
          </p:nvPr>
        </p:nvSpPr>
        <p:spPr/>
        <p:txBody>
          <a:bodyPr/>
          <a:lstStyle/>
          <a:p>
            <a:fld id="{44C3288D-7DAC-4DD2-9022-6C6BA4238517}" type="datetime1">
              <a:rPr lang="es-EC" smtClean="0"/>
              <a:t>26/11/2025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70</a:t>
            </a:fld>
            <a:endParaRPr lang="es-EC"/>
          </a:p>
        </p:txBody>
      </p:sp>
      <p:sp>
        <p:nvSpPr>
          <p:cNvPr id="12" name="4 Marcador de contenido">
            <a:extLst>
              <a:ext uri="{FF2B5EF4-FFF2-40B4-BE49-F238E27FC236}">
                <a16:creationId xmlns:a16="http://schemas.microsoft.com/office/drawing/2014/main" id="{97FC977D-3246-462D-803B-5253E38C74F7}"/>
              </a:ext>
            </a:extLst>
          </p:cNvPr>
          <p:cNvSpPr>
            <a:spLocks noGrp="1"/>
          </p:cNvSpPr>
          <p:nvPr>
            <p:ph idx="1"/>
          </p:nvPr>
        </p:nvSpPr>
        <p:spPr>
          <a:xfrm>
            <a:off x="527279" y="1655179"/>
            <a:ext cx="4681329" cy="2951545"/>
          </a:xfrm>
        </p:spPr>
        <p:txBody>
          <a:bodyPr>
            <a:normAutofit fontScale="77500" lnSpcReduction="20000"/>
          </a:bodyPr>
          <a:lstStyle/>
          <a:p>
            <a:pPr marL="0" indent="0" algn="just">
              <a:buNone/>
            </a:pPr>
            <a:r>
              <a:rPr lang="es-EC" dirty="0"/>
              <a:t>A) Problema </a:t>
            </a:r>
            <a:endParaRPr lang="es-MX" dirty="0"/>
          </a:p>
          <a:p>
            <a:pPr marL="0" indent="0" algn="just">
              <a:buNone/>
            </a:pPr>
            <a:r>
              <a:rPr lang="es-MX" dirty="0"/>
              <a:t>Escribir un programa para calcular e imprimir la distancia ‘d’, el tiempo de vuelo ‘t’ y la altura ‘h’ alcanzada por un proyectil que es disparado con un ángulo θ (‘theta’) en grados con respecto a la horizontal y a una velocidad inicial ‘v’ en m/seg. La trayectoria parabólica del proyectil se muestra en la Figura 2.5.1 y cuyas fórmulas son las siguientes:</a:t>
            </a:r>
            <a:endParaRPr lang="es-ES" dirty="0"/>
          </a:p>
        </p:txBody>
      </p:sp>
      <p:pic>
        <p:nvPicPr>
          <p:cNvPr id="7" name="Imagen 6">
            <a:extLst>
              <a:ext uri="{FF2B5EF4-FFF2-40B4-BE49-F238E27FC236}">
                <a16:creationId xmlns:a16="http://schemas.microsoft.com/office/drawing/2014/main" id="{38FF01CB-237B-409C-AA85-4D28F2058531}"/>
              </a:ext>
            </a:extLst>
          </p:cNvPr>
          <p:cNvPicPr>
            <a:picLocks noChangeAspect="1"/>
          </p:cNvPicPr>
          <p:nvPr/>
        </p:nvPicPr>
        <p:blipFill>
          <a:blip r:embed="rId2"/>
          <a:stretch>
            <a:fillRect/>
          </a:stretch>
        </p:blipFill>
        <p:spPr>
          <a:xfrm>
            <a:off x="5426479" y="1635588"/>
            <a:ext cx="5334744" cy="2722506"/>
          </a:xfrm>
          <a:prstGeom prst="rect">
            <a:avLst/>
          </a:prstGeom>
        </p:spPr>
      </p:pic>
      <p:pic>
        <p:nvPicPr>
          <p:cNvPr id="10" name="Imagen 9">
            <a:extLst>
              <a:ext uri="{FF2B5EF4-FFF2-40B4-BE49-F238E27FC236}">
                <a16:creationId xmlns:a16="http://schemas.microsoft.com/office/drawing/2014/main" id="{0FC7207F-797B-4D25-BD34-CC9D92948984}"/>
              </a:ext>
            </a:extLst>
          </p:cNvPr>
          <p:cNvPicPr>
            <a:picLocks noChangeAspect="1"/>
          </p:cNvPicPr>
          <p:nvPr/>
        </p:nvPicPr>
        <p:blipFill>
          <a:blip r:embed="rId3"/>
          <a:stretch>
            <a:fillRect/>
          </a:stretch>
        </p:blipFill>
        <p:spPr>
          <a:xfrm>
            <a:off x="663979" y="4569800"/>
            <a:ext cx="2600081" cy="1391162"/>
          </a:xfrm>
          <a:prstGeom prst="rect">
            <a:avLst/>
          </a:prstGeom>
        </p:spPr>
      </p:pic>
      <p:sp>
        <p:nvSpPr>
          <p:cNvPr id="13" name="CuadroTexto 12">
            <a:extLst>
              <a:ext uri="{FF2B5EF4-FFF2-40B4-BE49-F238E27FC236}">
                <a16:creationId xmlns:a16="http://schemas.microsoft.com/office/drawing/2014/main" id="{2D87ABB7-7A7F-407B-B748-EC6A3CB51EB8}"/>
              </a:ext>
            </a:extLst>
          </p:cNvPr>
          <p:cNvSpPr txBox="1"/>
          <p:nvPr/>
        </p:nvSpPr>
        <p:spPr>
          <a:xfrm>
            <a:off x="5426479" y="4246634"/>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Figura 2.5.1</a:t>
            </a:r>
            <a:r>
              <a:rPr lang="es-ES" sz="1200" dirty="0">
                <a:solidFill>
                  <a:schemeClr val="tx1">
                    <a:lumMod val="50000"/>
                    <a:lumOff val="50000"/>
                  </a:schemeClr>
                </a:solidFill>
                <a:latin typeface="+mj-lt"/>
              </a:rPr>
              <a:t> </a:t>
            </a:r>
            <a:r>
              <a:rPr lang="es-MX" sz="1200" dirty="0">
                <a:solidFill>
                  <a:schemeClr val="tx1">
                    <a:lumMod val="50000"/>
                    <a:lumOff val="50000"/>
                  </a:schemeClr>
                </a:solidFill>
                <a:latin typeface="+mj-lt"/>
              </a:rPr>
              <a:t>Tiro Parabólico de un Proyectil</a:t>
            </a:r>
            <a:r>
              <a:rPr lang="es-ES" sz="1200" dirty="0">
                <a:solidFill>
                  <a:schemeClr val="tx1">
                    <a:lumMod val="50000"/>
                    <a:lumOff val="50000"/>
                  </a:schemeClr>
                </a:solidFill>
                <a:latin typeface="+mj-lt"/>
              </a:rPr>
              <a:t> .</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20556410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462282" y="2654172"/>
            <a:ext cx="7719019" cy="1015664"/>
          </a:xfrm>
        </p:spPr>
        <p:txBody>
          <a:bodyPr/>
          <a:lstStyle/>
          <a:p>
            <a:r>
              <a:rPr lang="es-MX" sz="2400" b="1" dirty="0"/>
              <a:t>Caso de Estudio 2.5: Encontrar la distancia, tiempo de vuelo y la altura alcanzada por un proyectil.</a:t>
            </a:r>
            <a:br>
              <a:rPr lang="es-419" sz="3600" b="1" dirty="0">
                <a:solidFill>
                  <a:srgbClr val="FF0000"/>
                </a:solidFill>
              </a:rPr>
            </a:br>
            <a:br>
              <a:rPr lang="es-419" sz="3600" b="1" dirty="0">
                <a:solidFill>
                  <a:srgbClr val="FF0000"/>
                </a:solidFill>
              </a:rPr>
            </a:br>
            <a:br>
              <a:rPr lang="es-MX" sz="3600" b="1" dirty="0">
                <a:solidFill>
                  <a:srgbClr val="FF0000"/>
                </a:solidFill>
              </a:rPr>
            </a:br>
            <a:endParaRPr lang="en-US" sz="3600" b="1" dirty="0"/>
          </a:p>
        </p:txBody>
      </p:sp>
      <p:sp>
        <p:nvSpPr>
          <p:cNvPr id="3" name="2 Marcador de fecha"/>
          <p:cNvSpPr>
            <a:spLocks noGrp="1"/>
          </p:cNvSpPr>
          <p:nvPr>
            <p:ph type="dt" sz="half" idx="10"/>
          </p:nvPr>
        </p:nvSpPr>
        <p:spPr/>
        <p:txBody>
          <a:bodyPr/>
          <a:lstStyle/>
          <a:p>
            <a:fld id="{44C3288D-7DAC-4DD2-9022-6C6BA4238517}" type="datetime1">
              <a:rPr lang="es-EC" smtClean="0"/>
              <a:t>26/11/2025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71</a:t>
            </a:fld>
            <a:endParaRPr lang="es-EC"/>
          </a:p>
        </p:txBody>
      </p:sp>
      <p:sp>
        <p:nvSpPr>
          <p:cNvPr id="12" name="4 Marcador de contenido">
            <a:extLst>
              <a:ext uri="{FF2B5EF4-FFF2-40B4-BE49-F238E27FC236}">
                <a16:creationId xmlns:a16="http://schemas.microsoft.com/office/drawing/2014/main" id="{97FC977D-3246-462D-803B-5253E38C74F7}"/>
              </a:ext>
            </a:extLst>
          </p:cNvPr>
          <p:cNvSpPr>
            <a:spLocks noGrp="1"/>
          </p:cNvSpPr>
          <p:nvPr>
            <p:ph idx="1"/>
          </p:nvPr>
        </p:nvSpPr>
        <p:spPr>
          <a:xfrm>
            <a:off x="527279" y="1655179"/>
            <a:ext cx="4681329" cy="2951545"/>
          </a:xfrm>
        </p:spPr>
        <p:txBody>
          <a:bodyPr>
            <a:normAutofit fontScale="70000" lnSpcReduction="20000"/>
          </a:bodyPr>
          <a:lstStyle/>
          <a:p>
            <a:pPr marL="0" indent="0" algn="just">
              <a:buNone/>
            </a:pPr>
            <a:r>
              <a:rPr lang="es-MX" dirty="0"/>
              <a:t>B) Análisis Claramente, se puede ver que las entradas del problema son la velocidad inicial de lanzamiento del proyectil y el ángulo de lanzamiento theta en grados. Hay tres salidas requeridas: el tiempo de vuelo, la distancia y la altura alcanzada por un proyectil. Partiendo de un conocimiento básico de Física, se sabe que hay una relación entre la velocidad y el ángulo de lanzamiento con la distancia, el tiempo de vuelo y la altura. Las fórmulas requeridas se incluyen en el requerimiento de los datos.</a:t>
            </a:r>
            <a:endParaRPr lang="es-ES" dirty="0"/>
          </a:p>
        </p:txBody>
      </p:sp>
      <p:pic>
        <p:nvPicPr>
          <p:cNvPr id="5" name="Imagen 4">
            <a:extLst>
              <a:ext uri="{FF2B5EF4-FFF2-40B4-BE49-F238E27FC236}">
                <a16:creationId xmlns:a16="http://schemas.microsoft.com/office/drawing/2014/main" id="{4E585F9C-DF3E-4433-8BD5-8FA5B0B2A55A}"/>
              </a:ext>
            </a:extLst>
          </p:cNvPr>
          <p:cNvPicPr>
            <a:picLocks noChangeAspect="1"/>
          </p:cNvPicPr>
          <p:nvPr/>
        </p:nvPicPr>
        <p:blipFill>
          <a:blip r:embed="rId2"/>
          <a:stretch>
            <a:fillRect/>
          </a:stretch>
        </p:blipFill>
        <p:spPr>
          <a:xfrm>
            <a:off x="5349927" y="1655178"/>
            <a:ext cx="5010849" cy="4444679"/>
          </a:xfrm>
          <a:prstGeom prst="rect">
            <a:avLst/>
          </a:prstGeom>
        </p:spPr>
      </p:pic>
    </p:spTree>
    <p:extLst>
      <p:ext uri="{BB962C8B-B14F-4D97-AF65-F5344CB8AC3E}">
        <p14:creationId xmlns:p14="http://schemas.microsoft.com/office/powerpoint/2010/main" val="235610869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462282" y="2654172"/>
            <a:ext cx="7719019" cy="1015664"/>
          </a:xfrm>
        </p:spPr>
        <p:txBody>
          <a:bodyPr/>
          <a:lstStyle/>
          <a:p>
            <a:r>
              <a:rPr lang="es-MX" sz="2400" b="1" dirty="0"/>
              <a:t>Caso de Estudio 2.5: Encontrar la distancia, tiempo de vuelo y la altura alcanzada por un proyectil.</a:t>
            </a:r>
            <a:br>
              <a:rPr lang="es-419" sz="3600" b="1" dirty="0">
                <a:solidFill>
                  <a:srgbClr val="FF0000"/>
                </a:solidFill>
              </a:rPr>
            </a:br>
            <a:br>
              <a:rPr lang="es-419" sz="3600" b="1" dirty="0">
                <a:solidFill>
                  <a:srgbClr val="FF0000"/>
                </a:solidFill>
              </a:rPr>
            </a:br>
            <a:br>
              <a:rPr lang="es-MX" sz="3600" b="1" dirty="0">
                <a:solidFill>
                  <a:srgbClr val="FF0000"/>
                </a:solidFill>
              </a:rPr>
            </a:br>
            <a:endParaRPr lang="en-US" sz="3600" b="1" dirty="0"/>
          </a:p>
        </p:txBody>
      </p:sp>
      <p:sp>
        <p:nvSpPr>
          <p:cNvPr id="3" name="2 Marcador de fecha"/>
          <p:cNvSpPr>
            <a:spLocks noGrp="1"/>
          </p:cNvSpPr>
          <p:nvPr>
            <p:ph type="dt" sz="half" idx="10"/>
          </p:nvPr>
        </p:nvSpPr>
        <p:spPr/>
        <p:txBody>
          <a:bodyPr/>
          <a:lstStyle/>
          <a:p>
            <a:fld id="{44C3288D-7DAC-4DD2-9022-6C6BA4238517}" type="datetime1">
              <a:rPr lang="es-EC" smtClean="0"/>
              <a:t>26/11/2025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72</a:t>
            </a:fld>
            <a:endParaRPr lang="es-EC"/>
          </a:p>
        </p:txBody>
      </p:sp>
      <p:sp>
        <p:nvSpPr>
          <p:cNvPr id="12" name="4 Marcador de contenido">
            <a:extLst>
              <a:ext uri="{FF2B5EF4-FFF2-40B4-BE49-F238E27FC236}">
                <a16:creationId xmlns:a16="http://schemas.microsoft.com/office/drawing/2014/main" id="{97FC977D-3246-462D-803B-5253E38C74F7}"/>
              </a:ext>
            </a:extLst>
          </p:cNvPr>
          <p:cNvSpPr>
            <a:spLocks noGrp="1"/>
          </p:cNvSpPr>
          <p:nvPr>
            <p:ph idx="1"/>
          </p:nvPr>
        </p:nvSpPr>
        <p:spPr>
          <a:xfrm>
            <a:off x="527279" y="1655179"/>
            <a:ext cx="4681329" cy="2951545"/>
          </a:xfrm>
        </p:spPr>
        <p:txBody>
          <a:bodyPr>
            <a:normAutofit fontScale="77500" lnSpcReduction="20000"/>
          </a:bodyPr>
          <a:lstStyle/>
          <a:p>
            <a:pPr marL="0" indent="0" algn="just">
              <a:buNone/>
            </a:pPr>
            <a:r>
              <a:rPr lang="es-MX" dirty="0"/>
              <a:t>B.2) Diagrama de Entrada-Salida En la Figura 2.5.2 se muestra el diagrama de Entrada-Salida del programa donde se identifican y se diagraman las entradas, salidas y auxiliares del problema como son: a) Entradas: la variable ‘v’ (velocidad) y la variable ‘theta’ (ángulo); b) Salidas: las variables ‘d’ (distancia), ‘t’ (tiempo) y ‘h’ (altura); c) Auxiliares: la constante ‘PI’ y la constante ‘g’ (gravedad). </a:t>
            </a:r>
            <a:endParaRPr lang="es-ES" dirty="0"/>
          </a:p>
        </p:txBody>
      </p:sp>
      <p:pic>
        <p:nvPicPr>
          <p:cNvPr id="7" name="Imagen 6">
            <a:extLst>
              <a:ext uri="{FF2B5EF4-FFF2-40B4-BE49-F238E27FC236}">
                <a16:creationId xmlns:a16="http://schemas.microsoft.com/office/drawing/2014/main" id="{4B6152DC-CE73-4B92-8485-CD7CEBB3EF47}"/>
              </a:ext>
            </a:extLst>
          </p:cNvPr>
          <p:cNvPicPr>
            <a:picLocks noChangeAspect="1"/>
          </p:cNvPicPr>
          <p:nvPr/>
        </p:nvPicPr>
        <p:blipFill>
          <a:blip r:embed="rId2"/>
          <a:stretch>
            <a:fillRect/>
          </a:stretch>
        </p:blipFill>
        <p:spPr>
          <a:xfrm>
            <a:off x="6096000" y="1655179"/>
            <a:ext cx="4215093" cy="3090441"/>
          </a:xfrm>
          <a:prstGeom prst="rect">
            <a:avLst/>
          </a:prstGeom>
        </p:spPr>
      </p:pic>
      <p:sp>
        <p:nvSpPr>
          <p:cNvPr id="11" name="CuadroTexto 10">
            <a:extLst>
              <a:ext uri="{FF2B5EF4-FFF2-40B4-BE49-F238E27FC236}">
                <a16:creationId xmlns:a16="http://schemas.microsoft.com/office/drawing/2014/main" id="{9B254AA7-09C7-4295-944B-90496527A82B}"/>
              </a:ext>
            </a:extLst>
          </p:cNvPr>
          <p:cNvSpPr txBox="1"/>
          <p:nvPr/>
        </p:nvSpPr>
        <p:spPr>
          <a:xfrm>
            <a:off x="5403330" y="4960346"/>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Figura 2.5.1</a:t>
            </a:r>
            <a:r>
              <a:rPr lang="es-ES" sz="1200" dirty="0">
                <a:solidFill>
                  <a:schemeClr val="tx1">
                    <a:lumMod val="50000"/>
                    <a:lumOff val="50000"/>
                  </a:schemeClr>
                </a:solidFill>
                <a:latin typeface="+mj-lt"/>
              </a:rPr>
              <a:t> </a:t>
            </a:r>
            <a:r>
              <a:rPr lang="es-EC" sz="1200" dirty="0">
                <a:solidFill>
                  <a:schemeClr val="tx1">
                    <a:lumMod val="50000"/>
                    <a:lumOff val="50000"/>
                  </a:schemeClr>
                </a:solidFill>
                <a:latin typeface="+mj-lt"/>
              </a:rPr>
              <a:t>Diagrama de Entrada-Salida del Programa.</a:t>
            </a:r>
            <a:r>
              <a:rPr lang="es-ES" sz="1200" dirty="0">
                <a:solidFill>
                  <a:schemeClr val="tx1">
                    <a:lumMod val="50000"/>
                    <a:lumOff val="50000"/>
                  </a:schemeClr>
                </a:solidFill>
                <a:latin typeface="+mj-lt"/>
              </a:rPr>
              <a:t> .</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54637811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462282" y="2654172"/>
            <a:ext cx="7719019" cy="1015664"/>
          </a:xfrm>
        </p:spPr>
        <p:txBody>
          <a:bodyPr/>
          <a:lstStyle/>
          <a:p>
            <a:r>
              <a:rPr lang="es-MX" sz="2400" b="1" dirty="0"/>
              <a:t>Caso de Estudio 2.5: Encontrar la distancia, tiempo de vuelo y la altura alcanzada por un proyectil.</a:t>
            </a:r>
            <a:br>
              <a:rPr lang="es-419" sz="3600" b="1" dirty="0">
                <a:solidFill>
                  <a:srgbClr val="FF0000"/>
                </a:solidFill>
              </a:rPr>
            </a:br>
            <a:br>
              <a:rPr lang="es-419" sz="3600" b="1" dirty="0">
                <a:solidFill>
                  <a:srgbClr val="FF0000"/>
                </a:solidFill>
              </a:rPr>
            </a:br>
            <a:br>
              <a:rPr lang="es-MX" sz="3600" b="1" dirty="0">
                <a:solidFill>
                  <a:srgbClr val="FF0000"/>
                </a:solidFill>
              </a:rPr>
            </a:br>
            <a:endParaRPr lang="en-US" sz="3600" b="1" dirty="0"/>
          </a:p>
        </p:txBody>
      </p:sp>
      <p:sp>
        <p:nvSpPr>
          <p:cNvPr id="3" name="2 Marcador de fecha"/>
          <p:cNvSpPr>
            <a:spLocks noGrp="1"/>
          </p:cNvSpPr>
          <p:nvPr>
            <p:ph type="dt" sz="half" idx="10"/>
          </p:nvPr>
        </p:nvSpPr>
        <p:spPr/>
        <p:txBody>
          <a:bodyPr/>
          <a:lstStyle/>
          <a:p>
            <a:fld id="{44C3288D-7DAC-4DD2-9022-6C6BA4238517}" type="datetime1">
              <a:rPr lang="es-EC" smtClean="0"/>
              <a:t>26/11/2025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73</a:t>
            </a:fld>
            <a:endParaRPr lang="es-EC"/>
          </a:p>
        </p:txBody>
      </p:sp>
      <p:sp>
        <p:nvSpPr>
          <p:cNvPr id="12" name="4 Marcador de contenido">
            <a:extLst>
              <a:ext uri="{FF2B5EF4-FFF2-40B4-BE49-F238E27FC236}">
                <a16:creationId xmlns:a16="http://schemas.microsoft.com/office/drawing/2014/main" id="{97FC977D-3246-462D-803B-5253E38C74F7}"/>
              </a:ext>
            </a:extLst>
          </p:cNvPr>
          <p:cNvSpPr>
            <a:spLocks noGrp="1"/>
          </p:cNvSpPr>
          <p:nvPr>
            <p:ph idx="1"/>
          </p:nvPr>
        </p:nvSpPr>
        <p:spPr>
          <a:xfrm>
            <a:off x="527279" y="1655179"/>
            <a:ext cx="11278898" cy="4701172"/>
          </a:xfrm>
        </p:spPr>
        <p:txBody>
          <a:bodyPr>
            <a:normAutofit fontScale="77500" lnSpcReduction="20000"/>
          </a:bodyPr>
          <a:lstStyle/>
          <a:p>
            <a:pPr marL="0" indent="0" algn="just">
              <a:buNone/>
            </a:pPr>
            <a:r>
              <a:rPr lang="es-MX" dirty="0"/>
              <a:t>C) Diseño </a:t>
            </a:r>
          </a:p>
          <a:p>
            <a:pPr marL="0" indent="0" algn="just">
              <a:buNone/>
            </a:pPr>
            <a:r>
              <a:rPr lang="es-MX" dirty="0"/>
              <a:t>Una vez que se conocen las entradas y las salidas del problema, se deben listar los pasos necesarios para resolver el problema, es decir, el algoritmo. Algoritmo </a:t>
            </a:r>
          </a:p>
          <a:p>
            <a:pPr marL="457200" indent="-457200" algn="just">
              <a:buAutoNum type="arabicPeriod"/>
            </a:pPr>
            <a:r>
              <a:rPr lang="es-MX" dirty="0"/>
              <a:t>Leer el valor de la velocidad en m/seg, utilizando la variable ‘v’. </a:t>
            </a:r>
          </a:p>
          <a:p>
            <a:pPr marL="457200" indent="-457200" algn="just">
              <a:buAutoNum type="arabicPeriod"/>
            </a:pPr>
            <a:r>
              <a:rPr lang="es-MX" dirty="0"/>
              <a:t>Leer el valor del ángulo theta en grados, utilizando la variable ‘theta’. </a:t>
            </a:r>
          </a:p>
          <a:p>
            <a:pPr marL="0" indent="0" algn="just">
              <a:buNone/>
            </a:pPr>
            <a:r>
              <a:rPr lang="es-MX" dirty="0"/>
              <a:t>3. Convertir el ángulo theta de grados a radianes.</a:t>
            </a:r>
          </a:p>
          <a:p>
            <a:pPr marL="0" indent="0" algn="just">
              <a:buNone/>
            </a:pPr>
            <a:r>
              <a:rPr lang="es-MX" dirty="0"/>
              <a:t>3.1. Asignar a la variable theta el producto del ángulo theta por la constante PI y dividirlo para el valor de 180 grados. </a:t>
            </a:r>
          </a:p>
          <a:p>
            <a:pPr marL="0" indent="0" algn="just">
              <a:buNone/>
            </a:pPr>
            <a:r>
              <a:rPr lang="es-MX" dirty="0"/>
              <a:t>4. Calcular la distancia alcanzada por el proyectil. </a:t>
            </a:r>
          </a:p>
          <a:p>
            <a:pPr marL="0" indent="0" algn="just">
              <a:buNone/>
            </a:pPr>
            <a:r>
              <a:rPr lang="es-MX" dirty="0"/>
              <a:t>4.1. Asignar a la variable ‘d’ (distancia) los valores que contempla la fórmula de la distancia (1), según la Física Clásica. 5. Calcular el tiempo de vuelo del proyectil. </a:t>
            </a:r>
          </a:p>
          <a:p>
            <a:pPr marL="0" indent="0" algn="just">
              <a:buNone/>
            </a:pPr>
            <a:r>
              <a:rPr lang="es-MX" dirty="0"/>
              <a:t>5.1. Asignar a la variable ‘t’ (tiempo) los valores que contempla la fórmula del tiempo de vuelo (2), según la Física Clásica. 6. Calcular la altura alcanzada por el proyectil. </a:t>
            </a:r>
          </a:p>
          <a:p>
            <a:pPr marL="0" indent="0" algn="just">
              <a:buNone/>
            </a:pPr>
            <a:r>
              <a:rPr lang="es-MX" dirty="0"/>
              <a:t>6.1. Asignar a la variable ‘h’ (altura) los valores que contempla la fórmula de la altura (3), según la Física Clásica. </a:t>
            </a:r>
          </a:p>
          <a:p>
            <a:pPr marL="0" indent="0" algn="just">
              <a:buNone/>
            </a:pPr>
            <a:r>
              <a:rPr lang="es-MX" dirty="0"/>
              <a:t>7. Imprimir los valores de la variable ‘d’ (distancia), de la variable ‘t’ (tiempo) y de la variable ‘h’ (altura)</a:t>
            </a:r>
            <a:endParaRPr lang="es-ES" dirty="0"/>
          </a:p>
        </p:txBody>
      </p:sp>
    </p:spTree>
    <p:extLst>
      <p:ext uri="{BB962C8B-B14F-4D97-AF65-F5344CB8AC3E}">
        <p14:creationId xmlns:p14="http://schemas.microsoft.com/office/powerpoint/2010/main" val="283650040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fecha"/>
          <p:cNvSpPr>
            <a:spLocks noGrp="1"/>
          </p:cNvSpPr>
          <p:nvPr>
            <p:ph type="dt" sz="half" idx="10"/>
          </p:nvPr>
        </p:nvSpPr>
        <p:spPr/>
        <p:txBody>
          <a:bodyPr/>
          <a:lstStyle/>
          <a:p>
            <a:fld id="{44C3288D-7DAC-4DD2-9022-6C6BA4238517}" type="datetime1">
              <a:rPr lang="es-EC" smtClean="0"/>
              <a:t>26/11/2025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74</a:t>
            </a:fld>
            <a:endParaRPr lang="es-EC"/>
          </a:p>
        </p:txBody>
      </p:sp>
      <p:sp>
        <p:nvSpPr>
          <p:cNvPr id="12" name="4 Marcador de contenido">
            <a:extLst>
              <a:ext uri="{FF2B5EF4-FFF2-40B4-BE49-F238E27FC236}">
                <a16:creationId xmlns:a16="http://schemas.microsoft.com/office/drawing/2014/main" id="{97FC977D-3246-462D-803B-5253E38C74F7}"/>
              </a:ext>
            </a:extLst>
          </p:cNvPr>
          <p:cNvSpPr>
            <a:spLocks noGrp="1"/>
          </p:cNvSpPr>
          <p:nvPr>
            <p:ph idx="1"/>
          </p:nvPr>
        </p:nvSpPr>
        <p:spPr>
          <a:xfrm>
            <a:off x="527279" y="1655179"/>
            <a:ext cx="4461410" cy="2754775"/>
          </a:xfrm>
        </p:spPr>
        <p:txBody>
          <a:bodyPr>
            <a:normAutofit fontScale="85000" lnSpcReduction="10000"/>
          </a:bodyPr>
          <a:lstStyle/>
          <a:p>
            <a:pPr marL="0" indent="0" algn="just">
              <a:buNone/>
            </a:pPr>
            <a:r>
              <a:rPr lang="es-MX" dirty="0"/>
              <a:t>D) Implementación </a:t>
            </a:r>
          </a:p>
          <a:p>
            <a:pPr marL="0" indent="0" algn="just">
              <a:buNone/>
            </a:pPr>
            <a:r>
              <a:rPr lang="es-MX" dirty="0"/>
              <a:t>Para implementar la solución, se debe escribir el algoritmo como un programa de C/C++ que contenga toda la información necesaria para completar la traducción a lenguaje máquina. En la Tabla 2.5.1 se muestra el código del programa en C/C++. </a:t>
            </a:r>
            <a:endParaRPr lang="es-ES" dirty="0"/>
          </a:p>
        </p:txBody>
      </p:sp>
      <p:pic>
        <p:nvPicPr>
          <p:cNvPr id="5" name="Imagen 4">
            <a:extLst>
              <a:ext uri="{FF2B5EF4-FFF2-40B4-BE49-F238E27FC236}">
                <a16:creationId xmlns:a16="http://schemas.microsoft.com/office/drawing/2014/main" id="{5777A573-BB25-4A27-B58E-D2C4C6BFE6A0}"/>
              </a:ext>
            </a:extLst>
          </p:cNvPr>
          <p:cNvPicPr>
            <a:picLocks noChangeAspect="1"/>
          </p:cNvPicPr>
          <p:nvPr/>
        </p:nvPicPr>
        <p:blipFill>
          <a:blip r:embed="rId2"/>
          <a:stretch>
            <a:fillRect/>
          </a:stretch>
        </p:blipFill>
        <p:spPr>
          <a:xfrm>
            <a:off x="5435843" y="0"/>
            <a:ext cx="4439270" cy="4610743"/>
          </a:xfrm>
          <a:prstGeom prst="rect">
            <a:avLst/>
          </a:prstGeom>
        </p:spPr>
      </p:pic>
      <p:pic>
        <p:nvPicPr>
          <p:cNvPr id="10" name="Imagen 9">
            <a:extLst>
              <a:ext uri="{FF2B5EF4-FFF2-40B4-BE49-F238E27FC236}">
                <a16:creationId xmlns:a16="http://schemas.microsoft.com/office/drawing/2014/main" id="{07E773FE-C9D6-48AE-A06E-BA67405E524C}"/>
              </a:ext>
            </a:extLst>
          </p:cNvPr>
          <p:cNvPicPr>
            <a:picLocks noChangeAspect="1"/>
          </p:cNvPicPr>
          <p:nvPr/>
        </p:nvPicPr>
        <p:blipFill>
          <a:blip r:embed="rId3"/>
          <a:stretch>
            <a:fillRect/>
          </a:stretch>
        </p:blipFill>
        <p:spPr>
          <a:xfrm>
            <a:off x="5285522" y="4610743"/>
            <a:ext cx="4925112" cy="2247257"/>
          </a:xfrm>
          <a:prstGeom prst="rect">
            <a:avLst/>
          </a:prstGeom>
        </p:spPr>
      </p:pic>
      <p:sp>
        <p:nvSpPr>
          <p:cNvPr id="13" name="CuadroTexto 12">
            <a:extLst>
              <a:ext uri="{FF2B5EF4-FFF2-40B4-BE49-F238E27FC236}">
                <a16:creationId xmlns:a16="http://schemas.microsoft.com/office/drawing/2014/main" id="{99103F3B-F5F3-4A5D-A805-D061A2600F77}"/>
              </a:ext>
            </a:extLst>
          </p:cNvPr>
          <p:cNvSpPr txBox="1"/>
          <p:nvPr/>
        </p:nvSpPr>
        <p:spPr>
          <a:xfrm>
            <a:off x="1517389" y="6075145"/>
            <a:ext cx="3918454"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Programa 2.5.1</a:t>
            </a:r>
            <a:r>
              <a:rPr lang="es-ES" sz="1200" dirty="0">
                <a:solidFill>
                  <a:schemeClr val="tx1">
                    <a:lumMod val="50000"/>
                    <a:lumOff val="50000"/>
                  </a:schemeClr>
                </a:solidFill>
                <a:latin typeface="+mj-lt"/>
              </a:rPr>
              <a:t> Código del Programa Caso de Estudio.</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68536269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462282" y="2654172"/>
            <a:ext cx="7719019" cy="1015664"/>
          </a:xfrm>
        </p:spPr>
        <p:txBody>
          <a:bodyPr/>
          <a:lstStyle/>
          <a:p>
            <a:r>
              <a:rPr lang="es-MX" sz="2400" b="1" dirty="0"/>
              <a:t>Caso de Estudio 2.5: Encontrar la distancia, tiempo de vuelo y la altura alcanzada por un proyectil.</a:t>
            </a:r>
            <a:br>
              <a:rPr lang="es-419" sz="3600" b="1" dirty="0">
                <a:solidFill>
                  <a:srgbClr val="FF0000"/>
                </a:solidFill>
              </a:rPr>
            </a:br>
            <a:br>
              <a:rPr lang="es-419" sz="3600" b="1" dirty="0">
                <a:solidFill>
                  <a:srgbClr val="FF0000"/>
                </a:solidFill>
              </a:rPr>
            </a:br>
            <a:br>
              <a:rPr lang="es-MX" sz="3600" b="1" dirty="0">
                <a:solidFill>
                  <a:srgbClr val="FF0000"/>
                </a:solidFill>
              </a:rPr>
            </a:br>
            <a:endParaRPr lang="en-US" sz="3600" b="1" dirty="0"/>
          </a:p>
        </p:txBody>
      </p:sp>
      <p:sp>
        <p:nvSpPr>
          <p:cNvPr id="3" name="2 Marcador de fecha"/>
          <p:cNvSpPr>
            <a:spLocks noGrp="1"/>
          </p:cNvSpPr>
          <p:nvPr>
            <p:ph type="dt" sz="half" idx="10"/>
          </p:nvPr>
        </p:nvSpPr>
        <p:spPr/>
        <p:txBody>
          <a:bodyPr/>
          <a:lstStyle/>
          <a:p>
            <a:fld id="{44C3288D-7DAC-4DD2-9022-6C6BA4238517}" type="datetime1">
              <a:rPr lang="es-EC" smtClean="0"/>
              <a:t>26/11/2025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75</a:t>
            </a:fld>
            <a:endParaRPr lang="es-EC"/>
          </a:p>
        </p:txBody>
      </p:sp>
      <p:sp>
        <p:nvSpPr>
          <p:cNvPr id="12" name="4 Marcador de contenido">
            <a:extLst>
              <a:ext uri="{FF2B5EF4-FFF2-40B4-BE49-F238E27FC236}">
                <a16:creationId xmlns:a16="http://schemas.microsoft.com/office/drawing/2014/main" id="{97FC977D-3246-462D-803B-5253E38C74F7}"/>
              </a:ext>
            </a:extLst>
          </p:cNvPr>
          <p:cNvSpPr>
            <a:spLocks noGrp="1"/>
          </p:cNvSpPr>
          <p:nvPr>
            <p:ph idx="1"/>
          </p:nvPr>
        </p:nvSpPr>
        <p:spPr>
          <a:xfrm>
            <a:off x="527279" y="1655179"/>
            <a:ext cx="4403536" cy="2430684"/>
          </a:xfrm>
        </p:spPr>
        <p:txBody>
          <a:bodyPr>
            <a:normAutofit fontScale="85000" lnSpcReduction="10000"/>
          </a:bodyPr>
          <a:lstStyle/>
          <a:p>
            <a:pPr marL="0" indent="0" algn="just">
              <a:buNone/>
            </a:pPr>
            <a:r>
              <a:rPr lang="es-MX" dirty="0"/>
              <a:t>E) Pruebas</a:t>
            </a:r>
          </a:p>
          <a:p>
            <a:pPr marL="0" indent="0" algn="just">
              <a:buNone/>
            </a:pPr>
            <a:r>
              <a:rPr lang="es-MX" dirty="0"/>
              <a:t> En la Tabla 2.5.2 se muestra un ejemplo de la salida del programa, donde se puede ver que los resultados del programa tienen sentido, comparando estos resultados con los datos devueltos por una calculadora.</a:t>
            </a:r>
            <a:endParaRPr lang="es-ES" dirty="0"/>
          </a:p>
        </p:txBody>
      </p:sp>
      <p:pic>
        <p:nvPicPr>
          <p:cNvPr id="5" name="Imagen 4">
            <a:extLst>
              <a:ext uri="{FF2B5EF4-FFF2-40B4-BE49-F238E27FC236}">
                <a16:creationId xmlns:a16="http://schemas.microsoft.com/office/drawing/2014/main" id="{B5DB8E85-EF02-4613-BB72-11179FEE7B6F}"/>
              </a:ext>
            </a:extLst>
          </p:cNvPr>
          <p:cNvPicPr>
            <a:picLocks noChangeAspect="1"/>
          </p:cNvPicPr>
          <p:nvPr/>
        </p:nvPicPr>
        <p:blipFill rotWithShape="1">
          <a:blip r:embed="rId2"/>
          <a:srcRect r="42401"/>
          <a:stretch/>
        </p:blipFill>
        <p:spPr>
          <a:xfrm>
            <a:off x="5496967" y="1655179"/>
            <a:ext cx="5082293" cy="2883574"/>
          </a:xfrm>
          <a:prstGeom prst="rect">
            <a:avLst/>
          </a:prstGeom>
        </p:spPr>
      </p:pic>
      <p:sp>
        <p:nvSpPr>
          <p:cNvPr id="8" name="CuadroTexto 7">
            <a:extLst>
              <a:ext uri="{FF2B5EF4-FFF2-40B4-BE49-F238E27FC236}">
                <a16:creationId xmlns:a16="http://schemas.microsoft.com/office/drawing/2014/main" id="{04986835-850A-436B-89FC-F43905CDBB43}"/>
              </a:ext>
            </a:extLst>
          </p:cNvPr>
          <p:cNvSpPr txBox="1"/>
          <p:nvPr/>
        </p:nvSpPr>
        <p:spPr>
          <a:xfrm>
            <a:off x="5361233" y="4650046"/>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Ejecución del Programa  2.5.2</a:t>
            </a:r>
            <a:r>
              <a:rPr lang="es-ES" sz="1200" dirty="0">
                <a:solidFill>
                  <a:schemeClr val="tx1">
                    <a:lumMod val="50000"/>
                    <a:lumOff val="50000"/>
                  </a:schemeClr>
                </a:solidFill>
                <a:latin typeface="+mj-lt"/>
              </a:rPr>
              <a:t> Ejecución del Programa Caso de Estudio.</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68486322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462282" y="2654172"/>
            <a:ext cx="7719019" cy="1015664"/>
          </a:xfrm>
        </p:spPr>
        <p:txBody>
          <a:bodyPr/>
          <a:lstStyle/>
          <a:p>
            <a:r>
              <a:rPr lang="es-MX" sz="2400" b="1" dirty="0"/>
              <a:t>Caso de Estudio 2.5: Encontrar la distancia, tiempo de vuelo y la altura alcanzada por un proyectil.</a:t>
            </a:r>
            <a:br>
              <a:rPr lang="es-419" sz="3600" b="1" dirty="0">
                <a:solidFill>
                  <a:srgbClr val="FF0000"/>
                </a:solidFill>
              </a:rPr>
            </a:br>
            <a:br>
              <a:rPr lang="es-419" sz="3600" b="1" dirty="0">
                <a:solidFill>
                  <a:srgbClr val="FF0000"/>
                </a:solidFill>
              </a:rPr>
            </a:br>
            <a:br>
              <a:rPr lang="es-MX" sz="3600" b="1" dirty="0">
                <a:solidFill>
                  <a:srgbClr val="FF0000"/>
                </a:solidFill>
              </a:rPr>
            </a:br>
            <a:endParaRPr lang="en-US" sz="3600" b="1" dirty="0"/>
          </a:p>
        </p:txBody>
      </p:sp>
      <p:sp>
        <p:nvSpPr>
          <p:cNvPr id="3" name="2 Marcador de fecha"/>
          <p:cNvSpPr>
            <a:spLocks noGrp="1"/>
          </p:cNvSpPr>
          <p:nvPr>
            <p:ph type="dt" sz="half" idx="10"/>
          </p:nvPr>
        </p:nvSpPr>
        <p:spPr/>
        <p:txBody>
          <a:bodyPr/>
          <a:lstStyle/>
          <a:p>
            <a:fld id="{44C3288D-7DAC-4DD2-9022-6C6BA4238517}" type="datetime1">
              <a:rPr lang="es-EC" smtClean="0"/>
              <a:t>26/11/2025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76</a:t>
            </a:fld>
            <a:endParaRPr lang="es-EC"/>
          </a:p>
        </p:txBody>
      </p:sp>
      <p:sp>
        <p:nvSpPr>
          <p:cNvPr id="12" name="4 Marcador de contenido">
            <a:extLst>
              <a:ext uri="{FF2B5EF4-FFF2-40B4-BE49-F238E27FC236}">
                <a16:creationId xmlns:a16="http://schemas.microsoft.com/office/drawing/2014/main" id="{97FC977D-3246-462D-803B-5253E38C74F7}"/>
              </a:ext>
            </a:extLst>
          </p:cNvPr>
          <p:cNvSpPr>
            <a:spLocks noGrp="1"/>
          </p:cNvSpPr>
          <p:nvPr>
            <p:ph idx="1"/>
          </p:nvPr>
        </p:nvSpPr>
        <p:spPr>
          <a:xfrm>
            <a:off x="527279" y="1655178"/>
            <a:ext cx="10630716" cy="4815069"/>
          </a:xfrm>
        </p:spPr>
        <p:txBody>
          <a:bodyPr>
            <a:normAutofit/>
          </a:bodyPr>
          <a:lstStyle/>
          <a:p>
            <a:pPr marL="0" indent="0" algn="just">
              <a:buNone/>
            </a:pPr>
            <a:r>
              <a:rPr lang="es-MX" sz="1600" dirty="0"/>
              <a:t>Utilizando el Simulador de Proyectiles de PhET4 , se obtienen los siguientes resultados como se pueden ver en la Figura 2.5.3 y 2.5.4: 1) Altura Máxima (h): 10.77 m; 2) Distancia máxima (d): 70.62 m; 3) Tiempo de vuelo: 2.96 seg. Al comparar los valores obtenidos por el Programa codificado en el Lenguaje C/C++ con los valores obtenidos por el Simulador de Proyectiles de </a:t>
            </a:r>
            <a:r>
              <a:rPr lang="es-MX" sz="1600" dirty="0" err="1"/>
              <a:t>PhET</a:t>
            </a:r>
            <a:r>
              <a:rPr lang="es-MX" sz="1600" dirty="0"/>
              <a:t>, se puede evidenciar un error de precisión de acuerdo al trabajo de la UC3M (1998), lo cual se debe al aparato de medida que utiliza el Simulador de Proyectiles de </a:t>
            </a:r>
            <a:r>
              <a:rPr lang="es-MX" sz="1600" dirty="0" err="1"/>
              <a:t>PhET</a:t>
            </a:r>
            <a:r>
              <a:rPr lang="es-MX" sz="1600" dirty="0"/>
              <a:t>, donde es necesario configurar una bala de cañón de diámetro de al menos 0.1 𝑚 y de masa de al menos 1 𝐾𝑔, ya que en condiciones ideales donde se aplican las ecuaciones (1), (2) y (3), la masa de la bala es despreciable, al igual que su diámetro. De este análisis se desprende el siguiente análisis de la medida y el cálculo de errores para expresar los siguientes resultados:</a:t>
            </a:r>
          </a:p>
          <a:p>
            <a:pPr marL="0" indent="0" algn="just">
              <a:buNone/>
            </a:pPr>
            <a:endParaRPr lang="es-ES" dirty="0"/>
          </a:p>
          <a:p>
            <a:pPr marL="0" indent="0" algn="just">
              <a:buNone/>
            </a:pPr>
            <a:endParaRPr lang="es-ES" dirty="0"/>
          </a:p>
          <a:p>
            <a:pPr marL="0" indent="0" algn="just">
              <a:buNone/>
            </a:pPr>
            <a:endParaRPr lang="es-ES" dirty="0"/>
          </a:p>
          <a:p>
            <a:pPr marL="0" indent="0" algn="just">
              <a:buNone/>
            </a:pPr>
            <a:endParaRPr lang="es-ES" dirty="0"/>
          </a:p>
          <a:p>
            <a:pPr marL="0" indent="0" algn="just">
              <a:buNone/>
            </a:pPr>
            <a:r>
              <a:rPr lang="es-MX" sz="1600" dirty="0"/>
              <a:t>Simulador disponible en: https://phet.colorado.edu/es_PE/simulations/filter?type=html.</a:t>
            </a:r>
            <a:endParaRPr lang="es-ES" sz="1600" dirty="0"/>
          </a:p>
        </p:txBody>
      </p:sp>
      <p:pic>
        <p:nvPicPr>
          <p:cNvPr id="7" name="Imagen 6">
            <a:extLst>
              <a:ext uri="{FF2B5EF4-FFF2-40B4-BE49-F238E27FC236}">
                <a16:creationId xmlns:a16="http://schemas.microsoft.com/office/drawing/2014/main" id="{A47A451B-6B2E-4403-8E23-60D258DF47E8}"/>
              </a:ext>
            </a:extLst>
          </p:cNvPr>
          <p:cNvPicPr>
            <a:picLocks noChangeAspect="1"/>
          </p:cNvPicPr>
          <p:nvPr/>
        </p:nvPicPr>
        <p:blipFill>
          <a:blip r:embed="rId2"/>
          <a:stretch>
            <a:fillRect/>
          </a:stretch>
        </p:blipFill>
        <p:spPr>
          <a:xfrm>
            <a:off x="638266" y="4145986"/>
            <a:ext cx="4734586" cy="1056835"/>
          </a:xfrm>
          <a:prstGeom prst="rect">
            <a:avLst/>
          </a:prstGeom>
        </p:spPr>
      </p:pic>
    </p:spTree>
    <p:extLst>
      <p:ext uri="{BB962C8B-B14F-4D97-AF65-F5344CB8AC3E}">
        <p14:creationId xmlns:p14="http://schemas.microsoft.com/office/powerpoint/2010/main" val="413150040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462282" y="2654172"/>
            <a:ext cx="7719019" cy="1015664"/>
          </a:xfrm>
        </p:spPr>
        <p:txBody>
          <a:bodyPr/>
          <a:lstStyle/>
          <a:p>
            <a:r>
              <a:rPr lang="es-MX" sz="2400" b="1" dirty="0"/>
              <a:t>Caso de Estudio 2.5: Encontrar la distancia, tiempo de vuelo y la altura alcanzada por un proyectil.</a:t>
            </a:r>
            <a:br>
              <a:rPr lang="es-419" sz="3600" b="1" dirty="0">
                <a:solidFill>
                  <a:srgbClr val="FF0000"/>
                </a:solidFill>
              </a:rPr>
            </a:br>
            <a:br>
              <a:rPr lang="es-419" sz="3600" b="1" dirty="0">
                <a:solidFill>
                  <a:srgbClr val="FF0000"/>
                </a:solidFill>
              </a:rPr>
            </a:br>
            <a:br>
              <a:rPr lang="es-MX" sz="3600" b="1" dirty="0">
                <a:solidFill>
                  <a:srgbClr val="FF0000"/>
                </a:solidFill>
              </a:rPr>
            </a:br>
            <a:endParaRPr lang="en-US" sz="3600" b="1" dirty="0"/>
          </a:p>
        </p:txBody>
      </p:sp>
      <p:sp>
        <p:nvSpPr>
          <p:cNvPr id="3" name="2 Marcador de fecha"/>
          <p:cNvSpPr>
            <a:spLocks noGrp="1"/>
          </p:cNvSpPr>
          <p:nvPr>
            <p:ph type="dt" sz="half" idx="10"/>
          </p:nvPr>
        </p:nvSpPr>
        <p:spPr/>
        <p:txBody>
          <a:bodyPr/>
          <a:lstStyle/>
          <a:p>
            <a:fld id="{44C3288D-7DAC-4DD2-9022-6C6BA4238517}" type="datetime1">
              <a:rPr lang="es-EC" smtClean="0"/>
              <a:t>26/11/2025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77</a:t>
            </a:fld>
            <a:endParaRPr lang="es-EC"/>
          </a:p>
        </p:txBody>
      </p:sp>
      <p:sp>
        <p:nvSpPr>
          <p:cNvPr id="12" name="4 Marcador de contenido">
            <a:extLst>
              <a:ext uri="{FF2B5EF4-FFF2-40B4-BE49-F238E27FC236}">
                <a16:creationId xmlns:a16="http://schemas.microsoft.com/office/drawing/2014/main" id="{97FC977D-3246-462D-803B-5253E38C74F7}"/>
              </a:ext>
            </a:extLst>
          </p:cNvPr>
          <p:cNvSpPr>
            <a:spLocks noGrp="1"/>
          </p:cNvSpPr>
          <p:nvPr>
            <p:ph idx="1"/>
          </p:nvPr>
        </p:nvSpPr>
        <p:spPr>
          <a:xfrm>
            <a:off x="527279" y="1655178"/>
            <a:ext cx="10630716" cy="4815069"/>
          </a:xfrm>
        </p:spPr>
        <p:txBody>
          <a:bodyPr>
            <a:normAutofit/>
          </a:bodyPr>
          <a:lstStyle/>
          <a:p>
            <a:pPr marL="0" indent="0" algn="just">
              <a:buNone/>
            </a:pPr>
            <a:r>
              <a:rPr lang="es-MX" dirty="0"/>
              <a:t>Donde, el cálculo de la medida y el error está dado por la siguiente fórmula, de acuerdo al trabajo de la UC3M (1998):</a:t>
            </a:r>
          </a:p>
          <a:p>
            <a:pPr marL="0" indent="0" algn="just">
              <a:buNone/>
            </a:pPr>
            <a:endParaRPr lang="es-ES" dirty="0"/>
          </a:p>
          <a:p>
            <a:pPr marL="0" indent="0" algn="just">
              <a:buNone/>
            </a:pPr>
            <a:endParaRPr lang="es-ES" dirty="0"/>
          </a:p>
          <a:p>
            <a:pPr marL="0" indent="0" algn="just">
              <a:buNone/>
            </a:pPr>
            <a:endParaRPr lang="es-ES" dirty="0"/>
          </a:p>
        </p:txBody>
      </p:sp>
      <p:pic>
        <p:nvPicPr>
          <p:cNvPr id="5" name="Imagen 4">
            <a:extLst>
              <a:ext uri="{FF2B5EF4-FFF2-40B4-BE49-F238E27FC236}">
                <a16:creationId xmlns:a16="http://schemas.microsoft.com/office/drawing/2014/main" id="{A6E691F0-5DE6-45C5-BB75-ABC45A3BB68C}"/>
              </a:ext>
            </a:extLst>
          </p:cNvPr>
          <p:cNvPicPr>
            <a:picLocks noChangeAspect="1"/>
          </p:cNvPicPr>
          <p:nvPr/>
        </p:nvPicPr>
        <p:blipFill>
          <a:blip r:embed="rId2"/>
          <a:stretch>
            <a:fillRect/>
          </a:stretch>
        </p:blipFill>
        <p:spPr>
          <a:xfrm>
            <a:off x="591459" y="2572132"/>
            <a:ext cx="3715268" cy="401544"/>
          </a:xfrm>
          <a:prstGeom prst="rect">
            <a:avLst/>
          </a:prstGeom>
        </p:spPr>
      </p:pic>
      <p:pic>
        <p:nvPicPr>
          <p:cNvPr id="9" name="Imagen 8">
            <a:extLst>
              <a:ext uri="{FF2B5EF4-FFF2-40B4-BE49-F238E27FC236}">
                <a16:creationId xmlns:a16="http://schemas.microsoft.com/office/drawing/2014/main" id="{7688A1F3-D3D4-4AC8-A9EE-F101B68A0866}"/>
              </a:ext>
            </a:extLst>
          </p:cNvPr>
          <p:cNvPicPr>
            <a:picLocks noChangeAspect="1"/>
          </p:cNvPicPr>
          <p:nvPr/>
        </p:nvPicPr>
        <p:blipFill>
          <a:blip r:embed="rId3"/>
          <a:stretch>
            <a:fillRect/>
          </a:stretch>
        </p:blipFill>
        <p:spPr>
          <a:xfrm>
            <a:off x="3425787" y="2823361"/>
            <a:ext cx="5792008" cy="3186978"/>
          </a:xfrm>
          <a:prstGeom prst="rect">
            <a:avLst/>
          </a:prstGeom>
        </p:spPr>
      </p:pic>
      <p:sp>
        <p:nvSpPr>
          <p:cNvPr id="11" name="CuadroTexto 10">
            <a:extLst>
              <a:ext uri="{FF2B5EF4-FFF2-40B4-BE49-F238E27FC236}">
                <a16:creationId xmlns:a16="http://schemas.microsoft.com/office/drawing/2014/main" id="{B69EF571-46BE-467D-99FC-E05E9FD2F581}"/>
              </a:ext>
            </a:extLst>
          </p:cNvPr>
          <p:cNvSpPr txBox="1"/>
          <p:nvPr/>
        </p:nvSpPr>
        <p:spPr>
          <a:xfrm>
            <a:off x="3569625" y="6125676"/>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Figura   2.5.3</a:t>
            </a:r>
            <a:r>
              <a:rPr lang="es-ES" sz="1200" dirty="0">
                <a:solidFill>
                  <a:schemeClr val="tx1">
                    <a:lumMod val="50000"/>
                    <a:lumOff val="50000"/>
                  </a:schemeClr>
                </a:solidFill>
                <a:latin typeface="+mj-lt"/>
              </a:rPr>
              <a:t> </a:t>
            </a:r>
            <a:r>
              <a:rPr lang="pt-BR" sz="1200" dirty="0">
                <a:solidFill>
                  <a:schemeClr val="tx1">
                    <a:lumMod val="50000"/>
                    <a:lumOff val="50000"/>
                  </a:schemeClr>
                </a:solidFill>
                <a:latin typeface="+mj-lt"/>
              </a:rPr>
              <a:t>Cálculo de la Altura Máxima (h).</a:t>
            </a:r>
            <a:r>
              <a:rPr lang="es-ES" sz="1200" dirty="0">
                <a:solidFill>
                  <a:schemeClr val="tx1">
                    <a:lumMod val="50000"/>
                    <a:lumOff val="50000"/>
                  </a:schemeClr>
                </a:solidFill>
                <a:latin typeface="+mj-lt"/>
              </a:rPr>
              <a:t>.</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101466626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462282" y="2654172"/>
            <a:ext cx="7719019" cy="1015664"/>
          </a:xfrm>
        </p:spPr>
        <p:txBody>
          <a:bodyPr/>
          <a:lstStyle/>
          <a:p>
            <a:r>
              <a:rPr lang="es-MX" sz="2400" b="1" dirty="0"/>
              <a:t>Caso de Estudio 2.5: Encontrar la distancia, tiempo de vuelo y la altura alcanzada por un proyectil.</a:t>
            </a:r>
            <a:br>
              <a:rPr lang="es-419" sz="3600" b="1" dirty="0">
                <a:solidFill>
                  <a:srgbClr val="FF0000"/>
                </a:solidFill>
              </a:rPr>
            </a:br>
            <a:br>
              <a:rPr lang="es-419" sz="3600" b="1" dirty="0">
                <a:solidFill>
                  <a:srgbClr val="FF0000"/>
                </a:solidFill>
              </a:rPr>
            </a:br>
            <a:br>
              <a:rPr lang="es-MX" sz="3600" b="1" dirty="0">
                <a:solidFill>
                  <a:srgbClr val="FF0000"/>
                </a:solidFill>
              </a:rPr>
            </a:br>
            <a:endParaRPr lang="en-US" sz="3600" b="1" dirty="0"/>
          </a:p>
        </p:txBody>
      </p:sp>
      <p:sp>
        <p:nvSpPr>
          <p:cNvPr id="3" name="2 Marcador de fecha"/>
          <p:cNvSpPr>
            <a:spLocks noGrp="1"/>
          </p:cNvSpPr>
          <p:nvPr>
            <p:ph type="dt" sz="half" idx="10"/>
          </p:nvPr>
        </p:nvSpPr>
        <p:spPr/>
        <p:txBody>
          <a:bodyPr/>
          <a:lstStyle/>
          <a:p>
            <a:fld id="{44C3288D-7DAC-4DD2-9022-6C6BA4238517}" type="datetime1">
              <a:rPr lang="es-EC" smtClean="0"/>
              <a:t>26/11/2025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78</a:t>
            </a:fld>
            <a:endParaRPr lang="es-EC"/>
          </a:p>
        </p:txBody>
      </p:sp>
      <p:sp>
        <p:nvSpPr>
          <p:cNvPr id="12" name="4 Marcador de contenido">
            <a:extLst>
              <a:ext uri="{FF2B5EF4-FFF2-40B4-BE49-F238E27FC236}">
                <a16:creationId xmlns:a16="http://schemas.microsoft.com/office/drawing/2014/main" id="{97FC977D-3246-462D-803B-5253E38C74F7}"/>
              </a:ext>
            </a:extLst>
          </p:cNvPr>
          <p:cNvSpPr>
            <a:spLocks noGrp="1"/>
          </p:cNvSpPr>
          <p:nvPr>
            <p:ph idx="1"/>
          </p:nvPr>
        </p:nvSpPr>
        <p:spPr>
          <a:xfrm>
            <a:off x="527279" y="1655178"/>
            <a:ext cx="10630716" cy="4815069"/>
          </a:xfrm>
        </p:spPr>
        <p:txBody>
          <a:bodyPr>
            <a:normAutofit/>
          </a:bodyPr>
          <a:lstStyle/>
          <a:p>
            <a:pPr marL="0" indent="0" algn="just">
              <a:buNone/>
            </a:pPr>
            <a:r>
              <a:rPr lang="es-MX" dirty="0"/>
              <a:t>Donde, el cálculo de la medida y el error está dado por la siguiente fórmula, de acuerdo al trabajo de la UC3M (1998):</a:t>
            </a:r>
          </a:p>
          <a:p>
            <a:pPr marL="0" indent="0" algn="just">
              <a:buNone/>
            </a:pPr>
            <a:endParaRPr lang="es-ES" dirty="0"/>
          </a:p>
          <a:p>
            <a:pPr marL="0" indent="0" algn="just">
              <a:buNone/>
            </a:pPr>
            <a:endParaRPr lang="es-ES" dirty="0"/>
          </a:p>
          <a:p>
            <a:pPr marL="0" indent="0" algn="just">
              <a:buNone/>
            </a:pPr>
            <a:endParaRPr lang="es-ES" dirty="0"/>
          </a:p>
        </p:txBody>
      </p:sp>
      <p:pic>
        <p:nvPicPr>
          <p:cNvPr id="5" name="Imagen 4">
            <a:extLst>
              <a:ext uri="{FF2B5EF4-FFF2-40B4-BE49-F238E27FC236}">
                <a16:creationId xmlns:a16="http://schemas.microsoft.com/office/drawing/2014/main" id="{A6E691F0-5DE6-45C5-BB75-ABC45A3BB68C}"/>
              </a:ext>
            </a:extLst>
          </p:cNvPr>
          <p:cNvPicPr>
            <a:picLocks noChangeAspect="1"/>
          </p:cNvPicPr>
          <p:nvPr/>
        </p:nvPicPr>
        <p:blipFill>
          <a:blip r:embed="rId2"/>
          <a:stretch>
            <a:fillRect/>
          </a:stretch>
        </p:blipFill>
        <p:spPr>
          <a:xfrm>
            <a:off x="591459" y="2572132"/>
            <a:ext cx="3715268" cy="401544"/>
          </a:xfrm>
          <a:prstGeom prst="rect">
            <a:avLst/>
          </a:prstGeom>
        </p:spPr>
      </p:pic>
      <p:pic>
        <p:nvPicPr>
          <p:cNvPr id="9" name="Imagen 8">
            <a:extLst>
              <a:ext uri="{FF2B5EF4-FFF2-40B4-BE49-F238E27FC236}">
                <a16:creationId xmlns:a16="http://schemas.microsoft.com/office/drawing/2014/main" id="{7688A1F3-D3D4-4AC8-A9EE-F101B68A0866}"/>
              </a:ext>
            </a:extLst>
          </p:cNvPr>
          <p:cNvPicPr>
            <a:picLocks noChangeAspect="1"/>
          </p:cNvPicPr>
          <p:nvPr/>
        </p:nvPicPr>
        <p:blipFill>
          <a:blip r:embed="rId3"/>
          <a:stretch>
            <a:fillRect/>
          </a:stretch>
        </p:blipFill>
        <p:spPr>
          <a:xfrm>
            <a:off x="3425787" y="2823361"/>
            <a:ext cx="5792008" cy="3186978"/>
          </a:xfrm>
          <a:prstGeom prst="rect">
            <a:avLst/>
          </a:prstGeom>
        </p:spPr>
      </p:pic>
      <p:sp>
        <p:nvSpPr>
          <p:cNvPr id="11" name="CuadroTexto 10">
            <a:extLst>
              <a:ext uri="{FF2B5EF4-FFF2-40B4-BE49-F238E27FC236}">
                <a16:creationId xmlns:a16="http://schemas.microsoft.com/office/drawing/2014/main" id="{B69EF571-46BE-467D-99FC-E05E9FD2F581}"/>
              </a:ext>
            </a:extLst>
          </p:cNvPr>
          <p:cNvSpPr txBox="1"/>
          <p:nvPr/>
        </p:nvSpPr>
        <p:spPr>
          <a:xfrm>
            <a:off x="3569625" y="6125676"/>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Figura   2.5.3</a:t>
            </a:r>
            <a:r>
              <a:rPr lang="es-ES" sz="1200" dirty="0">
                <a:solidFill>
                  <a:schemeClr val="tx1">
                    <a:lumMod val="50000"/>
                    <a:lumOff val="50000"/>
                  </a:schemeClr>
                </a:solidFill>
                <a:latin typeface="+mj-lt"/>
              </a:rPr>
              <a:t> </a:t>
            </a:r>
            <a:r>
              <a:rPr lang="pt-BR" sz="1200" dirty="0">
                <a:solidFill>
                  <a:schemeClr val="tx1">
                    <a:lumMod val="50000"/>
                    <a:lumOff val="50000"/>
                  </a:schemeClr>
                </a:solidFill>
                <a:latin typeface="+mj-lt"/>
              </a:rPr>
              <a:t>Cálculo de la Altura Máxima (h).</a:t>
            </a:r>
            <a:r>
              <a:rPr lang="es-ES" sz="1200" dirty="0">
                <a:solidFill>
                  <a:schemeClr val="tx1">
                    <a:lumMod val="50000"/>
                    <a:lumOff val="50000"/>
                  </a:schemeClr>
                </a:solidFill>
                <a:latin typeface="+mj-lt"/>
              </a:rPr>
              <a:t>.</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1898376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063552" y="2060848"/>
            <a:ext cx="8229600" cy="836712"/>
          </a:xfrm>
        </p:spPr>
        <p:txBody>
          <a:bodyPr/>
          <a:lstStyle/>
          <a:p>
            <a:r>
              <a:rPr lang="en-US" b="1" dirty="0"/>
              <a:t>¿Preguntas?</a:t>
            </a:r>
          </a:p>
        </p:txBody>
      </p:sp>
      <p:sp>
        <p:nvSpPr>
          <p:cNvPr id="5" name="4 Marcador de contenido"/>
          <p:cNvSpPr>
            <a:spLocks noGrp="1"/>
          </p:cNvSpPr>
          <p:nvPr>
            <p:ph idx="1"/>
          </p:nvPr>
        </p:nvSpPr>
        <p:spPr>
          <a:xfrm>
            <a:off x="4295800" y="3501008"/>
            <a:ext cx="5760640" cy="792088"/>
          </a:xfrm>
        </p:spPr>
        <p:txBody>
          <a:bodyPr>
            <a:normAutofit/>
          </a:bodyPr>
          <a:lstStyle/>
          <a:p>
            <a:pPr marL="0" indent="0">
              <a:buNone/>
            </a:pPr>
            <a:r>
              <a:rPr lang="es-EC" sz="4000" dirty="0"/>
              <a:t>!Gracias!</a:t>
            </a:r>
          </a:p>
        </p:txBody>
      </p:sp>
      <p:sp>
        <p:nvSpPr>
          <p:cNvPr id="3" name="2 Marcador de fecha"/>
          <p:cNvSpPr>
            <a:spLocks noGrp="1"/>
          </p:cNvSpPr>
          <p:nvPr>
            <p:ph type="dt" sz="half" idx="10"/>
          </p:nvPr>
        </p:nvSpPr>
        <p:spPr/>
        <p:txBody>
          <a:bodyPr/>
          <a:lstStyle/>
          <a:p>
            <a:fld id="{EA350481-F057-463F-9522-14A55A4D5C62}" type="datetime1">
              <a:rPr lang="es-EC" smtClean="0"/>
              <a:t>26/11/2025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79</a:t>
            </a:fld>
            <a:endParaRPr lang="es-EC"/>
          </a:p>
        </p:txBody>
      </p:sp>
    </p:spTree>
    <p:extLst>
      <p:ext uri="{BB962C8B-B14F-4D97-AF65-F5344CB8AC3E}">
        <p14:creationId xmlns:p14="http://schemas.microsoft.com/office/powerpoint/2010/main" val="1093471285"/>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Ejecutivo">
  <a:themeElements>
    <a:clrScheme name="Ejecutivo">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Ejecutivo">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jecutiv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7454</TotalTime>
  <Words>9344</Words>
  <Application>Microsoft Office PowerPoint</Application>
  <PresentationFormat>Panorámica</PresentationFormat>
  <Paragraphs>829</Paragraphs>
  <Slides>79</Slides>
  <Notes>1</Notes>
  <HiddenSlides>0</HiddenSlides>
  <MMClips>0</MMClips>
  <ScaleCrop>false</ScaleCrop>
  <HeadingPairs>
    <vt:vector size="6" baseType="variant">
      <vt:variant>
        <vt:lpstr>Fuentes usadas</vt:lpstr>
      </vt:variant>
      <vt:variant>
        <vt:i4>6</vt:i4>
      </vt:variant>
      <vt:variant>
        <vt:lpstr>Tema</vt:lpstr>
      </vt:variant>
      <vt:variant>
        <vt:i4>2</vt:i4>
      </vt:variant>
      <vt:variant>
        <vt:lpstr>Títulos de diapositiva</vt:lpstr>
      </vt:variant>
      <vt:variant>
        <vt:i4>79</vt:i4>
      </vt:variant>
    </vt:vector>
  </HeadingPairs>
  <TitlesOfParts>
    <vt:vector size="87" baseType="lpstr">
      <vt:lpstr>Arial</vt:lpstr>
      <vt:lpstr>Calibri</vt:lpstr>
      <vt:lpstr>Calibri Light</vt:lpstr>
      <vt:lpstr>Century Gothic</vt:lpstr>
      <vt:lpstr>Courier New</vt:lpstr>
      <vt:lpstr>Palatino Linotype</vt:lpstr>
      <vt:lpstr>Tema de Office</vt:lpstr>
      <vt:lpstr>Ejecutivo</vt:lpstr>
      <vt:lpstr>Presentación de PowerPoint</vt:lpstr>
      <vt:lpstr>Contenido</vt:lpstr>
      <vt:lpstr>Estructuras de Control Secuenciales </vt:lpstr>
      <vt:lpstr>Contenido</vt:lpstr>
      <vt:lpstr>Escritura </vt:lpstr>
      <vt:lpstr>Contenido</vt:lpstr>
      <vt:lpstr>Lectura </vt:lpstr>
      <vt:lpstr>Contenido</vt:lpstr>
      <vt:lpstr>Problema 2.1. (Aplicación de estructuras de control secuenciales de escritura y lectura).  </vt:lpstr>
      <vt:lpstr>Problema 2.1. (Aplicación de estructuras de control secuenciales de escritura y lectura).  </vt:lpstr>
      <vt:lpstr>Problema 2.1. (Aplicación de estructuras de control secuenciales de escritura y lectura).  </vt:lpstr>
      <vt:lpstr>Contenido</vt:lpstr>
      <vt:lpstr> Asignación</vt:lpstr>
      <vt:lpstr>Contenido</vt:lpstr>
      <vt:lpstr>  Asignación Simple  </vt:lpstr>
      <vt:lpstr>Contenido</vt:lpstr>
      <vt:lpstr>  Problema 2.2. (Aplicación de estructuras de control secuenciales de asignación simple).  </vt:lpstr>
      <vt:lpstr>  Problema 2.2. (Aplicación de estructuras de control secuenciales de asignación simple).  </vt:lpstr>
      <vt:lpstr>  Problema 2.2. (Aplicación de estructuras de control secuenciales de asignación simple).  </vt:lpstr>
      <vt:lpstr>Contenido</vt:lpstr>
      <vt:lpstr>  Asignación Contador  </vt:lpstr>
      <vt:lpstr>Contenido</vt:lpstr>
      <vt:lpstr> Problema 2.3. (Aplicación de estructuras de control secuenciales de asignación contador).    </vt:lpstr>
      <vt:lpstr> Problema 2.3. (Aplicación de estructuras de control secuenciales de asignación contador).    </vt:lpstr>
      <vt:lpstr> Problema 2.3. (Aplicación de estructuras de control secuenciales de asignación contador).    </vt:lpstr>
      <vt:lpstr>Contenido</vt:lpstr>
      <vt:lpstr> Asignación Acumulador      </vt:lpstr>
      <vt:lpstr>Contenido</vt:lpstr>
      <vt:lpstr>   Problema 2.4. (Aplicación de estructuras de control secuenciales de asignación acumulador tipo sumas)  </vt:lpstr>
      <vt:lpstr>Presentación de PowerPoint</vt:lpstr>
      <vt:lpstr>   Problema 2.4. (Aplicación de estructuras de control secuenciales de asignación acumulador tipo sumas)  </vt:lpstr>
      <vt:lpstr>Contenido</vt:lpstr>
      <vt:lpstr>   Problema 2.5. (Aplicación de estructuras de control secuenciales de asignación acumulador tipo productos)    </vt:lpstr>
      <vt:lpstr>Presentación de PowerPoint</vt:lpstr>
      <vt:lpstr>   Problema 2.5. (Aplicación de estructuras de control secuenciales de asignación acumulador tipo productos)    </vt:lpstr>
      <vt:lpstr>Contenido</vt:lpstr>
      <vt:lpstr>   Asignación de Trabajo    </vt:lpstr>
      <vt:lpstr>Contenido</vt:lpstr>
      <vt:lpstr>   Problema 2.6. (Aplicación de estructuras de control secuenciales de asignación de trabajo)      </vt:lpstr>
      <vt:lpstr>   Problema 2.6. (Aplicación de estructuras de control secuenciales de asignación de trabajo)      </vt:lpstr>
      <vt:lpstr>   Problema 2.6. (Aplicación de estructuras de control secuenciales de asignación de trabajo)      </vt:lpstr>
      <vt:lpstr>Contenido</vt:lpstr>
      <vt:lpstr>Caso de Estudio 2.1: Encontrar el Perímetro y el Área de un Circulo       </vt:lpstr>
      <vt:lpstr>Caso de Estudio 2.1: Encontrar el Perímetro y el Área de un Circulo       </vt:lpstr>
      <vt:lpstr>Caso de Estudio 2.1: Encontrar el Perímetro y el Área de un Circulo       </vt:lpstr>
      <vt:lpstr>Caso de Estudio 2.1: Encontrar el Perímetro y el Área de un Circulo       </vt:lpstr>
      <vt:lpstr>Caso de Estudio 2.1: Encontrar el Perímetro y el Área de un Circulo       </vt:lpstr>
      <vt:lpstr>Caso de Estudio 2.1: Encontrar el Perímetro y el Área de un Circulo       </vt:lpstr>
      <vt:lpstr>Contenido</vt:lpstr>
      <vt:lpstr>Caso de Estudio 2.2: Encontrar el Perímetro y el Área de un Rectángulo </vt:lpstr>
      <vt:lpstr>Caso de Estudio 2.2: Encontrar el Perímetro y el Área de un Rectángulo </vt:lpstr>
      <vt:lpstr>Caso de Estudio 2.2: Encontrar el Perímetro y el Área de un Rectángulo </vt:lpstr>
      <vt:lpstr>Caso de Estudio 2.2: Encontrar el Perímetro y el Área de un Rectángulo </vt:lpstr>
      <vt:lpstr>Caso de Estudio 2.2: Encontrar el Perímetro y el Área de un Rectángulo </vt:lpstr>
      <vt:lpstr>Contenido</vt:lpstr>
      <vt:lpstr>Caso de Estudio 2.3: Encontrar la Generatriz, el Área y el Volumen de un Cono  </vt:lpstr>
      <vt:lpstr>Caso de Estudio 2.3: Encontrar la Generatriz, el Área y el Volumen de un Cono  </vt:lpstr>
      <vt:lpstr>Caso de Estudio 2.3: Encontrar la Generatriz, el Área y el Volumen de un Cono  </vt:lpstr>
      <vt:lpstr>Caso de Estudio 2.3: Encontrar la Generatriz, el Área y el Volumen de un Cono  </vt:lpstr>
      <vt:lpstr>Presentación de PowerPoint</vt:lpstr>
      <vt:lpstr>Caso de Estudio 2.3: Encontrar la Generatriz, el Área y el Volumen de un Cono  </vt:lpstr>
      <vt:lpstr>Contenido</vt:lpstr>
      <vt:lpstr>Caso de Estudio 2.4: Encontrar la distancia, tiempo de vuelo y la altura alcanzada por un proyectil   </vt:lpstr>
      <vt:lpstr>Caso de Estudio 2.4: Encontrar la distancia, tiempo de vuelo y la altura alcanzada por un proyectil   </vt:lpstr>
      <vt:lpstr>Caso de Estudio 2.4: Encontrar la distancia, tiempo de vuelo y la altura alcanzada por un proyectil   </vt:lpstr>
      <vt:lpstr>Caso de Estudio 2.4: Encontrar la distancia, tiempo de vuelo y la altura alcanzada por un proyectil   </vt:lpstr>
      <vt:lpstr>Presentación de PowerPoint</vt:lpstr>
      <vt:lpstr>Caso de Estudio 2.4: Encontrar la distancia, tiempo de vuelo y la altura alcanzada por un proyectil   </vt:lpstr>
      <vt:lpstr>Contenido</vt:lpstr>
      <vt:lpstr>Caso de Estudio 2.5: Encontrar la distancia, tiempo de vuelo y la altura alcanzada por un proyectil.   </vt:lpstr>
      <vt:lpstr>Caso de Estudio 2.5: Encontrar la distancia, tiempo de vuelo y la altura alcanzada por un proyectil.   </vt:lpstr>
      <vt:lpstr>Caso de Estudio 2.5: Encontrar la distancia, tiempo de vuelo y la altura alcanzada por un proyectil.   </vt:lpstr>
      <vt:lpstr>Caso de Estudio 2.5: Encontrar la distancia, tiempo de vuelo y la altura alcanzada por un proyectil.   </vt:lpstr>
      <vt:lpstr>Presentación de PowerPoint</vt:lpstr>
      <vt:lpstr>Caso de Estudio 2.5: Encontrar la distancia, tiempo de vuelo y la altura alcanzada por un proyectil.   </vt:lpstr>
      <vt:lpstr>Caso de Estudio 2.5: Encontrar la distancia, tiempo de vuelo y la altura alcanzada por un proyectil.   </vt:lpstr>
      <vt:lpstr>Caso de Estudio 2.5: Encontrar la distancia, tiempo de vuelo y la altura alcanzada por un proyectil.   </vt:lpstr>
      <vt:lpstr>Caso de Estudio 2.5: Encontrar la distancia, tiempo de vuelo y la altura alcanzada por un proyectil.   </vt:lpstr>
      <vt:lpstr>¿Preguntas?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HP</dc:creator>
  <cp:lastModifiedBy>Luis</cp:lastModifiedBy>
  <cp:revision>6</cp:revision>
  <dcterms:created xsi:type="dcterms:W3CDTF">2025-10-07T22:49:11Z</dcterms:created>
  <dcterms:modified xsi:type="dcterms:W3CDTF">2025-11-26T16:38:50Z</dcterms:modified>
</cp:coreProperties>
</file>