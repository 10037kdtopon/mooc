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2"/>
  </p:notesMasterIdLst>
  <p:sldIdLst>
    <p:sldId id="311" r:id="rId3"/>
    <p:sldId id="435" r:id="rId4"/>
    <p:sldId id="278" r:id="rId5"/>
    <p:sldId id="436" r:id="rId6"/>
    <p:sldId id="441" r:id="rId7"/>
    <p:sldId id="437" r:id="rId8"/>
    <p:sldId id="442" r:id="rId9"/>
    <p:sldId id="438" r:id="rId10"/>
    <p:sldId id="443" r:id="rId11"/>
    <p:sldId id="439" r:id="rId12"/>
    <p:sldId id="444" r:id="rId13"/>
    <p:sldId id="445" r:id="rId14"/>
    <p:sldId id="440" r:id="rId15"/>
    <p:sldId id="449" r:id="rId16"/>
    <p:sldId id="446" r:id="rId17"/>
    <p:sldId id="450" r:id="rId18"/>
    <p:sldId id="447" r:id="rId19"/>
    <p:sldId id="451" r:id="rId20"/>
    <p:sldId id="452" r:id="rId21"/>
    <p:sldId id="448" r:id="rId22"/>
    <p:sldId id="456" r:id="rId23"/>
    <p:sldId id="457" r:id="rId24"/>
    <p:sldId id="458" r:id="rId25"/>
    <p:sldId id="453" r:id="rId26"/>
    <p:sldId id="459" r:id="rId27"/>
    <p:sldId id="454" r:id="rId28"/>
    <p:sldId id="460" r:id="rId29"/>
    <p:sldId id="393" r:id="rId30"/>
    <p:sldId id="275" r:id="rId31"/>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114" d="100"/>
          <a:sy n="114" d="100"/>
        </p:scale>
        <p:origin x="46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26/11/2025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26/11/2025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26/11/2025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26/11/2025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26/11/2025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26/11/2025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102659" y="2257200"/>
            <a:ext cx="4010296"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2: </a:t>
            </a:r>
            <a:r>
              <a:rPr lang="es-MX" sz="2400" b="1" dirty="0">
                <a:effectLst/>
                <a:latin typeface="Arial" pitchFamily="34" charset="0"/>
                <a:cs typeface="Arial" pitchFamily="34" charset="0"/>
              </a:rPr>
              <a:t>ALGORITMOS Y ESTRUCTURAS DE CONTROL SECUENCIALES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26/11/2025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r>
              <a:rPr lang="es-MX" sz="3400" b="1" dirty="0">
                <a:solidFill>
                  <a:srgbClr val="FF0000"/>
                </a:solidFill>
              </a:rPr>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1885727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446758" y="1069618"/>
            <a:ext cx="4846747" cy="5469295"/>
          </a:xfrm>
        </p:spPr>
        <p:txBody>
          <a:bodyPr>
            <a:normAutofit fontScale="92500" lnSpcReduction="10000"/>
          </a:bodyPr>
          <a:lstStyle/>
          <a:p>
            <a:pPr algn="just"/>
            <a:r>
              <a:rPr lang="es-MX" sz="1600" dirty="0"/>
              <a:t>En este capítulo se aprenderán a diseñar algoritmos y a utilizar la computadora como una herramienta para resolver problemas creando programas con estructuras de control secuenciales en el lenguaje C/C++. El estudio de las estructuras de control secuenciales se realiza en base al diseño de algoritmos y a la creación de programas en un lenguaje de programación estructurado y orientado a objetos como es el Lenguaje C/C++. Para la solución de problemas de programación se aplican aspectos de Ingeniería de Software y el método científico que permiten identificar a la programación con un enfoque sistemático. </a:t>
            </a:r>
          </a:p>
          <a:p>
            <a:pPr marL="0" indent="0" algn="just">
              <a:buNone/>
            </a:pPr>
            <a:endParaRPr lang="es-MX" sz="1600" dirty="0"/>
          </a:p>
          <a:p>
            <a:pPr algn="just"/>
            <a:r>
              <a:rPr lang="es-MX" sz="1600" dirty="0"/>
              <a:t>En lo que se refiere a la Algorítmica que es la ciencia que estudia los algoritmos, sus propiedades y eficiencia, aplicando métodos y técnicas para el diseño de algoritmos, se puede mencionar que, a Euclides, a Muhammad Al-</a:t>
            </a:r>
            <a:r>
              <a:rPr lang="es-MX" sz="1600" dirty="0" err="1"/>
              <a:t>Juarismi</a:t>
            </a:r>
            <a:r>
              <a:rPr lang="es-MX" sz="1600" dirty="0"/>
              <a:t> y a Ada Lovelace se los consideran los padres y madre de la Algorítmica respectivamente, por sus valiosas aportaciones.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9" name="12 CuadroTexto"/>
          <p:cNvSpPr txBox="1"/>
          <p:nvPr/>
        </p:nvSpPr>
        <p:spPr>
          <a:xfrm>
            <a:off x="5519137" y="4518422"/>
            <a:ext cx="4355976" cy="646331"/>
          </a:xfrm>
          <a:prstGeom prst="rect">
            <a:avLst/>
          </a:prstGeom>
          <a:noFill/>
        </p:spPr>
        <p:txBody>
          <a:bodyPr wrap="square" rtlCol="0">
            <a:spAutoFit/>
          </a:bodyPr>
          <a:lstStyle/>
          <a:p>
            <a:pPr algn="just"/>
            <a:r>
              <a:rPr lang="es-ES_tradnl" sz="1200" b="1" dirty="0">
                <a:solidFill>
                  <a:schemeClr val="tx1">
                    <a:lumMod val="50000"/>
                    <a:lumOff val="50000"/>
                  </a:schemeClr>
                </a:solidFill>
                <a:latin typeface="+mj-lt"/>
              </a:rPr>
              <a:t>Imagen  2.1 </a:t>
            </a:r>
            <a:r>
              <a:rPr lang="es-ES_tradnl" sz="1200" dirty="0">
                <a:solidFill>
                  <a:schemeClr val="tx1">
                    <a:lumMod val="50000"/>
                    <a:lumOff val="50000"/>
                  </a:schemeClr>
                </a:solidFill>
                <a:latin typeface="+mj-lt"/>
              </a:rPr>
              <a:t>Estructura Básica de un  programa en  C y C++. Fuente: Zambrano M., et al., 2025.</a:t>
            </a:r>
            <a:endParaRPr lang="es-EC"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EA374AB6-586D-4B0E-A70E-93C188C23E32}"/>
              </a:ext>
            </a:extLst>
          </p:cNvPr>
          <p:cNvPicPr>
            <a:picLocks noChangeAspect="1"/>
          </p:cNvPicPr>
          <p:nvPr/>
        </p:nvPicPr>
        <p:blipFill>
          <a:blip r:embed="rId2"/>
          <a:stretch>
            <a:fillRect/>
          </a:stretch>
        </p:blipFill>
        <p:spPr>
          <a:xfrm>
            <a:off x="5418780" y="1596223"/>
            <a:ext cx="6773220" cy="2829320"/>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1800" dirty="0"/>
              <a:t>Introducción </a:t>
            </a:r>
          </a:p>
          <a:p>
            <a:pPr marL="342900" lvl="1" indent="-342900">
              <a:lnSpc>
                <a:spcPct val="110000"/>
              </a:lnSpc>
              <a:buFont typeface="Arial" pitchFamily="34" charset="0"/>
              <a:buChar char="•"/>
            </a:pPr>
            <a:r>
              <a:rPr lang="es-MX" sz="3400" b="1" dirty="0">
                <a:solidFill>
                  <a:srgbClr val="FF0000"/>
                </a:solidFill>
              </a:rPr>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a:solidFill>
                <a:prstClr val="black">
                  <a:lumMod val="65000"/>
                  <a:lumOff val="35000"/>
                </a:prstClr>
              </a:solidFill>
            </a:endParaRPr>
          </a:p>
        </p:txBody>
      </p:sp>
    </p:spTree>
    <p:extLst>
      <p:ext uri="{BB962C8B-B14F-4D97-AF65-F5344CB8AC3E}">
        <p14:creationId xmlns:p14="http://schemas.microsoft.com/office/powerpoint/2010/main" val="3334934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Objetivos</a:t>
            </a:r>
            <a:endParaRPr lang="en-US" b="1" dirty="0"/>
          </a:p>
        </p:txBody>
      </p:sp>
      <p:sp>
        <p:nvSpPr>
          <p:cNvPr id="5" name="4 Marcador de contenido"/>
          <p:cNvSpPr>
            <a:spLocks noGrp="1"/>
          </p:cNvSpPr>
          <p:nvPr>
            <p:ph idx="1"/>
          </p:nvPr>
        </p:nvSpPr>
        <p:spPr>
          <a:xfrm>
            <a:off x="1869158" y="1699221"/>
            <a:ext cx="9205242" cy="5469295"/>
          </a:xfrm>
        </p:spPr>
        <p:txBody>
          <a:bodyPr>
            <a:normAutofit/>
          </a:bodyPr>
          <a:lstStyle/>
          <a:p>
            <a:pPr algn="just"/>
            <a:r>
              <a:rPr lang="es-MX" sz="1600" dirty="0"/>
              <a:t>Revisar los principales conceptos en torno a algoritmos y a estructuras de control secuenciales. </a:t>
            </a:r>
          </a:p>
          <a:p>
            <a:pPr algn="just"/>
            <a:r>
              <a:rPr lang="es-MX" sz="1600" dirty="0"/>
              <a:t>Entender cómo trabajan los algoritmos y las estructuras de control secuenciales y cómo se aplican con el lenguaje C/C++ en la construcción de programas. </a:t>
            </a:r>
          </a:p>
          <a:p>
            <a:pPr algn="just"/>
            <a:r>
              <a:rPr lang="es-MX" sz="1600" dirty="0"/>
              <a:t>Aprender a crear algoritmos en Pseudocódigo y en Lenguaje C/C++ con estructuras de control secuenciales. </a:t>
            </a:r>
          </a:p>
          <a:p>
            <a:pPr algn="just"/>
            <a:r>
              <a:rPr lang="es-MX" sz="1600" dirty="0"/>
              <a:t>Diseñar y crear programas en lenguaje C/C++ utilizando algoritmos y estructuras de control secuenciales. </a:t>
            </a:r>
          </a:p>
          <a:p>
            <a:pPr algn="just"/>
            <a:r>
              <a:rPr lang="es-MX" sz="1600" dirty="0"/>
              <a:t>Resolver casos de estudio con algoritmos y estructuras de control secuenciales aplicadas al área Matemática y Física, utilizando compiladores y simuladores.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Tree>
    <p:extLst>
      <p:ext uri="{BB962C8B-B14F-4D97-AF65-F5344CB8AC3E}">
        <p14:creationId xmlns:p14="http://schemas.microsoft.com/office/powerpoint/2010/main" val="3651962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1800" dirty="0"/>
              <a:t>Introducción </a:t>
            </a:r>
          </a:p>
          <a:p>
            <a:pPr lvl="1"/>
            <a:r>
              <a:rPr lang="es-MX" sz="1800" dirty="0"/>
              <a:t>Objetivos </a:t>
            </a:r>
          </a:p>
          <a:p>
            <a:pPr marL="342900" lvl="1" indent="-342900">
              <a:lnSpc>
                <a:spcPct val="110000"/>
              </a:lnSpc>
              <a:buFont typeface="Arial" pitchFamily="34" charset="0"/>
              <a:buChar char="•"/>
            </a:pPr>
            <a:r>
              <a:rPr lang="es-MX" sz="3100" b="1" dirty="0">
                <a:solidFill>
                  <a:srgbClr val="FF0000"/>
                </a:solidFill>
              </a:rPr>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6</a:t>
            </a:fld>
            <a:endParaRPr lang="es-EC">
              <a:solidFill>
                <a:prstClr val="black">
                  <a:lumMod val="65000"/>
                  <a:lumOff val="35000"/>
                </a:prstClr>
              </a:solidFill>
            </a:endParaRPr>
          </a:p>
        </p:txBody>
      </p:sp>
    </p:spTree>
    <p:extLst>
      <p:ext uri="{BB962C8B-B14F-4D97-AF65-F5344CB8AC3E}">
        <p14:creationId xmlns:p14="http://schemas.microsoft.com/office/powerpoint/2010/main" val="21554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Definición</a:t>
            </a:r>
            <a:endParaRPr lang="en-US" b="1" dirty="0"/>
          </a:p>
        </p:txBody>
      </p:sp>
      <p:sp>
        <p:nvSpPr>
          <p:cNvPr id="5" name="4 Marcador de contenido"/>
          <p:cNvSpPr>
            <a:spLocks noGrp="1"/>
          </p:cNvSpPr>
          <p:nvPr>
            <p:ph idx="1"/>
          </p:nvPr>
        </p:nvSpPr>
        <p:spPr>
          <a:xfrm>
            <a:off x="446758" y="1069618"/>
            <a:ext cx="5649242" cy="5469295"/>
          </a:xfrm>
        </p:spPr>
        <p:txBody>
          <a:bodyPr>
            <a:normAutofit lnSpcReduction="10000"/>
          </a:bodyPr>
          <a:lstStyle/>
          <a:p>
            <a:pPr algn="just"/>
            <a:r>
              <a:rPr lang="es-MX" sz="1600" dirty="0"/>
              <a:t>Un algoritmo es un conjunto de pasos o instrucciones ordenadas y finitas que permiten resolver un problema (Joyanes, L., 2008). Etimológicamente hablando la palabra algoritmo proviene del latín, dixit algorithmus y este del griego arithmos, que significa número y también con la influencia del matemático persa Muhammad Al-</a:t>
            </a:r>
            <a:r>
              <a:rPr lang="es-MX" sz="1600" dirty="0" err="1"/>
              <a:t>Juarismi</a:t>
            </a:r>
            <a:r>
              <a:rPr lang="es-MX" sz="1600" dirty="0"/>
              <a:t> que vivió durante el siglo IX y alcanzó gran reputación por el enunciado de las reglas paso a paso para sumar, restar, multiplicar y dividir números decimales. Euclides, el gran matemático griego que vivió en el siglo IV antes de Cristo, inventó un método para encontrar el Máximo Común Divisor (MCD) de dos números en base a divisiones sucesivas. Ada Lovelace (1815-1852), quien fue una matemática y escritora británica, que trabajó en el desarrollo y creación de la primera documentación sobre un determinado sistema de procesamiento automático aplicado a la máquina analítica de Charles Babbage que se considera la primera calculadora mecánica de esa época, por lo que a ella se la valora como la primera Ingeniera de Software del mundo</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pic>
        <p:nvPicPr>
          <p:cNvPr id="1026" name="Picture 2" descr="matrice de confusion">
            <a:extLst>
              <a:ext uri="{FF2B5EF4-FFF2-40B4-BE49-F238E27FC236}">
                <a16:creationId xmlns:a16="http://schemas.microsoft.com/office/drawing/2014/main" id="{1987336B-E1BB-431C-AAE0-348D7CC3FB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800" y="1069618"/>
            <a:ext cx="3830320" cy="4510405"/>
          </a:xfrm>
          <a:prstGeom prst="rect">
            <a:avLst/>
          </a:prstGeom>
          <a:noFill/>
          <a:extLst>
            <a:ext uri="{909E8E84-426E-40DD-AFC4-6F175D3DCCD1}">
              <a14:hiddenFill xmlns:a14="http://schemas.microsoft.com/office/drawing/2010/main">
                <a:solidFill>
                  <a:srgbClr val="FFFFFF"/>
                </a:solidFill>
              </a14:hiddenFill>
            </a:ext>
          </a:extLst>
        </p:spPr>
      </p:pic>
      <p:sp>
        <p:nvSpPr>
          <p:cNvPr id="11" name="12 CuadroTexto">
            <a:extLst>
              <a:ext uri="{FF2B5EF4-FFF2-40B4-BE49-F238E27FC236}">
                <a16:creationId xmlns:a16="http://schemas.microsoft.com/office/drawing/2014/main" id="{5FD1C69C-C823-41AC-8569-A556B2E11CC6}"/>
              </a:ext>
            </a:extLst>
          </p:cNvPr>
          <p:cNvSpPr txBox="1"/>
          <p:nvPr/>
        </p:nvSpPr>
        <p:spPr>
          <a:xfrm>
            <a:off x="6565531" y="5788382"/>
            <a:ext cx="4355976" cy="830997"/>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2.2 </a:t>
            </a:r>
            <a:r>
              <a:rPr lang="es-MX" sz="1200" dirty="0">
                <a:solidFill>
                  <a:schemeClr val="tx1">
                    <a:lumMod val="50000"/>
                    <a:lumOff val="50000"/>
                  </a:schemeClr>
                </a:solidFill>
                <a:latin typeface="+mj-lt"/>
              </a:rPr>
              <a:t>Ilustración del artículo “¿Qué es un algoritmo y por qué es esencial en Data Science?”.</a:t>
            </a:r>
          </a:p>
          <a:p>
            <a:pPr algn="just"/>
            <a:r>
              <a:rPr lang="es-MX" sz="1200" dirty="0">
                <a:solidFill>
                  <a:schemeClr val="tx1">
                    <a:lumMod val="50000"/>
                    <a:lumOff val="50000"/>
                  </a:schemeClr>
                </a:solidFill>
                <a:latin typeface="+mj-lt"/>
              </a:rPr>
              <a:t>Fuente: DataScientest, 2025.</a:t>
            </a:r>
          </a:p>
          <a:p>
            <a:pPr algn="ct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642098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1800" dirty="0"/>
              <a:t>Introducción </a:t>
            </a:r>
          </a:p>
          <a:p>
            <a:pPr lvl="1"/>
            <a:r>
              <a:rPr lang="es-MX" sz="1800" dirty="0"/>
              <a:t>Objetivos </a:t>
            </a:r>
          </a:p>
          <a:p>
            <a:pPr lvl="1"/>
            <a:r>
              <a:rPr lang="es-MX" sz="1800" dirty="0"/>
              <a:t>Definición de Algoritmo. </a:t>
            </a:r>
          </a:p>
          <a:p>
            <a:pPr marL="342900" lvl="1" indent="-342900">
              <a:lnSpc>
                <a:spcPct val="110000"/>
              </a:lnSpc>
              <a:buFont typeface="Arial" pitchFamily="34" charset="0"/>
              <a:buChar char="•"/>
            </a:pPr>
            <a:r>
              <a:rPr lang="es-MX" sz="3100" b="1" dirty="0">
                <a:solidFill>
                  <a:srgbClr val="FF0000"/>
                </a:solidFill>
              </a:rPr>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8</a:t>
            </a:fld>
            <a:endParaRPr lang="es-EC">
              <a:solidFill>
                <a:prstClr val="black">
                  <a:lumMod val="65000"/>
                  <a:lumOff val="35000"/>
                </a:prstClr>
              </a:solidFill>
            </a:endParaRPr>
          </a:p>
        </p:txBody>
      </p:sp>
    </p:spTree>
    <p:extLst>
      <p:ext uri="{BB962C8B-B14F-4D97-AF65-F5344CB8AC3E}">
        <p14:creationId xmlns:p14="http://schemas.microsoft.com/office/powerpoint/2010/main" val="2582978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55520" y="579254"/>
            <a:ext cx="8229600" cy="980728"/>
          </a:xfrm>
        </p:spPr>
        <p:txBody>
          <a:bodyPr/>
          <a:lstStyle/>
          <a:p>
            <a:br>
              <a:rPr lang="es-MX" b="1" dirty="0"/>
            </a:br>
            <a:br>
              <a:rPr lang="es-MX" b="1" dirty="0"/>
            </a:br>
            <a:br>
              <a:rPr lang="es-MX" b="1" dirty="0"/>
            </a:br>
            <a:br>
              <a:rPr lang="es-MX" b="1" dirty="0"/>
            </a:br>
            <a:br>
              <a:rPr lang="es-MX" b="1" dirty="0"/>
            </a:br>
            <a:br>
              <a:rPr lang="es-MX" b="1" dirty="0"/>
            </a:br>
            <a:r>
              <a:rPr lang="es-MX" sz="4000" b="1" dirty="0"/>
              <a:t>Características de los Algoritmos  </a:t>
            </a:r>
            <a:br>
              <a:rPr lang="es-MX" sz="4000" b="1" dirty="0">
                <a:solidFill>
                  <a:srgbClr val="FF0000"/>
                </a:solidFill>
              </a:rPr>
            </a:br>
            <a:endParaRPr lang="en-US" b="1" dirty="0"/>
          </a:p>
        </p:txBody>
      </p:sp>
      <p:sp>
        <p:nvSpPr>
          <p:cNvPr id="5" name="4 Marcador de contenido"/>
          <p:cNvSpPr>
            <a:spLocks noGrp="1"/>
          </p:cNvSpPr>
          <p:nvPr>
            <p:ph idx="1"/>
          </p:nvPr>
        </p:nvSpPr>
        <p:spPr>
          <a:xfrm>
            <a:off x="446758" y="1069618"/>
            <a:ext cx="5649242" cy="5469295"/>
          </a:xfrm>
        </p:spPr>
        <p:txBody>
          <a:bodyPr>
            <a:normAutofit/>
          </a:bodyPr>
          <a:lstStyle/>
          <a:p>
            <a:pPr marL="0" indent="0">
              <a:buNone/>
            </a:pPr>
            <a:r>
              <a:rPr lang="es-MX" sz="1600" dirty="0"/>
              <a:t>Un algoritmo tiene las siguientes tres características (Joyanes, L., 2008): </a:t>
            </a:r>
            <a:br>
              <a:rPr lang="es-MX" sz="1600" dirty="0"/>
            </a:br>
            <a:endParaRPr lang="es-MX" sz="1600" dirty="0"/>
          </a:p>
          <a:p>
            <a:pPr algn="just"/>
            <a:r>
              <a:rPr lang="es-MX" sz="1600" dirty="0"/>
              <a:t>Preciso: Un algoritmo debe definirse de manera rigurosa sin ambigüedades. </a:t>
            </a:r>
          </a:p>
          <a:p>
            <a:pPr algn="just"/>
            <a:r>
              <a:rPr lang="es-MX" sz="1600" dirty="0"/>
              <a:t> Definido: Si se sigue un algoritmo dos veces, se debe obtener el mismo resultado. </a:t>
            </a:r>
          </a:p>
          <a:p>
            <a:pPr algn="just"/>
            <a:r>
              <a:rPr lang="es-MX" sz="1600" dirty="0"/>
              <a:t>Finito: Un algoritmo debe terminar en algún momento.</a:t>
            </a:r>
          </a:p>
          <a:p>
            <a:pPr marL="0" indent="0" algn="just">
              <a:buNone/>
            </a:pPr>
            <a:endParaRPr lang="es-MX" sz="1600" dirty="0"/>
          </a:p>
          <a:p>
            <a:pPr marL="0" indent="0" algn="just">
              <a:buNone/>
            </a:pPr>
            <a:r>
              <a:rPr lang="es-MX" sz="1600" dirty="0"/>
              <a:t> Considerando estas características un algoritmo puede tener elementos de entrada y debe producir un resultado claro y conciso, que puede ser escrito en un lenguaje de programación como C/C++.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11" name="12 CuadroTexto">
            <a:extLst>
              <a:ext uri="{FF2B5EF4-FFF2-40B4-BE49-F238E27FC236}">
                <a16:creationId xmlns:a16="http://schemas.microsoft.com/office/drawing/2014/main" id="{5FD1C69C-C823-41AC-8569-A556B2E11CC6}"/>
              </a:ext>
            </a:extLst>
          </p:cNvPr>
          <p:cNvSpPr txBox="1"/>
          <p:nvPr/>
        </p:nvSpPr>
        <p:spPr>
          <a:xfrm>
            <a:off x="6306475" y="4783882"/>
            <a:ext cx="4355976" cy="646331"/>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2.3 </a:t>
            </a:r>
            <a:r>
              <a:rPr lang="es-MX" sz="1200" dirty="0">
                <a:solidFill>
                  <a:schemeClr val="tx1">
                    <a:lumMod val="50000"/>
                    <a:lumOff val="50000"/>
                  </a:schemeClr>
                </a:solidFill>
                <a:latin typeface="+mj-lt"/>
              </a:rPr>
              <a:t>Ilustración sobre algoritmos en informática.</a:t>
            </a:r>
          </a:p>
          <a:p>
            <a:pPr algn="just"/>
            <a:r>
              <a:rPr lang="es-MX" sz="1200" dirty="0">
                <a:solidFill>
                  <a:schemeClr val="tx1">
                    <a:lumMod val="50000"/>
                    <a:lumOff val="50000"/>
                  </a:schemeClr>
                </a:solidFill>
                <a:latin typeface="+mj-lt"/>
              </a:rPr>
              <a:t>Fuente: Frogames Formación, 2025.</a:t>
            </a:r>
          </a:p>
          <a:p>
            <a:pPr algn="ctr"/>
            <a:endParaRPr lang="es-EC" sz="1200" dirty="0">
              <a:solidFill>
                <a:schemeClr val="tx1">
                  <a:lumMod val="50000"/>
                  <a:lumOff val="50000"/>
                </a:schemeClr>
              </a:solidFill>
              <a:latin typeface="+mj-lt"/>
            </a:endParaRPr>
          </a:p>
        </p:txBody>
      </p:sp>
      <p:pic>
        <p:nvPicPr>
          <p:cNvPr id="2050" name="Picture 2" descr="¿Qué es un Algoritmo en informática?">
            <a:extLst>
              <a:ext uri="{FF2B5EF4-FFF2-40B4-BE49-F238E27FC236}">
                <a16:creationId xmlns:a16="http://schemas.microsoft.com/office/drawing/2014/main" id="{13F54C3F-3C8C-4DCF-9F60-CF449918D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8464" y="1367494"/>
            <a:ext cx="4091998" cy="3136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554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2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2900" b="1" dirty="0">
                <a:solidFill>
                  <a:srgbClr val="FF0000"/>
                </a:solidFill>
              </a:rPr>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10</a:t>
            </a:fld>
            <a:endParaRPr lang="es-EC">
              <a:solidFill>
                <a:prstClr val="black">
                  <a:lumMod val="65000"/>
                  <a:lumOff val="35000"/>
                </a:prstClr>
              </a:solidFill>
            </a:endParaRPr>
          </a:p>
        </p:txBody>
      </p:sp>
    </p:spTree>
    <p:extLst>
      <p:ext uri="{BB962C8B-B14F-4D97-AF65-F5344CB8AC3E}">
        <p14:creationId xmlns:p14="http://schemas.microsoft.com/office/powerpoint/2010/main" val="3488079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66800" y="1508888"/>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Etapas para la Solución de un Problema como un Caso de Estudio  </a:t>
            </a:r>
            <a:br>
              <a:rPr lang="es-MX" sz="4000" b="1" dirty="0">
                <a:solidFill>
                  <a:srgbClr val="FF0000"/>
                </a:solidFill>
              </a:rPr>
            </a:br>
            <a:endParaRPr lang="en-US" b="1" dirty="0"/>
          </a:p>
        </p:txBody>
      </p:sp>
      <p:sp>
        <p:nvSpPr>
          <p:cNvPr id="5" name="4 Marcador de contenido"/>
          <p:cNvSpPr>
            <a:spLocks noGrp="1"/>
          </p:cNvSpPr>
          <p:nvPr>
            <p:ph idx="1"/>
          </p:nvPr>
        </p:nvSpPr>
        <p:spPr>
          <a:xfrm>
            <a:off x="446758" y="1706112"/>
            <a:ext cx="5649242" cy="5469295"/>
          </a:xfrm>
        </p:spPr>
        <p:txBody>
          <a:bodyPr>
            <a:normAutofit/>
          </a:bodyPr>
          <a:lstStyle/>
          <a:p>
            <a:pPr algn="just">
              <a:buFont typeface="Courier New" panose="02070309020205020404" pitchFamily="49" charset="0"/>
              <a:buChar char="o"/>
            </a:pPr>
            <a:r>
              <a:rPr lang="es-MX" sz="1600" dirty="0"/>
              <a:t>Los Ingenieros en Sistemas en la industria de la computación han encontrado que la ingeniería y el método científico para la solución de problemas pueden ser adaptados para el desarrollo confiable de sistemas de software (</a:t>
            </a:r>
            <a:r>
              <a:rPr lang="es-MX" sz="1600" dirty="0" err="1"/>
              <a:t>Hanly</a:t>
            </a:r>
            <a:r>
              <a:rPr lang="es-MX" sz="1600" dirty="0"/>
              <a:t>, J., </a:t>
            </a:r>
            <a:r>
              <a:rPr lang="es-MX" sz="1600" dirty="0" err="1"/>
              <a:t>Koffman</a:t>
            </a:r>
            <a:r>
              <a:rPr lang="es-MX" sz="1600" dirty="0"/>
              <a:t>, E., </a:t>
            </a:r>
            <a:r>
              <a:rPr lang="es-MX" sz="1600" dirty="0" err="1"/>
              <a:t>Horvath</a:t>
            </a:r>
            <a:r>
              <a:rPr lang="es-MX" sz="1600" dirty="0"/>
              <a:t>, J., 1995). </a:t>
            </a:r>
          </a:p>
          <a:p>
            <a:pPr algn="just">
              <a:buFont typeface="Courier New" panose="02070309020205020404" pitchFamily="49" charset="0"/>
              <a:buChar char="o"/>
            </a:pPr>
            <a:endParaRPr lang="es-MX" sz="1600" dirty="0"/>
          </a:p>
          <a:p>
            <a:pPr algn="just">
              <a:buFont typeface="Courier New" panose="02070309020205020404" pitchFamily="49" charset="0"/>
              <a:buChar char="o"/>
            </a:pPr>
            <a:r>
              <a:rPr lang="es-MX" sz="1600" dirty="0"/>
              <a:t>Desde hace varias décadas la Ingeniería de Software ha sido utilizada para identificar la programación con un enfoque sistemático (Pressman, R., 2010). En este capítulo se van a aplicar cuatro fases en la resolución de problemas de programación como un caso de estudio, considerando los aspectos de la ingeniería y el método científico dentro de cada fase.</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
        <p:nvSpPr>
          <p:cNvPr id="11" name="12 CuadroTexto">
            <a:extLst>
              <a:ext uri="{FF2B5EF4-FFF2-40B4-BE49-F238E27FC236}">
                <a16:creationId xmlns:a16="http://schemas.microsoft.com/office/drawing/2014/main" id="{5FD1C69C-C823-41AC-8569-A556B2E11CC6}"/>
              </a:ext>
            </a:extLst>
          </p:cNvPr>
          <p:cNvSpPr txBox="1"/>
          <p:nvPr/>
        </p:nvSpPr>
        <p:spPr>
          <a:xfrm>
            <a:off x="6306475" y="4783882"/>
            <a:ext cx="4355976" cy="1015663"/>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2.4 </a:t>
            </a:r>
            <a:r>
              <a:rPr lang="es-MX" sz="1200" dirty="0">
                <a:solidFill>
                  <a:schemeClr val="tx1">
                    <a:lumMod val="50000"/>
                    <a:lumOff val="50000"/>
                  </a:schemeClr>
                </a:solidFill>
                <a:latin typeface="+mj-lt"/>
              </a:rPr>
              <a:t>Representación del lenguaje de programación C.</a:t>
            </a:r>
          </a:p>
          <a:p>
            <a:r>
              <a:rPr lang="es-MX" sz="1200" dirty="0">
                <a:solidFill>
                  <a:schemeClr val="tx1">
                    <a:lumMod val="50000"/>
                    <a:lumOff val="50000"/>
                  </a:schemeClr>
                </a:solidFill>
                <a:latin typeface="+mj-lt"/>
              </a:rPr>
              <a:t>Fuente: MSMK University, 2025.</a:t>
            </a:r>
          </a:p>
          <a:p>
            <a:pPr algn="just"/>
            <a:endParaRPr lang="es-MX"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pic>
        <p:nvPicPr>
          <p:cNvPr id="3074" name="Picture 2">
            <a:extLst>
              <a:ext uri="{FF2B5EF4-FFF2-40B4-BE49-F238E27FC236}">
                <a16:creationId xmlns:a16="http://schemas.microsoft.com/office/drawing/2014/main" id="{07CCFAA1-BAC1-41A7-9B82-6BB049F8F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8253" y="1782380"/>
            <a:ext cx="5477435" cy="2954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859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88029" y="1508888"/>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Etapas para la Solución de un Problema como un Caso de Estudio  </a:t>
            </a:r>
            <a:br>
              <a:rPr lang="es-MX" sz="4000" b="1" dirty="0">
                <a:solidFill>
                  <a:srgbClr val="FF0000"/>
                </a:solidFill>
              </a:rPr>
            </a:br>
            <a:endParaRPr lang="en-US" b="1" dirty="0"/>
          </a:p>
        </p:txBody>
      </p:sp>
      <p:sp>
        <p:nvSpPr>
          <p:cNvPr id="5" name="4 Marcador de contenido"/>
          <p:cNvSpPr>
            <a:spLocks noGrp="1"/>
          </p:cNvSpPr>
          <p:nvPr>
            <p:ph idx="1"/>
          </p:nvPr>
        </p:nvSpPr>
        <p:spPr>
          <a:xfrm>
            <a:off x="1214620" y="1999252"/>
            <a:ext cx="10176418" cy="5469295"/>
          </a:xfrm>
        </p:spPr>
        <p:txBody>
          <a:bodyPr>
            <a:normAutofit/>
          </a:bodyPr>
          <a:lstStyle/>
          <a:p>
            <a:pPr algn="just">
              <a:buFont typeface="+mj-lt"/>
              <a:buAutoNum type="arabicPeriod"/>
            </a:pPr>
            <a:r>
              <a:rPr lang="es-MX" sz="1600" dirty="0"/>
              <a:t>Análisis del Problema: En esta fase, se estudia la especificación del problema, se identifican las entradas y salidas requeridas. Se revisan los principios teóricos y científicos que se aplican en la solución de un problema y se listan las fórmulas o relaciones relevantes.</a:t>
            </a:r>
          </a:p>
          <a:p>
            <a:pPr algn="just">
              <a:buFont typeface="+mj-lt"/>
              <a:buAutoNum type="arabicPeriod"/>
            </a:pPr>
            <a:endParaRPr lang="es-MX" sz="1600" dirty="0"/>
          </a:p>
          <a:p>
            <a:pPr algn="just">
              <a:buFont typeface="+mj-lt"/>
              <a:buAutoNum type="arabicPeriod"/>
            </a:pPr>
            <a:r>
              <a:rPr lang="es-MX" sz="1600" dirty="0"/>
              <a:t> Diseño del Algoritmo: En esta fase, se escribe el algoritmo y se lista los sub-problemas a detalle. Se puede aplicar el proceso llamado “divide y vencerás” (divide and conquer), donde el problema se divide en sub-problemas. </a:t>
            </a:r>
          </a:p>
          <a:p>
            <a:pPr algn="just">
              <a:buFont typeface="+mj-lt"/>
              <a:buAutoNum type="arabicPeriod"/>
            </a:pPr>
            <a:endParaRPr lang="es-MX" sz="1600" dirty="0"/>
          </a:p>
          <a:p>
            <a:pPr algn="just">
              <a:buFont typeface="+mj-lt"/>
              <a:buAutoNum type="arabicPeriod"/>
            </a:pPr>
            <a:r>
              <a:rPr lang="es-MX" sz="1600" dirty="0"/>
              <a:t>Desarrollo y Codificación: En esta fase, se presenta la codificación del programa en Lenguaje C/C++, debidamente comentado y explicado conforme a los algoritmos diseñados, considerando la especificación de requerimientos, datos, constantes y fórmulas requeridas para resolver el problema. </a:t>
            </a:r>
          </a:p>
          <a:p>
            <a:pPr algn="just">
              <a:buFont typeface="+mj-lt"/>
              <a:buAutoNum type="arabicPeriod"/>
            </a:pPr>
            <a:r>
              <a:rPr lang="es-MX" sz="1600" dirty="0"/>
              <a:t>Implementación y Pruebas: En esta fase, se verifica que la solución del problema es correcta y el programa trabaja adecuadamente, para lo cual se corre el programa varias veces y se prueba con diferentes valores. Además, se pueden contemplar pruebas de escritorio del programa mostrando el funcionamiento de algunas partes del mismo o en su totalidad considerando los datos y los cálculos que se necesitan procesar.</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spTree>
    <p:extLst>
      <p:ext uri="{BB962C8B-B14F-4D97-AF65-F5344CB8AC3E}">
        <p14:creationId xmlns:p14="http://schemas.microsoft.com/office/powerpoint/2010/main" val="1730808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lnSpc>
                <a:spcPct val="90000"/>
              </a:lnSpc>
            </a:pPr>
            <a:r>
              <a:rPr lang="es-MX" sz="1800" dirty="0"/>
              <a:t> </a:t>
            </a:r>
            <a:r>
              <a:rPr lang="es-MX" sz="2700" b="1" dirty="0">
                <a:solidFill>
                  <a:srgbClr val="FF0000"/>
                </a:solidFill>
              </a:rPr>
              <a:t>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13</a:t>
            </a:fld>
            <a:endParaRPr lang="es-EC">
              <a:solidFill>
                <a:prstClr val="black">
                  <a:lumMod val="65000"/>
                  <a:lumOff val="35000"/>
                </a:prstClr>
              </a:solidFill>
            </a:endParaRPr>
          </a:p>
        </p:txBody>
      </p:sp>
    </p:spTree>
    <p:extLst>
      <p:ext uri="{BB962C8B-B14F-4D97-AF65-F5344CB8AC3E}">
        <p14:creationId xmlns:p14="http://schemas.microsoft.com/office/powerpoint/2010/main" val="609113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658942"/>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Programas y Algoritmos</a:t>
            </a:r>
            <a:br>
              <a:rPr lang="es-MX" sz="4000" b="1" dirty="0">
                <a:solidFill>
                  <a:srgbClr val="FF0000"/>
                </a:solidFill>
              </a:rPr>
            </a:br>
            <a:endParaRPr lang="en-US" b="1" dirty="0"/>
          </a:p>
        </p:txBody>
      </p:sp>
      <p:sp>
        <p:nvSpPr>
          <p:cNvPr id="5" name="4 Marcador de contenido"/>
          <p:cNvSpPr>
            <a:spLocks noGrp="1"/>
          </p:cNvSpPr>
          <p:nvPr>
            <p:ph idx="1"/>
          </p:nvPr>
        </p:nvSpPr>
        <p:spPr>
          <a:xfrm>
            <a:off x="926237" y="1388705"/>
            <a:ext cx="10624655" cy="5469295"/>
          </a:xfrm>
        </p:spPr>
        <p:txBody>
          <a:bodyPr>
            <a:normAutofit/>
          </a:bodyPr>
          <a:lstStyle/>
          <a:p>
            <a:pPr algn="just">
              <a:buFont typeface="Courier New" panose="02070309020205020404" pitchFamily="49" charset="0"/>
              <a:buChar char="o"/>
            </a:pPr>
            <a:r>
              <a:rPr lang="es-MX" sz="1600" dirty="0"/>
              <a:t>Un algoritmo como se mencionó en la sección 2.1.1, es un conjunto de pasos o instrucciones que se siguen para resolver un problema. Un programa implementa uno o más algoritmos y lo traduce a lenguaje máquina. Según Joyanes Aguilar, et al. (2005), un algoritmo se puede expresar de tres maneras: a) forma gráfica, utilizando un diagrama de flujo; b) pseudocódigo que es un lenguaje de descripción algorítmica; c) lenguaje de programación que es una manera explícita de representar un algoritmo. </a:t>
            </a:r>
          </a:p>
          <a:p>
            <a:pPr algn="just">
              <a:buFont typeface="Courier New" panose="02070309020205020404" pitchFamily="49" charset="0"/>
              <a:buChar char="o"/>
            </a:pPr>
            <a:endParaRPr lang="es-MX" sz="1600" dirty="0"/>
          </a:p>
          <a:p>
            <a:pPr marL="0" indent="0" algn="just">
              <a:buNone/>
            </a:pPr>
            <a:endParaRPr lang="es-MX" sz="1600" dirty="0"/>
          </a:p>
          <a:p>
            <a:pPr algn="just">
              <a:buFont typeface="Courier New" panose="02070309020205020404" pitchFamily="49" charset="0"/>
              <a:buChar char="o"/>
            </a:pPr>
            <a:r>
              <a:rPr lang="es-MX" sz="1600" dirty="0"/>
              <a:t>En este capítulo se van a diseñar algoritmos mediante pseudocódigo y se los van a implementar utilizando el Lenguaje de Programación C/C++. Los programas se pueden dividir en sub-programas utilizando funciones, de modo que la complejidad algorítmica se reduce a tener un solo programa completo, lo cual ayuda a mejorar el rendimiento del mismo. Esta práctica es muy utilizada y se conoce como refinamiento progresivo.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Tree>
    <p:extLst>
      <p:ext uri="{BB962C8B-B14F-4D97-AF65-F5344CB8AC3E}">
        <p14:creationId xmlns:p14="http://schemas.microsoft.com/office/powerpoint/2010/main" val="3605706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a:t>
            </a:r>
            <a:r>
              <a:rPr lang="es-MX" sz="2700" b="1" dirty="0">
                <a:solidFill>
                  <a:srgbClr val="FF0000"/>
                </a:solidFill>
              </a:rPr>
              <a:t>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15</a:t>
            </a:fld>
            <a:endParaRPr lang="es-EC">
              <a:solidFill>
                <a:prstClr val="black">
                  <a:lumMod val="65000"/>
                  <a:lumOff val="35000"/>
                </a:prstClr>
              </a:solidFill>
            </a:endParaRPr>
          </a:p>
        </p:txBody>
      </p:sp>
    </p:spTree>
    <p:extLst>
      <p:ext uri="{BB962C8B-B14F-4D97-AF65-F5344CB8AC3E}">
        <p14:creationId xmlns:p14="http://schemas.microsoft.com/office/powerpoint/2010/main" val="3517934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044424"/>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r>
              <a:rPr lang="es-MX" sz="4000" dirty="0"/>
              <a:t> </a:t>
            </a:r>
            <a:r>
              <a:rPr lang="es-MX" sz="3600" b="1" dirty="0"/>
              <a:t>Pseudocódigo como Técnica de Representación de un Algoritmo. </a:t>
            </a:r>
            <a:br>
              <a:rPr lang="es-MX" sz="3600" b="1" dirty="0"/>
            </a:br>
            <a:endParaRPr lang="en-US" sz="3600" b="1" dirty="0"/>
          </a:p>
        </p:txBody>
      </p:sp>
      <p:sp>
        <p:nvSpPr>
          <p:cNvPr id="5" name="4 Marcador de contenido"/>
          <p:cNvSpPr>
            <a:spLocks noGrp="1"/>
          </p:cNvSpPr>
          <p:nvPr>
            <p:ph idx="1"/>
          </p:nvPr>
        </p:nvSpPr>
        <p:spPr>
          <a:xfrm>
            <a:off x="926237" y="1388705"/>
            <a:ext cx="10624655" cy="5469295"/>
          </a:xfrm>
        </p:spPr>
        <p:txBody>
          <a:bodyPr>
            <a:normAutofit/>
          </a:bodyPr>
          <a:lstStyle/>
          <a:p>
            <a:pPr algn="just">
              <a:buFont typeface="Courier New" panose="02070309020205020404" pitchFamily="49" charset="0"/>
              <a:buChar char="o"/>
            </a:pPr>
            <a:r>
              <a:rPr lang="es-MX" sz="1600" dirty="0"/>
              <a:t>El Pseudocódigo es un lenguaje de especificación o descripción de algoritmos. El uso de este lenguaje ayuda a la codificación de un programa de una manera relativamente fácil (Joyanes Aguilar, L., 2008). Este lenguaje nació en inglés y era un medio de representación básico de las estructuras de control de la programación estructurada. Actualmente, se lo puede utilizar también en español sustituyendo las palabras originales del idioma inglés. En esta obra de programación se utilizará la técnica del pseudocódigo para diseñar los algoritmos de los programas y el Lenguaje C/C++ para implementar los mismos.</a:t>
            </a:r>
          </a:p>
          <a:p>
            <a:pPr algn="just">
              <a:buFont typeface="Courier New" panose="02070309020205020404" pitchFamily="49" charset="0"/>
              <a:buChar char="o"/>
            </a:pPr>
            <a:r>
              <a:rPr lang="es-MX" sz="1600" dirty="0"/>
              <a:t> Por ejemplo, algunas de las palabras reservadas y operadores que maneja el Pseudocódigo son: </a:t>
            </a:r>
          </a:p>
          <a:p>
            <a:pPr algn="just">
              <a:buFont typeface="+mj-lt"/>
              <a:buAutoNum type="arabicPeriod"/>
            </a:pPr>
            <a:r>
              <a:rPr lang="es-MX" sz="1600" dirty="0"/>
              <a:t>Leer (</a:t>
            </a:r>
            <a:r>
              <a:rPr lang="es-MX" sz="1600" dirty="0" err="1"/>
              <a:t>Scan</a:t>
            </a:r>
            <a:r>
              <a:rPr lang="es-MX" sz="1600" dirty="0"/>
              <a:t>/</a:t>
            </a:r>
            <a:r>
              <a:rPr lang="es-MX" sz="1600" dirty="0" err="1"/>
              <a:t>Read</a:t>
            </a:r>
            <a:r>
              <a:rPr lang="es-MX" sz="1600" dirty="0"/>
              <a:t>) </a:t>
            </a:r>
          </a:p>
          <a:p>
            <a:pPr algn="just">
              <a:buFont typeface="+mj-lt"/>
              <a:buAutoNum type="arabicPeriod"/>
            </a:pPr>
            <a:r>
              <a:rPr lang="es-MX" sz="1600" dirty="0"/>
              <a:t>Imprimir (</a:t>
            </a:r>
            <a:r>
              <a:rPr lang="es-MX" sz="1600" dirty="0" err="1"/>
              <a:t>Print</a:t>
            </a:r>
            <a:r>
              <a:rPr lang="es-MX" sz="1600" dirty="0"/>
              <a:t>/</a:t>
            </a:r>
            <a:r>
              <a:rPr lang="es-MX" sz="1600" dirty="0" err="1"/>
              <a:t>Write</a:t>
            </a:r>
            <a:r>
              <a:rPr lang="es-MX" sz="1600" dirty="0"/>
              <a:t>) </a:t>
            </a:r>
          </a:p>
          <a:p>
            <a:pPr algn="just">
              <a:buFont typeface="+mj-lt"/>
              <a:buAutoNum type="arabicPeriod"/>
            </a:pPr>
            <a:r>
              <a:rPr lang="es-MX" sz="1600" dirty="0"/>
              <a:t>Calcular (</a:t>
            </a:r>
            <a:r>
              <a:rPr lang="es-MX" sz="1600" dirty="0" err="1"/>
              <a:t>Calculate</a:t>
            </a:r>
            <a:r>
              <a:rPr lang="es-MX" sz="1600" dirty="0"/>
              <a:t>) </a:t>
            </a:r>
          </a:p>
          <a:p>
            <a:pPr algn="just">
              <a:buFont typeface="+mj-lt"/>
              <a:buAutoNum type="arabicPeriod"/>
            </a:pPr>
            <a:r>
              <a:rPr lang="es-MX" sz="1600" dirty="0"/>
              <a:t>Si no (</a:t>
            </a:r>
            <a:r>
              <a:rPr lang="es-MX" sz="1600" dirty="0" err="1"/>
              <a:t>if-else</a:t>
            </a:r>
            <a:r>
              <a:rPr lang="es-MX" sz="1600" dirty="0"/>
              <a:t>) </a:t>
            </a:r>
          </a:p>
          <a:p>
            <a:pPr algn="just">
              <a:buFont typeface="+mj-lt"/>
              <a:buAutoNum type="arabicPeriod"/>
            </a:pPr>
            <a:r>
              <a:rPr lang="es-MX" sz="1600" dirty="0"/>
              <a:t>Mientras (</a:t>
            </a:r>
            <a:r>
              <a:rPr lang="es-MX" sz="1600" dirty="0" err="1"/>
              <a:t>while</a:t>
            </a:r>
            <a:r>
              <a:rPr lang="es-MX" sz="1600" dirty="0"/>
              <a:t>) </a:t>
            </a:r>
          </a:p>
          <a:p>
            <a:pPr algn="just">
              <a:buFont typeface="+mj-lt"/>
              <a:buAutoNum type="arabicPeriod"/>
            </a:pPr>
            <a:r>
              <a:rPr lang="es-MX" sz="1600" dirty="0"/>
              <a:t>Asignar a ‘x’, el valor de ‘y’: ▪ x  y; (Opción 1) ▪ x := y; (Opción 2) ▪ x = y; (Opción 3) </a:t>
            </a:r>
          </a:p>
          <a:p>
            <a:pPr marL="0" indent="0" algn="just">
              <a:buNone/>
            </a:pPr>
            <a:endParaRPr lang="es-MX" sz="1600" dirty="0"/>
          </a:p>
          <a:p>
            <a:pPr algn="just">
              <a:buFont typeface="Courier New" panose="02070309020205020404" pitchFamily="49" charset="0"/>
              <a:buChar char="o"/>
            </a:pPr>
            <a:r>
              <a:rPr lang="es-MX" sz="1600" dirty="0"/>
              <a:t>En la sección 2.2 se presentará el algoritmo en Pseudocódigo y la implementación de programas en Lenguaje C/C++, utilizando estructuras de control secuenciales. Además, se presentan varios Casos de Estudio donde se cumplen con las etapas para la solución de un problema, aplicando el método científico.</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Tree>
    <p:extLst>
      <p:ext uri="{BB962C8B-B14F-4D97-AF65-F5344CB8AC3E}">
        <p14:creationId xmlns:p14="http://schemas.microsoft.com/office/powerpoint/2010/main" val="3760776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2500" b="1" dirty="0">
                <a:solidFill>
                  <a:srgbClr val="FF0000"/>
                </a:solidFill>
              </a:rPr>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17</a:t>
            </a:fld>
            <a:endParaRPr lang="es-EC">
              <a:solidFill>
                <a:prstClr val="black">
                  <a:lumMod val="65000"/>
                  <a:lumOff val="35000"/>
                </a:prstClr>
              </a:solidFill>
            </a:endParaRPr>
          </a:p>
        </p:txBody>
      </p:sp>
    </p:spTree>
    <p:extLst>
      <p:ext uri="{BB962C8B-B14F-4D97-AF65-F5344CB8AC3E}">
        <p14:creationId xmlns:p14="http://schemas.microsoft.com/office/powerpoint/2010/main" val="941366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044424"/>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r>
              <a:rPr lang="es-MX" sz="3600" b="1" dirty="0"/>
              <a:t>Diseño Conceptual de Procesos Aplicado a Programas . </a:t>
            </a:r>
            <a:br>
              <a:rPr lang="es-MX" sz="3600" b="1" dirty="0"/>
            </a:br>
            <a:endParaRPr lang="en-US" sz="3600" b="1" dirty="0"/>
          </a:p>
        </p:txBody>
      </p:sp>
      <p:sp>
        <p:nvSpPr>
          <p:cNvPr id="5" name="4 Marcador de contenido"/>
          <p:cNvSpPr>
            <a:spLocks noGrp="1"/>
          </p:cNvSpPr>
          <p:nvPr>
            <p:ph idx="1"/>
          </p:nvPr>
        </p:nvSpPr>
        <p:spPr>
          <a:xfrm>
            <a:off x="926237" y="1388705"/>
            <a:ext cx="6487575" cy="5469295"/>
          </a:xfrm>
        </p:spPr>
        <p:txBody>
          <a:bodyPr>
            <a:normAutofit/>
          </a:bodyPr>
          <a:lstStyle/>
          <a:p>
            <a:pPr algn="just">
              <a:buFont typeface="Courier New" panose="02070309020205020404" pitchFamily="49" charset="0"/>
              <a:buChar char="o"/>
            </a:pPr>
            <a:r>
              <a:rPr lang="es-EC" sz="1600" dirty="0"/>
              <a:t>Un proceso es un sistema formado por unidades, componentes o equipos interconectados en forma organizada para procesar, modificar o transformar las propiedades de elementos o corrientes de proceso en productos de interés (Mallar, 2010). Un proceso se puede representar por: a) Diagrama de Entrada-Salida (input-output); b) Diagrama de Bloques (operaciones principales); c) Diagrama de Flujos (</a:t>
            </a:r>
            <a:r>
              <a:rPr lang="es-EC" sz="1600" dirty="0" err="1"/>
              <a:t>Flowsheet</a:t>
            </a:r>
            <a:r>
              <a:rPr lang="es-EC" sz="1600" dirty="0"/>
              <a:t>); d) Diagrama de tuberías e instrumentación (PID).</a:t>
            </a:r>
          </a:p>
          <a:p>
            <a:pPr algn="just">
              <a:buFont typeface="Courier New" panose="02070309020205020404" pitchFamily="49" charset="0"/>
              <a:buChar char="o"/>
            </a:pPr>
            <a:endParaRPr lang="es-EC" sz="1600" dirty="0"/>
          </a:p>
          <a:p>
            <a:pPr algn="just">
              <a:buFont typeface="Courier New" panose="02070309020205020404" pitchFamily="49" charset="0"/>
              <a:buChar char="o"/>
            </a:pPr>
            <a:r>
              <a:rPr lang="es-MX" sz="1600" dirty="0"/>
              <a:t>El Diagrama de Entrada-Salida (input-output) se utiliza para representar flujos de materiales considerando las entradas y salidas de los procesos de fabricación de un producto. En la Figura 2.1.1 se muestra un ejemplo de un Proceso Químico donde las entradas son: a) Recursos económicos; b) Materias primas; c) Energía; las salidas son: a) Recursos económicos; b) Productos; c) Energía; d) Residuos.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pic>
        <p:nvPicPr>
          <p:cNvPr id="7" name="Imagen 6">
            <a:extLst>
              <a:ext uri="{FF2B5EF4-FFF2-40B4-BE49-F238E27FC236}">
                <a16:creationId xmlns:a16="http://schemas.microsoft.com/office/drawing/2014/main" id="{BD4B7918-5844-4DE6-8EAE-6EC34936F704}"/>
              </a:ext>
            </a:extLst>
          </p:cNvPr>
          <p:cNvPicPr>
            <a:picLocks noChangeAspect="1"/>
          </p:cNvPicPr>
          <p:nvPr/>
        </p:nvPicPr>
        <p:blipFill>
          <a:blip r:embed="rId2"/>
          <a:stretch>
            <a:fillRect/>
          </a:stretch>
        </p:blipFill>
        <p:spPr>
          <a:xfrm>
            <a:off x="7648596" y="1714083"/>
            <a:ext cx="4453033" cy="2343477"/>
          </a:xfrm>
          <a:prstGeom prst="rect">
            <a:avLst/>
          </a:prstGeom>
        </p:spPr>
      </p:pic>
      <p:sp>
        <p:nvSpPr>
          <p:cNvPr id="8" name="12 CuadroTexto">
            <a:extLst>
              <a:ext uri="{FF2B5EF4-FFF2-40B4-BE49-F238E27FC236}">
                <a16:creationId xmlns:a16="http://schemas.microsoft.com/office/drawing/2014/main" id="{F92B866F-D14C-44D5-B081-DF37784EF7A7}"/>
              </a:ext>
            </a:extLst>
          </p:cNvPr>
          <p:cNvSpPr txBox="1"/>
          <p:nvPr/>
        </p:nvSpPr>
        <p:spPr>
          <a:xfrm>
            <a:off x="7444557" y="4311720"/>
            <a:ext cx="4355976" cy="461665"/>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Figura  2.2.1 </a:t>
            </a:r>
            <a:r>
              <a:rPr lang="es-EC" sz="1200" dirty="0">
                <a:solidFill>
                  <a:schemeClr val="tx1">
                    <a:lumMod val="50000"/>
                    <a:lumOff val="50000"/>
                  </a:schemeClr>
                </a:solidFill>
                <a:latin typeface="+mj-lt"/>
              </a:rPr>
              <a:t>Diagrama de Entrada-Salida de un Proceso Químico (Adaptado de: Arce, E., 2011)</a:t>
            </a:r>
          </a:p>
        </p:txBody>
      </p:sp>
    </p:spTree>
    <p:extLst>
      <p:ext uri="{BB962C8B-B14F-4D97-AF65-F5344CB8AC3E}">
        <p14:creationId xmlns:p14="http://schemas.microsoft.com/office/powerpoint/2010/main" val="1669876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044424"/>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r>
              <a:rPr lang="es-MX" sz="3600" b="1" dirty="0"/>
              <a:t>Diseño Conceptual de Procesos Aplicado a Programas . </a:t>
            </a:r>
            <a:br>
              <a:rPr lang="es-MX" sz="3600" b="1" dirty="0"/>
            </a:br>
            <a:endParaRPr lang="en-US" sz="3600" b="1" dirty="0"/>
          </a:p>
        </p:txBody>
      </p:sp>
      <p:sp>
        <p:nvSpPr>
          <p:cNvPr id="5" name="4 Marcador de contenido"/>
          <p:cNvSpPr>
            <a:spLocks noGrp="1"/>
          </p:cNvSpPr>
          <p:nvPr>
            <p:ph idx="1"/>
          </p:nvPr>
        </p:nvSpPr>
        <p:spPr>
          <a:xfrm>
            <a:off x="926237" y="1388705"/>
            <a:ext cx="5169763" cy="5469295"/>
          </a:xfrm>
        </p:spPr>
        <p:txBody>
          <a:bodyPr>
            <a:normAutofit/>
          </a:bodyPr>
          <a:lstStyle/>
          <a:p>
            <a:pPr algn="just">
              <a:buFont typeface="Courier New" panose="02070309020205020404" pitchFamily="49" charset="0"/>
              <a:buChar char="o"/>
            </a:pPr>
            <a:r>
              <a:rPr lang="es-MX" sz="1600" dirty="0"/>
              <a:t>Este tipo de diagramas también se pueden utilizar para representar un programa como un proceso. Conceptualmente un programa puede ser considerado como una caja negra (Joyanes Aguilar, 2008), donde la caja negra es el proceso o algoritmo de resolución, las entradas y las auxiliares son un grupo de datos que van a ser procesados para obtener las salidas o resultados, como se puede ver en la Figura 2.1.2. En el resto de capítulos y lecciones se utilizará el Diagrama de Entrada-Salida para entender el funcionamiento de un algoritmo como un proceso</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
        <p:nvSpPr>
          <p:cNvPr id="8" name="12 CuadroTexto">
            <a:extLst>
              <a:ext uri="{FF2B5EF4-FFF2-40B4-BE49-F238E27FC236}">
                <a16:creationId xmlns:a16="http://schemas.microsoft.com/office/drawing/2014/main" id="{F92B866F-D14C-44D5-B081-DF37784EF7A7}"/>
              </a:ext>
            </a:extLst>
          </p:cNvPr>
          <p:cNvSpPr txBox="1"/>
          <p:nvPr/>
        </p:nvSpPr>
        <p:spPr>
          <a:xfrm>
            <a:off x="6243286" y="3842986"/>
            <a:ext cx="4355976" cy="461665"/>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Figura  2.1.2 </a:t>
            </a:r>
            <a:r>
              <a:rPr lang="es-EC" sz="1200" dirty="0">
                <a:solidFill>
                  <a:schemeClr val="tx1">
                    <a:lumMod val="50000"/>
                    <a:lumOff val="50000"/>
                  </a:schemeClr>
                </a:solidFill>
                <a:latin typeface="+mj-lt"/>
              </a:rPr>
              <a:t>Diagrama de Entrada-Salida de un Programa (Adaptado de: Joyanes Aguilar, 2008)</a:t>
            </a:r>
          </a:p>
        </p:txBody>
      </p:sp>
      <p:pic>
        <p:nvPicPr>
          <p:cNvPr id="9" name="Imagen 8">
            <a:extLst>
              <a:ext uri="{FF2B5EF4-FFF2-40B4-BE49-F238E27FC236}">
                <a16:creationId xmlns:a16="http://schemas.microsoft.com/office/drawing/2014/main" id="{15DD3A97-2826-4F74-BC46-35E8A4E9BD78}"/>
              </a:ext>
            </a:extLst>
          </p:cNvPr>
          <p:cNvPicPr>
            <a:picLocks noChangeAspect="1"/>
          </p:cNvPicPr>
          <p:nvPr/>
        </p:nvPicPr>
        <p:blipFill>
          <a:blip r:embed="rId2"/>
          <a:stretch>
            <a:fillRect/>
          </a:stretch>
        </p:blipFill>
        <p:spPr>
          <a:xfrm>
            <a:off x="6096000" y="1740957"/>
            <a:ext cx="4925112" cy="1867161"/>
          </a:xfrm>
          <a:prstGeom prst="rect">
            <a:avLst/>
          </a:prstGeom>
        </p:spPr>
      </p:pic>
    </p:spTree>
    <p:extLst>
      <p:ext uri="{BB962C8B-B14F-4D97-AF65-F5344CB8AC3E}">
        <p14:creationId xmlns:p14="http://schemas.microsoft.com/office/powerpoint/2010/main" val="1772466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2500" b="1" dirty="0">
                <a:solidFill>
                  <a:srgbClr val="FF0000"/>
                </a:solidFill>
              </a:rPr>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20</a:t>
            </a:fld>
            <a:endParaRPr lang="es-EC">
              <a:solidFill>
                <a:prstClr val="black">
                  <a:lumMod val="65000"/>
                  <a:lumOff val="35000"/>
                </a:prstClr>
              </a:solidFill>
            </a:endParaRPr>
          </a:p>
        </p:txBody>
      </p:sp>
    </p:spTree>
    <p:extLst>
      <p:ext uri="{BB962C8B-B14F-4D97-AF65-F5344CB8AC3E}">
        <p14:creationId xmlns:p14="http://schemas.microsoft.com/office/powerpoint/2010/main" val="3005176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41176" y="1978506"/>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br>
              <a:rPr lang="es-MX" sz="4000" b="1" dirty="0">
                <a:solidFill>
                  <a:srgbClr val="FF0000"/>
                </a:solidFill>
              </a:rPr>
            </a:br>
            <a:r>
              <a:rPr lang="es-MX" sz="3600" b="1" dirty="0"/>
              <a:t>Aplicaciones de Algoritmos en la Vida Cotidiana.</a:t>
            </a:r>
            <a:br>
              <a:rPr lang="es-MX" sz="3600" b="1" dirty="0"/>
            </a:br>
            <a:br>
              <a:rPr lang="es-MX" sz="3600" b="1" dirty="0"/>
            </a:br>
            <a:endParaRPr lang="en-US" sz="3600" b="1" dirty="0"/>
          </a:p>
        </p:txBody>
      </p:sp>
      <p:sp>
        <p:nvSpPr>
          <p:cNvPr id="5" name="4 Marcador de contenido"/>
          <p:cNvSpPr>
            <a:spLocks noGrp="1"/>
          </p:cNvSpPr>
          <p:nvPr>
            <p:ph idx="1"/>
          </p:nvPr>
        </p:nvSpPr>
        <p:spPr>
          <a:xfrm>
            <a:off x="926237" y="1388705"/>
            <a:ext cx="9123198" cy="5469295"/>
          </a:xfrm>
        </p:spPr>
        <p:txBody>
          <a:bodyPr>
            <a:normAutofit/>
          </a:bodyPr>
          <a:lstStyle/>
          <a:p>
            <a:pPr algn="just">
              <a:buFont typeface="Courier New" panose="02070309020205020404" pitchFamily="49" charset="0"/>
              <a:buChar char="o"/>
            </a:pPr>
            <a:r>
              <a:rPr lang="es-MX" sz="1600" dirty="0"/>
              <a:t>Algoritmo 2.1: Escribir un algoritmo para freír un huevo. Esta es una de las recetas de cocina más sencillas de preparar, donde hasta un niño bajo la supervisión de un adulto lo puede realizar. </a:t>
            </a:r>
          </a:p>
          <a:p>
            <a:pPr marL="0" indent="0" algn="just">
              <a:buNone/>
            </a:pPr>
            <a:endParaRPr lang="es-MX" sz="1600" dirty="0"/>
          </a:p>
          <a:p>
            <a:pPr algn="just">
              <a:buAutoNum type="arabicPeriod"/>
            </a:pPr>
            <a:r>
              <a:rPr lang="es-MX" sz="1600" dirty="0"/>
              <a:t>Encender el fuego de una de las hornillas de la cocina </a:t>
            </a:r>
          </a:p>
          <a:p>
            <a:pPr algn="just">
              <a:buAutoNum type="arabicPeriod"/>
            </a:pPr>
            <a:r>
              <a:rPr lang="es-MX" sz="1600" dirty="0"/>
              <a:t>Agarrar un sartén con tapa. </a:t>
            </a:r>
          </a:p>
          <a:p>
            <a:pPr algn="just">
              <a:buAutoNum type="arabicPeriod"/>
            </a:pPr>
            <a:r>
              <a:rPr lang="es-MX" sz="1600" dirty="0"/>
              <a:t>Colocar la sarten sin la tapa sobre la hornilla de la cocina encendida. </a:t>
            </a:r>
          </a:p>
          <a:p>
            <a:pPr algn="just">
              <a:buAutoNum type="arabicPeriod"/>
            </a:pPr>
            <a:r>
              <a:rPr lang="es-MX" sz="1600" dirty="0"/>
              <a:t>Colocar una cucharadita de aceite en la sartén. </a:t>
            </a:r>
          </a:p>
          <a:p>
            <a:pPr algn="just">
              <a:buAutoNum type="arabicPeriod"/>
            </a:pPr>
            <a:r>
              <a:rPr lang="es-MX" sz="1600" dirty="0"/>
              <a:t>Esperar por un minuto que se caliente el aceite. </a:t>
            </a:r>
          </a:p>
          <a:p>
            <a:pPr algn="just">
              <a:buAutoNum type="arabicPeriod"/>
            </a:pPr>
            <a:r>
              <a:rPr lang="es-MX" sz="1600" dirty="0"/>
              <a:t>Tomar un huevo crudo de la despensa. </a:t>
            </a:r>
          </a:p>
          <a:p>
            <a:pPr algn="just">
              <a:buAutoNum type="arabicPeriod"/>
            </a:pPr>
            <a:r>
              <a:rPr lang="es-MX" sz="1600" dirty="0"/>
              <a:t>Romper la cáscara del huevo. </a:t>
            </a:r>
          </a:p>
          <a:p>
            <a:pPr algn="just">
              <a:buAutoNum type="arabicPeriod"/>
            </a:pPr>
            <a:r>
              <a:rPr lang="es-MX" sz="1600" dirty="0"/>
              <a:t>Colocar la clara y la yema en la sartén caliente. </a:t>
            </a:r>
          </a:p>
          <a:p>
            <a:pPr algn="just">
              <a:buAutoNum type="arabicPeriod"/>
            </a:pPr>
            <a:r>
              <a:rPr lang="es-MX" sz="1600" dirty="0"/>
              <a:t>Colocar la tapa sobre la sartén.</a:t>
            </a:r>
          </a:p>
          <a:p>
            <a:pPr algn="just">
              <a:buAutoNum type="arabicPeriod"/>
            </a:pPr>
            <a:r>
              <a:rPr lang="es-MX" sz="1600" dirty="0"/>
              <a:t>Esperar por dos minutos que el huevo se fría. </a:t>
            </a:r>
          </a:p>
          <a:p>
            <a:pPr algn="just">
              <a:buAutoNum type="arabicPeriod"/>
            </a:pPr>
            <a:r>
              <a:rPr lang="es-MX" sz="1600" dirty="0"/>
              <a:t>Sacar la tapa de la sartén. </a:t>
            </a:r>
          </a:p>
          <a:p>
            <a:pPr algn="just">
              <a:buAutoNum type="arabicPeriod"/>
            </a:pPr>
            <a:r>
              <a:rPr lang="es-MX" sz="1600" dirty="0"/>
              <a:t>Sacar el huevo de la sartén con una espátula. </a:t>
            </a:r>
          </a:p>
          <a:p>
            <a:pPr algn="just">
              <a:buAutoNum type="arabicPeriod"/>
            </a:pPr>
            <a:r>
              <a:rPr lang="es-MX" sz="1600" dirty="0"/>
              <a:t>Servir el huevo en un plato.</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Tree>
    <p:extLst>
      <p:ext uri="{BB962C8B-B14F-4D97-AF65-F5344CB8AC3E}">
        <p14:creationId xmlns:p14="http://schemas.microsoft.com/office/powerpoint/2010/main" val="1743496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41176" y="1978506"/>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br>
              <a:rPr lang="es-MX" sz="4000" b="1" dirty="0">
                <a:solidFill>
                  <a:srgbClr val="FF0000"/>
                </a:solidFill>
              </a:rPr>
            </a:br>
            <a:r>
              <a:rPr lang="es-MX" sz="3600" b="1" dirty="0"/>
              <a:t>Aplicaciones de Algoritmos en la Vida Cotidiana.</a:t>
            </a:r>
            <a:br>
              <a:rPr lang="es-MX" sz="3600" b="1" dirty="0"/>
            </a:br>
            <a:br>
              <a:rPr lang="es-MX" sz="3600" b="1" dirty="0"/>
            </a:br>
            <a:endParaRPr lang="en-US" sz="3600" b="1" dirty="0"/>
          </a:p>
        </p:txBody>
      </p:sp>
      <p:sp>
        <p:nvSpPr>
          <p:cNvPr id="5" name="4 Marcador de contenido"/>
          <p:cNvSpPr>
            <a:spLocks noGrp="1"/>
          </p:cNvSpPr>
          <p:nvPr>
            <p:ph idx="1"/>
          </p:nvPr>
        </p:nvSpPr>
        <p:spPr>
          <a:xfrm>
            <a:off x="926237" y="1978506"/>
            <a:ext cx="9123198" cy="5469295"/>
          </a:xfrm>
        </p:spPr>
        <p:txBody>
          <a:bodyPr>
            <a:normAutofit/>
          </a:bodyPr>
          <a:lstStyle/>
          <a:p>
            <a:pPr algn="just">
              <a:buFont typeface="Courier New" panose="02070309020205020404" pitchFamily="49" charset="0"/>
              <a:buChar char="o"/>
            </a:pPr>
            <a:r>
              <a:rPr lang="es-MX" sz="1600" dirty="0"/>
              <a:t>Algoritmo 2.2: Escribir un algoritmo para encender un auto. Esta actividad puede ser realizada por un adulto o adolescente que tenga permiso de conducir. </a:t>
            </a:r>
          </a:p>
          <a:p>
            <a:pPr marL="0" indent="0" algn="just">
              <a:buNone/>
            </a:pPr>
            <a:endParaRPr lang="es-MX" sz="1600" dirty="0"/>
          </a:p>
          <a:p>
            <a:pPr algn="just">
              <a:buAutoNum type="arabicPeriod"/>
            </a:pPr>
            <a:r>
              <a:rPr lang="es-MX" sz="1600" dirty="0"/>
              <a:t>Dirigirse hacia el garaje donde se encuentra el vehículo. </a:t>
            </a:r>
          </a:p>
          <a:p>
            <a:pPr algn="just">
              <a:buAutoNum type="arabicPeriod"/>
            </a:pPr>
            <a:r>
              <a:rPr lang="es-MX" sz="1600" dirty="0"/>
              <a:t>Desactivar el bloqueo del carro con el control de la llave. </a:t>
            </a:r>
          </a:p>
          <a:p>
            <a:pPr algn="just">
              <a:buAutoNum type="arabicPeriod"/>
            </a:pPr>
            <a:r>
              <a:rPr lang="es-MX" sz="1600" dirty="0"/>
              <a:t>Ingresar al auto en el asiento ubicado frente al volante. </a:t>
            </a:r>
          </a:p>
          <a:p>
            <a:pPr algn="just">
              <a:buAutoNum type="arabicPeriod"/>
            </a:pPr>
            <a:r>
              <a:rPr lang="es-MX" sz="1600" dirty="0"/>
              <a:t>Colocar el freno de mano. </a:t>
            </a:r>
          </a:p>
          <a:p>
            <a:pPr algn="just">
              <a:buAutoNum type="arabicPeriod"/>
            </a:pPr>
            <a:r>
              <a:rPr lang="es-MX" sz="1600" dirty="0"/>
              <a:t>Colocar la palanca de cambios en neutro. </a:t>
            </a:r>
          </a:p>
          <a:p>
            <a:pPr algn="just">
              <a:buAutoNum type="arabicPeriod"/>
            </a:pPr>
            <a:r>
              <a:rPr lang="es-MX" sz="1600" dirty="0"/>
              <a:t>Introducir la llave en el </a:t>
            </a:r>
            <a:r>
              <a:rPr lang="es-MX" sz="1600" dirty="0" err="1"/>
              <a:t>switch</a:t>
            </a:r>
            <a:r>
              <a:rPr lang="es-MX" sz="1600" dirty="0"/>
              <a:t> de encendido o arranque. </a:t>
            </a:r>
          </a:p>
          <a:p>
            <a:pPr algn="just">
              <a:buAutoNum type="arabicPeriod"/>
            </a:pPr>
            <a:r>
              <a:rPr lang="es-MX" sz="1600" dirty="0"/>
              <a:t>Girar la llave en sentido horario hasta que se escuche que el motor del vehículo se enciende.</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Tree>
    <p:extLst>
      <p:ext uri="{BB962C8B-B14F-4D97-AF65-F5344CB8AC3E}">
        <p14:creationId xmlns:p14="http://schemas.microsoft.com/office/powerpoint/2010/main" val="844457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41176" y="1978506"/>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br>
              <a:rPr lang="es-MX" sz="4000" b="1" dirty="0">
                <a:solidFill>
                  <a:srgbClr val="FF0000"/>
                </a:solidFill>
              </a:rPr>
            </a:br>
            <a:r>
              <a:rPr lang="es-MX" sz="3600" b="1" dirty="0"/>
              <a:t>Aplicaciones de Algoritmos en la Vida Cotidiana.</a:t>
            </a:r>
            <a:br>
              <a:rPr lang="es-MX" sz="3600" b="1" dirty="0"/>
            </a:br>
            <a:br>
              <a:rPr lang="es-MX" sz="3600" b="1" dirty="0"/>
            </a:br>
            <a:endParaRPr lang="en-US" sz="3600" b="1" dirty="0"/>
          </a:p>
        </p:txBody>
      </p:sp>
      <p:sp>
        <p:nvSpPr>
          <p:cNvPr id="5" name="4 Marcador de contenido"/>
          <p:cNvSpPr>
            <a:spLocks noGrp="1"/>
          </p:cNvSpPr>
          <p:nvPr>
            <p:ph idx="1"/>
          </p:nvPr>
        </p:nvSpPr>
        <p:spPr>
          <a:xfrm>
            <a:off x="926237" y="1978506"/>
            <a:ext cx="9123198" cy="5469295"/>
          </a:xfrm>
        </p:spPr>
        <p:txBody>
          <a:bodyPr>
            <a:normAutofit/>
          </a:bodyPr>
          <a:lstStyle/>
          <a:p>
            <a:pPr algn="just">
              <a:buFont typeface="Courier New" panose="02070309020205020404" pitchFamily="49" charset="0"/>
              <a:buChar char="o"/>
            </a:pPr>
            <a:r>
              <a:rPr lang="es-MX" sz="1600" dirty="0"/>
              <a:t>Algoritmo 2.3: Escribir un algoritmo para lavarse las manos. Este es una de los hábites de higiene más comunes que realizan las personas durante el día antes de comer o después de acudir al baño. </a:t>
            </a:r>
          </a:p>
          <a:p>
            <a:pPr marL="0" indent="0" algn="just">
              <a:buNone/>
            </a:pPr>
            <a:endParaRPr lang="es-MX" sz="1600" dirty="0"/>
          </a:p>
          <a:p>
            <a:pPr marL="0" indent="0" algn="just">
              <a:buNone/>
            </a:pPr>
            <a:r>
              <a:rPr lang="es-MX" sz="1600" dirty="0"/>
              <a:t>1. Dirigirse hacia el baño. </a:t>
            </a:r>
          </a:p>
          <a:p>
            <a:pPr marL="0" indent="0" algn="just">
              <a:buNone/>
            </a:pPr>
            <a:r>
              <a:rPr lang="es-MX" sz="1600" dirty="0"/>
              <a:t>2. Ubicar el lavabo del baño. </a:t>
            </a:r>
          </a:p>
          <a:p>
            <a:pPr marL="0" indent="0" algn="just">
              <a:buNone/>
            </a:pPr>
            <a:r>
              <a:rPr lang="es-MX" sz="1600" dirty="0"/>
              <a:t>3. Colocarse frente al lavano y abrir el grifo del agua. </a:t>
            </a:r>
          </a:p>
          <a:p>
            <a:pPr marL="0" indent="0" algn="just">
              <a:buNone/>
            </a:pPr>
            <a:r>
              <a:rPr lang="es-MX" sz="1600" dirty="0"/>
              <a:t>4. Mojarse las manos. </a:t>
            </a:r>
          </a:p>
          <a:p>
            <a:pPr marL="0" indent="0" algn="just">
              <a:buNone/>
            </a:pPr>
            <a:r>
              <a:rPr lang="es-MX" sz="1600" dirty="0"/>
              <a:t>5. Aplicar jabón sobre una de las palmas de la mano. </a:t>
            </a:r>
          </a:p>
          <a:p>
            <a:pPr marL="0" indent="0" algn="just">
              <a:buNone/>
            </a:pPr>
            <a:r>
              <a:rPr lang="es-MX" sz="1600" dirty="0"/>
              <a:t>6. Refregar los cinco dedos de cada mano y las palmas de las manos hasta las muñecas, por lo menos un minuto. </a:t>
            </a:r>
          </a:p>
          <a:p>
            <a:pPr marL="0" indent="0" algn="just">
              <a:buNone/>
            </a:pPr>
            <a:r>
              <a:rPr lang="es-MX" sz="1600" dirty="0"/>
              <a:t>7. Enjuagarse las manos con agua. </a:t>
            </a:r>
          </a:p>
          <a:p>
            <a:pPr marL="0" indent="0" algn="just">
              <a:buNone/>
            </a:pPr>
            <a:r>
              <a:rPr lang="es-MX" sz="1600" dirty="0"/>
              <a:t>8. Cerrar el grifo del agua. </a:t>
            </a:r>
          </a:p>
          <a:p>
            <a:pPr marL="0" indent="0" algn="just">
              <a:buNone/>
            </a:pPr>
            <a:r>
              <a:rPr lang="es-MX" sz="1600" dirty="0"/>
              <a:t>9. Secarse las manos con papel desechable. </a:t>
            </a:r>
          </a:p>
          <a:p>
            <a:pPr marL="0" indent="0" algn="just">
              <a:buNone/>
            </a:pPr>
            <a:r>
              <a:rPr lang="es-MX" sz="1600" dirty="0"/>
              <a:t>10. Desechar el papel mojado dentro del tarro de basura del baño.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Tree>
    <p:extLst>
      <p:ext uri="{BB962C8B-B14F-4D97-AF65-F5344CB8AC3E}">
        <p14:creationId xmlns:p14="http://schemas.microsoft.com/office/powerpoint/2010/main" val="3886906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2500" b="1" dirty="0">
                <a:solidFill>
                  <a:srgbClr val="FF0000"/>
                </a:solidFill>
              </a:rPr>
              <a:t>Estructuras de Control en Lenguaje C/C++.</a:t>
            </a:r>
          </a:p>
          <a:p>
            <a:pPr lvl="1"/>
            <a:r>
              <a:rPr lang="es-MX" sz="1800" dirty="0"/>
              <a:t>Teorema de la Programación Estructurada.</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24</a:t>
            </a:fld>
            <a:endParaRPr lang="es-EC">
              <a:solidFill>
                <a:prstClr val="black">
                  <a:lumMod val="65000"/>
                  <a:lumOff val="35000"/>
                </a:prstClr>
              </a:solidFill>
            </a:endParaRPr>
          </a:p>
        </p:txBody>
      </p:sp>
    </p:spTree>
    <p:extLst>
      <p:ext uri="{BB962C8B-B14F-4D97-AF65-F5344CB8AC3E}">
        <p14:creationId xmlns:p14="http://schemas.microsoft.com/office/powerpoint/2010/main" val="3358865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565" y="2938636"/>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br>
              <a:rPr lang="es-MX" sz="4000" b="1" dirty="0">
                <a:solidFill>
                  <a:srgbClr val="FF0000"/>
                </a:solidFill>
              </a:rPr>
            </a:br>
            <a:br>
              <a:rPr lang="es-MX" sz="4000" b="1" dirty="0">
                <a:solidFill>
                  <a:srgbClr val="FF0000"/>
                </a:solidFill>
              </a:rPr>
            </a:br>
            <a:br>
              <a:rPr lang="es-MX" sz="4000" b="1" dirty="0">
                <a:solidFill>
                  <a:srgbClr val="FF0000"/>
                </a:solidFill>
              </a:rPr>
            </a:br>
            <a:r>
              <a:rPr lang="es-MX" b="1" dirty="0"/>
              <a:t>Estructuras de Control en Lenguaje C/C++.</a:t>
            </a:r>
            <a:br>
              <a:rPr lang="es-MX" sz="3600" b="1" dirty="0">
                <a:solidFill>
                  <a:srgbClr val="FF0000"/>
                </a:solidFill>
              </a:rPr>
            </a:br>
            <a:r>
              <a:rPr lang="es-MX" sz="3600" b="1" dirty="0"/>
              <a:t>.</a:t>
            </a:r>
            <a:br>
              <a:rPr lang="es-MX" sz="3600" b="1" dirty="0"/>
            </a:br>
            <a:br>
              <a:rPr lang="es-MX" sz="3600" b="1" dirty="0"/>
            </a:br>
            <a:endParaRPr lang="en-US" sz="3600" b="1" dirty="0"/>
          </a:p>
        </p:txBody>
      </p:sp>
      <p:sp>
        <p:nvSpPr>
          <p:cNvPr id="5" name="4 Marcador de contenido"/>
          <p:cNvSpPr>
            <a:spLocks noGrp="1"/>
          </p:cNvSpPr>
          <p:nvPr>
            <p:ph idx="1"/>
          </p:nvPr>
        </p:nvSpPr>
        <p:spPr>
          <a:xfrm>
            <a:off x="926237" y="1978506"/>
            <a:ext cx="9123198" cy="5469295"/>
          </a:xfrm>
        </p:spPr>
        <p:txBody>
          <a:bodyPr>
            <a:normAutofit/>
          </a:bodyPr>
          <a:lstStyle/>
          <a:p>
            <a:pPr algn="just">
              <a:buFont typeface="Courier New" panose="02070309020205020404" pitchFamily="49" charset="0"/>
              <a:buChar char="o"/>
            </a:pPr>
            <a:r>
              <a:rPr lang="es-MX" sz="1600" dirty="0"/>
              <a:t>Las estructuras de control permiten manejar y modificar el flujo de ejecución de las instrucciones de un programa (Granizo, 2016). </a:t>
            </a:r>
          </a:p>
          <a:p>
            <a:pPr marL="0" indent="0" algn="just">
              <a:buNone/>
            </a:pPr>
            <a:endParaRPr lang="es-MX" sz="1600" dirty="0"/>
          </a:p>
          <a:p>
            <a:pPr marL="0" indent="0" algn="just">
              <a:buNone/>
            </a:pPr>
            <a:r>
              <a:rPr lang="es-MX" sz="1600" dirty="0"/>
              <a:t>Entre las principales estructuras de control están: </a:t>
            </a:r>
          </a:p>
          <a:p>
            <a:pPr marL="0" indent="0" algn="just">
              <a:buNone/>
            </a:pPr>
            <a:endParaRPr lang="es-MX" sz="1600" dirty="0"/>
          </a:p>
          <a:p>
            <a:pPr algn="just">
              <a:buAutoNum type="alphaLcPeriod"/>
            </a:pPr>
            <a:r>
              <a:rPr lang="es-MX" sz="1600" dirty="0"/>
              <a:t>Estructuras de control secuenciales. </a:t>
            </a:r>
          </a:p>
          <a:p>
            <a:pPr algn="just">
              <a:buAutoNum type="alphaLcPeriod"/>
            </a:pPr>
            <a:r>
              <a:rPr lang="es-MX" sz="1600" dirty="0"/>
              <a:t>Estructuras de control selectivas. </a:t>
            </a:r>
          </a:p>
          <a:p>
            <a:pPr algn="just">
              <a:buAutoNum type="alphaLcPeriod"/>
            </a:pPr>
            <a:r>
              <a:rPr lang="es-MX" sz="1600" dirty="0"/>
              <a:t>Estructuras de control repetitivas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spTree>
    <p:extLst>
      <p:ext uri="{BB962C8B-B14F-4D97-AF65-F5344CB8AC3E}">
        <p14:creationId xmlns:p14="http://schemas.microsoft.com/office/powerpoint/2010/main" val="946199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pPr lvl="1"/>
            <a:r>
              <a:rPr lang="es-MX" sz="1800" dirty="0"/>
              <a:t>Introducción </a:t>
            </a:r>
          </a:p>
          <a:p>
            <a:pPr lvl="1"/>
            <a:r>
              <a:rPr lang="es-MX" sz="1800" dirty="0"/>
              <a:t>Objetivos </a:t>
            </a:r>
          </a:p>
          <a:p>
            <a:pPr lvl="1"/>
            <a:r>
              <a:rPr lang="es-MX" sz="1800" dirty="0"/>
              <a:t>Definición de Algoritmo. </a:t>
            </a:r>
          </a:p>
          <a:p>
            <a:pPr lvl="1"/>
            <a:r>
              <a:rPr lang="es-MX" sz="1800" dirty="0"/>
              <a:t>Características de los Algoritmos . </a:t>
            </a:r>
          </a:p>
          <a:p>
            <a:pPr lvl="1"/>
            <a:r>
              <a:rPr lang="es-MX" sz="1800" dirty="0"/>
              <a:t>Etapas para la Solución de un Problema como un Caso de Estudio .</a:t>
            </a:r>
          </a:p>
          <a:p>
            <a:pPr lvl="1"/>
            <a:r>
              <a:rPr lang="es-MX" sz="1800" dirty="0"/>
              <a:t> Programas y Algoritmos.</a:t>
            </a:r>
          </a:p>
          <a:p>
            <a:pPr lvl="1"/>
            <a:r>
              <a:rPr lang="es-MX" sz="1800" dirty="0"/>
              <a:t> Pseudocódigo como Técnica de Representación de un Algoritmo. </a:t>
            </a:r>
          </a:p>
          <a:p>
            <a:pPr lvl="1"/>
            <a:r>
              <a:rPr lang="es-MX" sz="1800" dirty="0"/>
              <a:t>Diseño Conceptual de Procesos Aplicado a Programas . </a:t>
            </a:r>
          </a:p>
          <a:p>
            <a:pPr lvl="1"/>
            <a:r>
              <a:rPr lang="es-MX" sz="1800" dirty="0"/>
              <a:t>Aplicaciones de Algoritmos en la Vida Cotidiana.</a:t>
            </a:r>
          </a:p>
          <a:p>
            <a:pPr lvl="1"/>
            <a:r>
              <a:rPr lang="es-MX" sz="1800" dirty="0"/>
              <a:t>Algoritmo 2.1. (Aplicaciones de algoritmos en la vida cotidiana) . </a:t>
            </a:r>
          </a:p>
          <a:p>
            <a:pPr lvl="1"/>
            <a:r>
              <a:rPr lang="es-MX" sz="1800" dirty="0"/>
              <a:t>Algoritmo 2.2. (Aplicaciones de algoritmos en la vida cotidiana). </a:t>
            </a:r>
          </a:p>
          <a:p>
            <a:pPr lvl="1"/>
            <a:r>
              <a:rPr lang="es-MX" sz="1800" dirty="0"/>
              <a:t>Algoritmo 2.3. (Aplicaciones de algoritmos en la vida cotidiana) . </a:t>
            </a:r>
          </a:p>
          <a:p>
            <a:pPr lvl="1"/>
            <a:r>
              <a:rPr lang="es-MX" sz="1800" dirty="0"/>
              <a:t>Estructuras de Control en Lenguaje C/C++.</a:t>
            </a:r>
          </a:p>
          <a:p>
            <a:pPr lvl="1"/>
            <a:r>
              <a:rPr lang="es-MX" sz="2500" b="1" dirty="0">
                <a:solidFill>
                  <a:srgbClr val="FF0000"/>
                </a:solidFill>
              </a:rPr>
              <a:t>Teorema de la Programación Estructurada</a:t>
            </a:r>
            <a:r>
              <a:rPr lang="es-MX" sz="1800" dirty="0"/>
              <a:t>.</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26</a:t>
            </a:fld>
            <a:endParaRPr lang="es-EC">
              <a:solidFill>
                <a:prstClr val="black">
                  <a:lumMod val="65000"/>
                  <a:lumOff val="35000"/>
                </a:prstClr>
              </a:solidFill>
            </a:endParaRPr>
          </a:p>
        </p:txBody>
      </p:sp>
    </p:spTree>
    <p:extLst>
      <p:ext uri="{BB962C8B-B14F-4D97-AF65-F5344CB8AC3E}">
        <p14:creationId xmlns:p14="http://schemas.microsoft.com/office/powerpoint/2010/main" val="3547632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41176" y="1978506"/>
            <a:ext cx="8229600" cy="980728"/>
          </a:xfrm>
        </p:spPr>
        <p:txBody>
          <a:bodyPr/>
          <a:lstStyle/>
          <a:p>
            <a:br>
              <a:rPr lang="es-MX" b="1" dirty="0"/>
            </a:br>
            <a:br>
              <a:rPr lang="es-MX" b="1" dirty="0"/>
            </a:br>
            <a:br>
              <a:rPr lang="es-MX" b="1" dirty="0"/>
            </a:br>
            <a:br>
              <a:rPr lang="es-MX" b="1" dirty="0"/>
            </a:br>
            <a:br>
              <a:rPr lang="es-MX" b="1" dirty="0"/>
            </a:br>
            <a:br>
              <a:rPr lang="es-MX" b="1" dirty="0"/>
            </a:br>
            <a:r>
              <a:rPr lang="es-MX" sz="4800" b="1" dirty="0">
                <a:solidFill>
                  <a:srgbClr val="FF0000"/>
                </a:solidFill>
              </a:rPr>
              <a:t> </a:t>
            </a:r>
            <a:r>
              <a:rPr lang="es-MX" sz="3600" b="1" dirty="0"/>
              <a:t> </a:t>
            </a:r>
            <a:br>
              <a:rPr lang="es-MX" sz="4000" b="1" dirty="0">
                <a:solidFill>
                  <a:srgbClr val="FF0000"/>
                </a:solidFill>
              </a:rPr>
            </a:br>
            <a:br>
              <a:rPr lang="es-MX" sz="4000" b="1" dirty="0">
                <a:solidFill>
                  <a:srgbClr val="FF0000"/>
                </a:solidFill>
              </a:rPr>
            </a:br>
            <a:r>
              <a:rPr lang="es-MX" sz="3600" b="1" dirty="0"/>
              <a:t>Aplicaciones de Algoritmos en la Vida Cotidiana.</a:t>
            </a:r>
            <a:br>
              <a:rPr lang="es-MX" sz="3600" b="1" dirty="0"/>
            </a:br>
            <a:br>
              <a:rPr lang="es-MX" sz="3600" b="1" dirty="0"/>
            </a:br>
            <a:endParaRPr lang="en-US" sz="3600" b="1" dirty="0"/>
          </a:p>
        </p:txBody>
      </p:sp>
      <p:sp>
        <p:nvSpPr>
          <p:cNvPr id="5" name="4 Marcador de contenido"/>
          <p:cNvSpPr>
            <a:spLocks noGrp="1"/>
          </p:cNvSpPr>
          <p:nvPr>
            <p:ph idx="1"/>
          </p:nvPr>
        </p:nvSpPr>
        <p:spPr>
          <a:xfrm>
            <a:off x="926237" y="1978506"/>
            <a:ext cx="9123198" cy="5469295"/>
          </a:xfrm>
        </p:spPr>
        <p:txBody>
          <a:bodyPr>
            <a:normAutofit/>
          </a:bodyPr>
          <a:lstStyle/>
          <a:p>
            <a:pPr algn="just">
              <a:buFont typeface="Courier New" panose="02070309020205020404" pitchFamily="49" charset="0"/>
              <a:buChar char="o"/>
            </a:pPr>
            <a:r>
              <a:rPr lang="es-MX" sz="1600" dirty="0"/>
              <a:t>De acuerdo con Joyanes Aguilar y </a:t>
            </a:r>
            <a:r>
              <a:rPr lang="es-MX" sz="1600" dirty="0" err="1"/>
              <a:t>Zahonero</a:t>
            </a:r>
            <a:r>
              <a:rPr lang="es-MX" sz="1600" dirty="0"/>
              <a:t> Martínez, (2005), los científicos de la computación Bohm y </a:t>
            </a:r>
            <a:r>
              <a:rPr lang="es-MX" sz="1600" dirty="0" err="1"/>
              <a:t>Jacopini</a:t>
            </a:r>
            <a:r>
              <a:rPr lang="es-MX" sz="1600" dirty="0"/>
              <a:t> en 1966 demostraron que un programa propio puede ser escrito utilizando solamente tres tipos de </a:t>
            </a:r>
            <a:r>
              <a:rPr lang="es-MX" sz="1600" dirty="0" err="1"/>
              <a:t>estrucutras</a:t>
            </a:r>
            <a:r>
              <a:rPr lang="es-MX" sz="1600" dirty="0"/>
              <a:t> de control:</a:t>
            </a:r>
          </a:p>
          <a:p>
            <a:pPr marL="0" indent="0" algn="just">
              <a:buNone/>
            </a:pPr>
            <a:endParaRPr lang="es-MX" sz="1600" dirty="0"/>
          </a:p>
          <a:p>
            <a:pPr marL="0" indent="0" algn="just">
              <a:buNone/>
            </a:pPr>
            <a:r>
              <a:rPr lang="es-MX" sz="1600" dirty="0"/>
              <a:t>a) secuenciales; </a:t>
            </a:r>
          </a:p>
          <a:p>
            <a:pPr marL="0" indent="0" algn="just">
              <a:buNone/>
            </a:pPr>
            <a:r>
              <a:rPr lang="es-MX" sz="1600" dirty="0"/>
              <a:t>b) selectivas; </a:t>
            </a:r>
          </a:p>
          <a:p>
            <a:pPr marL="0" indent="0" algn="just">
              <a:buNone/>
            </a:pPr>
            <a:r>
              <a:rPr lang="es-MX" sz="1600" dirty="0"/>
              <a:t>c) repetitivas. </a:t>
            </a:r>
          </a:p>
          <a:p>
            <a:pPr marL="0" indent="0" algn="just">
              <a:buNone/>
            </a:pPr>
            <a:endParaRPr lang="es-MX" sz="1600" dirty="0"/>
          </a:p>
          <a:p>
            <a:pPr algn="just">
              <a:buFont typeface="Courier New" panose="02070309020205020404" pitchFamily="49" charset="0"/>
              <a:buChar char="o"/>
            </a:pPr>
            <a:r>
              <a:rPr lang="es-MX" sz="1600" dirty="0"/>
              <a:t>Un programa se considera como propio si cumple con lo siguiente: </a:t>
            </a:r>
          </a:p>
          <a:p>
            <a:pPr algn="just">
              <a:buAutoNum type="arabicParenR"/>
            </a:pPr>
            <a:r>
              <a:rPr lang="es-MX" sz="1600" dirty="0"/>
              <a:t>Que posea un solo punto de entrada y uno de salida, para control del programa; </a:t>
            </a:r>
          </a:p>
          <a:p>
            <a:pPr algn="just">
              <a:buAutoNum type="arabicParenR"/>
            </a:pPr>
            <a:r>
              <a:rPr lang="es-MX" sz="1600" dirty="0"/>
              <a:t>Que existan caminos desde la entrada hasta la salida que se puedan seguir y que pasen por todas las partes del programa; </a:t>
            </a:r>
          </a:p>
          <a:p>
            <a:pPr algn="just">
              <a:buAutoNum type="arabicParenR"/>
            </a:pPr>
            <a:r>
              <a:rPr lang="es-MX" sz="1600" dirty="0"/>
              <a:t>Que todas las instrucciones sean ejecutables y no existan bucles infinitos.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Tree>
    <p:extLst>
      <p:ext uri="{BB962C8B-B14F-4D97-AF65-F5344CB8AC3E}">
        <p14:creationId xmlns:p14="http://schemas.microsoft.com/office/powerpoint/2010/main" val="2460281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¿Preguntas?</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3801</Words>
  <Application>Microsoft Office PowerPoint</Application>
  <PresentationFormat>Panorámica</PresentationFormat>
  <Paragraphs>361</Paragraphs>
  <Slides>29</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29</vt:i4>
      </vt:variant>
    </vt:vector>
  </HeadingPairs>
  <TitlesOfParts>
    <vt:vector size="37"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Introducción</vt:lpstr>
      <vt:lpstr>Contenido</vt:lpstr>
      <vt:lpstr>Objetivos</vt:lpstr>
      <vt:lpstr>Contenido</vt:lpstr>
      <vt:lpstr>Definición</vt:lpstr>
      <vt:lpstr>Contenido</vt:lpstr>
      <vt:lpstr>      Características de los Algoritmos   </vt:lpstr>
      <vt:lpstr>Contenido</vt:lpstr>
      <vt:lpstr>       Etapas para la Solución de un Problema como un Caso de Estudio   </vt:lpstr>
      <vt:lpstr>       Etapas para la Solución de un Problema como un Caso de Estudio   </vt:lpstr>
      <vt:lpstr>Contenido</vt:lpstr>
      <vt:lpstr>        Programas y Algoritmos </vt:lpstr>
      <vt:lpstr>Contenido</vt:lpstr>
      <vt:lpstr>          Pseudocódigo como Técnica de Representación de un Algoritmo.  </vt:lpstr>
      <vt:lpstr>Contenido</vt:lpstr>
      <vt:lpstr>         Diseño Conceptual de Procesos Aplicado a Programas .  </vt:lpstr>
      <vt:lpstr>         Diseño Conceptual de Procesos Aplicado a Programas .  </vt:lpstr>
      <vt:lpstr>Contenido</vt:lpstr>
      <vt:lpstr>          Aplicaciones de Algoritmos en la Vida Cotidiana.  </vt:lpstr>
      <vt:lpstr>          Aplicaciones de Algoritmos en la Vida Cotidiana.  </vt:lpstr>
      <vt:lpstr>          Aplicaciones de Algoritmos en la Vida Cotidiana.  </vt:lpstr>
      <vt:lpstr>Contenido</vt:lpstr>
      <vt:lpstr>            Estructuras de Control en Lenguaje C/C++. .  </vt:lpstr>
      <vt:lpstr>Contenido</vt:lpstr>
      <vt:lpstr>          Aplicaciones de Algoritmos en la Vida Cotidiana.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Luis</cp:lastModifiedBy>
  <cp:revision>4</cp:revision>
  <dcterms:created xsi:type="dcterms:W3CDTF">2025-10-07T22:49:11Z</dcterms:created>
  <dcterms:modified xsi:type="dcterms:W3CDTF">2025-11-26T16:37:46Z</dcterms:modified>
</cp:coreProperties>
</file>