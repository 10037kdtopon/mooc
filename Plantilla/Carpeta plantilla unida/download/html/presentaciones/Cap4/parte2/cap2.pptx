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1"/>
  </p:notesMasterIdLst>
  <p:sldIdLst>
    <p:sldId id="311" r:id="rId3"/>
    <p:sldId id="257" r:id="rId4"/>
    <p:sldId id="560" r:id="rId5"/>
    <p:sldId id="590" r:id="rId6"/>
    <p:sldId id="589" r:id="rId7"/>
    <p:sldId id="592" r:id="rId8"/>
    <p:sldId id="591" r:id="rId9"/>
    <p:sldId id="594" r:id="rId10"/>
    <p:sldId id="607" r:id="rId11"/>
    <p:sldId id="595" r:id="rId12"/>
    <p:sldId id="596" r:id="rId13"/>
    <p:sldId id="597" r:id="rId14"/>
    <p:sldId id="598" r:id="rId15"/>
    <p:sldId id="599" r:id="rId16"/>
    <p:sldId id="600" r:id="rId17"/>
    <p:sldId id="601" r:id="rId18"/>
    <p:sldId id="602" r:id="rId19"/>
    <p:sldId id="603" r:id="rId20"/>
    <p:sldId id="604" r:id="rId21"/>
    <p:sldId id="605" r:id="rId22"/>
    <p:sldId id="606" r:id="rId23"/>
    <p:sldId id="608" r:id="rId24"/>
    <p:sldId id="609" r:id="rId25"/>
    <p:sldId id="611" r:id="rId26"/>
    <p:sldId id="612" r:id="rId27"/>
    <p:sldId id="613" r:id="rId28"/>
    <p:sldId id="393" r:id="rId29"/>
    <p:sldId id="275" r:id="rId30"/>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initials="H" lastIdx="1" clrIdx="0">
    <p:extLst>
      <p:ext uri="{19B8F6BF-5375-455C-9EA6-DF929625EA0E}">
        <p15:presenceInfo xmlns:p15="http://schemas.microsoft.com/office/powerpoint/2012/main" userId="H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72" autoAdjust="0"/>
    <p:restoredTop sz="94660"/>
  </p:normalViewPr>
  <p:slideViewPr>
    <p:cSldViewPr snapToGrid="0">
      <p:cViewPr>
        <p:scale>
          <a:sx n="75" d="100"/>
          <a:sy n="75" d="100"/>
        </p:scale>
        <p:origin x="998"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8CED94-31AE-4F5B-8709-9EE6847871F2}" type="datetimeFigureOut">
              <a:rPr lang="es-EC" smtClean="0"/>
              <a:t>2/12/2025</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0BA548-DDEF-4F9F-BFB7-376C64D66F29}" type="slidenum">
              <a:rPr lang="es-EC" smtClean="0"/>
              <a:t>‹Nº›</a:t>
            </a:fld>
            <a:endParaRPr lang="es-EC"/>
          </a:p>
        </p:txBody>
      </p:sp>
    </p:spTree>
    <p:extLst>
      <p:ext uri="{BB962C8B-B14F-4D97-AF65-F5344CB8AC3E}">
        <p14:creationId xmlns:p14="http://schemas.microsoft.com/office/powerpoint/2010/main" val="1909746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C" dirty="0"/>
          </a:p>
        </p:txBody>
      </p:sp>
      <p:sp>
        <p:nvSpPr>
          <p:cNvPr id="4" name="3 Marcador de número de diapositiva"/>
          <p:cNvSpPr>
            <a:spLocks noGrp="1"/>
          </p:cNvSpPr>
          <p:nvPr>
            <p:ph type="sldNum" sz="quarter" idx="10"/>
          </p:nvPr>
        </p:nvSpPr>
        <p:spPr/>
        <p:txBody>
          <a:bodyPr/>
          <a:lstStyle/>
          <a:p>
            <a:fld id="{C8DD2930-2CA9-432A-8292-C602BD3CCB94}" type="slidenum">
              <a:rPr lang="es-EC" smtClean="0"/>
              <a:t>1</a:t>
            </a:fld>
            <a:endParaRPr lang="es-EC"/>
          </a:p>
        </p:txBody>
      </p:sp>
    </p:spTree>
    <p:extLst>
      <p:ext uri="{BB962C8B-B14F-4D97-AF65-F5344CB8AC3E}">
        <p14:creationId xmlns:p14="http://schemas.microsoft.com/office/powerpoint/2010/main" val="2391200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CC7BAC-9B27-4D41-86D4-17A64712F6C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C8696901-9D51-4ACB-9E52-138A646487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A47075C9-5BD9-48BE-81D8-A5DF89ABA9B8}"/>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74ECE3FF-9B3C-41FF-83A3-DC301E164E3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4098DD64-4C4C-4CF0-A1D8-548C6B219C9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4043315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8EE04A-1464-495C-AB23-285481F202B3}"/>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66481BAA-B5E0-4A42-AF73-DB64610941E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4173864D-1BB6-4970-9FB2-EB9CA1DBB023}"/>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B16A309E-8B6C-45EC-B2E1-135D1A67880D}"/>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DCD73BB0-43D6-4B2D-BD1C-5F0348B12AB0}"/>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537653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F7563C-A255-4CD0-8382-6E01E1F46B6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C9AFCB1D-B223-406D-A214-6CD8AB31E7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376DDE4-9972-40A9-A47B-3D4CBAD965FD}"/>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329A76B5-F295-4F9F-80F2-EC5028095DEE}"/>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B7B0CCA-DE77-47E7-A59A-1281E1CE2907}"/>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492325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4126A1-7217-4B36-B0F6-288496E6BCEC}"/>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4930F61E-D05E-4EBC-8B4B-561FDC242B1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CBA476B6-B707-426F-92C5-8F60BFE3E9F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DFA9A5C4-7E4F-4960-ADF2-B6951DA38CDA}"/>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6" name="Marcador de pie de página 5">
            <a:extLst>
              <a:ext uri="{FF2B5EF4-FFF2-40B4-BE49-F238E27FC236}">
                <a16:creationId xmlns:a16="http://schemas.microsoft.com/office/drawing/2014/main" id="{300DBC4A-7F24-4081-8A6F-9AE898709FA2}"/>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A05C1AA0-F3EF-4089-BFCB-19B079F21DD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25583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5B7D27-2A46-4305-8297-59313B85C53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1ED0EBF5-B590-4168-BED4-66F9256413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8D4FE9B-C326-4DC1-AB58-21F1EDC590E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912F17B3-3B22-4F98-8253-500EC862CB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3688F30-BBAE-45ED-B913-16C24B962EB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53A608A7-9040-40F4-B5EA-1D2D8CB7E429}"/>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8" name="Marcador de pie de página 7">
            <a:extLst>
              <a:ext uri="{FF2B5EF4-FFF2-40B4-BE49-F238E27FC236}">
                <a16:creationId xmlns:a16="http://schemas.microsoft.com/office/drawing/2014/main" id="{A7A38726-DB7C-44CF-B16C-2888FBD9D0FD}"/>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690B4177-927B-4311-A099-B44A80BD63B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723832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C0FC75-39D0-4202-A6B1-79DF445FA747}"/>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2B9B2927-2C29-42B9-B6B7-532F994F994B}"/>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4" name="Marcador de pie de página 3">
            <a:extLst>
              <a:ext uri="{FF2B5EF4-FFF2-40B4-BE49-F238E27FC236}">
                <a16:creationId xmlns:a16="http://schemas.microsoft.com/office/drawing/2014/main" id="{D767A9B8-F1F2-48F4-8337-7213ADA9AC3E}"/>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75CAA39B-47A9-42F8-AF68-918C7624212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057490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35E7371-5007-49B8-BC47-82F085CFFA87}"/>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3" name="Marcador de pie de página 2">
            <a:extLst>
              <a:ext uri="{FF2B5EF4-FFF2-40B4-BE49-F238E27FC236}">
                <a16:creationId xmlns:a16="http://schemas.microsoft.com/office/drawing/2014/main" id="{EAC35D8D-0DAD-4CED-92DE-176A44D4EFEE}"/>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A79B3E97-5178-4E8E-B020-BEB305CEC7D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35911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67FC53-94F8-46E4-BE28-1CCD91A0325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732BA8FA-B313-4758-B5BD-CFF2B223A6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8EECB238-ADE5-4692-B4CB-1954DD868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566E361-51AF-4218-B415-4DF9B992EC29}"/>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6" name="Marcador de pie de página 5">
            <a:extLst>
              <a:ext uri="{FF2B5EF4-FFF2-40B4-BE49-F238E27FC236}">
                <a16:creationId xmlns:a16="http://schemas.microsoft.com/office/drawing/2014/main" id="{A0920A1D-C77C-46B8-A93E-1A94C322D9E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CEB09875-3881-4056-A249-3703AD0D18B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806432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2669C0-7E62-4710-9299-9DAEA59855D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0789536F-D1A6-46F1-AAF0-27332E602B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9E2D8E19-F8EC-41F6-822A-E695A5664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1A9895B-A707-4856-84F8-F69C2A6AC65A}"/>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6" name="Marcador de pie de página 5">
            <a:extLst>
              <a:ext uri="{FF2B5EF4-FFF2-40B4-BE49-F238E27FC236}">
                <a16:creationId xmlns:a16="http://schemas.microsoft.com/office/drawing/2014/main" id="{B2480D8A-AF65-456F-A70D-211912A4733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3A1C41D0-AA19-4C22-B342-F300AC925266}"/>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648687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D7A592-EC17-498E-B4F1-021D1F61D61A}"/>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3A73E03F-3E04-4E93-9716-43891DFDD9E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BC9CF76E-E651-44FB-9C3E-080B77E5E504}"/>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AD5F4A3C-030C-4F53-9297-A01107A128E7}"/>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07AF58D-F9FF-4406-84AD-DCDE23E7886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871106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D8E5DA3-0A5E-4689-8CFF-0CED113D3E4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E40C7386-FCE4-40EC-9309-6F13FC22507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7D68580-0F33-46AF-AA4D-41AD3A71C69A}"/>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814F2A89-7C20-4F42-B541-94E08BC476D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6AA7B955-7AEE-4F7E-8B16-8780283F6911}"/>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767920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09601"/>
            <a:ext cx="10363200" cy="4267200"/>
          </a:xfrm>
        </p:spPr>
        <p:txBody>
          <a:bodyPr anchor="b">
            <a:noAutofit/>
          </a:bodyPr>
          <a:lstStyle>
            <a:lvl1pPr>
              <a:lnSpc>
                <a:spcPct val="100000"/>
              </a:lnSpc>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28800" y="4953000"/>
            <a:ext cx="85344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E7C4E607-19DA-460D-873F-2665A632EB4B}" type="datetime1">
              <a:rPr lang="es-EC" smtClean="0"/>
              <a:t>2/12/2025</a:t>
            </a:fld>
            <a:endParaRPr lang="es-EC"/>
          </a:p>
        </p:txBody>
      </p:sp>
      <p:sp>
        <p:nvSpPr>
          <p:cNvPr id="8" name="Slide Number Placeholder 7"/>
          <p:cNvSpPr>
            <a:spLocks noGrp="1"/>
          </p:cNvSpPr>
          <p:nvPr>
            <p:ph type="sldNum" sz="quarter" idx="11"/>
          </p:nvPr>
        </p:nvSpPr>
        <p:spPr/>
        <p:txBody>
          <a:bodyPr/>
          <a:lstStyle/>
          <a:p>
            <a:fld id="{14B28EB2-3408-4757-A806-361BA67028B7}" type="slidenum">
              <a:rPr lang="es-EC" smtClean="0"/>
              <a:t>‹Nº›</a:t>
            </a:fld>
            <a:endParaRPr lang="es-EC"/>
          </a:p>
        </p:txBody>
      </p:sp>
      <p:sp>
        <p:nvSpPr>
          <p:cNvPr id="9" name="Footer Placeholder 8"/>
          <p:cNvSpPr>
            <a:spLocks noGrp="1"/>
          </p:cNvSpPr>
          <p:nvPr>
            <p:ph type="ftr" sz="quarter" idx="12"/>
          </p:nvPr>
        </p:nvSpPr>
        <p:spPr/>
        <p:txBody>
          <a:bodyPr/>
          <a:lstStyle/>
          <a:p>
            <a:endParaRPr lang="es-EC"/>
          </a:p>
        </p:txBody>
      </p:sp>
    </p:spTree>
    <p:extLst>
      <p:ext uri="{BB962C8B-B14F-4D97-AF65-F5344CB8AC3E}">
        <p14:creationId xmlns:p14="http://schemas.microsoft.com/office/powerpoint/2010/main" val="2345790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90B73B-B6A1-476A-B629-21320BBC12E2}" type="datetime1">
              <a:rPr lang="es-EC" smtClean="0"/>
              <a:t>2/12/2025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7803679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963084" y="1371601"/>
            <a:ext cx="103632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63084" y="4068764"/>
            <a:ext cx="103632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CDC2038A-D817-4671-8CB8-0981B299E92B}" type="datetime1">
              <a:rPr lang="es-EC" smtClean="0"/>
              <a:t>2/12/2025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
        <p:nvSpPr>
          <p:cNvPr id="7" name="Oval 6"/>
          <p:cNvSpPr/>
          <p:nvPr/>
        </p:nvSpPr>
        <p:spPr>
          <a:xfrm>
            <a:off x="59944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Oval 7"/>
          <p:cNvSpPr/>
          <p:nvPr/>
        </p:nvSpPr>
        <p:spPr>
          <a:xfrm>
            <a:off x="62611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Oval 8"/>
          <p:cNvSpPr/>
          <p:nvPr/>
        </p:nvSpPr>
        <p:spPr>
          <a:xfrm>
            <a:off x="5728971"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0578818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DC4ADFD-670B-42AB-AA2D-8905C1A1B3E7}" type="datetime1">
              <a:rPr lang="es-EC" smtClean="0"/>
              <a:t>2/12/2025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
        <p:nvSpPr>
          <p:cNvPr id="9" name="Content Placeholder 8"/>
          <p:cNvSpPr>
            <a:spLocks noGrp="1"/>
          </p:cNvSpPr>
          <p:nvPr>
            <p:ph sz="quarter" idx="13"/>
          </p:nvPr>
        </p:nvSpPr>
        <p:spPr>
          <a:xfrm>
            <a:off x="487680" y="1600200"/>
            <a:ext cx="5388864" cy="452628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30397848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609600" y="1600200"/>
            <a:ext cx="5386917"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5" name="Text Placeholder 4"/>
          <p:cNvSpPr>
            <a:spLocks noGrp="1"/>
          </p:cNvSpPr>
          <p:nvPr>
            <p:ph type="body" sz="quarter" idx="3"/>
          </p:nvPr>
        </p:nvSpPr>
        <p:spPr>
          <a:xfrm>
            <a:off x="6197601" y="1600200"/>
            <a:ext cx="5389033"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7" name="Date Placeholder 6"/>
          <p:cNvSpPr>
            <a:spLocks noGrp="1"/>
          </p:cNvSpPr>
          <p:nvPr>
            <p:ph type="dt" sz="half" idx="10"/>
          </p:nvPr>
        </p:nvSpPr>
        <p:spPr/>
        <p:txBody>
          <a:bodyPr/>
          <a:lstStyle/>
          <a:p>
            <a:fld id="{9891E5A2-5B64-4460-A741-AB3873F3AED1}" type="datetime1">
              <a:rPr lang="es-EC" smtClean="0"/>
              <a:t>2/12/2025</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14B28EB2-3408-4757-A806-361BA67028B7}" type="slidenum">
              <a:rPr lang="es-EC" smtClean="0"/>
              <a:t>‹Nº›</a:t>
            </a:fld>
            <a:endParaRPr lang="es-EC"/>
          </a:p>
        </p:txBody>
      </p:sp>
      <p:sp>
        <p:nvSpPr>
          <p:cNvPr id="11" name="Content Placeholder 10"/>
          <p:cNvSpPr>
            <a:spLocks noGrp="1"/>
          </p:cNvSpPr>
          <p:nvPr>
            <p:ph sz="quarter" idx="13"/>
          </p:nvPr>
        </p:nvSpPr>
        <p:spPr>
          <a:xfrm>
            <a:off x="609600" y="2212848"/>
            <a:ext cx="5388864" cy="391363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12"/>
          <p:cNvSpPr>
            <a:spLocks noGrp="1"/>
          </p:cNvSpPr>
          <p:nvPr>
            <p:ph sz="quarter" idx="14"/>
          </p:nvPr>
        </p:nvSpPr>
        <p:spPr>
          <a:xfrm>
            <a:off x="6230112" y="2212849"/>
            <a:ext cx="5388864" cy="391318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9078601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0B840B2-0BA1-4127-9E25-74D449B7ADFD}" type="datetime1">
              <a:rPr lang="es-EC" smtClean="0"/>
              <a:t>2/12/2025</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8228857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E0FE62-E592-4B65-AFBD-C1CCC30A5FE7}" type="datetime1">
              <a:rPr lang="es-EC" smtClean="0"/>
              <a:t>2/12/2025</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2044298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876117" y="266700"/>
            <a:ext cx="4011084"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958850" y="273051"/>
            <a:ext cx="66611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876117" y="2438401"/>
            <a:ext cx="4011084"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67F15ACB-451F-4A5F-BEC9-AE2F848845F3}" type="datetime1">
              <a:rPr lang="es-EC" smtClean="0"/>
              <a:t>2/12/2025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098081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239435" y="228600"/>
            <a:ext cx="7615765" cy="895350"/>
          </a:xfrm>
        </p:spPr>
        <p:txBody>
          <a:bodyPr anchor="b"/>
          <a:lstStyle>
            <a:lvl1pPr algn="ctr">
              <a:lnSpc>
                <a:spcPct val="100000"/>
              </a:lnSpc>
              <a:defRPr sz="28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2010835" y="1143000"/>
            <a:ext cx="8072965"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239435" y="5810250"/>
            <a:ext cx="7615765"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4A422F84-0CF5-40B2-88A0-C1094D415436}" type="datetime1">
              <a:rPr lang="es-EC" smtClean="0"/>
              <a:t>2/12/2025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142348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BD623C0-6495-45E5-AD9B-690C29EB2D28}" type="datetime1">
              <a:rPr lang="es-EC" smtClean="0"/>
              <a:t>2/12/2025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38409558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4D8EE3C-3A2D-421B-8BCE-DCA3638F2800}" type="datetime1">
              <a:rPr lang="es-EC" smtClean="0"/>
              <a:t>2/12/2025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532420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AEA5EB9-22C8-48CC-B673-E9C9F408D6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48272E61-B9B7-40DF-800F-CC8677E06E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B85FAC1-C067-4AAB-8D19-E96E83F310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36B0AB3B-8269-400B-BFAF-4F88BCEB84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B1B75696-BDD5-4991-809C-CDE0AB2126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5A2F40-EC8C-41F3-BD8D-F3F005ABEE3D}" type="slidenum">
              <a:rPr lang="es-EC" smtClean="0"/>
              <a:t>‹Nº›</a:t>
            </a:fld>
            <a:endParaRPr lang="es-EC"/>
          </a:p>
        </p:txBody>
      </p:sp>
    </p:spTree>
    <p:extLst>
      <p:ext uri="{BB962C8B-B14F-4D97-AF65-F5344CB8AC3E}">
        <p14:creationId xmlns:p14="http://schemas.microsoft.com/office/powerpoint/2010/main" val="2127626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600200"/>
          </a:xfrm>
          <a:prstGeom prst="rect">
            <a:avLst/>
          </a:prstGeom>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484463" y="6356351"/>
            <a:ext cx="2781300"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214FB16F-AFAA-44A5-84B2-773ABBFEBDB3}" type="datetime1">
              <a:rPr lang="es-EC" smtClean="0"/>
              <a:t>2/12/2025</a:t>
            </a:fld>
            <a:endParaRPr lang="es-EC"/>
          </a:p>
        </p:txBody>
      </p:sp>
      <p:sp>
        <p:nvSpPr>
          <p:cNvPr id="5" name="Footer Placeholder 4"/>
          <p:cNvSpPr>
            <a:spLocks noGrp="1"/>
          </p:cNvSpPr>
          <p:nvPr>
            <p:ph type="ftr" sz="quarter" idx="3"/>
          </p:nvPr>
        </p:nvSpPr>
        <p:spPr>
          <a:xfrm>
            <a:off x="878887" y="6356351"/>
            <a:ext cx="3797300"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s-EC"/>
          </a:p>
        </p:txBody>
      </p:sp>
      <p:sp>
        <p:nvSpPr>
          <p:cNvPr id="6" name="Slide Number Placeholder 5"/>
          <p:cNvSpPr>
            <a:spLocks noGrp="1"/>
          </p:cNvSpPr>
          <p:nvPr>
            <p:ph type="sldNum" sz="quarter" idx="4"/>
          </p:nvPr>
        </p:nvSpPr>
        <p:spPr>
          <a:xfrm>
            <a:off x="11391038" y="6356351"/>
            <a:ext cx="749300"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14B28EB2-3408-4757-A806-361BA67028B7}" type="slidenum">
              <a:rPr lang="es-EC" smtClean="0"/>
              <a:t>‹Nº›</a:t>
            </a:fld>
            <a:endParaRPr lang="es-EC"/>
          </a:p>
        </p:txBody>
      </p:sp>
      <p:sp>
        <p:nvSpPr>
          <p:cNvPr id="7" name="Oval 6"/>
          <p:cNvSpPr/>
          <p:nvPr/>
        </p:nvSpPr>
        <p:spPr>
          <a:xfrm>
            <a:off x="11277014"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758826"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2648205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1371237" y="2031002"/>
            <a:ext cx="3562424" cy="1296144"/>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8000" kern="120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MX" sz="2400" b="1" dirty="0">
                <a:effectLst/>
                <a:latin typeface="Arial" pitchFamily="34" charset="0"/>
                <a:cs typeface="Arial" pitchFamily="34" charset="0"/>
              </a:rPr>
              <a:t>CAPÍTULO 4 ALGORITMOS Y ESTRUCTURAS DE CONTROL REPETITIVAS EN LENGUAJE C/C++</a:t>
            </a:r>
            <a:endParaRPr lang="es-ES" sz="2400" b="1" dirty="0">
              <a:effectLst/>
              <a:latin typeface="Arial" pitchFamily="34" charset="0"/>
              <a:cs typeface="Arial" pitchFamily="34" charset="0"/>
            </a:endParaRPr>
          </a:p>
        </p:txBody>
      </p:sp>
      <p:sp>
        <p:nvSpPr>
          <p:cNvPr id="7" name="Rectangle 3"/>
          <p:cNvSpPr txBox="1">
            <a:spLocks noChangeArrowheads="1"/>
          </p:cNvSpPr>
          <p:nvPr/>
        </p:nvSpPr>
        <p:spPr>
          <a:xfrm>
            <a:off x="2065254" y="4149080"/>
            <a:ext cx="8280400" cy="2232248"/>
          </a:xfrm>
          <a:prstGeom prst="rect">
            <a:avLst/>
          </a:prstGeom>
        </p:spPr>
        <p:txBody>
          <a:bodyPr vert="horz" lIns="91440" tIns="45720" rIns="91440" bIns="45720" rtlCol="0">
            <a:normAutofit fontScale="85000" lnSpcReduction="20000"/>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nSpc>
                <a:spcPct val="80000"/>
              </a:lnSpc>
            </a:pPr>
            <a:r>
              <a:rPr lang="es-ES" dirty="0"/>
              <a:t>Margarita Zambrano, César Villacís, David Alvarado, Luis García, Kevin Topón, Margarita Villacís, Sofía Bayona, Luis Pastor  </a:t>
            </a:r>
            <a:endParaRPr lang="en-US" b="1" dirty="0">
              <a:solidFill>
                <a:schemeClr val="tx2"/>
              </a:solidFill>
            </a:endParaRPr>
          </a:p>
          <a:p>
            <a:pPr>
              <a:lnSpc>
                <a:spcPct val="80000"/>
              </a:lnSpc>
            </a:pPr>
            <a:endParaRPr lang="en-US" b="1" dirty="0">
              <a:solidFill>
                <a:schemeClr val="tx2"/>
              </a:solidFill>
            </a:endParaRPr>
          </a:p>
          <a:p>
            <a:r>
              <a:rPr lang="es-EC" sz="1800" dirty="0"/>
              <a:t>Universidad de las Fueras Armadas – ESPE</a:t>
            </a:r>
          </a:p>
          <a:p>
            <a:r>
              <a:rPr lang="es-ES" sz="1800" dirty="0"/>
              <a:t>Quito, Ecuador</a:t>
            </a:r>
          </a:p>
          <a:p>
            <a:r>
              <a:rPr lang="es-ES" sz="1800" dirty="0"/>
              <a:t>Universidad Politécnica Salesiana – UPS</a:t>
            </a:r>
          </a:p>
          <a:p>
            <a:r>
              <a:rPr lang="es-ES" sz="1800" dirty="0"/>
              <a:t>Quito, Ecuador</a:t>
            </a:r>
          </a:p>
          <a:p>
            <a:r>
              <a:rPr lang="es-ES" sz="1800" dirty="0"/>
              <a:t>Universidad Rey Juan Carlos – URJC</a:t>
            </a:r>
          </a:p>
          <a:p>
            <a:r>
              <a:rPr lang="es-ES" sz="1800" dirty="0"/>
              <a:t>Madrid, España </a:t>
            </a:r>
          </a:p>
          <a:p>
            <a:endParaRPr lang="es-EC" sz="1800" dirty="0"/>
          </a:p>
          <a:p>
            <a:pPr>
              <a:lnSpc>
                <a:spcPct val="80000"/>
              </a:lnSpc>
            </a:pPr>
            <a:endParaRPr lang="en-US" b="1" dirty="0">
              <a:solidFill>
                <a:schemeClr val="hlink"/>
              </a:solidFill>
            </a:endParaRPr>
          </a:p>
          <a:p>
            <a:pPr>
              <a:lnSpc>
                <a:spcPct val="80000"/>
              </a:lnSpc>
            </a:pPr>
            <a:endParaRPr lang="es-ES" b="1" dirty="0">
              <a:solidFill>
                <a:schemeClr val="hlink"/>
              </a:solidFill>
            </a:endParaRPr>
          </a:p>
          <a:p>
            <a:pPr>
              <a:lnSpc>
                <a:spcPct val="80000"/>
              </a:lnSpc>
            </a:pPr>
            <a:endParaRPr lang="es-ES" b="1" dirty="0"/>
          </a:p>
        </p:txBody>
      </p:sp>
      <p:sp>
        <p:nvSpPr>
          <p:cNvPr id="2" name="1 Marcador de fecha"/>
          <p:cNvSpPr>
            <a:spLocks noGrp="1"/>
          </p:cNvSpPr>
          <p:nvPr>
            <p:ph type="dt" sz="half" idx="10"/>
          </p:nvPr>
        </p:nvSpPr>
        <p:spPr/>
        <p:txBody>
          <a:bodyPr/>
          <a:lstStyle/>
          <a:p>
            <a:fld id="{CFABD442-A3C4-4850-B201-37432B5929C0}" type="datetime1">
              <a:rPr lang="es-EC" smtClean="0"/>
              <a:t>2/12/2025</a:t>
            </a:fld>
            <a:endParaRPr lang="es-EC"/>
          </a:p>
        </p:txBody>
      </p:sp>
      <p:sp>
        <p:nvSpPr>
          <p:cNvPr id="3" name="2 Marcador de número de diapositiva"/>
          <p:cNvSpPr>
            <a:spLocks noGrp="1"/>
          </p:cNvSpPr>
          <p:nvPr>
            <p:ph type="sldNum" sz="quarter" idx="11"/>
          </p:nvPr>
        </p:nvSpPr>
        <p:spPr/>
        <p:txBody>
          <a:bodyPr/>
          <a:lstStyle/>
          <a:p>
            <a:fld id="{14B28EB2-3408-4757-A806-361BA67028B7}" type="slidenum">
              <a:rPr lang="es-EC" smtClean="0"/>
              <a:t>1</a:t>
            </a:fld>
            <a:endParaRPr lang="es-EC"/>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7552" y="281472"/>
            <a:ext cx="2967310" cy="927596"/>
          </a:xfrm>
          <a:prstGeom prst="rect">
            <a:avLst/>
          </a:prstGeom>
        </p:spPr>
      </p:pic>
      <p:pic>
        <p:nvPicPr>
          <p:cNvPr id="12" name="Imagen 11">
            <a:extLst>
              <a:ext uri="{FF2B5EF4-FFF2-40B4-BE49-F238E27FC236}">
                <a16:creationId xmlns:a16="http://schemas.microsoft.com/office/drawing/2014/main" id="{771F6278-F22F-1B52-5B3D-9A53240E0CCC}"/>
              </a:ext>
            </a:extLst>
          </p:cNvPr>
          <p:cNvPicPr>
            <a:picLocks noChangeAspect="1"/>
          </p:cNvPicPr>
          <p:nvPr/>
        </p:nvPicPr>
        <p:blipFill>
          <a:blip r:embed="rId4"/>
          <a:stretch>
            <a:fillRect/>
          </a:stretch>
        </p:blipFill>
        <p:spPr>
          <a:xfrm>
            <a:off x="5375920" y="1178050"/>
            <a:ext cx="3366640" cy="2755007"/>
          </a:xfrm>
          <a:prstGeom prst="rect">
            <a:avLst/>
          </a:prstGeom>
        </p:spPr>
      </p:pic>
    </p:spTree>
    <p:extLst>
      <p:ext uri="{BB962C8B-B14F-4D97-AF65-F5344CB8AC3E}">
        <p14:creationId xmlns:p14="http://schemas.microsoft.com/office/powerpoint/2010/main" val="1158697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lnSpc>
                <a:spcPct val="90000"/>
              </a:lnSpc>
            </a:pPr>
            <a:r>
              <a:rPr lang="es-MX" sz="3100" b="1" dirty="0">
                <a:solidFill>
                  <a:srgbClr val="FF0000"/>
                </a:solidFill>
              </a:rPr>
              <a:t>La sentencia do-while </a:t>
            </a:r>
          </a:p>
          <a:p>
            <a:pPr lvl="1"/>
            <a:r>
              <a:rPr lang="es-MX" sz="2800" dirty="0"/>
              <a:t>Problema 4.5: (Aplicación de la sentencia do-while como un bucle ascendente) </a:t>
            </a:r>
          </a:p>
          <a:p>
            <a:pPr lvl="1"/>
            <a:r>
              <a:rPr lang="es-MX" sz="2800" dirty="0"/>
              <a:t>Problema 4.6: (Aplicación de la sentencia do-while como un bucle descendente) </a:t>
            </a:r>
          </a:p>
          <a:p>
            <a:pPr lvl="1"/>
            <a:r>
              <a:rPr lang="es-MX" sz="2800" dirty="0"/>
              <a:t>Caso de Estudio : Análisis de Números Palíndromos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2/12/2025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2</a:t>
            </a:fld>
            <a:endParaRPr lang="es-EC">
              <a:solidFill>
                <a:prstClr val="black">
                  <a:lumMod val="65000"/>
                  <a:lumOff val="35000"/>
                </a:prstClr>
              </a:solidFill>
            </a:endParaRPr>
          </a:p>
        </p:txBody>
      </p:sp>
    </p:spTree>
    <p:extLst>
      <p:ext uri="{BB962C8B-B14F-4D97-AF65-F5344CB8AC3E}">
        <p14:creationId xmlns:p14="http://schemas.microsoft.com/office/powerpoint/2010/main" val="3199492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2260600"/>
            <a:ext cx="10972800" cy="1600200"/>
          </a:xfrm>
        </p:spPr>
        <p:txBody>
          <a:bodyPr/>
          <a:lstStyle/>
          <a:p>
            <a:r>
              <a:rPr lang="es-MX" b="1" dirty="0"/>
              <a:t>La sentencia do-while </a:t>
            </a: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565236" y="1157418"/>
            <a:ext cx="5498952" cy="5198933"/>
          </a:xfrm>
        </p:spPr>
        <p:txBody>
          <a:bodyPr>
            <a:normAutofit lnSpcReduction="10000"/>
          </a:bodyPr>
          <a:lstStyle/>
          <a:p>
            <a:pPr marL="0" indent="0">
              <a:buNone/>
            </a:pPr>
            <a:r>
              <a:rPr lang="es-MX" sz="2000" dirty="0"/>
              <a:t>La sentencia do-while() crea un bucle que se repite hasta que la expresión lógica o condición del bucle se vuelva falsa. El cuerpo del bucle do-while() se ejecutará una o varias veces, pero al menos una vez, dependiendo de la condición del bucle (</a:t>
            </a:r>
            <a:r>
              <a:rPr lang="es-MX" sz="2000" dirty="0" err="1"/>
              <a:t>Hanly</a:t>
            </a:r>
            <a:r>
              <a:rPr lang="es-MX" sz="2000" dirty="0"/>
              <a:t>, H., </a:t>
            </a:r>
            <a:r>
              <a:rPr lang="es-MX" sz="2000" dirty="0" err="1"/>
              <a:t>Koffman</a:t>
            </a:r>
            <a:r>
              <a:rPr lang="es-MX" sz="2000" dirty="0"/>
              <a:t>, E., 2013). El formato de esta sentencia tiene la siguiente sintaxis.</a:t>
            </a:r>
          </a:p>
          <a:p>
            <a:pPr marL="0" indent="0">
              <a:buNone/>
            </a:pPr>
            <a:endParaRPr lang="es-MX" sz="2000" dirty="0"/>
          </a:p>
          <a:p>
            <a:pPr marL="0" indent="0">
              <a:buNone/>
            </a:pPr>
            <a:r>
              <a:rPr lang="es-MX" sz="2000" dirty="0"/>
              <a:t>Condición_Bucle :Expresión lógica o booleana que determina si la sentencia o acción se ha de ejecutar de manera repetitiva. </a:t>
            </a:r>
          </a:p>
          <a:p>
            <a:pPr marL="0" indent="0">
              <a:buNone/>
            </a:pPr>
            <a:r>
              <a:rPr lang="es-MX" sz="2000" dirty="0"/>
              <a:t>sentencia: La sentencia o acción se ejecuta si la expresión lógica es verdadera dentro del bucle.</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3</a:t>
            </a:fld>
            <a:endParaRPr lang="es-EC"/>
          </a:p>
        </p:txBody>
      </p:sp>
      <p:pic>
        <p:nvPicPr>
          <p:cNvPr id="9" name="Imagen 8">
            <a:extLst>
              <a:ext uri="{FF2B5EF4-FFF2-40B4-BE49-F238E27FC236}">
                <a16:creationId xmlns:a16="http://schemas.microsoft.com/office/drawing/2014/main" id="{9B1418A3-85CE-47CE-B65A-08D2D3AB3CC0}"/>
              </a:ext>
            </a:extLst>
          </p:cNvPr>
          <p:cNvPicPr>
            <a:picLocks noChangeAspect="1"/>
          </p:cNvPicPr>
          <p:nvPr/>
        </p:nvPicPr>
        <p:blipFill>
          <a:blip r:embed="rId2"/>
          <a:stretch>
            <a:fillRect/>
          </a:stretch>
        </p:blipFill>
        <p:spPr>
          <a:xfrm>
            <a:off x="6876030" y="2302933"/>
            <a:ext cx="4021247" cy="1870428"/>
          </a:xfrm>
          <a:prstGeom prst="rect">
            <a:avLst/>
          </a:prstGeom>
        </p:spPr>
      </p:pic>
      <p:sp>
        <p:nvSpPr>
          <p:cNvPr id="12" name="CuadroTexto 11">
            <a:extLst>
              <a:ext uri="{FF2B5EF4-FFF2-40B4-BE49-F238E27FC236}">
                <a16:creationId xmlns:a16="http://schemas.microsoft.com/office/drawing/2014/main" id="{793709FA-233B-4B8E-AB25-B090D776AA90}"/>
              </a:ext>
            </a:extLst>
          </p:cNvPr>
          <p:cNvSpPr txBox="1"/>
          <p:nvPr/>
        </p:nvSpPr>
        <p:spPr>
          <a:xfrm>
            <a:off x="1565236" y="6075518"/>
            <a:ext cx="6096000" cy="646331"/>
          </a:xfrm>
          <a:prstGeom prst="rect">
            <a:avLst/>
          </a:prstGeom>
          <a:noFill/>
        </p:spPr>
        <p:txBody>
          <a:bodyPr wrap="square">
            <a:spAutoFit/>
          </a:bodyPr>
          <a:lstStyle/>
          <a:p>
            <a:r>
              <a:rPr lang="es-MX" dirty="0"/>
              <a:t>Nota: En esta sintaxis no es necesario utilizar llaves ya que se tiene una sola sentencia o instrucción.</a:t>
            </a:r>
            <a:endParaRPr lang="es-EC" dirty="0"/>
          </a:p>
        </p:txBody>
      </p:sp>
    </p:spTree>
    <p:extLst>
      <p:ext uri="{BB962C8B-B14F-4D97-AF65-F5344CB8AC3E}">
        <p14:creationId xmlns:p14="http://schemas.microsoft.com/office/powerpoint/2010/main" val="515131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2260600"/>
            <a:ext cx="10972800" cy="1600200"/>
          </a:xfrm>
        </p:spPr>
        <p:txBody>
          <a:bodyPr/>
          <a:lstStyle/>
          <a:p>
            <a:r>
              <a:rPr lang="es-MX" b="1" dirty="0"/>
              <a:t>La sentencia do-while </a:t>
            </a: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131760" y="1659067"/>
            <a:ext cx="5498952" cy="5198933"/>
          </a:xfrm>
        </p:spPr>
        <p:txBody>
          <a:bodyPr>
            <a:normAutofit/>
          </a:bodyPr>
          <a:lstStyle/>
          <a:p>
            <a:pPr marL="0" indent="0">
              <a:buNone/>
            </a:pPr>
            <a:r>
              <a:rPr lang="es-MX" sz="2000" dirty="0"/>
              <a:t>Condición_Bucle :Expresión lógica o booleana que determina si las sentencias o acciones se han de ejecutar de manera repetitiva. </a:t>
            </a:r>
          </a:p>
          <a:p>
            <a:pPr marL="0" indent="0">
              <a:buNone/>
            </a:pPr>
            <a:r>
              <a:rPr lang="es-MX" sz="2000" dirty="0"/>
              <a:t>sentencias: Las acciones o sentencias se ejecutan si la expresión lógica es verdadera dentro del bucle. </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4</a:t>
            </a:fld>
            <a:endParaRPr lang="es-EC"/>
          </a:p>
        </p:txBody>
      </p:sp>
      <p:pic>
        <p:nvPicPr>
          <p:cNvPr id="7" name="Imagen 6">
            <a:extLst>
              <a:ext uri="{FF2B5EF4-FFF2-40B4-BE49-F238E27FC236}">
                <a16:creationId xmlns:a16="http://schemas.microsoft.com/office/drawing/2014/main" id="{32795667-AA64-46A0-A0AD-9A831F8A283B}"/>
              </a:ext>
            </a:extLst>
          </p:cNvPr>
          <p:cNvPicPr>
            <a:picLocks noChangeAspect="1"/>
          </p:cNvPicPr>
          <p:nvPr/>
        </p:nvPicPr>
        <p:blipFill>
          <a:blip r:embed="rId2"/>
          <a:stretch>
            <a:fillRect/>
          </a:stretch>
        </p:blipFill>
        <p:spPr>
          <a:xfrm>
            <a:off x="6969583" y="1891466"/>
            <a:ext cx="2905530" cy="1895740"/>
          </a:xfrm>
          <a:prstGeom prst="rect">
            <a:avLst/>
          </a:prstGeom>
        </p:spPr>
      </p:pic>
    </p:spTree>
    <p:extLst>
      <p:ext uri="{BB962C8B-B14F-4D97-AF65-F5344CB8AC3E}">
        <p14:creationId xmlns:p14="http://schemas.microsoft.com/office/powerpoint/2010/main" val="312393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2260600"/>
            <a:ext cx="10972800" cy="1600200"/>
          </a:xfrm>
        </p:spPr>
        <p:txBody>
          <a:bodyPr/>
          <a:lstStyle/>
          <a:p>
            <a:r>
              <a:rPr lang="es-MX" b="1" dirty="0"/>
              <a:t>La sentencia do-while </a:t>
            </a: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493518" y="1363232"/>
            <a:ext cx="4934175" cy="3800438"/>
          </a:xfrm>
        </p:spPr>
        <p:txBody>
          <a:bodyPr>
            <a:normAutofit/>
          </a:bodyPr>
          <a:lstStyle/>
          <a:p>
            <a:r>
              <a:rPr lang="es-MX" sz="2000" dirty="0"/>
              <a:t>La sentencia do-while() crea un bucle que se repite hasta que la expresión lógica o condición del bucle se vuelva falsa. El cuerpo del bucle do-while() se ejecutará una o varias veces, pero al menos una vez, dependiendo de la condición del bucle (</a:t>
            </a:r>
            <a:r>
              <a:rPr lang="es-MX" sz="2000" dirty="0" err="1"/>
              <a:t>Hanly</a:t>
            </a:r>
            <a:r>
              <a:rPr lang="es-MX" sz="2000" dirty="0"/>
              <a:t>, H., </a:t>
            </a:r>
            <a:r>
              <a:rPr lang="es-MX" sz="2000" dirty="0" err="1"/>
              <a:t>Koffman</a:t>
            </a:r>
            <a:r>
              <a:rPr lang="es-MX" sz="2000" dirty="0"/>
              <a:t>, E., 2013). El formato de esta sentencia tiene la siguiente sintaxis</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5</a:t>
            </a:fld>
            <a:endParaRPr lang="es-EC"/>
          </a:p>
        </p:txBody>
      </p:sp>
      <p:sp>
        <p:nvSpPr>
          <p:cNvPr id="8" name="12 CuadroTexto">
            <a:extLst>
              <a:ext uri="{FF2B5EF4-FFF2-40B4-BE49-F238E27FC236}">
                <a16:creationId xmlns:a16="http://schemas.microsoft.com/office/drawing/2014/main" id="{A08CABAC-0A6B-4469-BE4C-A7DE4EB1B9F7}"/>
              </a:ext>
            </a:extLst>
          </p:cNvPr>
          <p:cNvSpPr txBox="1"/>
          <p:nvPr/>
        </p:nvSpPr>
        <p:spPr>
          <a:xfrm>
            <a:off x="6586124" y="4148007"/>
            <a:ext cx="4355976" cy="1015663"/>
          </a:xfrm>
          <a:prstGeom prst="rect">
            <a:avLst/>
          </a:prstGeom>
          <a:noFill/>
        </p:spPr>
        <p:txBody>
          <a:bodyPr wrap="square" rtlCol="0">
            <a:spAutoFit/>
          </a:bodyPr>
          <a:lstStyle/>
          <a:p>
            <a:pPr algn="just"/>
            <a:r>
              <a:rPr lang="es-MX" sz="1200" b="1" dirty="0">
                <a:solidFill>
                  <a:schemeClr val="tx1">
                    <a:lumMod val="50000"/>
                    <a:lumOff val="50000"/>
                  </a:schemeClr>
                </a:solidFill>
                <a:latin typeface="+mj-lt"/>
              </a:rPr>
              <a:t>Imagen 4.1 </a:t>
            </a:r>
            <a:r>
              <a:rPr lang="es-MX" sz="1200" dirty="0">
                <a:solidFill>
                  <a:schemeClr val="tx1">
                    <a:lumMod val="50000"/>
                    <a:lumOff val="50000"/>
                  </a:schemeClr>
                </a:solidFill>
                <a:latin typeface="+mj-lt"/>
              </a:rPr>
              <a:t>Representación del lenguaje de programación C.</a:t>
            </a:r>
          </a:p>
          <a:p>
            <a:r>
              <a:rPr lang="es-MX" sz="1200" dirty="0">
                <a:solidFill>
                  <a:schemeClr val="tx1">
                    <a:lumMod val="50000"/>
                    <a:lumOff val="50000"/>
                  </a:schemeClr>
                </a:solidFill>
                <a:latin typeface="+mj-lt"/>
              </a:rPr>
              <a:t>Fuente: MSMK University, 2025.</a:t>
            </a:r>
          </a:p>
          <a:p>
            <a:pPr algn="just"/>
            <a:endParaRPr lang="es-MX" sz="1200" dirty="0">
              <a:solidFill>
                <a:schemeClr val="tx1">
                  <a:lumMod val="50000"/>
                  <a:lumOff val="50000"/>
                </a:schemeClr>
              </a:solidFill>
              <a:latin typeface="+mj-lt"/>
            </a:endParaRPr>
          </a:p>
          <a:p>
            <a:pPr algn="ctr"/>
            <a:endParaRPr lang="es-EC" sz="1200" dirty="0">
              <a:solidFill>
                <a:schemeClr val="tx1">
                  <a:lumMod val="50000"/>
                  <a:lumOff val="50000"/>
                </a:schemeClr>
              </a:solidFill>
              <a:latin typeface="+mj-lt"/>
            </a:endParaRPr>
          </a:p>
        </p:txBody>
      </p:sp>
      <p:pic>
        <p:nvPicPr>
          <p:cNvPr id="9" name="Imagen 8">
            <a:extLst>
              <a:ext uri="{FF2B5EF4-FFF2-40B4-BE49-F238E27FC236}">
                <a16:creationId xmlns:a16="http://schemas.microsoft.com/office/drawing/2014/main" id="{9B1418A3-85CE-47CE-B65A-08D2D3AB3CC0}"/>
              </a:ext>
            </a:extLst>
          </p:cNvPr>
          <p:cNvPicPr>
            <a:picLocks noChangeAspect="1"/>
          </p:cNvPicPr>
          <p:nvPr/>
        </p:nvPicPr>
        <p:blipFill>
          <a:blip r:embed="rId2"/>
          <a:stretch>
            <a:fillRect/>
          </a:stretch>
        </p:blipFill>
        <p:spPr>
          <a:xfrm>
            <a:off x="6920853" y="1464443"/>
            <a:ext cx="4021247" cy="1870428"/>
          </a:xfrm>
          <a:prstGeom prst="rect">
            <a:avLst/>
          </a:prstGeom>
        </p:spPr>
      </p:pic>
    </p:spTree>
    <p:extLst>
      <p:ext uri="{BB962C8B-B14F-4D97-AF65-F5344CB8AC3E}">
        <p14:creationId xmlns:p14="http://schemas.microsoft.com/office/powerpoint/2010/main" val="426864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lnSpc>
                <a:spcPct val="90000"/>
              </a:lnSpc>
            </a:pPr>
            <a:r>
              <a:rPr lang="es-MX" sz="2800" dirty="0"/>
              <a:t>La sentencia do-while </a:t>
            </a:r>
          </a:p>
          <a:p>
            <a:pPr lvl="1"/>
            <a:r>
              <a:rPr lang="es-MX" sz="3100" b="1" dirty="0">
                <a:solidFill>
                  <a:srgbClr val="FF0000"/>
                </a:solidFill>
              </a:rPr>
              <a:t>Problema 4.5: (Aplicación de la sentencia do-while como un bucle ascendente) </a:t>
            </a:r>
          </a:p>
          <a:p>
            <a:pPr lvl="1"/>
            <a:r>
              <a:rPr lang="es-MX" sz="2800" dirty="0"/>
              <a:t>Problema 4.6: (Aplicación de la sentencia do-while como un bucle descendente) </a:t>
            </a:r>
          </a:p>
          <a:p>
            <a:pPr lvl="1"/>
            <a:r>
              <a:rPr lang="es-MX" sz="2800" dirty="0"/>
              <a:t>Caso de Estudio : Análisis de Números Palíndromos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2/12/2025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6</a:t>
            </a:fld>
            <a:endParaRPr lang="es-EC">
              <a:solidFill>
                <a:prstClr val="black">
                  <a:lumMod val="65000"/>
                  <a:lumOff val="35000"/>
                </a:prstClr>
              </a:solidFill>
            </a:endParaRPr>
          </a:p>
        </p:txBody>
      </p:sp>
    </p:spTree>
    <p:extLst>
      <p:ext uri="{BB962C8B-B14F-4D97-AF65-F5344CB8AC3E}">
        <p14:creationId xmlns:p14="http://schemas.microsoft.com/office/powerpoint/2010/main" val="4066158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3541059"/>
            <a:ext cx="10972800" cy="1600200"/>
          </a:xfrm>
        </p:spPr>
        <p:txBody>
          <a:bodyPr/>
          <a:lstStyle/>
          <a:p>
            <a:r>
              <a:rPr lang="es-MX" sz="3600" b="1" dirty="0"/>
              <a:t>Problema 4.5: (Aplicación de la sentencia do-while como un bucle ascendente) </a:t>
            </a: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493519" y="1363232"/>
            <a:ext cx="3284670" cy="2177827"/>
          </a:xfrm>
        </p:spPr>
        <p:txBody>
          <a:bodyPr>
            <a:normAutofit lnSpcReduction="10000"/>
          </a:bodyPr>
          <a:lstStyle/>
          <a:p>
            <a:r>
              <a:rPr lang="es-MX" sz="2000" dirty="0"/>
              <a:t>Problema 4.5: Escribir un programa que permita imprimir de manera ascendente los números del 1 al 10 utilizando un bucle do-while().</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7</a:t>
            </a:fld>
            <a:endParaRPr lang="es-EC"/>
          </a:p>
        </p:txBody>
      </p:sp>
      <p:pic>
        <p:nvPicPr>
          <p:cNvPr id="7" name="Imagen 6">
            <a:extLst>
              <a:ext uri="{FF2B5EF4-FFF2-40B4-BE49-F238E27FC236}">
                <a16:creationId xmlns:a16="http://schemas.microsoft.com/office/drawing/2014/main" id="{BEFF94CF-43E3-48BD-9EC1-951FC8EBCFAD}"/>
              </a:ext>
            </a:extLst>
          </p:cNvPr>
          <p:cNvPicPr>
            <a:picLocks noChangeAspect="1"/>
          </p:cNvPicPr>
          <p:nvPr/>
        </p:nvPicPr>
        <p:blipFill>
          <a:blip r:embed="rId2"/>
          <a:stretch>
            <a:fillRect/>
          </a:stretch>
        </p:blipFill>
        <p:spPr>
          <a:xfrm>
            <a:off x="1847925" y="3541059"/>
            <a:ext cx="6954220" cy="1524213"/>
          </a:xfrm>
          <a:prstGeom prst="rect">
            <a:avLst/>
          </a:prstGeom>
        </p:spPr>
      </p:pic>
    </p:spTree>
    <p:extLst>
      <p:ext uri="{BB962C8B-B14F-4D97-AF65-F5344CB8AC3E}">
        <p14:creationId xmlns:p14="http://schemas.microsoft.com/office/powerpoint/2010/main" val="3106412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3541059"/>
            <a:ext cx="10972800" cy="1600200"/>
          </a:xfrm>
        </p:spPr>
        <p:txBody>
          <a:bodyPr/>
          <a:lstStyle/>
          <a:p>
            <a:r>
              <a:rPr lang="es-MX" sz="3600" b="1" dirty="0"/>
              <a:t>Problema 4.5: (Aplicación de la sentencia do-while como un bucle ascendente) </a:t>
            </a: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8</a:t>
            </a:fld>
            <a:endParaRPr lang="es-EC"/>
          </a:p>
        </p:txBody>
      </p:sp>
      <p:pic>
        <p:nvPicPr>
          <p:cNvPr id="10" name="Imagen 9">
            <a:extLst>
              <a:ext uri="{FF2B5EF4-FFF2-40B4-BE49-F238E27FC236}">
                <a16:creationId xmlns:a16="http://schemas.microsoft.com/office/drawing/2014/main" id="{4F294117-F0B9-453E-BFF8-25A414E13D2A}"/>
              </a:ext>
            </a:extLst>
          </p:cNvPr>
          <p:cNvPicPr>
            <a:picLocks noChangeAspect="1"/>
          </p:cNvPicPr>
          <p:nvPr/>
        </p:nvPicPr>
        <p:blipFill rotWithShape="1">
          <a:blip r:embed="rId2"/>
          <a:srcRect b="3016"/>
          <a:stretch/>
        </p:blipFill>
        <p:spPr>
          <a:xfrm>
            <a:off x="2952311" y="1309450"/>
            <a:ext cx="6287377" cy="3603209"/>
          </a:xfrm>
          <a:prstGeom prst="rect">
            <a:avLst/>
          </a:prstGeom>
        </p:spPr>
      </p:pic>
      <p:pic>
        <p:nvPicPr>
          <p:cNvPr id="12" name="Imagen 11">
            <a:extLst>
              <a:ext uri="{FF2B5EF4-FFF2-40B4-BE49-F238E27FC236}">
                <a16:creationId xmlns:a16="http://schemas.microsoft.com/office/drawing/2014/main" id="{8AE39CBB-0BC2-46FC-A0CF-E2091CD1C493}"/>
              </a:ext>
            </a:extLst>
          </p:cNvPr>
          <p:cNvPicPr>
            <a:picLocks noChangeAspect="1"/>
          </p:cNvPicPr>
          <p:nvPr/>
        </p:nvPicPr>
        <p:blipFill rotWithShape="1">
          <a:blip r:embed="rId3"/>
          <a:srcRect t="2948"/>
          <a:stretch/>
        </p:blipFill>
        <p:spPr>
          <a:xfrm>
            <a:off x="2813702" y="5011055"/>
            <a:ext cx="5363323" cy="1710421"/>
          </a:xfrm>
          <a:prstGeom prst="rect">
            <a:avLst/>
          </a:prstGeom>
        </p:spPr>
      </p:pic>
    </p:spTree>
    <p:extLst>
      <p:ext uri="{BB962C8B-B14F-4D97-AF65-F5344CB8AC3E}">
        <p14:creationId xmlns:p14="http://schemas.microsoft.com/office/powerpoint/2010/main" val="237413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3541059"/>
            <a:ext cx="10972800" cy="1600200"/>
          </a:xfrm>
        </p:spPr>
        <p:txBody>
          <a:bodyPr/>
          <a:lstStyle/>
          <a:p>
            <a:r>
              <a:rPr lang="es-MX" sz="3600" b="1" dirty="0"/>
              <a:t>Problema 4.5: (Aplicación de la sentencia do-while como un bucle ascendente) </a:t>
            </a: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9</a:t>
            </a:fld>
            <a:endParaRPr lang="es-EC"/>
          </a:p>
        </p:txBody>
      </p:sp>
      <p:pic>
        <p:nvPicPr>
          <p:cNvPr id="6" name="Imagen 5">
            <a:extLst>
              <a:ext uri="{FF2B5EF4-FFF2-40B4-BE49-F238E27FC236}">
                <a16:creationId xmlns:a16="http://schemas.microsoft.com/office/drawing/2014/main" id="{9E9B15AA-929A-4448-BF4E-793B432E54C3}"/>
              </a:ext>
            </a:extLst>
          </p:cNvPr>
          <p:cNvPicPr>
            <a:picLocks noChangeAspect="1"/>
          </p:cNvPicPr>
          <p:nvPr/>
        </p:nvPicPr>
        <p:blipFill>
          <a:blip r:embed="rId2"/>
          <a:stretch>
            <a:fillRect/>
          </a:stretch>
        </p:blipFill>
        <p:spPr>
          <a:xfrm>
            <a:off x="4924612" y="2325967"/>
            <a:ext cx="4801500" cy="1600200"/>
          </a:xfrm>
          <a:prstGeom prst="rect">
            <a:avLst/>
          </a:prstGeom>
        </p:spPr>
      </p:pic>
      <p:sp>
        <p:nvSpPr>
          <p:cNvPr id="11" name="CuadroTexto 10">
            <a:extLst>
              <a:ext uri="{FF2B5EF4-FFF2-40B4-BE49-F238E27FC236}">
                <a16:creationId xmlns:a16="http://schemas.microsoft.com/office/drawing/2014/main" id="{E1A12BFA-F054-4355-9F1F-43FB87FB7B0E}"/>
              </a:ext>
            </a:extLst>
          </p:cNvPr>
          <p:cNvSpPr txBox="1"/>
          <p:nvPr/>
        </p:nvSpPr>
        <p:spPr>
          <a:xfrm>
            <a:off x="1503680" y="2242533"/>
            <a:ext cx="3362960" cy="1323439"/>
          </a:xfrm>
          <a:prstGeom prst="rect">
            <a:avLst/>
          </a:prstGeom>
          <a:noFill/>
        </p:spPr>
        <p:txBody>
          <a:bodyPr wrap="square">
            <a:spAutoFit/>
          </a:bodyPr>
          <a:lstStyle/>
          <a:p>
            <a:r>
              <a:rPr lang="es-MX" sz="2000" dirty="0">
                <a:solidFill>
                  <a:schemeClr val="tx1">
                    <a:lumMod val="50000"/>
                    <a:lumOff val="50000"/>
                  </a:schemeClr>
                </a:solidFill>
                <a:latin typeface="+mj-lt"/>
              </a:rPr>
              <a:t>En la salida de la Ejecución 4.5 se puede ver la impresión del 1 al 10 de manera creciente.</a:t>
            </a:r>
            <a:endParaRPr lang="es-EC" sz="2000" dirty="0">
              <a:solidFill>
                <a:schemeClr val="tx1">
                  <a:lumMod val="50000"/>
                  <a:lumOff val="50000"/>
                </a:schemeClr>
              </a:solidFill>
              <a:latin typeface="+mj-lt"/>
            </a:endParaRPr>
          </a:p>
        </p:txBody>
      </p:sp>
      <p:sp>
        <p:nvSpPr>
          <p:cNvPr id="13" name="CuadroTexto 12">
            <a:extLst>
              <a:ext uri="{FF2B5EF4-FFF2-40B4-BE49-F238E27FC236}">
                <a16:creationId xmlns:a16="http://schemas.microsoft.com/office/drawing/2014/main" id="{5CB7F16B-B81E-4287-8A26-49F238F771F9}"/>
              </a:ext>
            </a:extLst>
          </p:cNvPr>
          <p:cNvSpPr txBox="1"/>
          <p:nvPr/>
        </p:nvSpPr>
        <p:spPr>
          <a:xfrm>
            <a:off x="4924612" y="4210547"/>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del Programa 4.5</a:t>
            </a:r>
            <a:r>
              <a:rPr lang="es-ES" sz="1200" dirty="0">
                <a:solidFill>
                  <a:schemeClr val="tx1">
                    <a:lumMod val="50000"/>
                    <a:lumOff val="50000"/>
                  </a:schemeClr>
                </a:solidFill>
                <a:latin typeface="+mj-lt"/>
              </a:rPr>
              <a:t> Ejecución del Programa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336927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3541059"/>
            <a:ext cx="10972800" cy="1600200"/>
          </a:xfrm>
        </p:spPr>
        <p:txBody>
          <a:bodyPr/>
          <a:lstStyle/>
          <a:p>
            <a:r>
              <a:rPr lang="es-MX" sz="3600" b="1" dirty="0"/>
              <a:t>Problema 4.5: (Aplicación de la sentencia do-while como un bucle ascendente) </a:t>
            </a: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10</a:t>
            </a:fld>
            <a:endParaRPr lang="es-EC"/>
          </a:p>
        </p:txBody>
      </p:sp>
      <p:sp>
        <p:nvSpPr>
          <p:cNvPr id="11" name="Marcador de contenido 2">
            <a:extLst>
              <a:ext uri="{FF2B5EF4-FFF2-40B4-BE49-F238E27FC236}">
                <a16:creationId xmlns:a16="http://schemas.microsoft.com/office/drawing/2014/main" id="{488071BE-CA5B-4360-ADDC-FAD23EF7D422}"/>
              </a:ext>
            </a:extLst>
          </p:cNvPr>
          <p:cNvSpPr>
            <a:spLocks noGrp="1"/>
          </p:cNvSpPr>
          <p:nvPr>
            <p:ph idx="1"/>
          </p:nvPr>
        </p:nvSpPr>
        <p:spPr>
          <a:xfrm>
            <a:off x="1699707" y="1447554"/>
            <a:ext cx="3284670" cy="2177827"/>
          </a:xfrm>
        </p:spPr>
        <p:txBody>
          <a:bodyPr>
            <a:normAutofit fontScale="85000" lnSpcReduction="20000"/>
          </a:bodyPr>
          <a:lstStyle/>
          <a:p>
            <a:r>
              <a:rPr lang="es-MX" sz="2000" dirty="0"/>
              <a:t>En la Tabla 4.5 se puede ver la prueba de escritorio del programa, donde se puede ver que en cada iteración del bucle el contador se incrementa en uno, mientras la condición del bucle sea verdadera.</a:t>
            </a:r>
            <a:endParaRPr lang="es-EC" sz="2800" b="1" dirty="0"/>
          </a:p>
        </p:txBody>
      </p:sp>
      <p:pic>
        <p:nvPicPr>
          <p:cNvPr id="14" name="Imagen 13">
            <a:extLst>
              <a:ext uri="{FF2B5EF4-FFF2-40B4-BE49-F238E27FC236}">
                <a16:creationId xmlns:a16="http://schemas.microsoft.com/office/drawing/2014/main" id="{4B65C06C-1EB8-4745-B0CA-02A1ECE8459F}"/>
              </a:ext>
            </a:extLst>
          </p:cNvPr>
          <p:cNvPicPr>
            <a:picLocks noChangeAspect="1"/>
          </p:cNvPicPr>
          <p:nvPr/>
        </p:nvPicPr>
        <p:blipFill>
          <a:blip r:embed="rId2"/>
          <a:stretch>
            <a:fillRect/>
          </a:stretch>
        </p:blipFill>
        <p:spPr>
          <a:xfrm>
            <a:off x="2058485" y="3541059"/>
            <a:ext cx="4525006" cy="2438740"/>
          </a:xfrm>
          <a:prstGeom prst="rect">
            <a:avLst/>
          </a:prstGeom>
        </p:spPr>
      </p:pic>
    </p:spTree>
    <p:extLst>
      <p:ext uri="{BB962C8B-B14F-4D97-AF65-F5344CB8AC3E}">
        <p14:creationId xmlns:p14="http://schemas.microsoft.com/office/powerpoint/2010/main" val="1602249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lnSpc>
                <a:spcPct val="90000"/>
              </a:lnSpc>
            </a:pPr>
            <a:r>
              <a:rPr lang="es-MX" sz="2800" dirty="0"/>
              <a:t>La sentencia do-while </a:t>
            </a:r>
          </a:p>
          <a:p>
            <a:pPr lvl="1"/>
            <a:r>
              <a:rPr lang="es-MX" sz="2800" dirty="0"/>
              <a:t>Problema 4.5: (Aplicación de la sentencia do-while como un bucle ascendente) </a:t>
            </a:r>
          </a:p>
          <a:p>
            <a:pPr lvl="1"/>
            <a:r>
              <a:rPr lang="es-MX" sz="2800" dirty="0"/>
              <a:t>Problema 4.6: (Aplicación de la sentencia do-while como un bucle descendente) </a:t>
            </a:r>
          </a:p>
          <a:p>
            <a:pPr lvl="1"/>
            <a:r>
              <a:rPr lang="es-MX" sz="3100" b="1" dirty="0">
                <a:solidFill>
                  <a:srgbClr val="FF0000"/>
                </a:solidFill>
              </a:rPr>
              <a:t>Caso de Estudio : Análisis de Números Palíndromos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2/12/2025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11</a:t>
            </a:fld>
            <a:endParaRPr lang="es-EC">
              <a:solidFill>
                <a:prstClr val="black">
                  <a:lumMod val="65000"/>
                  <a:lumOff val="35000"/>
                </a:prstClr>
              </a:solidFill>
            </a:endParaRPr>
          </a:p>
        </p:txBody>
      </p:sp>
    </p:spTree>
    <p:extLst>
      <p:ext uri="{BB962C8B-B14F-4D97-AF65-F5344CB8AC3E}">
        <p14:creationId xmlns:p14="http://schemas.microsoft.com/office/powerpoint/2010/main" val="2500176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4398307"/>
            <a:ext cx="10972800" cy="1600200"/>
          </a:xfrm>
          <a:ln>
            <a:solidFill>
              <a:schemeClr val="bg1"/>
            </a:solidFill>
          </a:ln>
        </p:spPr>
        <p:txBody>
          <a:bodyPr/>
          <a:lstStyle/>
          <a:p>
            <a:r>
              <a:rPr lang="es-MX" sz="3600" b="1" dirty="0"/>
              <a:t>Caso de Estudio : Análisis de Números Palíndromos </a:t>
            </a:r>
            <a:br>
              <a:rPr lang="es-MX" sz="5400" b="1" dirty="0">
                <a:solidFill>
                  <a:srgbClr val="FF0000"/>
                </a:solidFill>
              </a:rPr>
            </a:b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656189" y="1730593"/>
            <a:ext cx="9389634" cy="5145144"/>
          </a:xfrm>
        </p:spPr>
        <p:txBody>
          <a:bodyPr>
            <a:normAutofit/>
          </a:bodyPr>
          <a:lstStyle/>
          <a:p>
            <a:r>
              <a:rPr lang="es-MX" sz="2000" dirty="0"/>
              <a:t>A) Problema </a:t>
            </a:r>
          </a:p>
          <a:p>
            <a:pPr marL="0" indent="0">
              <a:buNone/>
            </a:pPr>
            <a:endParaRPr lang="es-MX" sz="2000" dirty="0"/>
          </a:p>
          <a:p>
            <a:pPr marL="0" indent="0">
              <a:buNone/>
            </a:pPr>
            <a:r>
              <a:rPr lang="es-MX" sz="2000" dirty="0"/>
              <a:t>Escribir un programa que permita analizar si un número es palíndromo o no lo es. Un número palíndromo es aquel número que invertido o dado la vuelta resulta ser el mismo número. Así, por ejemplo, los números 1234321, 55555, 333, son números palíndromos. Analizar además el número de cifras que tiene el número, visualizar el número original al revés y desplegar un mensaje donde se mencione si el número ingresado por teclado es o no palíndromo.</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12</a:t>
            </a:fld>
            <a:endParaRPr lang="es-EC"/>
          </a:p>
        </p:txBody>
      </p:sp>
    </p:spTree>
    <p:extLst>
      <p:ext uri="{BB962C8B-B14F-4D97-AF65-F5344CB8AC3E}">
        <p14:creationId xmlns:p14="http://schemas.microsoft.com/office/powerpoint/2010/main" val="729640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4398307"/>
            <a:ext cx="10972800" cy="1600200"/>
          </a:xfrm>
          <a:ln>
            <a:solidFill>
              <a:schemeClr val="bg1"/>
            </a:solidFill>
          </a:ln>
        </p:spPr>
        <p:txBody>
          <a:bodyPr/>
          <a:lstStyle/>
          <a:p>
            <a:r>
              <a:rPr lang="es-MX" sz="3600" b="1" dirty="0"/>
              <a:t>Caso de Estudio : Análisis de Números Palíndromos </a:t>
            </a:r>
            <a:br>
              <a:rPr lang="es-MX" sz="5400" b="1" dirty="0">
                <a:solidFill>
                  <a:srgbClr val="FF0000"/>
                </a:solidFill>
              </a:rPr>
            </a:b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656189" y="1730593"/>
            <a:ext cx="4834258" cy="3630301"/>
          </a:xfrm>
        </p:spPr>
        <p:txBody>
          <a:bodyPr>
            <a:normAutofit fontScale="77500" lnSpcReduction="20000"/>
          </a:bodyPr>
          <a:lstStyle/>
          <a:p>
            <a:r>
              <a:rPr lang="es-MX" sz="2000" dirty="0"/>
              <a:t>B) Análisis</a:t>
            </a:r>
          </a:p>
          <a:p>
            <a:pPr marL="0" indent="0">
              <a:buNone/>
            </a:pPr>
            <a:r>
              <a:rPr lang="es-MX" sz="2000" dirty="0"/>
              <a:t> Claramente se puede ver que la entrada del problema es un número entero. Hay dos salidas requeridas que son el número de cifras del número y el número original invertido. Se requieren seis datos auxiliares que son: un contador de cifras para el número, el dividendo de la división, el cociente de la división, el residuo de la división, una sumatoria para acumular valores y un contador para las potencias de 10. En la solución computacional de análisis de un número palíndromo se plantea primeramente un bucle que cuenta el número de cifras del número entero leído desde el teclado, como se puede ver en la Figura 4.4.1. </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13</a:t>
            </a:fld>
            <a:endParaRPr lang="es-EC"/>
          </a:p>
        </p:txBody>
      </p:sp>
      <p:pic>
        <p:nvPicPr>
          <p:cNvPr id="7" name="Imagen 6">
            <a:extLst>
              <a:ext uri="{FF2B5EF4-FFF2-40B4-BE49-F238E27FC236}">
                <a16:creationId xmlns:a16="http://schemas.microsoft.com/office/drawing/2014/main" id="{64F1F5CB-EF3C-4087-A08A-9715EDBEE78F}"/>
              </a:ext>
            </a:extLst>
          </p:cNvPr>
          <p:cNvPicPr>
            <a:picLocks noChangeAspect="1"/>
          </p:cNvPicPr>
          <p:nvPr/>
        </p:nvPicPr>
        <p:blipFill>
          <a:blip r:embed="rId2"/>
          <a:stretch>
            <a:fillRect/>
          </a:stretch>
        </p:blipFill>
        <p:spPr>
          <a:xfrm>
            <a:off x="6650092" y="1730593"/>
            <a:ext cx="3885719" cy="2715004"/>
          </a:xfrm>
          <a:prstGeom prst="rect">
            <a:avLst/>
          </a:prstGeom>
        </p:spPr>
      </p:pic>
      <p:sp>
        <p:nvSpPr>
          <p:cNvPr id="8" name="12 CuadroTexto">
            <a:extLst>
              <a:ext uri="{FF2B5EF4-FFF2-40B4-BE49-F238E27FC236}">
                <a16:creationId xmlns:a16="http://schemas.microsoft.com/office/drawing/2014/main" id="{D92AB8D9-4BED-41A0-9689-BF0275E00812}"/>
              </a:ext>
            </a:extLst>
          </p:cNvPr>
          <p:cNvSpPr txBox="1"/>
          <p:nvPr/>
        </p:nvSpPr>
        <p:spPr>
          <a:xfrm>
            <a:off x="7076739" y="4803441"/>
            <a:ext cx="3794001" cy="646331"/>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4.4.1 </a:t>
            </a:r>
            <a:r>
              <a:rPr lang="es-MX" sz="1200" dirty="0">
                <a:solidFill>
                  <a:schemeClr val="tx1">
                    <a:lumMod val="50000"/>
                    <a:lumOff val="50000"/>
                  </a:schemeClr>
                </a:solidFill>
                <a:latin typeface="+mj-lt"/>
              </a:rPr>
              <a:t>Proceso para contar el número de cifras de un número entero.</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207922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4398307"/>
            <a:ext cx="10972800" cy="1600200"/>
          </a:xfrm>
          <a:ln>
            <a:solidFill>
              <a:schemeClr val="bg1"/>
            </a:solidFill>
          </a:ln>
        </p:spPr>
        <p:txBody>
          <a:bodyPr/>
          <a:lstStyle/>
          <a:p>
            <a:r>
              <a:rPr lang="es-MX" sz="3600" b="1" dirty="0"/>
              <a:t>Caso de Estudio : Análisis de Números Palíndromos </a:t>
            </a:r>
            <a:br>
              <a:rPr lang="es-MX" sz="5400" b="1" dirty="0">
                <a:solidFill>
                  <a:srgbClr val="FF0000"/>
                </a:solidFill>
              </a:rPr>
            </a:b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656189" y="1730593"/>
            <a:ext cx="4834258" cy="3630301"/>
          </a:xfrm>
        </p:spPr>
        <p:txBody>
          <a:bodyPr>
            <a:normAutofit fontScale="70000" lnSpcReduction="20000"/>
          </a:bodyPr>
          <a:lstStyle/>
          <a:p>
            <a:pPr marL="0" indent="0">
              <a:buNone/>
            </a:pPr>
            <a:r>
              <a:rPr lang="es-MX" sz="2000" dirty="0"/>
              <a:t>Luego, hay un bucle que controla las divisiones sucesivas, que permiten obtener los restos de las divisiones que se acumulan en una sumatoria que acumula los resultados parciales del producto del residuo por 10 elevado a una potencia de ‘n’ y un contador que controla los valores de la potencia de ‘n’. Antes de ingresar a este bucle, el contador se inicializa con el valor del número de cifras menos el valor de uno. De manera sucesiva, el resultado del cociente de una división pasa a ser el dividendo de la siguiente división, asignando a la variable dividendo el valor del cociente en cada iteración del bucle. Finalmente, el valor de la sumatoria obtenida viene a ser el valor del número invertido calculado, como se puede ver en la Figura 4.4.2. El requerimiento de los datos y las fórmulas requeridas se muestran a continuación.</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14</a:t>
            </a:fld>
            <a:endParaRPr lang="es-EC"/>
          </a:p>
        </p:txBody>
      </p:sp>
      <p:sp>
        <p:nvSpPr>
          <p:cNvPr id="8" name="12 CuadroTexto">
            <a:extLst>
              <a:ext uri="{FF2B5EF4-FFF2-40B4-BE49-F238E27FC236}">
                <a16:creationId xmlns:a16="http://schemas.microsoft.com/office/drawing/2014/main" id="{D92AB8D9-4BED-41A0-9689-BF0275E00812}"/>
              </a:ext>
            </a:extLst>
          </p:cNvPr>
          <p:cNvSpPr txBox="1"/>
          <p:nvPr/>
        </p:nvSpPr>
        <p:spPr>
          <a:xfrm>
            <a:off x="6988039" y="4736742"/>
            <a:ext cx="3794001" cy="461665"/>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4.4.2 </a:t>
            </a:r>
            <a:r>
              <a:rPr lang="es-MX" sz="1200" dirty="0">
                <a:solidFill>
                  <a:schemeClr val="tx1">
                    <a:lumMod val="50000"/>
                    <a:lumOff val="50000"/>
                  </a:schemeClr>
                </a:solidFill>
                <a:latin typeface="+mj-lt"/>
              </a:rPr>
              <a:t>Proceso para invertir un número entero</a:t>
            </a:r>
            <a:r>
              <a:rPr lang="es-MX" sz="1200" dirty="0"/>
              <a:t>.</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p:txBody>
      </p:sp>
      <p:pic>
        <p:nvPicPr>
          <p:cNvPr id="9" name="Imagen 8">
            <a:extLst>
              <a:ext uri="{FF2B5EF4-FFF2-40B4-BE49-F238E27FC236}">
                <a16:creationId xmlns:a16="http://schemas.microsoft.com/office/drawing/2014/main" id="{6B460053-A898-4BA7-87DA-ED3BB75491F4}"/>
              </a:ext>
            </a:extLst>
          </p:cNvPr>
          <p:cNvPicPr>
            <a:picLocks noChangeAspect="1"/>
          </p:cNvPicPr>
          <p:nvPr/>
        </p:nvPicPr>
        <p:blipFill>
          <a:blip r:embed="rId2"/>
          <a:stretch>
            <a:fillRect/>
          </a:stretch>
        </p:blipFill>
        <p:spPr>
          <a:xfrm>
            <a:off x="6890919" y="1734852"/>
            <a:ext cx="2984194" cy="2659525"/>
          </a:xfrm>
          <a:prstGeom prst="rect">
            <a:avLst/>
          </a:prstGeom>
        </p:spPr>
      </p:pic>
    </p:spTree>
    <p:extLst>
      <p:ext uri="{BB962C8B-B14F-4D97-AF65-F5344CB8AC3E}">
        <p14:creationId xmlns:p14="http://schemas.microsoft.com/office/powerpoint/2010/main" val="4085133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4398307"/>
            <a:ext cx="10972800" cy="1600200"/>
          </a:xfrm>
          <a:ln>
            <a:solidFill>
              <a:schemeClr val="bg1"/>
            </a:solidFill>
          </a:ln>
        </p:spPr>
        <p:txBody>
          <a:bodyPr/>
          <a:lstStyle/>
          <a:p>
            <a:r>
              <a:rPr lang="es-MX" sz="3600" b="1" dirty="0"/>
              <a:t>Caso de Estudio : Análisis de Números Palíndromos </a:t>
            </a:r>
            <a:br>
              <a:rPr lang="es-MX" sz="5400" b="1" dirty="0">
                <a:solidFill>
                  <a:srgbClr val="FF0000"/>
                </a:solidFill>
              </a:rPr>
            </a:b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656189" y="1730593"/>
            <a:ext cx="4834258" cy="3630301"/>
          </a:xfrm>
        </p:spPr>
        <p:txBody>
          <a:bodyPr>
            <a:normAutofit/>
          </a:bodyPr>
          <a:lstStyle/>
          <a:p>
            <a:pPr marL="0" indent="0">
              <a:buNone/>
            </a:pPr>
            <a:r>
              <a:rPr lang="es-MX" sz="2000" dirty="0"/>
              <a:t>B.1) Requerimiento de los Datos </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15</a:t>
            </a:fld>
            <a:endParaRPr lang="es-EC"/>
          </a:p>
        </p:txBody>
      </p:sp>
      <p:pic>
        <p:nvPicPr>
          <p:cNvPr id="7" name="Imagen 6">
            <a:extLst>
              <a:ext uri="{FF2B5EF4-FFF2-40B4-BE49-F238E27FC236}">
                <a16:creationId xmlns:a16="http://schemas.microsoft.com/office/drawing/2014/main" id="{7B17CD08-6FE0-4BBE-BC9B-9D1F78B6FEDA}"/>
              </a:ext>
            </a:extLst>
          </p:cNvPr>
          <p:cNvPicPr>
            <a:picLocks noChangeAspect="1"/>
          </p:cNvPicPr>
          <p:nvPr/>
        </p:nvPicPr>
        <p:blipFill>
          <a:blip r:embed="rId2"/>
          <a:stretch>
            <a:fillRect/>
          </a:stretch>
        </p:blipFill>
        <p:spPr>
          <a:xfrm>
            <a:off x="1937044" y="2306117"/>
            <a:ext cx="5971169" cy="3978143"/>
          </a:xfrm>
          <a:prstGeom prst="rect">
            <a:avLst/>
          </a:prstGeom>
        </p:spPr>
      </p:pic>
    </p:spTree>
    <p:extLst>
      <p:ext uri="{BB962C8B-B14F-4D97-AF65-F5344CB8AC3E}">
        <p14:creationId xmlns:p14="http://schemas.microsoft.com/office/powerpoint/2010/main" val="4579509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4398307"/>
            <a:ext cx="10972800" cy="1600200"/>
          </a:xfrm>
          <a:ln>
            <a:solidFill>
              <a:schemeClr val="bg1"/>
            </a:solidFill>
          </a:ln>
        </p:spPr>
        <p:txBody>
          <a:bodyPr/>
          <a:lstStyle/>
          <a:p>
            <a:r>
              <a:rPr lang="es-MX" sz="3600" b="1" dirty="0"/>
              <a:t>Caso de Estudio : Análisis de Números Palíndromos </a:t>
            </a:r>
            <a:br>
              <a:rPr lang="es-MX" sz="5400" b="1" dirty="0">
                <a:solidFill>
                  <a:srgbClr val="FF0000"/>
                </a:solidFill>
              </a:rPr>
            </a:b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656189" y="1730593"/>
            <a:ext cx="5407999" cy="3603407"/>
          </a:xfrm>
        </p:spPr>
        <p:txBody>
          <a:bodyPr>
            <a:normAutofit fontScale="92500" lnSpcReduction="10000"/>
          </a:bodyPr>
          <a:lstStyle/>
          <a:p>
            <a:pPr marL="0" indent="0">
              <a:buNone/>
            </a:pPr>
            <a:r>
              <a:rPr lang="es-MX" sz="2000" dirty="0"/>
              <a:t>B.2) Diagrama de Entrada-Salida </a:t>
            </a:r>
          </a:p>
          <a:p>
            <a:pPr marL="0" indent="0">
              <a:buNone/>
            </a:pPr>
            <a:r>
              <a:rPr lang="es-MX" sz="2000" dirty="0"/>
              <a:t>En la Figura 4.4.3 se muestra el diagrama de Entrada-Salida del programa donde se identifican y se diagraman las entradas, salidas y auxiliares del problema como son: a) Entradas: la variable ‘</a:t>
            </a:r>
            <a:r>
              <a:rPr lang="es-MX" sz="2000" dirty="0" err="1"/>
              <a:t>num</a:t>
            </a:r>
            <a:r>
              <a:rPr lang="es-MX" sz="2000" dirty="0"/>
              <a:t>’; b) Salidas: la variable ‘</a:t>
            </a:r>
            <a:r>
              <a:rPr lang="es-MX" sz="2000" dirty="0" err="1"/>
              <a:t>numeroCifras</a:t>
            </a:r>
            <a:r>
              <a:rPr lang="es-MX" sz="2000" dirty="0"/>
              <a:t>’; la variable ‘</a:t>
            </a:r>
            <a:r>
              <a:rPr lang="es-MX" sz="2000" dirty="0" err="1"/>
              <a:t>numInvertido</a:t>
            </a:r>
            <a:r>
              <a:rPr lang="es-MX" sz="2000" dirty="0"/>
              <a:t>’; un mensaje de información que indica que el número ingresado es palíndromo o no es palíndromo; c) Auxiliares: la variable ‘</a:t>
            </a:r>
            <a:r>
              <a:rPr lang="es-MX" sz="2000" dirty="0" err="1"/>
              <a:t>cont</a:t>
            </a:r>
            <a:r>
              <a:rPr lang="es-MX" sz="2000" dirty="0"/>
              <a:t>’; la variable ‘D’; la variable ‘c’; la variable ‘R’; la variable ‘sum’; la variable ‘i’.</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16</a:t>
            </a:fld>
            <a:endParaRPr lang="es-EC"/>
          </a:p>
        </p:txBody>
      </p:sp>
      <p:pic>
        <p:nvPicPr>
          <p:cNvPr id="8" name="Imagen 7">
            <a:extLst>
              <a:ext uri="{FF2B5EF4-FFF2-40B4-BE49-F238E27FC236}">
                <a16:creationId xmlns:a16="http://schemas.microsoft.com/office/drawing/2014/main" id="{A7075469-8E4B-4765-88F7-87D4B7540827}"/>
              </a:ext>
            </a:extLst>
          </p:cNvPr>
          <p:cNvPicPr>
            <a:picLocks noChangeAspect="1"/>
          </p:cNvPicPr>
          <p:nvPr/>
        </p:nvPicPr>
        <p:blipFill>
          <a:blip r:embed="rId2"/>
          <a:stretch>
            <a:fillRect/>
          </a:stretch>
        </p:blipFill>
        <p:spPr>
          <a:xfrm>
            <a:off x="7064188" y="1863020"/>
            <a:ext cx="3962953" cy="2286319"/>
          </a:xfrm>
          <a:prstGeom prst="rect">
            <a:avLst/>
          </a:prstGeom>
        </p:spPr>
      </p:pic>
      <p:sp>
        <p:nvSpPr>
          <p:cNvPr id="9" name="12 CuadroTexto">
            <a:extLst>
              <a:ext uri="{FF2B5EF4-FFF2-40B4-BE49-F238E27FC236}">
                <a16:creationId xmlns:a16="http://schemas.microsoft.com/office/drawing/2014/main" id="{DBDD0F11-97E9-4A08-943E-139B5D0E5B9B}"/>
              </a:ext>
            </a:extLst>
          </p:cNvPr>
          <p:cNvSpPr txBox="1"/>
          <p:nvPr/>
        </p:nvSpPr>
        <p:spPr>
          <a:xfrm>
            <a:off x="6979075" y="4507183"/>
            <a:ext cx="3794001" cy="461665"/>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4.4.3 </a:t>
            </a:r>
            <a:r>
              <a:rPr lang="es-MX" sz="1200" dirty="0">
                <a:solidFill>
                  <a:schemeClr val="tx1">
                    <a:lumMod val="50000"/>
                    <a:lumOff val="50000"/>
                  </a:schemeClr>
                </a:solidFill>
                <a:latin typeface="+mj-lt"/>
              </a:rPr>
              <a:t>Diagrama de entrada –salida </a:t>
            </a:r>
            <a:r>
              <a:rPr lang="es-MX" sz="1200" dirty="0"/>
              <a:t>.</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1157700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4398307"/>
            <a:ext cx="10972800" cy="1600200"/>
          </a:xfrm>
          <a:ln>
            <a:solidFill>
              <a:schemeClr val="bg1"/>
            </a:solidFill>
          </a:ln>
        </p:spPr>
        <p:txBody>
          <a:bodyPr/>
          <a:lstStyle/>
          <a:p>
            <a:r>
              <a:rPr lang="es-MX" sz="3600" b="1" dirty="0"/>
              <a:t>Caso de Estudio : Análisis de Números Palíndromos </a:t>
            </a:r>
            <a:br>
              <a:rPr lang="es-MX" sz="5400" b="1" dirty="0">
                <a:solidFill>
                  <a:srgbClr val="FF0000"/>
                </a:solidFill>
              </a:rPr>
            </a:b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656190" y="1730594"/>
            <a:ext cx="2216564" cy="573336"/>
          </a:xfrm>
        </p:spPr>
        <p:txBody>
          <a:bodyPr>
            <a:normAutofit/>
          </a:bodyPr>
          <a:lstStyle/>
          <a:p>
            <a:pPr marL="0" indent="0">
              <a:buNone/>
            </a:pPr>
            <a:r>
              <a:rPr lang="es-EC" sz="2000" dirty="0"/>
              <a:t>C) Diseño</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17</a:t>
            </a:fld>
            <a:endParaRPr lang="es-EC"/>
          </a:p>
        </p:txBody>
      </p:sp>
      <p:pic>
        <p:nvPicPr>
          <p:cNvPr id="11" name="Imagen 10">
            <a:extLst>
              <a:ext uri="{FF2B5EF4-FFF2-40B4-BE49-F238E27FC236}">
                <a16:creationId xmlns:a16="http://schemas.microsoft.com/office/drawing/2014/main" id="{4B97FD9D-2DD9-4D8C-ADDD-8E635A234927}"/>
              </a:ext>
            </a:extLst>
          </p:cNvPr>
          <p:cNvPicPr>
            <a:picLocks noChangeAspect="1"/>
          </p:cNvPicPr>
          <p:nvPr/>
        </p:nvPicPr>
        <p:blipFill>
          <a:blip r:embed="rId2"/>
          <a:stretch>
            <a:fillRect/>
          </a:stretch>
        </p:blipFill>
        <p:spPr>
          <a:xfrm>
            <a:off x="4146423" y="1978784"/>
            <a:ext cx="5564776" cy="4635979"/>
          </a:xfrm>
          <a:prstGeom prst="rect">
            <a:avLst/>
          </a:prstGeom>
        </p:spPr>
      </p:pic>
      <p:pic>
        <p:nvPicPr>
          <p:cNvPr id="13" name="Imagen 12">
            <a:extLst>
              <a:ext uri="{FF2B5EF4-FFF2-40B4-BE49-F238E27FC236}">
                <a16:creationId xmlns:a16="http://schemas.microsoft.com/office/drawing/2014/main" id="{1E90D0C7-B9C2-48B5-9B90-576FBCCFADEC}"/>
              </a:ext>
            </a:extLst>
          </p:cNvPr>
          <p:cNvPicPr>
            <a:picLocks noChangeAspect="1"/>
          </p:cNvPicPr>
          <p:nvPr/>
        </p:nvPicPr>
        <p:blipFill>
          <a:blip r:embed="rId3"/>
          <a:stretch>
            <a:fillRect/>
          </a:stretch>
        </p:blipFill>
        <p:spPr>
          <a:xfrm>
            <a:off x="4034117" y="1435745"/>
            <a:ext cx="5151179" cy="589697"/>
          </a:xfrm>
          <a:prstGeom prst="rect">
            <a:avLst/>
          </a:prstGeom>
        </p:spPr>
      </p:pic>
    </p:spTree>
    <p:extLst>
      <p:ext uri="{BB962C8B-B14F-4D97-AF65-F5344CB8AC3E}">
        <p14:creationId xmlns:p14="http://schemas.microsoft.com/office/powerpoint/2010/main" val="2793692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4398307"/>
            <a:ext cx="10972800" cy="1600200"/>
          </a:xfrm>
          <a:ln>
            <a:solidFill>
              <a:schemeClr val="bg1"/>
            </a:solidFill>
          </a:ln>
        </p:spPr>
        <p:txBody>
          <a:bodyPr/>
          <a:lstStyle/>
          <a:p>
            <a:r>
              <a:rPr lang="es-MX" sz="3600" b="1" dirty="0"/>
              <a:t>Caso de Estudio : Análisis de Números Palíndromos </a:t>
            </a:r>
            <a:br>
              <a:rPr lang="es-MX" sz="5400" b="1" dirty="0">
                <a:solidFill>
                  <a:srgbClr val="FF0000"/>
                </a:solidFill>
              </a:rPr>
            </a:b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656189" y="1730594"/>
            <a:ext cx="3211645" cy="1980794"/>
          </a:xfrm>
        </p:spPr>
        <p:txBody>
          <a:bodyPr>
            <a:normAutofit fontScale="70000" lnSpcReduction="20000"/>
          </a:bodyPr>
          <a:lstStyle/>
          <a:p>
            <a:pPr marL="0" indent="0">
              <a:buNone/>
            </a:pPr>
            <a:r>
              <a:rPr lang="es-MX" sz="2000" dirty="0"/>
              <a:t>D) Implementación </a:t>
            </a:r>
          </a:p>
          <a:p>
            <a:pPr marL="0" indent="0">
              <a:buNone/>
            </a:pPr>
            <a:endParaRPr lang="es-MX" sz="2000" dirty="0"/>
          </a:p>
          <a:p>
            <a:pPr marL="0" indent="0">
              <a:buNone/>
            </a:pPr>
            <a:r>
              <a:rPr lang="es-MX" sz="2000" dirty="0"/>
              <a:t>Para implementar la solución, se debe escribir el algoritmo como un programa de C/C++ que contenga toda la información necesaria para completar la traducción a lenguaje máquina. En la Tabla 4.4.1 se muestra el código del programa en C/C++.</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18</a:t>
            </a:fld>
            <a:endParaRPr lang="es-EC"/>
          </a:p>
        </p:txBody>
      </p:sp>
      <p:pic>
        <p:nvPicPr>
          <p:cNvPr id="7" name="Imagen 6">
            <a:extLst>
              <a:ext uri="{FF2B5EF4-FFF2-40B4-BE49-F238E27FC236}">
                <a16:creationId xmlns:a16="http://schemas.microsoft.com/office/drawing/2014/main" id="{1C3CDC52-B790-4DD6-AA81-CCD3DBFD455C}"/>
              </a:ext>
            </a:extLst>
          </p:cNvPr>
          <p:cNvPicPr>
            <a:picLocks noChangeAspect="1"/>
          </p:cNvPicPr>
          <p:nvPr/>
        </p:nvPicPr>
        <p:blipFill>
          <a:blip r:embed="rId2"/>
          <a:stretch>
            <a:fillRect/>
          </a:stretch>
        </p:blipFill>
        <p:spPr>
          <a:xfrm>
            <a:off x="5254649" y="1730594"/>
            <a:ext cx="6011114" cy="3134162"/>
          </a:xfrm>
          <a:prstGeom prst="rect">
            <a:avLst/>
          </a:prstGeom>
        </p:spPr>
      </p:pic>
    </p:spTree>
    <p:extLst>
      <p:ext uri="{BB962C8B-B14F-4D97-AF65-F5344CB8AC3E}">
        <p14:creationId xmlns:p14="http://schemas.microsoft.com/office/powerpoint/2010/main" val="601930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19</a:t>
            </a:fld>
            <a:endParaRPr lang="es-EC"/>
          </a:p>
        </p:txBody>
      </p:sp>
      <p:pic>
        <p:nvPicPr>
          <p:cNvPr id="18" name="Imagen 17">
            <a:extLst>
              <a:ext uri="{FF2B5EF4-FFF2-40B4-BE49-F238E27FC236}">
                <a16:creationId xmlns:a16="http://schemas.microsoft.com/office/drawing/2014/main" id="{0B9C0F29-CFBA-432B-B2FA-B7C9BA868B4B}"/>
              </a:ext>
            </a:extLst>
          </p:cNvPr>
          <p:cNvPicPr>
            <a:picLocks noChangeAspect="1"/>
          </p:cNvPicPr>
          <p:nvPr/>
        </p:nvPicPr>
        <p:blipFill rotWithShape="1">
          <a:blip r:embed="rId2"/>
          <a:srcRect t="983" b="1307"/>
          <a:stretch/>
        </p:blipFill>
        <p:spPr>
          <a:xfrm>
            <a:off x="2712720" y="274320"/>
            <a:ext cx="6868159" cy="6197600"/>
          </a:xfrm>
          <a:prstGeom prst="rect">
            <a:avLst/>
          </a:prstGeom>
        </p:spPr>
      </p:pic>
    </p:spTree>
    <p:extLst>
      <p:ext uri="{BB962C8B-B14F-4D97-AF65-F5344CB8AC3E}">
        <p14:creationId xmlns:p14="http://schemas.microsoft.com/office/powerpoint/2010/main" val="23545017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4398307"/>
            <a:ext cx="10972800" cy="1600200"/>
          </a:xfrm>
          <a:ln>
            <a:solidFill>
              <a:schemeClr val="bg1"/>
            </a:solidFill>
          </a:ln>
        </p:spPr>
        <p:txBody>
          <a:bodyPr/>
          <a:lstStyle/>
          <a:p>
            <a:r>
              <a:rPr lang="es-MX" sz="3600" b="1" dirty="0"/>
              <a:t>Caso de Estudio : Análisis de Números Palíndromos </a:t>
            </a:r>
            <a:br>
              <a:rPr lang="es-MX" sz="5400" b="1" dirty="0">
                <a:solidFill>
                  <a:srgbClr val="FF0000"/>
                </a:solidFill>
              </a:rPr>
            </a:b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656189" y="1730594"/>
            <a:ext cx="3211645" cy="1980794"/>
          </a:xfrm>
        </p:spPr>
        <p:txBody>
          <a:bodyPr>
            <a:normAutofit fontScale="70000" lnSpcReduction="20000"/>
          </a:bodyPr>
          <a:lstStyle/>
          <a:p>
            <a:pPr marL="0" indent="0">
              <a:buNone/>
            </a:pPr>
            <a:r>
              <a:rPr lang="es-MX" sz="2000" dirty="0"/>
              <a:t>D) Implementación </a:t>
            </a:r>
          </a:p>
          <a:p>
            <a:pPr marL="0" indent="0">
              <a:buNone/>
            </a:pPr>
            <a:endParaRPr lang="es-MX" sz="2000" dirty="0"/>
          </a:p>
          <a:p>
            <a:pPr marL="0" indent="0">
              <a:buNone/>
            </a:pPr>
            <a:r>
              <a:rPr lang="es-MX" sz="2000" dirty="0"/>
              <a:t>Para implementar la solución, se debe escribir el algoritmo como un programa de C/C++ que contenga toda la información necesaria para completar la traducción a lenguaje máquina. En la Tabla 4.4.1 se muestra el código del programa en C/C++.</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20</a:t>
            </a:fld>
            <a:endParaRPr lang="es-EC"/>
          </a:p>
        </p:txBody>
      </p:sp>
      <p:pic>
        <p:nvPicPr>
          <p:cNvPr id="8" name="Imagen 7">
            <a:extLst>
              <a:ext uri="{FF2B5EF4-FFF2-40B4-BE49-F238E27FC236}">
                <a16:creationId xmlns:a16="http://schemas.microsoft.com/office/drawing/2014/main" id="{282FD235-7593-44F8-83EC-0303252B72B1}"/>
              </a:ext>
            </a:extLst>
          </p:cNvPr>
          <p:cNvPicPr>
            <a:picLocks noChangeAspect="1"/>
          </p:cNvPicPr>
          <p:nvPr/>
        </p:nvPicPr>
        <p:blipFill rotWithShape="1">
          <a:blip r:embed="rId2"/>
          <a:srcRect t="3925" b="-1"/>
          <a:stretch/>
        </p:blipFill>
        <p:spPr>
          <a:xfrm>
            <a:off x="5299822" y="1981200"/>
            <a:ext cx="5022737" cy="2631440"/>
          </a:xfrm>
          <a:prstGeom prst="rect">
            <a:avLst/>
          </a:prstGeom>
        </p:spPr>
      </p:pic>
    </p:spTree>
    <p:extLst>
      <p:ext uri="{BB962C8B-B14F-4D97-AF65-F5344CB8AC3E}">
        <p14:creationId xmlns:p14="http://schemas.microsoft.com/office/powerpoint/2010/main" val="21941345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4398307"/>
            <a:ext cx="10972800" cy="1600200"/>
          </a:xfrm>
          <a:ln>
            <a:solidFill>
              <a:schemeClr val="bg1"/>
            </a:solidFill>
          </a:ln>
        </p:spPr>
        <p:txBody>
          <a:bodyPr/>
          <a:lstStyle/>
          <a:p>
            <a:r>
              <a:rPr lang="es-MX" sz="3600" b="1" dirty="0"/>
              <a:t>Caso de Estudio : Análisis de Números Palíndromos </a:t>
            </a:r>
            <a:br>
              <a:rPr lang="es-MX" sz="5400" b="1" dirty="0">
                <a:solidFill>
                  <a:srgbClr val="FF0000"/>
                </a:solidFill>
              </a:rPr>
            </a:b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656189" y="1730594"/>
            <a:ext cx="3211645" cy="4395886"/>
          </a:xfrm>
        </p:spPr>
        <p:txBody>
          <a:bodyPr>
            <a:normAutofit fontScale="85000" lnSpcReduction="20000"/>
          </a:bodyPr>
          <a:lstStyle/>
          <a:p>
            <a:pPr marL="0" indent="0">
              <a:buNone/>
            </a:pPr>
            <a:r>
              <a:rPr lang="es-MX" sz="2000" dirty="0"/>
              <a:t>E) Pruebas </a:t>
            </a:r>
          </a:p>
          <a:p>
            <a:pPr marL="0" indent="0">
              <a:buNone/>
            </a:pPr>
            <a:r>
              <a:rPr lang="es-MX" sz="2000" dirty="0"/>
              <a:t>En la Tabla 4.4.2, se muestra un ejemplo de la salida del programa, donde se puede ver que los resultados del programa tienen sentido, comparando estos resultados con los datos devueltos por una calculadora. En la salida de la Tabla 4.4.2 se puede ver que, al ingresar el número 55555, el programa indica que este número tiene 5 cifras decimales. Luego, se obtiene el número invertido que en este caso resulta ser el mismo número, y por lo tanto el número ingresado es palíndromo. </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21</a:t>
            </a:fld>
            <a:endParaRPr lang="es-EC"/>
          </a:p>
        </p:txBody>
      </p:sp>
      <p:sp>
        <p:nvSpPr>
          <p:cNvPr id="9" name="CuadroTexto 8">
            <a:extLst>
              <a:ext uri="{FF2B5EF4-FFF2-40B4-BE49-F238E27FC236}">
                <a16:creationId xmlns:a16="http://schemas.microsoft.com/office/drawing/2014/main" id="{27B745AD-1257-42A4-83B6-BA8F77B676D8}"/>
              </a:ext>
            </a:extLst>
          </p:cNvPr>
          <p:cNvSpPr txBox="1"/>
          <p:nvPr/>
        </p:nvSpPr>
        <p:spPr>
          <a:xfrm>
            <a:off x="5274158" y="3751976"/>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del Programa  2.2.2</a:t>
            </a:r>
            <a:r>
              <a:rPr lang="es-ES" sz="1200" dirty="0">
                <a:solidFill>
                  <a:schemeClr val="tx1">
                    <a:lumMod val="50000"/>
                    <a:lumOff val="50000"/>
                  </a:schemeClr>
                </a:solidFill>
                <a:latin typeface="+mj-lt"/>
              </a:rPr>
              <a:t> Ejecución del Programa Caso de Estudio.</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pic>
        <p:nvPicPr>
          <p:cNvPr id="11" name="Imagen 10">
            <a:extLst>
              <a:ext uri="{FF2B5EF4-FFF2-40B4-BE49-F238E27FC236}">
                <a16:creationId xmlns:a16="http://schemas.microsoft.com/office/drawing/2014/main" id="{D5C3B1B0-5F82-47EE-9C3E-F765BAF72D39}"/>
              </a:ext>
            </a:extLst>
          </p:cNvPr>
          <p:cNvPicPr>
            <a:picLocks noChangeAspect="1"/>
          </p:cNvPicPr>
          <p:nvPr/>
        </p:nvPicPr>
        <p:blipFill>
          <a:blip r:embed="rId2"/>
          <a:stretch>
            <a:fillRect/>
          </a:stretch>
        </p:blipFill>
        <p:spPr>
          <a:xfrm>
            <a:off x="5365598" y="1902074"/>
            <a:ext cx="4143037" cy="1641036"/>
          </a:xfrm>
          <a:prstGeom prst="rect">
            <a:avLst/>
          </a:prstGeom>
        </p:spPr>
      </p:pic>
    </p:spTree>
    <p:extLst>
      <p:ext uri="{BB962C8B-B14F-4D97-AF65-F5344CB8AC3E}">
        <p14:creationId xmlns:p14="http://schemas.microsoft.com/office/powerpoint/2010/main" val="42633539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4398307"/>
            <a:ext cx="10972800" cy="1600200"/>
          </a:xfrm>
          <a:ln>
            <a:solidFill>
              <a:schemeClr val="bg1"/>
            </a:solidFill>
          </a:ln>
        </p:spPr>
        <p:txBody>
          <a:bodyPr/>
          <a:lstStyle/>
          <a:p>
            <a:r>
              <a:rPr lang="es-MX" sz="3600" b="1" dirty="0"/>
              <a:t>Caso de Estudio : Análisis de Números Palíndromos </a:t>
            </a:r>
            <a:br>
              <a:rPr lang="es-MX" sz="5400" b="1" dirty="0">
                <a:solidFill>
                  <a:srgbClr val="FF0000"/>
                </a:solidFill>
              </a:rPr>
            </a:b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656189" y="1730594"/>
            <a:ext cx="3211645" cy="4395886"/>
          </a:xfrm>
        </p:spPr>
        <p:txBody>
          <a:bodyPr>
            <a:normAutofit/>
          </a:bodyPr>
          <a:lstStyle/>
          <a:p>
            <a:pPr marL="0" indent="0">
              <a:buNone/>
            </a:pPr>
            <a:r>
              <a:rPr lang="es-MX" sz="2000" dirty="0"/>
              <a:t>En la Tabla 4.4.3, se muestra la prueba de escritorio del primer bucle do-while() del programa que cuenta el número de cifras que tiene el número ingresado por el teclado que en este caso es el número 55555 cuyo número de cifras es 5. </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22</a:t>
            </a:fld>
            <a:endParaRPr lang="es-EC"/>
          </a:p>
        </p:txBody>
      </p:sp>
      <p:pic>
        <p:nvPicPr>
          <p:cNvPr id="7" name="Imagen 6">
            <a:extLst>
              <a:ext uri="{FF2B5EF4-FFF2-40B4-BE49-F238E27FC236}">
                <a16:creationId xmlns:a16="http://schemas.microsoft.com/office/drawing/2014/main" id="{ACD7EA88-57A4-4D25-BA12-D338FD2CC869}"/>
              </a:ext>
            </a:extLst>
          </p:cNvPr>
          <p:cNvPicPr>
            <a:picLocks noChangeAspect="1"/>
          </p:cNvPicPr>
          <p:nvPr/>
        </p:nvPicPr>
        <p:blipFill>
          <a:blip r:embed="rId2"/>
          <a:stretch>
            <a:fillRect/>
          </a:stretch>
        </p:blipFill>
        <p:spPr>
          <a:xfrm>
            <a:off x="5251867" y="1810242"/>
            <a:ext cx="5334744" cy="2460092"/>
          </a:xfrm>
          <a:prstGeom prst="rect">
            <a:avLst/>
          </a:prstGeom>
        </p:spPr>
      </p:pic>
    </p:spTree>
    <p:extLst>
      <p:ext uri="{BB962C8B-B14F-4D97-AF65-F5344CB8AC3E}">
        <p14:creationId xmlns:p14="http://schemas.microsoft.com/office/powerpoint/2010/main" val="33206391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4398307"/>
            <a:ext cx="10972800" cy="1600200"/>
          </a:xfrm>
          <a:ln>
            <a:solidFill>
              <a:schemeClr val="bg1"/>
            </a:solidFill>
          </a:ln>
        </p:spPr>
        <p:txBody>
          <a:bodyPr/>
          <a:lstStyle/>
          <a:p>
            <a:r>
              <a:rPr lang="es-MX" sz="3600" b="1" dirty="0"/>
              <a:t>Caso de Estudio : Análisis de Números Palíndromos </a:t>
            </a:r>
            <a:br>
              <a:rPr lang="es-MX" sz="5400" b="1" dirty="0">
                <a:solidFill>
                  <a:srgbClr val="FF0000"/>
                </a:solidFill>
              </a:rPr>
            </a:b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656189" y="1730594"/>
            <a:ext cx="8773749" cy="2394366"/>
          </a:xfrm>
        </p:spPr>
        <p:txBody>
          <a:bodyPr>
            <a:normAutofit fontScale="85000" lnSpcReduction="20000"/>
          </a:bodyPr>
          <a:lstStyle/>
          <a:p>
            <a:pPr marL="0" indent="0">
              <a:buNone/>
            </a:pPr>
            <a:r>
              <a:rPr lang="es-MX" sz="2000" dirty="0"/>
              <a:t>En la Tabla 4.4.4, se muestra la prueba de escritorio del segundo bucle do-while() del programa que invierte el número original que es el 55555 y se obtiene nuevamente el mismo número 55555. En cada división sucesiva el cociente de una división pasa a ser el dividendo de la siguiente división. También, se puede comprobar que el resultado de la sumatoria es el número invertido calculado mediante la suma de cada residuo multiplicado por una potencia de diez comenzando con la potencia igual al número de cifras menos uno hasta llegar al valor de cero. Finalmente, la ejecución de la sentencia do-while() termina cuando la condición del bucle se hace falsa. En este caso el número 55555 resulta ser palíndromo.</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23</a:t>
            </a:fld>
            <a:endParaRPr lang="es-EC"/>
          </a:p>
        </p:txBody>
      </p:sp>
      <p:pic>
        <p:nvPicPr>
          <p:cNvPr id="8" name="Imagen 7">
            <a:extLst>
              <a:ext uri="{FF2B5EF4-FFF2-40B4-BE49-F238E27FC236}">
                <a16:creationId xmlns:a16="http://schemas.microsoft.com/office/drawing/2014/main" id="{507E6BFA-252B-41AA-9BAD-9A4AFEAE9B64}"/>
              </a:ext>
            </a:extLst>
          </p:cNvPr>
          <p:cNvPicPr>
            <a:picLocks noChangeAspect="1"/>
          </p:cNvPicPr>
          <p:nvPr/>
        </p:nvPicPr>
        <p:blipFill>
          <a:blip r:embed="rId2"/>
          <a:stretch>
            <a:fillRect/>
          </a:stretch>
        </p:blipFill>
        <p:spPr>
          <a:xfrm>
            <a:off x="1577045" y="3931294"/>
            <a:ext cx="8773749" cy="2067213"/>
          </a:xfrm>
          <a:prstGeom prst="rect">
            <a:avLst/>
          </a:prstGeom>
        </p:spPr>
      </p:pic>
    </p:spTree>
    <p:extLst>
      <p:ext uri="{BB962C8B-B14F-4D97-AF65-F5344CB8AC3E}">
        <p14:creationId xmlns:p14="http://schemas.microsoft.com/office/powerpoint/2010/main" val="23513350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4398307"/>
            <a:ext cx="10972800" cy="1600200"/>
          </a:xfrm>
          <a:ln>
            <a:solidFill>
              <a:schemeClr val="bg1"/>
            </a:solidFill>
          </a:ln>
        </p:spPr>
        <p:txBody>
          <a:bodyPr/>
          <a:lstStyle/>
          <a:p>
            <a:r>
              <a:rPr lang="es-MX" sz="3600" b="1" dirty="0"/>
              <a:t>Caso de Estudio : Análisis de Números Palíndromos </a:t>
            </a:r>
            <a:br>
              <a:rPr lang="es-MX" sz="5400" b="1" dirty="0">
                <a:solidFill>
                  <a:srgbClr val="FF0000"/>
                </a:solidFill>
              </a:rPr>
            </a:b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656189" y="1730594"/>
            <a:ext cx="8773749" cy="2394366"/>
          </a:xfrm>
        </p:spPr>
        <p:txBody>
          <a:bodyPr>
            <a:normAutofit fontScale="85000" lnSpcReduction="20000"/>
          </a:bodyPr>
          <a:lstStyle/>
          <a:p>
            <a:pPr marL="0" indent="0">
              <a:buNone/>
            </a:pPr>
            <a:r>
              <a:rPr lang="es-MX" sz="2000" dirty="0"/>
              <a:t>En la Tabla 4.4.4, se muestra la prueba de escritorio del segundo bucle do-while() del programa que invierte el número original que es el 55555 y se obtiene nuevamente el mismo número 55555. En cada división sucesiva el cociente de una división pasa a ser el dividendo de la siguiente división. También, se puede comprobar que el resultado de la sumatoria es el número invertido calculado mediante la suma de cada residuo multiplicado por una potencia de diez comenzando con la potencia igual al número de cifras menos uno hasta llegar al valor de cero. Finalmente, la ejecución de la sentencia do-while() termina cuando la condición del bucle se hace falsa. En este caso el número 55555 resulta ser palíndromo.</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24</a:t>
            </a:fld>
            <a:endParaRPr lang="es-EC"/>
          </a:p>
        </p:txBody>
      </p:sp>
      <p:sp>
        <p:nvSpPr>
          <p:cNvPr id="7" name="CuadroTexto 6">
            <a:extLst>
              <a:ext uri="{FF2B5EF4-FFF2-40B4-BE49-F238E27FC236}">
                <a16:creationId xmlns:a16="http://schemas.microsoft.com/office/drawing/2014/main" id="{3F5AD8C9-BBB9-4F17-AB0B-7E06A44073F8}"/>
              </a:ext>
            </a:extLst>
          </p:cNvPr>
          <p:cNvSpPr txBox="1"/>
          <p:nvPr/>
        </p:nvSpPr>
        <p:spPr>
          <a:xfrm>
            <a:off x="1860398" y="6075145"/>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del Programa  4.4.5</a:t>
            </a:r>
            <a:r>
              <a:rPr lang="es-ES" sz="1200" dirty="0">
                <a:solidFill>
                  <a:schemeClr val="tx1">
                    <a:lumMod val="50000"/>
                    <a:lumOff val="50000"/>
                  </a:schemeClr>
                </a:solidFill>
                <a:latin typeface="+mj-lt"/>
              </a:rPr>
              <a:t> Ejecución del Programa Caso de Estudio.</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pic>
        <p:nvPicPr>
          <p:cNvPr id="9" name="Imagen 8">
            <a:extLst>
              <a:ext uri="{FF2B5EF4-FFF2-40B4-BE49-F238E27FC236}">
                <a16:creationId xmlns:a16="http://schemas.microsoft.com/office/drawing/2014/main" id="{A1FA1EC8-4DAB-457A-9F61-798E96C06DE1}"/>
              </a:ext>
            </a:extLst>
          </p:cNvPr>
          <p:cNvPicPr>
            <a:picLocks noChangeAspect="1"/>
          </p:cNvPicPr>
          <p:nvPr/>
        </p:nvPicPr>
        <p:blipFill>
          <a:blip r:embed="rId2"/>
          <a:stretch>
            <a:fillRect/>
          </a:stretch>
        </p:blipFill>
        <p:spPr>
          <a:xfrm>
            <a:off x="1860398" y="4201598"/>
            <a:ext cx="5182323" cy="1514686"/>
          </a:xfrm>
          <a:prstGeom prst="rect">
            <a:avLst/>
          </a:prstGeom>
        </p:spPr>
      </p:pic>
    </p:spTree>
    <p:extLst>
      <p:ext uri="{BB962C8B-B14F-4D97-AF65-F5344CB8AC3E}">
        <p14:creationId xmlns:p14="http://schemas.microsoft.com/office/powerpoint/2010/main" val="25438714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4398307"/>
            <a:ext cx="10972800" cy="1600200"/>
          </a:xfrm>
          <a:ln>
            <a:solidFill>
              <a:schemeClr val="bg1"/>
            </a:solidFill>
          </a:ln>
        </p:spPr>
        <p:txBody>
          <a:bodyPr/>
          <a:lstStyle/>
          <a:p>
            <a:r>
              <a:rPr lang="es-MX" sz="3600" b="1" dirty="0"/>
              <a:t>Caso de Estudio : Análisis de Números Palíndromos </a:t>
            </a:r>
            <a:br>
              <a:rPr lang="es-MX" sz="5400" b="1" dirty="0">
                <a:solidFill>
                  <a:srgbClr val="FF0000"/>
                </a:solidFill>
              </a:rPr>
            </a:b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656189" y="1730594"/>
            <a:ext cx="3211645" cy="4395886"/>
          </a:xfrm>
        </p:spPr>
        <p:txBody>
          <a:bodyPr>
            <a:normAutofit/>
          </a:bodyPr>
          <a:lstStyle/>
          <a:p>
            <a:pPr marL="0" indent="0">
              <a:buNone/>
            </a:pPr>
            <a:r>
              <a:rPr lang="es-MX" sz="2000" dirty="0"/>
              <a:t>En la Tabla 4.4.6, se muestra la prueba de escritorio del primer bucle do-while() del programa que cuenta el número de cifras que tiene el número ingresado por el teclado que en este caso es el número 1234 cuyo número de cifras es 4. </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25</a:t>
            </a:fld>
            <a:endParaRPr lang="es-EC"/>
          </a:p>
        </p:txBody>
      </p:sp>
      <p:pic>
        <p:nvPicPr>
          <p:cNvPr id="8" name="Imagen 7">
            <a:extLst>
              <a:ext uri="{FF2B5EF4-FFF2-40B4-BE49-F238E27FC236}">
                <a16:creationId xmlns:a16="http://schemas.microsoft.com/office/drawing/2014/main" id="{0A074063-B7C8-4017-B5CA-3732DAB35DF2}"/>
              </a:ext>
            </a:extLst>
          </p:cNvPr>
          <p:cNvPicPr>
            <a:picLocks noChangeAspect="1"/>
          </p:cNvPicPr>
          <p:nvPr/>
        </p:nvPicPr>
        <p:blipFill>
          <a:blip r:embed="rId2"/>
          <a:stretch>
            <a:fillRect/>
          </a:stretch>
        </p:blipFill>
        <p:spPr>
          <a:xfrm>
            <a:off x="5116170" y="2009028"/>
            <a:ext cx="4906060" cy="1600423"/>
          </a:xfrm>
          <a:prstGeom prst="rect">
            <a:avLst/>
          </a:prstGeom>
        </p:spPr>
      </p:pic>
    </p:spTree>
    <p:extLst>
      <p:ext uri="{BB962C8B-B14F-4D97-AF65-F5344CB8AC3E}">
        <p14:creationId xmlns:p14="http://schemas.microsoft.com/office/powerpoint/2010/main" val="4262156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4398307"/>
            <a:ext cx="10972800" cy="1600200"/>
          </a:xfrm>
          <a:ln>
            <a:solidFill>
              <a:schemeClr val="bg1"/>
            </a:solidFill>
          </a:ln>
        </p:spPr>
        <p:txBody>
          <a:bodyPr/>
          <a:lstStyle/>
          <a:p>
            <a:r>
              <a:rPr lang="es-MX" sz="3600" b="1" dirty="0"/>
              <a:t>Caso de Estudio : Análisis de Números Palíndromos </a:t>
            </a:r>
            <a:br>
              <a:rPr lang="es-MX" sz="5400" b="1" dirty="0">
                <a:solidFill>
                  <a:srgbClr val="FF0000"/>
                </a:solidFill>
              </a:rPr>
            </a:b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656189" y="1730594"/>
            <a:ext cx="9062611" cy="1848108"/>
          </a:xfrm>
        </p:spPr>
        <p:txBody>
          <a:bodyPr>
            <a:normAutofit fontScale="77500" lnSpcReduction="20000"/>
          </a:bodyPr>
          <a:lstStyle/>
          <a:p>
            <a:pPr marL="0" indent="0">
              <a:buNone/>
            </a:pPr>
            <a:r>
              <a:rPr lang="es-MX" sz="2000" dirty="0"/>
              <a:t>En la Tabla 4.4.7, se muestra la prueba de escritorio del segundo bucle do-while() del programa que invierte el número original que es el número 1234 y se obtiene el número invertido 4321. En cada división sucesiva el cociente de una división pasa a ser el dividendo de la siguiente división. También, se puede comprobar que el resultado de la sumatoria es el número invertido calculado mediante la suma de cada residuo multiplicado por una potencia de diez comenzando con la potencia igual al número de cifras menos uno hasta llegar al valor de cero. Finalmente, la ejecución de la sentencia do-while() termina cuando la condición del bucle se hace falsa. En este caso el número 1234 resulta no ser palíndromo.</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26</a:t>
            </a:fld>
            <a:endParaRPr lang="es-EC"/>
          </a:p>
        </p:txBody>
      </p:sp>
      <p:pic>
        <p:nvPicPr>
          <p:cNvPr id="7" name="Imagen 6">
            <a:extLst>
              <a:ext uri="{FF2B5EF4-FFF2-40B4-BE49-F238E27FC236}">
                <a16:creationId xmlns:a16="http://schemas.microsoft.com/office/drawing/2014/main" id="{B7E9E183-5EC2-4C9B-9C23-F2666BF98C61}"/>
              </a:ext>
            </a:extLst>
          </p:cNvPr>
          <p:cNvPicPr>
            <a:picLocks noChangeAspect="1"/>
          </p:cNvPicPr>
          <p:nvPr/>
        </p:nvPicPr>
        <p:blipFill>
          <a:blip r:embed="rId2"/>
          <a:stretch>
            <a:fillRect/>
          </a:stretch>
        </p:blipFill>
        <p:spPr>
          <a:xfrm>
            <a:off x="1656189" y="3711340"/>
            <a:ext cx="8002117" cy="1848108"/>
          </a:xfrm>
          <a:prstGeom prst="rect">
            <a:avLst/>
          </a:prstGeom>
        </p:spPr>
      </p:pic>
    </p:spTree>
    <p:extLst>
      <p:ext uri="{BB962C8B-B14F-4D97-AF65-F5344CB8AC3E}">
        <p14:creationId xmlns:p14="http://schemas.microsoft.com/office/powerpoint/2010/main" val="25575033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524001" y="-1"/>
            <a:ext cx="9105252" cy="954107"/>
          </a:xfrm>
        </p:spPr>
        <p:txBody>
          <a:bodyPr/>
          <a:lstStyle/>
          <a:p>
            <a:r>
              <a:rPr lang="es-ES" sz="4800" b="1" dirty="0"/>
              <a:t>Pensamiento</a:t>
            </a:r>
            <a:endParaRPr lang="en-US" sz="4800" b="1" dirty="0"/>
          </a:p>
        </p:txBody>
      </p:sp>
      <p:sp>
        <p:nvSpPr>
          <p:cNvPr id="5" name="4 Marcador de contenido"/>
          <p:cNvSpPr>
            <a:spLocks noGrp="1"/>
          </p:cNvSpPr>
          <p:nvPr>
            <p:ph idx="1"/>
          </p:nvPr>
        </p:nvSpPr>
        <p:spPr>
          <a:xfrm>
            <a:off x="1630385" y="3004126"/>
            <a:ext cx="4755908" cy="2459009"/>
          </a:xfrm>
        </p:spPr>
        <p:txBody>
          <a:bodyPr>
            <a:normAutofit/>
          </a:bodyPr>
          <a:lstStyle/>
          <a:p>
            <a:r>
              <a:rPr lang="es-EC" b="1" dirty="0"/>
              <a:t>“</a:t>
            </a:r>
            <a:r>
              <a:rPr lang="es-ES" b="1" dirty="0"/>
              <a:t>Todo el mundo debería saber programar”</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2/12/2025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27</a:t>
            </a:fld>
            <a:endParaRPr lang="es-EC"/>
          </a:p>
        </p:txBody>
      </p:sp>
      <p:sp>
        <p:nvSpPr>
          <p:cNvPr id="8" name="7 CuadroTexto"/>
          <p:cNvSpPr txBox="1"/>
          <p:nvPr/>
        </p:nvSpPr>
        <p:spPr>
          <a:xfrm>
            <a:off x="1630385" y="1587689"/>
            <a:ext cx="9241702" cy="523220"/>
          </a:xfrm>
          <a:prstGeom prst="rect">
            <a:avLst/>
          </a:prstGeom>
          <a:noFill/>
        </p:spPr>
        <p:txBody>
          <a:bodyPr wrap="square" rtlCol="0">
            <a:spAutoFit/>
          </a:bodyPr>
          <a:lstStyle/>
          <a:p>
            <a:r>
              <a:rPr lang="es-EC" sz="2800" dirty="0">
                <a:solidFill>
                  <a:schemeClr val="bg1">
                    <a:lumMod val="50000"/>
                  </a:schemeClr>
                </a:solidFill>
              </a:rPr>
              <a:t>Científico de la Computación</a:t>
            </a:r>
          </a:p>
        </p:txBody>
      </p:sp>
      <p:sp>
        <p:nvSpPr>
          <p:cNvPr id="9" name="12 CuadroTexto"/>
          <p:cNvSpPr txBox="1"/>
          <p:nvPr/>
        </p:nvSpPr>
        <p:spPr>
          <a:xfrm>
            <a:off x="6096000" y="5105588"/>
            <a:ext cx="4264624" cy="646331"/>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32. </a:t>
            </a:r>
            <a:r>
              <a:rPr lang="es-EC" sz="1200" dirty="0">
                <a:solidFill>
                  <a:schemeClr val="tx1">
                    <a:lumMod val="50000"/>
                    <a:lumOff val="50000"/>
                  </a:schemeClr>
                </a:solidFill>
                <a:latin typeface="+mj-lt"/>
              </a:rPr>
              <a:t>Universidad de las Fuerzas Armadas - ESPE</a:t>
            </a:r>
            <a:r>
              <a:rPr lang="es-ES_tradnl" sz="1200" dirty="0">
                <a:solidFill>
                  <a:schemeClr val="tx1">
                    <a:lumMod val="50000"/>
                    <a:lumOff val="50000"/>
                  </a:schemeClr>
                </a:solidFill>
                <a:latin typeface="+mj-lt"/>
              </a:rPr>
              <a:t>. </a:t>
            </a:r>
          </a:p>
          <a:p>
            <a:r>
              <a:rPr lang="es-ES_tradnl" sz="1200" dirty="0">
                <a:solidFill>
                  <a:schemeClr val="tx1">
                    <a:lumMod val="50000"/>
                    <a:lumOff val="50000"/>
                  </a:schemeClr>
                </a:solidFill>
                <a:latin typeface="+mj-lt"/>
              </a:rPr>
              <a:t>Fuente: https://economipedia.com/definiciones/steve-jobs.html</a:t>
            </a:r>
            <a:endParaRPr lang="es-EC" sz="1200" dirty="0">
              <a:solidFill>
                <a:schemeClr val="tx1">
                  <a:lumMod val="50000"/>
                  <a:lumOff val="50000"/>
                </a:schemeClr>
              </a:solidFill>
              <a:latin typeface="+mj-lt"/>
            </a:endParaRPr>
          </a:p>
        </p:txBody>
      </p:sp>
      <p:pic>
        <p:nvPicPr>
          <p:cNvPr id="10" name="Imagen 9">
            <a:extLst>
              <a:ext uri="{FF2B5EF4-FFF2-40B4-BE49-F238E27FC236}">
                <a16:creationId xmlns:a16="http://schemas.microsoft.com/office/drawing/2014/main" id="{F0B58358-E067-4062-8B4C-9A21F6554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0878" y="2222286"/>
            <a:ext cx="4232938" cy="2638134"/>
          </a:xfrm>
          <a:prstGeom prst="rect">
            <a:avLst/>
          </a:prstGeom>
        </p:spPr>
      </p:pic>
    </p:spTree>
    <p:extLst>
      <p:ext uri="{BB962C8B-B14F-4D97-AF65-F5344CB8AC3E}">
        <p14:creationId xmlns:p14="http://schemas.microsoft.com/office/powerpoint/2010/main" val="10817259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63552" y="2060848"/>
            <a:ext cx="8229600" cy="836712"/>
          </a:xfrm>
        </p:spPr>
        <p:txBody>
          <a:bodyPr/>
          <a:lstStyle/>
          <a:p>
            <a:r>
              <a:rPr lang="en-US" b="1" dirty="0"/>
              <a:t>¿</a:t>
            </a:r>
            <a:r>
              <a:rPr lang="en-US" b="1" dirty="0" err="1"/>
              <a:t>Preguntas</a:t>
            </a:r>
            <a:r>
              <a:rPr lang="en-US" b="1" dirty="0"/>
              <a:t>?</a:t>
            </a:r>
          </a:p>
        </p:txBody>
      </p:sp>
      <p:sp>
        <p:nvSpPr>
          <p:cNvPr id="5" name="4 Marcador de contenido"/>
          <p:cNvSpPr>
            <a:spLocks noGrp="1"/>
          </p:cNvSpPr>
          <p:nvPr>
            <p:ph idx="1"/>
          </p:nvPr>
        </p:nvSpPr>
        <p:spPr>
          <a:xfrm>
            <a:off x="4295800" y="3501008"/>
            <a:ext cx="5760640" cy="792088"/>
          </a:xfrm>
        </p:spPr>
        <p:txBody>
          <a:bodyPr>
            <a:normAutofit/>
          </a:bodyPr>
          <a:lstStyle/>
          <a:p>
            <a:pPr marL="0" indent="0">
              <a:buNone/>
            </a:pPr>
            <a:r>
              <a:rPr lang="es-EC" sz="4000" dirty="0"/>
              <a:t>!Gracias!</a:t>
            </a:r>
          </a:p>
        </p:txBody>
      </p:sp>
      <p:sp>
        <p:nvSpPr>
          <p:cNvPr id="3" name="2 Marcador de fecha"/>
          <p:cNvSpPr>
            <a:spLocks noGrp="1"/>
          </p:cNvSpPr>
          <p:nvPr>
            <p:ph type="dt" sz="half" idx="10"/>
          </p:nvPr>
        </p:nvSpPr>
        <p:spPr/>
        <p:txBody>
          <a:bodyPr/>
          <a:lstStyle/>
          <a:p>
            <a:fld id="{EA350481-F057-463F-9522-14A55A4D5C62}" type="datetime1">
              <a:rPr lang="es-EC" smtClean="0"/>
              <a:t>2/12/2025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28</a:t>
            </a:fld>
            <a:endParaRPr lang="es-EC"/>
          </a:p>
        </p:txBody>
      </p:sp>
    </p:spTree>
    <p:extLst>
      <p:ext uri="{BB962C8B-B14F-4D97-AF65-F5344CB8AC3E}">
        <p14:creationId xmlns:p14="http://schemas.microsoft.com/office/powerpoint/2010/main" val="109347128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jecutivo">
  <a:themeElements>
    <a:clrScheme name="Ejecutivo">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jecutiv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jecutiv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7270</TotalTime>
  <Words>2228</Words>
  <Application>Microsoft Office PowerPoint</Application>
  <PresentationFormat>Panorámica</PresentationFormat>
  <Paragraphs>153</Paragraphs>
  <Slides>28</Slides>
  <Notes>1</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28</vt:i4>
      </vt:variant>
    </vt:vector>
  </HeadingPairs>
  <TitlesOfParts>
    <vt:vector size="36" baseType="lpstr">
      <vt:lpstr>Arial</vt:lpstr>
      <vt:lpstr>Calibri</vt:lpstr>
      <vt:lpstr>Calibri Light</vt:lpstr>
      <vt:lpstr>Century Gothic</vt:lpstr>
      <vt:lpstr>Courier New</vt:lpstr>
      <vt:lpstr>Palatino Linotype</vt:lpstr>
      <vt:lpstr>Tema de Office</vt:lpstr>
      <vt:lpstr>Ejecutivo</vt:lpstr>
      <vt:lpstr>Presentación de PowerPoint</vt:lpstr>
      <vt:lpstr>Contenido</vt:lpstr>
      <vt:lpstr>La sentencia do-while      </vt:lpstr>
      <vt:lpstr>La sentencia do-while      </vt:lpstr>
      <vt:lpstr>La sentencia do-while      </vt:lpstr>
      <vt:lpstr>Contenido</vt:lpstr>
      <vt:lpstr>Problema 4.5: (Aplicación de la sentencia do-while como un bucle ascendente)       </vt:lpstr>
      <vt:lpstr>Problema 4.5: (Aplicación de la sentencia do-while como un bucle ascendente)       </vt:lpstr>
      <vt:lpstr>Problema 4.5: (Aplicación de la sentencia do-while como un bucle ascendente)       </vt:lpstr>
      <vt:lpstr>Problema 4.5: (Aplicación de la sentencia do-while como un bucle ascendente)       </vt:lpstr>
      <vt:lpstr>Contenido</vt:lpstr>
      <vt:lpstr>Caso de Estudio : Análisis de Números Palíndromos        </vt:lpstr>
      <vt:lpstr>Caso de Estudio : Análisis de Números Palíndromos        </vt:lpstr>
      <vt:lpstr>Caso de Estudio : Análisis de Números Palíndromos        </vt:lpstr>
      <vt:lpstr>Caso de Estudio : Análisis de Números Palíndromos        </vt:lpstr>
      <vt:lpstr>Caso de Estudio : Análisis de Números Palíndromos        </vt:lpstr>
      <vt:lpstr>Caso de Estudio : Análisis de Números Palíndromos        </vt:lpstr>
      <vt:lpstr>Caso de Estudio : Análisis de Números Palíndromos        </vt:lpstr>
      <vt:lpstr>Presentación de PowerPoint</vt:lpstr>
      <vt:lpstr>Caso de Estudio : Análisis de Números Palíndromos        </vt:lpstr>
      <vt:lpstr>Caso de Estudio : Análisis de Números Palíndromos        </vt:lpstr>
      <vt:lpstr>Caso de Estudio : Análisis de Números Palíndromos        </vt:lpstr>
      <vt:lpstr>Caso de Estudio : Análisis de Números Palíndromos        </vt:lpstr>
      <vt:lpstr>Caso de Estudio : Análisis de Números Palíndromos        </vt:lpstr>
      <vt:lpstr>Caso de Estudio : Análisis de Números Palíndromos        </vt:lpstr>
      <vt:lpstr>Caso de Estudio : Análisis de Números Palíndromos        </vt:lpstr>
      <vt:lpstr>Pensamiento</vt:lpstr>
      <vt:lpstr>¿Preguntas?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dc:creator>
  <cp:lastModifiedBy>HP</cp:lastModifiedBy>
  <cp:revision>13</cp:revision>
  <dcterms:created xsi:type="dcterms:W3CDTF">2025-10-07T22:49:11Z</dcterms:created>
  <dcterms:modified xsi:type="dcterms:W3CDTF">2025-12-03T04:48:09Z</dcterms:modified>
</cp:coreProperties>
</file>