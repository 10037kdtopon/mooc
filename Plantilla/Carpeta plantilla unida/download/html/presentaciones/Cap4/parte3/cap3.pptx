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1"/>
  </p:notesMasterIdLst>
  <p:sldIdLst>
    <p:sldId id="311" r:id="rId3"/>
    <p:sldId id="257" r:id="rId4"/>
    <p:sldId id="560" r:id="rId5"/>
    <p:sldId id="614" r:id="rId6"/>
    <p:sldId id="616" r:id="rId7"/>
    <p:sldId id="617" r:id="rId8"/>
    <p:sldId id="618" r:id="rId9"/>
    <p:sldId id="619" r:id="rId10"/>
    <p:sldId id="620" r:id="rId11"/>
    <p:sldId id="623" r:id="rId12"/>
    <p:sldId id="621" r:id="rId13"/>
    <p:sldId id="622" r:id="rId14"/>
    <p:sldId id="624" r:id="rId15"/>
    <p:sldId id="625" r:id="rId16"/>
    <p:sldId id="628" r:id="rId17"/>
    <p:sldId id="626" r:id="rId18"/>
    <p:sldId id="627" r:id="rId19"/>
    <p:sldId id="629" r:id="rId20"/>
    <p:sldId id="630" r:id="rId21"/>
    <p:sldId id="631" r:id="rId22"/>
    <p:sldId id="632" r:id="rId23"/>
    <p:sldId id="633" r:id="rId24"/>
    <p:sldId id="634" r:id="rId25"/>
    <p:sldId id="635" r:id="rId26"/>
    <p:sldId id="636" r:id="rId27"/>
    <p:sldId id="638" r:id="rId28"/>
    <p:sldId id="393" r:id="rId29"/>
    <p:sldId id="275" r:id="rId30"/>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P" initials="H" lastIdx="1" clrIdx="0">
    <p:extLst>
      <p:ext uri="{19B8F6BF-5375-455C-9EA6-DF929625EA0E}">
        <p15:presenceInfo xmlns:p15="http://schemas.microsoft.com/office/powerpoint/2012/main" userId="HP"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107" autoAdjust="0"/>
    <p:restoredTop sz="94660"/>
  </p:normalViewPr>
  <p:slideViewPr>
    <p:cSldViewPr snapToGrid="0">
      <p:cViewPr>
        <p:scale>
          <a:sx n="75" d="100"/>
          <a:sy n="75" d="100"/>
        </p:scale>
        <p:origin x="1018"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C"/>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8CED94-31AE-4F5B-8709-9EE6847871F2}" type="datetimeFigureOut">
              <a:rPr lang="es-EC" smtClean="0"/>
              <a:t>2/12/2025</a:t>
            </a:fld>
            <a:endParaRPr lang="es-EC"/>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C"/>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C"/>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0BA548-DDEF-4F9F-BFB7-376C64D66F29}" type="slidenum">
              <a:rPr lang="es-EC" smtClean="0"/>
              <a:t>‹Nº›</a:t>
            </a:fld>
            <a:endParaRPr lang="es-EC"/>
          </a:p>
        </p:txBody>
      </p:sp>
    </p:spTree>
    <p:extLst>
      <p:ext uri="{BB962C8B-B14F-4D97-AF65-F5344CB8AC3E}">
        <p14:creationId xmlns:p14="http://schemas.microsoft.com/office/powerpoint/2010/main" val="1909746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C" dirty="0"/>
          </a:p>
        </p:txBody>
      </p:sp>
      <p:sp>
        <p:nvSpPr>
          <p:cNvPr id="4" name="3 Marcador de número de diapositiva"/>
          <p:cNvSpPr>
            <a:spLocks noGrp="1"/>
          </p:cNvSpPr>
          <p:nvPr>
            <p:ph type="sldNum" sz="quarter" idx="10"/>
          </p:nvPr>
        </p:nvSpPr>
        <p:spPr/>
        <p:txBody>
          <a:bodyPr/>
          <a:lstStyle/>
          <a:p>
            <a:fld id="{C8DD2930-2CA9-432A-8292-C602BD3CCB94}" type="slidenum">
              <a:rPr lang="es-EC" smtClean="0"/>
              <a:t>1</a:t>
            </a:fld>
            <a:endParaRPr lang="es-EC"/>
          </a:p>
        </p:txBody>
      </p:sp>
    </p:spTree>
    <p:extLst>
      <p:ext uri="{BB962C8B-B14F-4D97-AF65-F5344CB8AC3E}">
        <p14:creationId xmlns:p14="http://schemas.microsoft.com/office/powerpoint/2010/main" val="2391200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CC7BAC-9B27-4D41-86D4-17A64712F6C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C"/>
          </a:p>
        </p:txBody>
      </p:sp>
      <p:sp>
        <p:nvSpPr>
          <p:cNvPr id="3" name="Subtítulo 2">
            <a:extLst>
              <a:ext uri="{FF2B5EF4-FFF2-40B4-BE49-F238E27FC236}">
                <a16:creationId xmlns:a16="http://schemas.microsoft.com/office/drawing/2014/main" id="{C8696901-9D51-4ACB-9E52-138A646487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EC"/>
          </a:p>
        </p:txBody>
      </p:sp>
      <p:sp>
        <p:nvSpPr>
          <p:cNvPr id="4" name="Marcador de fecha 3">
            <a:extLst>
              <a:ext uri="{FF2B5EF4-FFF2-40B4-BE49-F238E27FC236}">
                <a16:creationId xmlns:a16="http://schemas.microsoft.com/office/drawing/2014/main" id="{A47075C9-5BD9-48BE-81D8-A5DF89ABA9B8}"/>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5" name="Marcador de pie de página 4">
            <a:extLst>
              <a:ext uri="{FF2B5EF4-FFF2-40B4-BE49-F238E27FC236}">
                <a16:creationId xmlns:a16="http://schemas.microsoft.com/office/drawing/2014/main" id="{74ECE3FF-9B3C-41FF-83A3-DC301E164E31}"/>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4098DD64-4C4C-4CF0-A1D8-548C6B219C9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4043315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8EE04A-1464-495C-AB23-285481F202B3}"/>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66481BAA-B5E0-4A42-AF73-DB64610941E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4173864D-1BB6-4970-9FB2-EB9CA1DBB023}"/>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5" name="Marcador de pie de página 4">
            <a:extLst>
              <a:ext uri="{FF2B5EF4-FFF2-40B4-BE49-F238E27FC236}">
                <a16:creationId xmlns:a16="http://schemas.microsoft.com/office/drawing/2014/main" id="{B16A309E-8B6C-45EC-B2E1-135D1A67880D}"/>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DCD73BB0-43D6-4B2D-BD1C-5F0348B12AB0}"/>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537653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F7563C-A255-4CD0-8382-6E01E1F46B6D}"/>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C9AFCB1D-B223-406D-A214-6CD8AB31E7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376DDE4-9972-40A9-A47B-3D4CBAD965FD}"/>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5" name="Marcador de pie de página 4">
            <a:extLst>
              <a:ext uri="{FF2B5EF4-FFF2-40B4-BE49-F238E27FC236}">
                <a16:creationId xmlns:a16="http://schemas.microsoft.com/office/drawing/2014/main" id="{329A76B5-F295-4F9F-80F2-EC5028095DEE}"/>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1B7B0CCA-DE77-47E7-A59A-1281E1CE2907}"/>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492325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4126A1-7217-4B36-B0F6-288496E6BCEC}"/>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4930F61E-D05E-4EBC-8B4B-561FDC242B1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contenido 3">
            <a:extLst>
              <a:ext uri="{FF2B5EF4-FFF2-40B4-BE49-F238E27FC236}">
                <a16:creationId xmlns:a16="http://schemas.microsoft.com/office/drawing/2014/main" id="{CBA476B6-B707-426F-92C5-8F60BFE3E9F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fecha 4">
            <a:extLst>
              <a:ext uri="{FF2B5EF4-FFF2-40B4-BE49-F238E27FC236}">
                <a16:creationId xmlns:a16="http://schemas.microsoft.com/office/drawing/2014/main" id="{DFA9A5C4-7E4F-4960-ADF2-B6951DA38CDA}"/>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6" name="Marcador de pie de página 5">
            <a:extLst>
              <a:ext uri="{FF2B5EF4-FFF2-40B4-BE49-F238E27FC236}">
                <a16:creationId xmlns:a16="http://schemas.microsoft.com/office/drawing/2014/main" id="{300DBC4A-7F24-4081-8A6F-9AE898709FA2}"/>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A05C1AA0-F3EF-4089-BFCB-19B079F21DDD}"/>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2255837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5B7D27-2A46-4305-8297-59313B85C53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1ED0EBF5-B590-4168-BED4-66F9256413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8D4FE9B-C326-4DC1-AB58-21F1EDC590E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texto 4">
            <a:extLst>
              <a:ext uri="{FF2B5EF4-FFF2-40B4-BE49-F238E27FC236}">
                <a16:creationId xmlns:a16="http://schemas.microsoft.com/office/drawing/2014/main" id="{912F17B3-3B22-4F98-8253-500EC862CB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3688F30-BBAE-45ED-B913-16C24B962EB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7" name="Marcador de fecha 6">
            <a:extLst>
              <a:ext uri="{FF2B5EF4-FFF2-40B4-BE49-F238E27FC236}">
                <a16:creationId xmlns:a16="http://schemas.microsoft.com/office/drawing/2014/main" id="{53A608A7-9040-40F4-B5EA-1D2D8CB7E429}"/>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8" name="Marcador de pie de página 7">
            <a:extLst>
              <a:ext uri="{FF2B5EF4-FFF2-40B4-BE49-F238E27FC236}">
                <a16:creationId xmlns:a16="http://schemas.microsoft.com/office/drawing/2014/main" id="{A7A38726-DB7C-44CF-B16C-2888FBD9D0FD}"/>
              </a:ext>
            </a:extLst>
          </p:cNvPr>
          <p:cNvSpPr>
            <a:spLocks noGrp="1"/>
          </p:cNvSpPr>
          <p:nvPr>
            <p:ph type="ftr" sz="quarter" idx="11"/>
          </p:nvPr>
        </p:nvSpPr>
        <p:spPr/>
        <p:txBody>
          <a:bodyPr/>
          <a:lstStyle/>
          <a:p>
            <a:endParaRPr lang="es-EC"/>
          </a:p>
        </p:txBody>
      </p:sp>
      <p:sp>
        <p:nvSpPr>
          <p:cNvPr id="9" name="Marcador de número de diapositiva 8">
            <a:extLst>
              <a:ext uri="{FF2B5EF4-FFF2-40B4-BE49-F238E27FC236}">
                <a16:creationId xmlns:a16="http://schemas.microsoft.com/office/drawing/2014/main" id="{690B4177-927B-4311-A099-B44A80BD63BD}"/>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723832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C0FC75-39D0-4202-A6B1-79DF445FA747}"/>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fecha 2">
            <a:extLst>
              <a:ext uri="{FF2B5EF4-FFF2-40B4-BE49-F238E27FC236}">
                <a16:creationId xmlns:a16="http://schemas.microsoft.com/office/drawing/2014/main" id="{2B9B2927-2C29-42B9-B6B7-532F994F994B}"/>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4" name="Marcador de pie de página 3">
            <a:extLst>
              <a:ext uri="{FF2B5EF4-FFF2-40B4-BE49-F238E27FC236}">
                <a16:creationId xmlns:a16="http://schemas.microsoft.com/office/drawing/2014/main" id="{D767A9B8-F1F2-48F4-8337-7213ADA9AC3E}"/>
              </a:ext>
            </a:extLst>
          </p:cNvPr>
          <p:cNvSpPr>
            <a:spLocks noGrp="1"/>
          </p:cNvSpPr>
          <p:nvPr>
            <p:ph type="ftr" sz="quarter" idx="11"/>
          </p:nvPr>
        </p:nvSpPr>
        <p:spPr/>
        <p:txBody>
          <a:bodyPr/>
          <a:lstStyle/>
          <a:p>
            <a:endParaRPr lang="es-EC"/>
          </a:p>
        </p:txBody>
      </p:sp>
      <p:sp>
        <p:nvSpPr>
          <p:cNvPr id="5" name="Marcador de número de diapositiva 4">
            <a:extLst>
              <a:ext uri="{FF2B5EF4-FFF2-40B4-BE49-F238E27FC236}">
                <a16:creationId xmlns:a16="http://schemas.microsoft.com/office/drawing/2014/main" id="{75CAA39B-47A9-42F8-AF68-918C76242128}"/>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057490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35E7371-5007-49B8-BC47-82F085CFFA87}"/>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3" name="Marcador de pie de página 2">
            <a:extLst>
              <a:ext uri="{FF2B5EF4-FFF2-40B4-BE49-F238E27FC236}">
                <a16:creationId xmlns:a16="http://schemas.microsoft.com/office/drawing/2014/main" id="{EAC35D8D-0DAD-4CED-92DE-176A44D4EFEE}"/>
              </a:ext>
            </a:extLst>
          </p:cNvPr>
          <p:cNvSpPr>
            <a:spLocks noGrp="1"/>
          </p:cNvSpPr>
          <p:nvPr>
            <p:ph type="ftr" sz="quarter" idx="11"/>
          </p:nvPr>
        </p:nvSpPr>
        <p:spPr/>
        <p:txBody>
          <a:bodyPr/>
          <a:lstStyle/>
          <a:p>
            <a:endParaRPr lang="es-EC"/>
          </a:p>
        </p:txBody>
      </p:sp>
      <p:sp>
        <p:nvSpPr>
          <p:cNvPr id="4" name="Marcador de número de diapositiva 3">
            <a:extLst>
              <a:ext uri="{FF2B5EF4-FFF2-40B4-BE49-F238E27FC236}">
                <a16:creationId xmlns:a16="http://schemas.microsoft.com/office/drawing/2014/main" id="{A79B3E97-5178-4E8E-B020-BEB305CEC7D8}"/>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35911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67FC53-94F8-46E4-BE28-1CCD91A0325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732BA8FA-B313-4758-B5BD-CFF2B223A6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texto 3">
            <a:extLst>
              <a:ext uri="{FF2B5EF4-FFF2-40B4-BE49-F238E27FC236}">
                <a16:creationId xmlns:a16="http://schemas.microsoft.com/office/drawing/2014/main" id="{8EECB238-ADE5-4692-B4CB-1954DD8682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566E361-51AF-4218-B415-4DF9B992EC29}"/>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6" name="Marcador de pie de página 5">
            <a:extLst>
              <a:ext uri="{FF2B5EF4-FFF2-40B4-BE49-F238E27FC236}">
                <a16:creationId xmlns:a16="http://schemas.microsoft.com/office/drawing/2014/main" id="{A0920A1D-C77C-46B8-A93E-1A94C322D9EA}"/>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CEB09875-3881-4056-A249-3703AD0D18B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806432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2669C0-7E62-4710-9299-9DAEA59855D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posición de imagen 2">
            <a:extLst>
              <a:ext uri="{FF2B5EF4-FFF2-40B4-BE49-F238E27FC236}">
                <a16:creationId xmlns:a16="http://schemas.microsoft.com/office/drawing/2014/main" id="{0789536F-D1A6-46F1-AAF0-27332E602B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Marcador de texto 3">
            <a:extLst>
              <a:ext uri="{FF2B5EF4-FFF2-40B4-BE49-F238E27FC236}">
                <a16:creationId xmlns:a16="http://schemas.microsoft.com/office/drawing/2014/main" id="{9E2D8E19-F8EC-41F6-822A-E695A5664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1A9895B-A707-4856-84F8-F69C2A6AC65A}"/>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6" name="Marcador de pie de página 5">
            <a:extLst>
              <a:ext uri="{FF2B5EF4-FFF2-40B4-BE49-F238E27FC236}">
                <a16:creationId xmlns:a16="http://schemas.microsoft.com/office/drawing/2014/main" id="{B2480D8A-AF65-456F-A70D-211912A4733A}"/>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3A1C41D0-AA19-4C22-B342-F300AC925266}"/>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648687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D7A592-EC17-498E-B4F1-021D1F61D61A}"/>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3A73E03F-3E04-4E93-9716-43891DFDD9E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BC9CF76E-E651-44FB-9C3E-080B77E5E504}"/>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5" name="Marcador de pie de página 4">
            <a:extLst>
              <a:ext uri="{FF2B5EF4-FFF2-40B4-BE49-F238E27FC236}">
                <a16:creationId xmlns:a16="http://schemas.microsoft.com/office/drawing/2014/main" id="{AD5F4A3C-030C-4F53-9297-A01107A128E7}"/>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107AF58D-F9FF-4406-84AD-DCDE23E7886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2871106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D8E5DA3-0A5E-4689-8CFF-0CED113D3E4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E40C7386-FCE4-40EC-9309-6F13FC22507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17D68580-0F33-46AF-AA4D-41AD3A71C69A}"/>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5" name="Marcador de pie de página 4">
            <a:extLst>
              <a:ext uri="{FF2B5EF4-FFF2-40B4-BE49-F238E27FC236}">
                <a16:creationId xmlns:a16="http://schemas.microsoft.com/office/drawing/2014/main" id="{814F2A89-7C20-4F42-B541-94E08BC476D1}"/>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6AA7B955-7AEE-4F7E-8B16-8780283F6911}"/>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767920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914400" y="609601"/>
            <a:ext cx="10363200" cy="4267200"/>
          </a:xfrm>
        </p:spPr>
        <p:txBody>
          <a:bodyPr anchor="b">
            <a:noAutofit/>
          </a:bodyPr>
          <a:lstStyle>
            <a:lvl1pPr>
              <a:lnSpc>
                <a:spcPct val="100000"/>
              </a:lnSpc>
              <a:defRPr sz="8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28800" y="4953000"/>
            <a:ext cx="85344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E7C4E607-19DA-460D-873F-2665A632EB4B}" type="datetime1">
              <a:rPr lang="es-EC" smtClean="0"/>
              <a:t>2/12/2025</a:t>
            </a:fld>
            <a:endParaRPr lang="es-EC"/>
          </a:p>
        </p:txBody>
      </p:sp>
      <p:sp>
        <p:nvSpPr>
          <p:cNvPr id="8" name="Slide Number Placeholder 7"/>
          <p:cNvSpPr>
            <a:spLocks noGrp="1"/>
          </p:cNvSpPr>
          <p:nvPr>
            <p:ph type="sldNum" sz="quarter" idx="11"/>
          </p:nvPr>
        </p:nvSpPr>
        <p:spPr/>
        <p:txBody>
          <a:bodyPr/>
          <a:lstStyle/>
          <a:p>
            <a:fld id="{14B28EB2-3408-4757-A806-361BA67028B7}" type="slidenum">
              <a:rPr lang="es-EC" smtClean="0"/>
              <a:t>‹Nº›</a:t>
            </a:fld>
            <a:endParaRPr lang="es-EC"/>
          </a:p>
        </p:txBody>
      </p:sp>
      <p:sp>
        <p:nvSpPr>
          <p:cNvPr id="9" name="Footer Placeholder 8"/>
          <p:cNvSpPr>
            <a:spLocks noGrp="1"/>
          </p:cNvSpPr>
          <p:nvPr>
            <p:ph type="ftr" sz="quarter" idx="12"/>
          </p:nvPr>
        </p:nvSpPr>
        <p:spPr/>
        <p:txBody>
          <a:bodyPr/>
          <a:lstStyle/>
          <a:p>
            <a:endParaRPr lang="es-EC"/>
          </a:p>
        </p:txBody>
      </p:sp>
    </p:spTree>
    <p:extLst>
      <p:ext uri="{BB962C8B-B14F-4D97-AF65-F5344CB8AC3E}">
        <p14:creationId xmlns:p14="http://schemas.microsoft.com/office/powerpoint/2010/main" val="2345790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290B73B-B6A1-476A-B629-21320BBC12E2}" type="datetime1">
              <a:rPr lang="es-EC" smtClean="0"/>
              <a:t>2/12/2025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7803679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963084" y="1371601"/>
            <a:ext cx="103632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63084" y="4068764"/>
            <a:ext cx="103632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CDC2038A-D817-4671-8CB8-0981B299E92B}" type="datetime1">
              <a:rPr lang="es-EC" smtClean="0"/>
              <a:t>2/12/2025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
        <p:nvSpPr>
          <p:cNvPr id="7" name="Oval 6"/>
          <p:cNvSpPr/>
          <p:nvPr/>
        </p:nvSpPr>
        <p:spPr>
          <a:xfrm>
            <a:off x="59944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Oval 7"/>
          <p:cNvSpPr/>
          <p:nvPr/>
        </p:nvSpPr>
        <p:spPr>
          <a:xfrm>
            <a:off x="62611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Oval 8"/>
          <p:cNvSpPr/>
          <p:nvPr/>
        </p:nvSpPr>
        <p:spPr>
          <a:xfrm>
            <a:off x="5728971"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0578818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DC4ADFD-670B-42AB-AA2D-8905C1A1B3E7}" type="datetime1">
              <a:rPr lang="es-EC" smtClean="0"/>
              <a:t>2/12/2025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
        <p:nvSpPr>
          <p:cNvPr id="9" name="Content Placeholder 8"/>
          <p:cNvSpPr>
            <a:spLocks noGrp="1"/>
          </p:cNvSpPr>
          <p:nvPr>
            <p:ph sz="quarter" idx="13"/>
          </p:nvPr>
        </p:nvSpPr>
        <p:spPr>
          <a:xfrm>
            <a:off x="487680" y="1600200"/>
            <a:ext cx="5388864" cy="452628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30397848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609600" y="1600200"/>
            <a:ext cx="5386917"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5" name="Text Placeholder 4"/>
          <p:cNvSpPr>
            <a:spLocks noGrp="1"/>
          </p:cNvSpPr>
          <p:nvPr>
            <p:ph type="body" sz="quarter" idx="3"/>
          </p:nvPr>
        </p:nvSpPr>
        <p:spPr>
          <a:xfrm>
            <a:off x="6197601" y="1600200"/>
            <a:ext cx="5389033"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7" name="Date Placeholder 6"/>
          <p:cNvSpPr>
            <a:spLocks noGrp="1"/>
          </p:cNvSpPr>
          <p:nvPr>
            <p:ph type="dt" sz="half" idx="10"/>
          </p:nvPr>
        </p:nvSpPr>
        <p:spPr/>
        <p:txBody>
          <a:bodyPr/>
          <a:lstStyle/>
          <a:p>
            <a:fld id="{9891E5A2-5B64-4460-A741-AB3873F3AED1}" type="datetime1">
              <a:rPr lang="es-EC" smtClean="0"/>
              <a:t>2/12/2025</a:t>
            </a:fld>
            <a:endParaRPr lang="es-EC"/>
          </a:p>
        </p:txBody>
      </p:sp>
      <p:sp>
        <p:nvSpPr>
          <p:cNvPr id="8" name="Footer Placeholder 7"/>
          <p:cNvSpPr>
            <a:spLocks noGrp="1"/>
          </p:cNvSpPr>
          <p:nvPr>
            <p:ph type="ftr" sz="quarter" idx="11"/>
          </p:nvPr>
        </p:nvSpPr>
        <p:spPr/>
        <p:txBody>
          <a:bodyPr/>
          <a:lstStyle/>
          <a:p>
            <a:endParaRPr lang="es-EC"/>
          </a:p>
        </p:txBody>
      </p:sp>
      <p:sp>
        <p:nvSpPr>
          <p:cNvPr id="9" name="Slide Number Placeholder 8"/>
          <p:cNvSpPr>
            <a:spLocks noGrp="1"/>
          </p:cNvSpPr>
          <p:nvPr>
            <p:ph type="sldNum" sz="quarter" idx="12"/>
          </p:nvPr>
        </p:nvSpPr>
        <p:spPr/>
        <p:txBody>
          <a:bodyPr/>
          <a:lstStyle/>
          <a:p>
            <a:fld id="{14B28EB2-3408-4757-A806-361BA67028B7}" type="slidenum">
              <a:rPr lang="es-EC" smtClean="0"/>
              <a:t>‹Nº›</a:t>
            </a:fld>
            <a:endParaRPr lang="es-EC"/>
          </a:p>
        </p:txBody>
      </p:sp>
      <p:sp>
        <p:nvSpPr>
          <p:cNvPr id="11" name="Content Placeholder 10"/>
          <p:cNvSpPr>
            <a:spLocks noGrp="1"/>
          </p:cNvSpPr>
          <p:nvPr>
            <p:ph sz="quarter" idx="13"/>
          </p:nvPr>
        </p:nvSpPr>
        <p:spPr>
          <a:xfrm>
            <a:off x="609600" y="2212848"/>
            <a:ext cx="5388864" cy="391363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12"/>
          <p:cNvSpPr>
            <a:spLocks noGrp="1"/>
          </p:cNvSpPr>
          <p:nvPr>
            <p:ph sz="quarter" idx="14"/>
          </p:nvPr>
        </p:nvSpPr>
        <p:spPr>
          <a:xfrm>
            <a:off x="6230112" y="2212849"/>
            <a:ext cx="5388864" cy="3913187"/>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19078601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0B840B2-0BA1-4127-9E25-74D449B7ADFD}" type="datetime1">
              <a:rPr lang="es-EC" smtClean="0"/>
              <a:t>2/12/2025</a:t>
            </a:fld>
            <a:endParaRPr lang="es-EC"/>
          </a:p>
        </p:txBody>
      </p:sp>
      <p:sp>
        <p:nvSpPr>
          <p:cNvPr id="4" name="Footer Placeholder 3"/>
          <p:cNvSpPr>
            <a:spLocks noGrp="1"/>
          </p:cNvSpPr>
          <p:nvPr>
            <p:ph type="ftr" sz="quarter" idx="11"/>
          </p:nvPr>
        </p:nvSpPr>
        <p:spPr/>
        <p:txBody>
          <a:bodyPr/>
          <a:lstStyle/>
          <a:p>
            <a:endParaRPr lang="es-EC"/>
          </a:p>
        </p:txBody>
      </p:sp>
      <p:sp>
        <p:nvSpPr>
          <p:cNvPr id="5" name="Slide Number Placeholder 4"/>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8228857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E0FE62-E592-4B65-AFBD-C1CCC30A5FE7}" type="datetime1">
              <a:rPr lang="es-EC" smtClean="0"/>
              <a:t>2/12/2025</a:t>
            </a:fld>
            <a:endParaRPr lang="es-EC"/>
          </a:p>
        </p:txBody>
      </p:sp>
      <p:sp>
        <p:nvSpPr>
          <p:cNvPr id="3" name="Footer Placeholder 2"/>
          <p:cNvSpPr>
            <a:spLocks noGrp="1"/>
          </p:cNvSpPr>
          <p:nvPr>
            <p:ph type="ftr" sz="quarter" idx="11"/>
          </p:nvPr>
        </p:nvSpPr>
        <p:spPr/>
        <p:txBody>
          <a:bodyPr/>
          <a:lstStyle/>
          <a:p>
            <a:endParaRPr lang="es-EC"/>
          </a:p>
        </p:txBody>
      </p:sp>
      <p:sp>
        <p:nvSpPr>
          <p:cNvPr id="4" name="Slide Number Placeholder 3"/>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2044298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876117" y="266700"/>
            <a:ext cx="4011084"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958850" y="273051"/>
            <a:ext cx="66611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876117" y="2438401"/>
            <a:ext cx="4011084"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67F15ACB-451F-4A5F-BEC9-AE2F848845F3}" type="datetime1">
              <a:rPr lang="es-EC" smtClean="0"/>
              <a:t>2/12/2025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4098081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239435" y="228600"/>
            <a:ext cx="7615765" cy="895350"/>
          </a:xfrm>
        </p:spPr>
        <p:txBody>
          <a:bodyPr anchor="b"/>
          <a:lstStyle>
            <a:lvl1pPr algn="ctr">
              <a:lnSpc>
                <a:spcPct val="100000"/>
              </a:lnSpc>
              <a:defRPr sz="2800" b="0"/>
            </a:lvl1pPr>
          </a:lstStyle>
          <a:p>
            <a:r>
              <a:rPr lang="es-ES"/>
              <a:t>Haga clic para modificar el estilo de título del patrón</a:t>
            </a:r>
            <a:endParaRPr lang="en-US" dirty="0"/>
          </a:p>
        </p:txBody>
      </p:sp>
      <p:sp>
        <p:nvSpPr>
          <p:cNvPr id="3" name="Picture Placeholder 2"/>
          <p:cNvSpPr>
            <a:spLocks noGrp="1"/>
          </p:cNvSpPr>
          <p:nvPr>
            <p:ph type="pic" idx="1"/>
          </p:nvPr>
        </p:nvSpPr>
        <p:spPr>
          <a:xfrm>
            <a:off x="2010835" y="1143000"/>
            <a:ext cx="8072965"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239435" y="5810250"/>
            <a:ext cx="7615765"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4A422F84-0CF5-40B2-88A0-C1094D415436}" type="datetime1">
              <a:rPr lang="es-EC" smtClean="0"/>
              <a:t>2/12/2025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41423480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BD623C0-6495-45E5-AD9B-690C29EB2D28}" type="datetime1">
              <a:rPr lang="es-EC" smtClean="0"/>
              <a:t>2/12/2025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38409558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4D8EE3C-3A2D-421B-8BCE-DCA3638F2800}" type="datetime1">
              <a:rPr lang="es-EC" smtClean="0"/>
              <a:t>2/12/2025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532420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AEA5EB9-22C8-48CC-B673-E9C9F408D6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48272E61-B9B7-40DF-800F-CC8677E06E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1B85FAC1-C067-4AAB-8D19-E96E83F310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6F178F-13A3-4925-8B54-73919CC619DE}" type="datetimeFigureOut">
              <a:rPr lang="es-EC" smtClean="0"/>
              <a:t>2/12/2025</a:t>
            </a:fld>
            <a:endParaRPr lang="es-EC"/>
          </a:p>
        </p:txBody>
      </p:sp>
      <p:sp>
        <p:nvSpPr>
          <p:cNvPr id="5" name="Marcador de pie de página 4">
            <a:extLst>
              <a:ext uri="{FF2B5EF4-FFF2-40B4-BE49-F238E27FC236}">
                <a16:creationId xmlns:a16="http://schemas.microsoft.com/office/drawing/2014/main" id="{36B0AB3B-8269-400B-BFAF-4F88BCEB84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a:extLst>
              <a:ext uri="{FF2B5EF4-FFF2-40B4-BE49-F238E27FC236}">
                <a16:creationId xmlns:a16="http://schemas.microsoft.com/office/drawing/2014/main" id="{B1B75696-BDD5-4991-809C-CDE0AB2126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5A2F40-EC8C-41F3-BD8D-F3F005ABEE3D}" type="slidenum">
              <a:rPr lang="es-EC" smtClean="0"/>
              <a:t>‹Nº›</a:t>
            </a:fld>
            <a:endParaRPr lang="es-EC"/>
          </a:p>
        </p:txBody>
      </p:sp>
    </p:spTree>
    <p:extLst>
      <p:ext uri="{BB962C8B-B14F-4D97-AF65-F5344CB8AC3E}">
        <p14:creationId xmlns:p14="http://schemas.microsoft.com/office/powerpoint/2010/main" val="2127626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600200"/>
          </a:xfrm>
          <a:prstGeom prst="rect">
            <a:avLst/>
          </a:prstGeom>
        </p:spPr>
        <p:txBody>
          <a:bodyPr vert="horz" lIns="91440" tIns="45720" rIns="91440" bIns="45720" rtlCol="0" anchor="b">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484463" y="6356351"/>
            <a:ext cx="2781300"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214FB16F-AFAA-44A5-84B2-773ABBFEBDB3}" type="datetime1">
              <a:rPr lang="es-EC" smtClean="0"/>
              <a:t>2/12/2025</a:t>
            </a:fld>
            <a:endParaRPr lang="es-EC"/>
          </a:p>
        </p:txBody>
      </p:sp>
      <p:sp>
        <p:nvSpPr>
          <p:cNvPr id="5" name="Footer Placeholder 4"/>
          <p:cNvSpPr>
            <a:spLocks noGrp="1"/>
          </p:cNvSpPr>
          <p:nvPr>
            <p:ph type="ftr" sz="quarter" idx="3"/>
          </p:nvPr>
        </p:nvSpPr>
        <p:spPr>
          <a:xfrm>
            <a:off x="878887" y="6356351"/>
            <a:ext cx="3797300"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s-EC"/>
          </a:p>
        </p:txBody>
      </p:sp>
      <p:sp>
        <p:nvSpPr>
          <p:cNvPr id="6" name="Slide Number Placeholder 5"/>
          <p:cNvSpPr>
            <a:spLocks noGrp="1"/>
          </p:cNvSpPr>
          <p:nvPr>
            <p:ph type="sldNum" sz="quarter" idx="4"/>
          </p:nvPr>
        </p:nvSpPr>
        <p:spPr>
          <a:xfrm>
            <a:off x="11391038" y="6356351"/>
            <a:ext cx="749300"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14B28EB2-3408-4757-A806-361BA67028B7}" type="slidenum">
              <a:rPr lang="es-EC" smtClean="0"/>
              <a:t>‹Nº›</a:t>
            </a:fld>
            <a:endParaRPr lang="es-EC"/>
          </a:p>
        </p:txBody>
      </p:sp>
      <p:sp>
        <p:nvSpPr>
          <p:cNvPr id="7" name="Oval 6"/>
          <p:cNvSpPr/>
          <p:nvPr/>
        </p:nvSpPr>
        <p:spPr>
          <a:xfrm>
            <a:off x="11277014"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758826"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2648205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1371237" y="2031002"/>
            <a:ext cx="3562424" cy="1296144"/>
          </a:xfrm>
          <a:prstGeom prst="rect">
            <a:avLst/>
          </a:prstGeom>
        </p:spPr>
        <p:txBody>
          <a:bodyPr vert="horz" lIns="91440" tIns="45720" rIns="91440" bIns="45720" rtlCol="0" anchor="b">
            <a:noAutofit/>
          </a:bodyPr>
          <a:lstStyle>
            <a:lvl1pPr algn="ctr" defTabSz="914400" rtl="0" eaLnBrk="1" latinLnBrk="0" hangingPunct="1">
              <a:lnSpc>
                <a:spcPct val="100000"/>
              </a:lnSpc>
              <a:spcBef>
                <a:spcPct val="0"/>
              </a:spcBef>
              <a:buNone/>
              <a:defRPr sz="8000" kern="120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MX" sz="2400" b="1" dirty="0">
                <a:effectLst/>
                <a:latin typeface="Arial" pitchFamily="34" charset="0"/>
                <a:cs typeface="Arial" pitchFamily="34" charset="0"/>
              </a:rPr>
              <a:t>CAPÍTULO 4 ALGORITMOS Y ESTRUCTURAS DE CONTROL REPETITIVAS EN LENGUAJE C/C++</a:t>
            </a:r>
            <a:endParaRPr lang="es-ES" sz="2400" b="1" dirty="0">
              <a:effectLst/>
              <a:latin typeface="Arial" pitchFamily="34" charset="0"/>
              <a:cs typeface="Arial" pitchFamily="34" charset="0"/>
            </a:endParaRPr>
          </a:p>
        </p:txBody>
      </p:sp>
      <p:sp>
        <p:nvSpPr>
          <p:cNvPr id="7" name="Rectangle 3"/>
          <p:cNvSpPr txBox="1">
            <a:spLocks noChangeArrowheads="1"/>
          </p:cNvSpPr>
          <p:nvPr/>
        </p:nvSpPr>
        <p:spPr>
          <a:xfrm>
            <a:off x="2065254" y="4149080"/>
            <a:ext cx="8280400" cy="2232248"/>
          </a:xfrm>
          <a:prstGeom prst="rect">
            <a:avLst/>
          </a:prstGeom>
        </p:spPr>
        <p:txBody>
          <a:bodyPr vert="horz" lIns="91440" tIns="45720" rIns="91440" bIns="45720" rtlCol="0">
            <a:normAutofit fontScale="85000" lnSpcReduction="20000"/>
          </a:bodyPr>
          <a:lstStyle>
            <a:lvl1pPr marL="0" indent="0" algn="ctr" defTabSz="914400"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1pPr>
            <a:lvl2pPr marL="4572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2pPr>
            <a:lvl3pPr marL="9144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3pPr>
            <a:lvl4pPr marL="13716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5pPr>
            <a:lvl6pPr marL="22860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7pPr>
            <a:lvl8pPr marL="32004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9pPr>
          </a:lstStyle>
          <a:p>
            <a:pPr>
              <a:lnSpc>
                <a:spcPct val="80000"/>
              </a:lnSpc>
            </a:pPr>
            <a:r>
              <a:rPr lang="es-ES" dirty="0"/>
              <a:t>Margarita Zambrano, César Villacís, David Alvarado, Luis García, Kevin Topón, Margarita Villacís, Sofía Bayona, Luis Pastor  </a:t>
            </a:r>
            <a:endParaRPr lang="en-US" b="1" dirty="0">
              <a:solidFill>
                <a:schemeClr val="tx2"/>
              </a:solidFill>
            </a:endParaRPr>
          </a:p>
          <a:p>
            <a:pPr>
              <a:lnSpc>
                <a:spcPct val="80000"/>
              </a:lnSpc>
            </a:pPr>
            <a:endParaRPr lang="en-US" b="1" dirty="0">
              <a:solidFill>
                <a:schemeClr val="tx2"/>
              </a:solidFill>
            </a:endParaRPr>
          </a:p>
          <a:p>
            <a:r>
              <a:rPr lang="es-EC" sz="1800" dirty="0"/>
              <a:t>Universidad de las Fueras Armadas – ESPE</a:t>
            </a:r>
          </a:p>
          <a:p>
            <a:r>
              <a:rPr lang="es-ES" sz="1800" dirty="0"/>
              <a:t>Quito, Ecuador</a:t>
            </a:r>
          </a:p>
          <a:p>
            <a:r>
              <a:rPr lang="es-ES" sz="1800" dirty="0"/>
              <a:t>Universidad Politécnica Salesiana – UPS</a:t>
            </a:r>
          </a:p>
          <a:p>
            <a:r>
              <a:rPr lang="es-ES" sz="1800" dirty="0"/>
              <a:t>Quito, Ecuador</a:t>
            </a:r>
          </a:p>
          <a:p>
            <a:r>
              <a:rPr lang="es-ES" sz="1800" dirty="0"/>
              <a:t>Universidad Rey Juan Carlos – URJC</a:t>
            </a:r>
          </a:p>
          <a:p>
            <a:r>
              <a:rPr lang="es-ES" sz="1800" dirty="0"/>
              <a:t>Madrid, España </a:t>
            </a:r>
          </a:p>
          <a:p>
            <a:endParaRPr lang="es-EC" sz="1800" dirty="0"/>
          </a:p>
          <a:p>
            <a:pPr>
              <a:lnSpc>
                <a:spcPct val="80000"/>
              </a:lnSpc>
            </a:pPr>
            <a:endParaRPr lang="en-US" b="1" dirty="0">
              <a:solidFill>
                <a:schemeClr val="hlink"/>
              </a:solidFill>
            </a:endParaRPr>
          </a:p>
          <a:p>
            <a:pPr>
              <a:lnSpc>
                <a:spcPct val="80000"/>
              </a:lnSpc>
            </a:pPr>
            <a:endParaRPr lang="es-ES" b="1" dirty="0">
              <a:solidFill>
                <a:schemeClr val="hlink"/>
              </a:solidFill>
            </a:endParaRPr>
          </a:p>
          <a:p>
            <a:pPr>
              <a:lnSpc>
                <a:spcPct val="80000"/>
              </a:lnSpc>
            </a:pPr>
            <a:endParaRPr lang="es-ES" b="1" dirty="0"/>
          </a:p>
        </p:txBody>
      </p:sp>
      <p:sp>
        <p:nvSpPr>
          <p:cNvPr id="2" name="1 Marcador de fecha"/>
          <p:cNvSpPr>
            <a:spLocks noGrp="1"/>
          </p:cNvSpPr>
          <p:nvPr>
            <p:ph type="dt" sz="half" idx="10"/>
          </p:nvPr>
        </p:nvSpPr>
        <p:spPr/>
        <p:txBody>
          <a:bodyPr/>
          <a:lstStyle/>
          <a:p>
            <a:fld id="{CFABD442-A3C4-4850-B201-37432B5929C0}" type="datetime1">
              <a:rPr lang="es-EC" smtClean="0"/>
              <a:t>2/12/2025</a:t>
            </a:fld>
            <a:endParaRPr lang="es-EC"/>
          </a:p>
        </p:txBody>
      </p:sp>
      <p:sp>
        <p:nvSpPr>
          <p:cNvPr id="3" name="2 Marcador de número de diapositiva"/>
          <p:cNvSpPr>
            <a:spLocks noGrp="1"/>
          </p:cNvSpPr>
          <p:nvPr>
            <p:ph type="sldNum" sz="quarter" idx="11"/>
          </p:nvPr>
        </p:nvSpPr>
        <p:spPr/>
        <p:txBody>
          <a:bodyPr/>
          <a:lstStyle/>
          <a:p>
            <a:fld id="{14B28EB2-3408-4757-A806-361BA67028B7}" type="slidenum">
              <a:rPr lang="es-EC" smtClean="0"/>
              <a:t>1</a:t>
            </a:fld>
            <a:endParaRPr lang="es-EC"/>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7552" y="281472"/>
            <a:ext cx="2967310" cy="927596"/>
          </a:xfrm>
          <a:prstGeom prst="rect">
            <a:avLst/>
          </a:prstGeom>
        </p:spPr>
      </p:pic>
      <p:pic>
        <p:nvPicPr>
          <p:cNvPr id="12" name="Imagen 11">
            <a:extLst>
              <a:ext uri="{FF2B5EF4-FFF2-40B4-BE49-F238E27FC236}">
                <a16:creationId xmlns:a16="http://schemas.microsoft.com/office/drawing/2014/main" id="{771F6278-F22F-1B52-5B3D-9A53240E0CCC}"/>
              </a:ext>
            </a:extLst>
          </p:cNvPr>
          <p:cNvPicPr>
            <a:picLocks noChangeAspect="1"/>
          </p:cNvPicPr>
          <p:nvPr/>
        </p:nvPicPr>
        <p:blipFill>
          <a:blip r:embed="rId4"/>
          <a:stretch>
            <a:fillRect/>
          </a:stretch>
        </p:blipFill>
        <p:spPr>
          <a:xfrm>
            <a:off x="5375920" y="1178050"/>
            <a:ext cx="3366640" cy="2755007"/>
          </a:xfrm>
          <a:prstGeom prst="rect">
            <a:avLst/>
          </a:prstGeom>
        </p:spPr>
      </p:pic>
    </p:spTree>
    <p:extLst>
      <p:ext uri="{BB962C8B-B14F-4D97-AF65-F5344CB8AC3E}">
        <p14:creationId xmlns:p14="http://schemas.microsoft.com/office/powerpoint/2010/main" val="1158697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lnSpc>
                <a:spcPct val="90000"/>
              </a:lnSpc>
            </a:pPr>
            <a:r>
              <a:rPr lang="es-MX" sz="3100" b="1" dirty="0">
                <a:solidFill>
                  <a:srgbClr val="FF0000"/>
                </a:solidFill>
              </a:rPr>
              <a:t>La sentencia for</a:t>
            </a:r>
          </a:p>
          <a:p>
            <a:pPr lvl="1">
              <a:lnSpc>
                <a:spcPct val="90000"/>
              </a:lnSpc>
            </a:pPr>
            <a:r>
              <a:rPr lang="es-MX" sz="2800" dirty="0"/>
              <a:t>Problema 4.9: (Aplicación de la sentencia for como un bucle ascendente) </a:t>
            </a:r>
          </a:p>
          <a:p>
            <a:pPr lvl="1">
              <a:lnSpc>
                <a:spcPct val="90000"/>
              </a:lnSpc>
            </a:pPr>
            <a:r>
              <a:rPr lang="es-MX" sz="2800" dirty="0"/>
              <a:t>Problema 4.10: (Aplicación de la sentencia for como un bucle descendente) </a:t>
            </a:r>
          </a:p>
          <a:p>
            <a:pPr lvl="1">
              <a:lnSpc>
                <a:spcPct val="90000"/>
              </a:lnSpc>
            </a:pPr>
            <a:r>
              <a:rPr lang="es-MX" sz="2800" dirty="0"/>
              <a:t>Caso de Estudio 4.5: Sumatoria de una sucesión </a:t>
            </a:r>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2/12/2025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2</a:t>
            </a:fld>
            <a:endParaRPr lang="es-EC">
              <a:solidFill>
                <a:prstClr val="black">
                  <a:lumMod val="65000"/>
                  <a:lumOff val="35000"/>
                </a:prstClr>
              </a:solidFill>
            </a:endParaRPr>
          </a:p>
        </p:txBody>
      </p:sp>
    </p:spTree>
    <p:extLst>
      <p:ext uri="{BB962C8B-B14F-4D97-AF65-F5344CB8AC3E}">
        <p14:creationId xmlns:p14="http://schemas.microsoft.com/office/powerpoint/2010/main" val="3199492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681128" y="2956784"/>
            <a:ext cx="10972800" cy="1600200"/>
          </a:xfrm>
        </p:spPr>
        <p:txBody>
          <a:bodyPr/>
          <a:lstStyle/>
          <a:p>
            <a:r>
              <a:rPr lang="es-MX" b="1" dirty="0"/>
              <a:t>La sentencia for</a:t>
            </a:r>
            <a:br>
              <a:rPr lang="es-MX" sz="5400" b="1" dirty="0">
                <a:solidFill>
                  <a:srgbClr val="FF0000"/>
                </a:solidFill>
              </a:rPr>
            </a:br>
            <a:r>
              <a:rPr lang="es-MX" b="1" dirty="0"/>
              <a:t> </a:t>
            </a: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2083936" y="1257001"/>
            <a:ext cx="8024127" cy="3399566"/>
          </a:xfrm>
        </p:spPr>
        <p:txBody>
          <a:bodyPr>
            <a:normAutofit/>
          </a:bodyPr>
          <a:lstStyle/>
          <a:p>
            <a:pPr marL="0" indent="0">
              <a:buNone/>
            </a:pPr>
            <a:r>
              <a:rPr lang="es-MX" sz="2000" dirty="0"/>
              <a:t>El bucle for() es el bucle más potente que tiene el lenguaje C/C++, ya que agrupa en un solo lugar tres acciones: a) inicializar uno o varios contadores; b) manejar una expresión lógica y c) incrementar o decrementar el contador o contadores (Granizo, E., 2016). Este bucle es ideal para implementar bucles controlados por contador que son bucles en los que un conjunto de sentencias se ejecuta una vez por cada valor de un rango especificado, de acuerdo al algoritmo que resuelve un problema. El formato de esta sentencia tiene la siguiente sintaxis: </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3</a:t>
            </a:fld>
            <a:endParaRPr lang="es-EC"/>
          </a:p>
        </p:txBody>
      </p:sp>
      <p:pic>
        <p:nvPicPr>
          <p:cNvPr id="14" name="Imagen 13">
            <a:extLst>
              <a:ext uri="{FF2B5EF4-FFF2-40B4-BE49-F238E27FC236}">
                <a16:creationId xmlns:a16="http://schemas.microsoft.com/office/drawing/2014/main" id="{22E95A79-94F3-4663-9B86-D364BF078A6D}"/>
              </a:ext>
            </a:extLst>
          </p:cNvPr>
          <p:cNvPicPr>
            <a:picLocks noChangeAspect="1"/>
          </p:cNvPicPr>
          <p:nvPr/>
        </p:nvPicPr>
        <p:blipFill>
          <a:blip r:embed="rId2"/>
          <a:stretch>
            <a:fillRect/>
          </a:stretch>
        </p:blipFill>
        <p:spPr>
          <a:xfrm>
            <a:off x="2967069" y="4556984"/>
            <a:ext cx="6715658" cy="1133633"/>
          </a:xfrm>
          <a:prstGeom prst="rect">
            <a:avLst/>
          </a:prstGeom>
        </p:spPr>
      </p:pic>
    </p:spTree>
    <p:extLst>
      <p:ext uri="{BB962C8B-B14F-4D97-AF65-F5344CB8AC3E}">
        <p14:creationId xmlns:p14="http://schemas.microsoft.com/office/powerpoint/2010/main" val="515131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681128" y="2956784"/>
            <a:ext cx="10972800" cy="1600200"/>
          </a:xfrm>
        </p:spPr>
        <p:txBody>
          <a:bodyPr/>
          <a:lstStyle/>
          <a:p>
            <a:r>
              <a:rPr lang="es-MX" b="1" dirty="0"/>
              <a:t>La sentencia for</a:t>
            </a:r>
            <a:br>
              <a:rPr lang="es-MX" sz="5400" b="1" dirty="0">
                <a:solidFill>
                  <a:srgbClr val="FF0000"/>
                </a:solidFill>
              </a:rPr>
            </a:br>
            <a:r>
              <a:rPr lang="es-MX" b="1" dirty="0"/>
              <a:t> </a:t>
            </a: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3/12/2025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4</a:t>
            </a:fld>
            <a:endParaRPr lang="es-EC"/>
          </a:p>
        </p:txBody>
      </p:sp>
      <p:pic>
        <p:nvPicPr>
          <p:cNvPr id="9" name="Imagen 8">
            <a:extLst>
              <a:ext uri="{FF2B5EF4-FFF2-40B4-BE49-F238E27FC236}">
                <a16:creationId xmlns:a16="http://schemas.microsoft.com/office/drawing/2014/main" id="{8DEF0EE7-D72D-4B44-ABE4-04570557FE65}"/>
              </a:ext>
            </a:extLst>
          </p:cNvPr>
          <p:cNvPicPr>
            <a:picLocks noChangeAspect="1"/>
          </p:cNvPicPr>
          <p:nvPr/>
        </p:nvPicPr>
        <p:blipFill>
          <a:blip r:embed="rId2"/>
          <a:stretch>
            <a:fillRect/>
          </a:stretch>
        </p:blipFill>
        <p:spPr>
          <a:xfrm>
            <a:off x="1613942" y="2066826"/>
            <a:ext cx="9107171" cy="2152950"/>
          </a:xfrm>
          <a:prstGeom prst="rect">
            <a:avLst/>
          </a:prstGeom>
        </p:spPr>
      </p:pic>
      <p:sp>
        <p:nvSpPr>
          <p:cNvPr id="12" name="CuadroTexto 11">
            <a:extLst>
              <a:ext uri="{FF2B5EF4-FFF2-40B4-BE49-F238E27FC236}">
                <a16:creationId xmlns:a16="http://schemas.microsoft.com/office/drawing/2014/main" id="{D09FD971-9F0C-40FB-B592-08338EEAE154}"/>
              </a:ext>
            </a:extLst>
          </p:cNvPr>
          <p:cNvSpPr txBox="1"/>
          <p:nvPr/>
        </p:nvSpPr>
        <p:spPr>
          <a:xfrm>
            <a:off x="1757680" y="4629835"/>
            <a:ext cx="6096000" cy="646331"/>
          </a:xfrm>
          <a:prstGeom prst="rect">
            <a:avLst/>
          </a:prstGeom>
          <a:noFill/>
        </p:spPr>
        <p:txBody>
          <a:bodyPr wrap="square">
            <a:spAutoFit/>
          </a:bodyPr>
          <a:lstStyle/>
          <a:p>
            <a:r>
              <a:rPr lang="es-MX" dirty="0"/>
              <a:t>Nota: En esta sintaxis no es necesario utilizar llaves ya que se tiene una sola sentencia o instrucción. </a:t>
            </a:r>
            <a:endParaRPr lang="es-EC" dirty="0"/>
          </a:p>
        </p:txBody>
      </p:sp>
    </p:spTree>
    <p:extLst>
      <p:ext uri="{BB962C8B-B14F-4D97-AF65-F5344CB8AC3E}">
        <p14:creationId xmlns:p14="http://schemas.microsoft.com/office/powerpoint/2010/main" val="3039200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681128" y="2956784"/>
            <a:ext cx="10972800" cy="1600200"/>
          </a:xfrm>
        </p:spPr>
        <p:txBody>
          <a:bodyPr/>
          <a:lstStyle/>
          <a:p>
            <a:r>
              <a:rPr lang="es-MX" b="1" dirty="0"/>
              <a:t>La sentencia for</a:t>
            </a:r>
            <a:br>
              <a:rPr lang="es-MX" sz="5400" b="1" dirty="0">
                <a:solidFill>
                  <a:srgbClr val="FF0000"/>
                </a:solidFill>
              </a:rPr>
            </a:br>
            <a:r>
              <a:rPr lang="es-MX" b="1" dirty="0"/>
              <a:t> </a:t>
            </a: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3/12/2025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5</a:t>
            </a:fld>
            <a:endParaRPr lang="es-EC"/>
          </a:p>
        </p:txBody>
      </p:sp>
      <p:pic>
        <p:nvPicPr>
          <p:cNvPr id="6" name="Imagen 5">
            <a:extLst>
              <a:ext uri="{FF2B5EF4-FFF2-40B4-BE49-F238E27FC236}">
                <a16:creationId xmlns:a16="http://schemas.microsoft.com/office/drawing/2014/main" id="{2C1BA276-0DC6-4A1E-A730-BE0D8B69FA3F}"/>
              </a:ext>
            </a:extLst>
          </p:cNvPr>
          <p:cNvPicPr>
            <a:picLocks noChangeAspect="1"/>
          </p:cNvPicPr>
          <p:nvPr/>
        </p:nvPicPr>
        <p:blipFill>
          <a:blip r:embed="rId2"/>
          <a:stretch>
            <a:fillRect/>
          </a:stretch>
        </p:blipFill>
        <p:spPr>
          <a:xfrm>
            <a:off x="2208011" y="1221089"/>
            <a:ext cx="7430537" cy="2248214"/>
          </a:xfrm>
          <a:prstGeom prst="rect">
            <a:avLst/>
          </a:prstGeom>
        </p:spPr>
      </p:pic>
      <p:pic>
        <p:nvPicPr>
          <p:cNvPr id="8" name="Imagen 7">
            <a:extLst>
              <a:ext uri="{FF2B5EF4-FFF2-40B4-BE49-F238E27FC236}">
                <a16:creationId xmlns:a16="http://schemas.microsoft.com/office/drawing/2014/main" id="{D6A155BC-F973-493B-9231-0B8114185F43}"/>
              </a:ext>
            </a:extLst>
          </p:cNvPr>
          <p:cNvPicPr>
            <a:picLocks noChangeAspect="1"/>
          </p:cNvPicPr>
          <p:nvPr/>
        </p:nvPicPr>
        <p:blipFill>
          <a:blip r:embed="rId3"/>
          <a:stretch>
            <a:fillRect/>
          </a:stretch>
        </p:blipFill>
        <p:spPr>
          <a:xfrm>
            <a:off x="2069016" y="3756884"/>
            <a:ext cx="7569532" cy="1880027"/>
          </a:xfrm>
          <a:prstGeom prst="rect">
            <a:avLst/>
          </a:prstGeom>
        </p:spPr>
      </p:pic>
    </p:spTree>
    <p:extLst>
      <p:ext uri="{BB962C8B-B14F-4D97-AF65-F5344CB8AC3E}">
        <p14:creationId xmlns:p14="http://schemas.microsoft.com/office/powerpoint/2010/main" val="2288292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lnSpc>
                <a:spcPct val="90000"/>
              </a:lnSpc>
            </a:pPr>
            <a:r>
              <a:rPr lang="es-MX" sz="2800" dirty="0"/>
              <a:t>La sentencia for</a:t>
            </a:r>
          </a:p>
          <a:p>
            <a:pPr lvl="1">
              <a:lnSpc>
                <a:spcPct val="90000"/>
              </a:lnSpc>
            </a:pPr>
            <a:r>
              <a:rPr lang="es-MX" sz="3100" b="1" dirty="0">
                <a:solidFill>
                  <a:srgbClr val="FF0000"/>
                </a:solidFill>
              </a:rPr>
              <a:t>Problema 4.9: (Aplicación de la sentencia for como un bucle ascendente) </a:t>
            </a:r>
          </a:p>
          <a:p>
            <a:pPr lvl="1">
              <a:lnSpc>
                <a:spcPct val="90000"/>
              </a:lnSpc>
            </a:pPr>
            <a:r>
              <a:rPr lang="es-MX" sz="2800" dirty="0"/>
              <a:t>Problema 4.10: (Aplicación de la sentencia for como un bucle descendente) </a:t>
            </a:r>
          </a:p>
          <a:p>
            <a:pPr lvl="1">
              <a:lnSpc>
                <a:spcPct val="90000"/>
              </a:lnSpc>
            </a:pPr>
            <a:r>
              <a:rPr lang="es-MX" sz="2800" dirty="0"/>
              <a:t>Caso de Estudio 4.5: Sumatoria de una sucesión </a:t>
            </a:r>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3/12/2025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6</a:t>
            </a:fld>
            <a:endParaRPr lang="es-EC">
              <a:solidFill>
                <a:prstClr val="black">
                  <a:lumMod val="65000"/>
                  <a:lumOff val="35000"/>
                </a:prstClr>
              </a:solidFill>
            </a:endParaRPr>
          </a:p>
        </p:txBody>
      </p:sp>
    </p:spTree>
    <p:extLst>
      <p:ext uri="{BB962C8B-B14F-4D97-AF65-F5344CB8AC3E}">
        <p14:creationId xmlns:p14="http://schemas.microsoft.com/office/powerpoint/2010/main" val="2002988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914808" y="4592544"/>
            <a:ext cx="10972800" cy="1600200"/>
          </a:xfrm>
        </p:spPr>
        <p:txBody>
          <a:bodyPr/>
          <a:lstStyle/>
          <a:p>
            <a:r>
              <a:rPr lang="es-MX" sz="4000" b="1" dirty="0"/>
              <a:t>Problema 4.9: (Aplicación de la sentencia for como un bucle ascendente) </a:t>
            </a:r>
            <a:br>
              <a:rPr lang="es-MX" sz="5400" b="1" dirty="0">
                <a:solidFill>
                  <a:srgbClr val="FF0000"/>
                </a:solidFill>
              </a:rPr>
            </a:br>
            <a:br>
              <a:rPr lang="es-MX" sz="5400" b="1" dirty="0">
                <a:solidFill>
                  <a:srgbClr val="FF0000"/>
                </a:solidFill>
              </a:rPr>
            </a:br>
            <a:r>
              <a:rPr lang="es-MX" b="1" dirty="0"/>
              <a:t> </a:t>
            </a: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3/12/2025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7</a:t>
            </a:fld>
            <a:endParaRPr lang="es-EC"/>
          </a:p>
        </p:txBody>
      </p:sp>
      <p:sp>
        <p:nvSpPr>
          <p:cNvPr id="7" name="Marcador de contenido 2">
            <a:extLst>
              <a:ext uri="{FF2B5EF4-FFF2-40B4-BE49-F238E27FC236}">
                <a16:creationId xmlns:a16="http://schemas.microsoft.com/office/drawing/2014/main" id="{51B66AFF-D605-45C7-8750-6946F3E5C2FA}"/>
              </a:ext>
            </a:extLst>
          </p:cNvPr>
          <p:cNvSpPr>
            <a:spLocks noGrp="1"/>
          </p:cNvSpPr>
          <p:nvPr>
            <p:ph idx="1"/>
          </p:nvPr>
        </p:nvSpPr>
        <p:spPr>
          <a:xfrm>
            <a:off x="1525137" y="2265456"/>
            <a:ext cx="3544704" cy="1600200"/>
          </a:xfrm>
        </p:spPr>
        <p:txBody>
          <a:bodyPr>
            <a:normAutofit fontScale="92500" lnSpcReduction="20000"/>
          </a:bodyPr>
          <a:lstStyle/>
          <a:p>
            <a:pPr marL="0" indent="0">
              <a:buNone/>
            </a:pPr>
            <a:r>
              <a:rPr lang="es-MX" sz="2000" dirty="0"/>
              <a:t>Problema 4.9: Escribir un programa que permita imprimir de manera ascendente los números del 1 al 10 utilizando un bucle for().</a:t>
            </a:r>
            <a:endParaRPr lang="es-EC" sz="2800" b="1" dirty="0"/>
          </a:p>
        </p:txBody>
      </p:sp>
      <p:pic>
        <p:nvPicPr>
          <p:cNvPr id="9" name="Imagen 8">
            <a:extLst>
              <a:ext uri="{FF2B5EF4-FFF2-40B4-BE49-F238E27FC236}">
                <a16:creationId xmlns:a16="http://schemas.microsoft.com/office/drawing/2014/main" id="{249BA397-3847-4624-9FB7-803DCEA3FC50}"/>
              </a:ext>
            </a:extLst>
          </p:cNvPr>
          <p:cNvPicPr>
            <a:picLocks noChangeAspect="1"/>
          </p:cNvPicPr>
          <p:nvPr/>
        </p:nvPicPr>
        <p:blipFill>
          <a:blip r:embed="rId2"/>
          <a:stretch>
            <a:fillRect/>
          </a:stretch>
        </p:blipFill>
        <p:spPr>
          <a:xfrm>
            <a:off x="1525137" y="3865656"/>
            <a:ext cx="7202352" cy="2144269"/>
          </a:xfrm>
          <a:prstGeom prst="rect">
            <a:avLst/>
          </a:prstGeom>
        </p:spPr>
      </p:pic>
    </p:spTree>
    <p:extLst>
      <p:ext uri="{BB962C8B-B14F-4D97-AF65-F5344CB8AC3E}">
        <p14:creationId xmlns:p14="http://schemas.microsoft.com/office/powerpoint/2010/main" val="4059556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945288" y="4308064"/>
            <a:ext cx="10972800" cy="1600200"/>
          </a:xfrm>
        </p:spPr>
        <p:txBody>
          <a:bodyPr/>
          <a:lstStyle/>
          <a:p>
            <a:r>
              <a:rPr lang="es-MX" sz="4000" b="1" dirty="0"/>
              <a:t>Problema 4.9: (Aplicación de la sentencia for como un bucle ascendente) </a:t>
            </a:r>
            <a:br>
              <a:rPr lang="es-MX" sz="5400" b="1" dirty="0">
                <a:solidFill>
                  <a:srgbClr val="FF0000"/>
                </a:solidFill>
              </a:rPr>
            </a:br>
            <a:br>
              <a:rPr lang="es-MX" sz="5400" b="1" dirty="0">
                <a:solidFill>
                  <a:srgbClr val="FF0000"/>
                </a:solidFill>
              </a:rPr>
            </a:br>
            <a:r>
              <a:rPr lang="es-MX" b="1" dirty="0"/>
              <a:t> </a:t>
            </a: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3/12/2025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8</a:t>
            </a:fld>
            <a:endParaRPr lang="es-EC"/>
          </a:p>
        </p:txBody>
      </p:sp>
      <p:pic>
        <p:nvPicPr>
          <p:cNvPr id="10" name="Imagen 9">
            <a:extLst>
              <a:ext uri="{FF2B5EF4-FFF2-40B4-BE49-F238E27FC236}">
                <a16:creationId xmlns:a16="http://schemas.microsoft.com/office/drawing/2014/main" id="{397C5041-B540-474D-9609-312B4DABEDD5}"/>
              </a:ext>
            </a:extLst>
          </p:cNvPr>
          <p:cNvPicPr>
            <a:picLocks noChangeAspect="1"/>
          </p:cNvPicPr>
          <p:nvPr/>
        </p:nvPicPr>
        <p:blipFill>
          <a:blip r:embed="rId2"/>
          <a:stretch>
            <a:fillRect/>
          </a:stretch>
        </p:blipFill>
        <p:spPr>
          <a:xfrm>
            <a:off x="3444240" y="1465153"/>
            <a:ext cx="6232725" cy="4326047"/>
          </a:xfrm>
          <a:prstGeom prst="rect">
            <a:avLst/>
          </a:prstGeom>
        </p:spPr>
      </p:pic>
      <p:sp>
        <p:nvSpPr>
          <p:cNvPr id="11" name="CuadroTexto 10">
            <a:extLst>
              <a:ext uri="{FF2B5EF4-FFF2-40B4-BE49-F238E27FC236}">
                <a16:creationId xmlns:a16="http://schemas.microsoft.com/office/drawing/2014/main" id="{9B3C667F-58CF-4CD6-91E0-8DBB461CB7E5}"/>
              </a:ext>
            </a:extLst>
          </p:cNvPr>
          <p:cNvSpPr txBox="1"/>
          <p:nvPr/>
        </p:nvSpPr>
        <p:spPr>
          <a:xfrm>
            <a:off x="3707538" y="6075145"/>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4.9</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1880377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945288" y="4308064"/>
            <a:ext cx="10972800" cy="1600200"/>
          </a:xfrm>
        </p:spPr>
        <p:txBody>
          <a:bodyPr/>
          <a:lstStyle/>
          <a:p>
            <a:r>
              <a:rPr lang="es-MX" sz="4000" b="1" dirty="0"/>
              <a:t>Problema 4.9: (Aplicación de la sentencia for como un bucle ascendente) </a:t>
            </a:r>
            <a:br>
              <a:rPr lang="es-MX" sz="5400" b="1" dirty="0">
                <a:solidFill>
                  <a:srgbClr val="FF0000"/>
                </a:solidFill>
              </a:rPr>
            </a:br>
            <a:br>
              <a:rPr lang="es-MX" sz="5400" b="1" dirty="0">
                <a:solidFill>
                  <a:srgbClr val="FF0000"/>
                </a:solidFill>
              </a:rPr>
            </a:br>
            <a:r>
              <a:rPr lang="es-MX" b="1" dirty="0"/>
              <a:t> </a:t>
            </a: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3/12/2025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9</a:t>
            </a:fld>
            <a:endParaRPr lang="es-EC"/>
          </a:p>
        </p:txBody>
      </p:sp>
      <p:pic>
        <p:nvPicPr>
          <p:cNvPr id="6" name="Imagen 5">
            <a:extLst>
              <a:ext uri="{FF2B5EF4-FFF2-40B4-BE49-F238E27FC236}">
                <a16:creationId xmlns:a16="http://schemas.microsoft.com/office/drawing/2014/main" id="{0981BD6C-D5AC-4220-A295-2FAA6C8B53BD}"/>
              </a:ext>
            </a:extLst>
          </p:cNvPr>
          <p:cNvPicPr>
            <a:picLocks noChangeAspect="1"/>
          </p:cNvPicPr>
          <p:nvPr/>
        </p:nvPicPr>
        <p:blipFill>
          <a:blip r:embed="rId2"/>
          <a:stretch>
            <a:fillRect/>
          </a:stretch>
        </p:blipFill>
        <p:spPr>
          <a:xfrm>
            <a:off x="4491408" y="2486812"/>
            <a:ext cx="5383705" cy="2298487"/>
          </a:xfrm>
          <a:prstGeom prst="rect">
            <a:avLst/>
          </a:prstGeom>
        </p:spPr>
      </p:pic>
      <p:sp>
        <p:nvSpPr>
          <p:cNvPr id="12" name="CuadroTexto 11">
            <a:extLst>
              <a:ext uri="{FF2B5EF4-FFF2-40B4-BE49-F238E27FC236}">
                <a16:creationId xmlns:a16="http://schemas.microsoft.com/office/drawing/2014/main" id="{B137D952-ACC5-4670-92A2-5CADC1AF15C2}"/>
              </a:ext>
            </a:extLst>
          </p:cNvPr>
          <p:cNvSpPr txBox="1"/>
          <p:nvPr/>
        </p:nvSpPr>
        <p:spPr>
          <a:xfrm>
            <a:off x="1381760" y="2486812"/>
            <a:ext cx="2783840" cy="1938992"/>
          </a:xfrm>
          <a:prstGeom prst="rect">
            <a:avLst/>
          </a:prstGeom>
          <a:noFill/>
        </p:spPr>
        <p:txBody>
          <a:bodyPr wrap="square">
            <a:spAutoFit/>
          </a:bodyPr>
          <a:lstStyle/>
          <a:p>
            <a:r>
              <a:rPr lang="es-MX" sz="2000" dirty="0">
                <a:solidFill>
                  <a:schemeClr val="tx1">
                    <a:lumMod val="50000"/>
                    <a:lumOff val="50000"/>
                  </a:schemeClr>
                </a:solidFill>
                <a:latin typeface="+mj-lt"/>
              </a:rPr>
              <a:t>En la salida de la Ejecución 4.9 se puede ver la impresión del 1 al 10 de manera creciente. </a:t>
            </a:r>
            <a:endParaRPr lang="es-EC" sz="2000" dirty="0">
              <a:solidFill>
                <a:schemeClr val="tx1">
                  <a:lumMod val="50000"/>
                  <a:lumOff val="50000"/>
                </a:schemeClr>
              </a:solidFill>
              <a:latin typeface="+mj-lt"/>
            </a:endParaRPr>
          </a:p>
        </p:txBody>
      </p:sp>
      <p:sp>
        <p:nvSpPr>
          <p:cNvPr id="13" name="CuadroTexto 12">
            <a:extLst>
              <a:ext uri="{FF2B5EF4-FFF2-40B4-BE49-F238E27FC236}">
                <a16:creationId xmlns:a16="http://schemas.microsoft.com/office/drawing/2014/main" id="{B1572C3B-9653-46F2-8585-4BE7AACFE9EF}"/>
              </a:ext>
            </a:extLst>
          </p:cNvPr>
          <p:cNvSpPr txBox="1"/>
          <p:nvPr/>
        </p:nvSpPr>
        <p:spPr>
          <a:xfrm>
            <a:off x="4491408" y="5023616"/>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4.9</a:t>
            </a:r>
            <a:r>
              <a:rPr lang="es-ES" sz="1200" dirty="0">
                <a:solidFill>
                  <a:schemeClr val="tx1">
                    <a:lumMod val="50000"/>
                    <a:lumOff val="50000"/>
                  </a:schemeClr>
                </a:solidFill>
                <a:latin typeface="+mj-lt"/>
              </a:rPr>
              <a:t>. 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1576967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006248" y="3840704"/>
            <a:ext cx="10972800" cy="1600200"/>
          </a:xfrm>
        </p:spPr>
        <p:txBody>
          <a:bodyPr/>
          <a:lstStyle/>
          <a:p>
            <a:r>
              <a:rPr lang="es-MX" sz="4000" b="1" dirty="0"/>
              <a:t>Problema 4.9: (Aplicación de la sentencia for como un bucle ascendente) </a:t>
            </a:r>
            <a:br>
              <a:rPr lang="es-MX" sz="5400" b="1" dirty="0">
                <a:solidFill>
                  <a:srgbClr val="FF0000"/>
                </a:solidFill>
              </a:rPr>
            </a:br>
            <a:br>
              <a:rPr lang="es-MX" sz="5400" b="1" dirty="0">
                <a:solidFill>
                  <a:srgbClr val="FF0000"/>
                </a:solidFill>
              </a:rPr>
            </a:br>
            <a:r>
              <a:rPr lang="es-MX" b="1" dirty="0"/>
              <a:t> </a:t>
            </a:r>
            <a:br>
              <a:rPr lang="es-MX" sz="5400" b="1" dirty="0">
                <a:solidFill>
                  <a:srgbClr val="FF0000"/>
                </a:solidFill>
              </a:rPr>
            </a:br>
            <a:br>
              <a:rPr lang="es-MX" sz="5400" b="1" dirty="0">
                <a:solidFill>
                  <a:srgbClr val="FF0000"/>
                </a:solidFill>
              </a:rPr>
            </a:br>
            <a:r>
              <a:rPr lang="es-MX" b="1" dirty="0"/>
              <a:t> </a:t>
            </a: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3/12/2025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10</a:t>
            </a:fld>
            <a:endParaRPr lang="es-EC"/>
          </a:p>
        </p:txBody>
      </p:sp>
      <p:sp>
        <p:nvSpPr>
          <p:cNvPr id="12" name="CuadroTexto 11">
            <a:extLst>
              <a:ext uri="{FF2B5EF4-FFF2-40B4-BE49-F238E27FC236}">
                <a16:creationId xmlns:a16="http://schemas.microsoft.com/office/drawing/2014/main" id="{B137D952-ACC5-4670-92A2-5CADC1AF15C2}"/>
              </a:ext>
            </a:extLst>
          </p:cNvPr>
          <p:cNvSpPr txBox="1"/>
          <p:nvPr/>
        </p:nvSpPr>
        <p:spPr>
          <a:xfrm>
            <a:off x="1381760" y="2486812"/>
            <a:ext cx="2783840" cy="3477875"/>
          </a:xfrm>
          <a:prstGeom prst="rect">
            <a:avLst/>
          </a:prstGeom>
          <a:noFill/>
        </p:spPr>
        <p:txBody>
          <a:bodyPr wrap="square">
            <a:spAutoFit/>
          </a:bodyPr>
          <a:lstStyle/>
          <a:p>
            <a:r>
              <a:rPr lang="es-MX" sz="2000" dirty="0">
                <a:solidFill>
                  <a:schemeClr val="tx1">
                    <a:lumMod val="50000"/>
                    <a:lumOff val="50000"/>
                  </a:schemeClr>
                </a:solidFill>
                <a:latin typeface="+mj-lt"/>
              </a:rPr>
              <a:t>En la Tabla 4.9 se puede ver la prueba de escritorio del programa, donde se puede ver que en cada iteración del bucle el contador se incrementa en uno, mientras la condición del bucle sea verdadera. </a:t>
            </a:r>
            <a:endParaRPr lang="es-EC" sz="2000" dirty="0">
              <a:solidFill>
                <a:schemeClr val="tx1">
                  <a:lumMod val="50000"/>
                  <a:lumOff val="50000"/>
                </a:schemeClr>
              </a:solidFill>
              <a:latin typeface="+mj-lt"/>
            </a:endParaRPr>
          </a:p>
        </p:txBody>
      </p:sp>
      <p:pic>
        <p:nvPicPr>
          <p:cNvPr id="7" name="Imagen 6">
            <a:extLst>
              <a:ext uri="{FF2B5EF4-FFF2-40B4-BE49-F238E27FC236}">
                <a16:creationId xmlns:a16="http://schemas.microsoft.com/office/drawing/2014/main" id="{A87A60CC-5322-4370-8E55-06DC38B9E13F}"/>
              </a:ext>
            </a:extLst>
          </p:cNvPr>
          <p:cNvPicPr>
            <a:picLocks noChangeAspect="1"/>
          </p:cNvPicPr>
          <p:nvPr/>
        </p:nvPicPr>
        <p:blipFill>
          <a:blip r:embed="rId2"/>
          <a:stretch>
            <a:fillRect/>
          </a:stretch>
        </p:blipFill>
        <p:spPr>
          <a:xfrm>
            <a:off x="5408930" y="2621932"/>
            <a:ext cx="4544059" cy="1095528"/>
          </a:xfrm>
          <a:prstGeom prst="rect">
            <a:avLst/>
          </a:prstGeom>
        </p:spPr>
      </p:pic>
      <p:pic>
        <p:nvPicPr>
          <p:cNvPr id="9" name="Imagen 8">
            <a:extLst>
              <a:ext uri="{FF2B5EF4-FFF2-40B4-BE49-F238E27FC236}">
                <a16:creationId xmlns:a16="http://schemas.microsoft.com/office/drawing/2014/main" id="{A33B5634-C16B-4BFF-88BC-EB388D6BA765}"/>
              </a:ext>
            </a:extLst>
          </p:cNvPr>
          <p:cNvPicPr>
            <a:picLocks noChangeAspect="1"/>
          </p:cNvPicPr>
          <p:nvPr/>
        </p:nvPicPr>
        <p:blipFill>
          <a:blip r:embed="rId3"/>
          <a:stretch>
            <a:fillRect/>
          </a:stretch>
        </p:blipFill>
        <p:spPr>
          <a:xfrm>
            <a:off x="5542298" y="3585156"/>
            <a:ext cx="4277322" cy="1886213"/>
          </a:xfrm>
          <a:prstGeom prst="rect">
            <a:avLst/>
          </a:prstGeom>
        </p:spPr>
      </p:pic>
    </p:spTree>
    <p:extLst>
      <p:ext uri="{BB962C8B-B14F-4D97-AF65-F5344CB8AC3E}">
        <p14:creationId xmlns:p14="http://schemas.microsoft.com/office/powerpoint/2010/main" val="691101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lnSpc>
                <a:spcPct val="90000"/>
              </a:lnSpc>
            </a:pPr>
            <a:r>
              <a:rPr lang="es-MX" sz="2800" dirty="0"/>
              <a:t>La sentencia for</a:t>
            </a:r>
          </a:p>
          <a:p>
            <a:pPr lvl="1">
              <a:lnSpc>
                <a:spcPct val="90000"/>
              </a:lnSpc>
            </a:pPr>
            <a:r>
              <a:rPr lang="es-MX" sz="2800" dirty="0"/>
              <a:t>Problema 4.9: (Aplicación de la sentencia for como un bucle ascendente) </a:t>
            </a:r>
          </a:p>
          <a:p>
            <a:pPr lvl="1">
              <a:lnSpc>
                <a:spcPct val="90000"/>
              </a:lnSpc>
            </a:pPr>
            <a:r>
              <a:rPr lang="es-MX" sz="3100" b="1" dirty="0">
                <a:solidFill>
                  <a:srgbClr val="FF0000"/>
                </a:solidFill>
              </a:rPr>
              <a:t>Problema 4.10: (Aplicación de la sentencia for como un bucle descendente) </a:t>
            </a:r>
          </a:p>
          <a:p>
            <a:pPr lvl="1">
              <a:lnSpc>
                <a:spcPct val="90000"/>
              </a:lnSpc>
            </a:pPr>
            <a:r>
              <a:rPr lang="es-MX" sz="2800" dirty="0"/>
              <a:t>Caso de Estudio 4.5: Sumatoria de una sucesión </a:t>
            </a:r>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3/12/2025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11</a:t>
            </a:fld>
            <a:endParaRPr lang="es-EC">
              <a:solidFill>
                <a:prstClr val="black">
                  <a:lumMod val="65000"/>
                  <a:lumOff val="35000"/>
                </a:prstClr>
              </a:solidFill>
            </a:endParaRPr>
          </a:p>
        </p:txBody>
      </p:sp>
    </p:spTree>
    <p:extLst>
      <p:ext uri="{BB962C8B-B14F-4D97-AF65-F5344CB8AC3E}">
        <p14:creationId xmlns:p14="http://schemas.microsoft.com/office/powerpoint/2010/main" val="3351899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914808" y="4592544"/>
            <a:ext cx="10972800" cy="1600200"/>
          </a:xfrm>
        </p:spPr>
        <p:txBody>
          <a:bodyPr/>
          <a:lstStyle/>
          <a:p>
            <a:r>
              <a:rPr lang="es-MX" sz="4000" b="1" dirty="0"/>
              <a:t>Problema 4.10: (Aplicación de la sentencia for como un bucle descendente) </a:t>
            </a:r>
            <a:br>
              <a:rPr lang="es-MX" sz="5400" b="1" dirty="0">
                <a:solidFill>
                  <a:srgbClr val="FF0000"/>
                </a:solidFill>
              </a:rPr>
            </a:br>
            <a:br>
              <a:rPr lang="es-MX" sz="5400" b="1" dirty="0">
                <a:solidFill>
                  <a:srgbClr val="FF0000"/>
                </a:solidFill>
              </a:rPr>
            </a:br>
            <a:r>
              <a:rPr lang="es-MX" b="1" dirty="0"/>
              <a:t> </a:t>
            </a: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3/12/2025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12</a:t>
            </a:fld>
            <a:endParaRPr lang="es-EC"/>
          </a:p>
        </p:txBody>
      </p:sp>
      <p:sp>
        <p:nvSpPr>
          <p:cNvPr id="7" name="Marcador de contenido 2">
            <a:extLst>
              <a:ext uri="{FF2B5EF4-FFF2-40B4-BE49-F238E27FC236}">
                <a16:creationId xmlns:a16="http://schemas.microsoft.com/office/drawing/2014/main" id="{51B66AFF-D605-45C7-8750-6946F3E5C2FA}"/>
              </a:ext>
            </a:extLst>
          </p:cNvPr>
          <p:cNvSpPr>
            <a:spLocks noGrp="1"/>
          </p:cNvSpPr>
          <p:nvPr>
            <p:ph idx="1"/>
          </p:nvPr>
        </p:nvSpPr>
        <p:spPr>
          <a:xfrm>
            <a:off x="1525137" y="2265456"/>
            <a:ext cx="3544704" cy="1600200"/>
          </a:xfrm>
        </p:spPr>
        <p:txBody>
          <a:bodyPr>
            <a:normAutofit fontScale="92500" lnSpcReduction="20000"/>
          </a:bodyPr>
          <a:lstStyle/>
          <a:p>
            <a:pPr marL="0" indent="0">
              <a:buNone/>
            </a:pPr>
            <a:r>
              <a:rPr lang="es-MX" sz="2000" dirty="0"/>
              <a:t>Problema 4.10: Escribir un programa que permita imprimir de manera descendente los números del 10 al 1 utilizando un bucle for().</a:t>
            </a:r>
            <a:endParaRPr lang="es-EC" sz="2800" b="1" dirty="0"/>
          </a:p>
        </p:txBody>
      </p:sp>
      <p:pic>
        <p:nvPicPr>
          <p:cNvPr id="6" name="Imagen 5">
            <a:extLst>
              <a:ext uri="{FF2B5EF4-FFF2-40B4-BE49-F238E27FC236}">
                <a16:creationId xmlns:a16="http://schemas.microsoft.com/office/drawing/2014/main" id="{E59C17F2-D792-4CBF-9A9A-B290BCCA3DFC}"/>
              </a:ext>
            </a:extLst>
          </p:cNvPr>
          <p:cNvPicPr>
            <a:picLocks noChangeAspect="1"/>
          </p:cNvPicPr>
          <p:nvPr/>
        </p:nvPicPr>
        <p:blipFill>
          <a:blip r:embed="rId2"/>
          <a:stretch>
            <a:fillRect/>
          </a:stretch>
        </p:blipFill>
        <p:spPr>
          <a:xfrm>
            <a:off x="1340283" y="3733651"/>
            <a:ext cx="7459116" cy="2133898"/>
          </a:xfrm>
          <a:prstGeom prst="rect">
            <a:avLst/>
          </a:prstGeom>
        </p:spPr>
      </p:pic>
    </p:spTree>
    <p:extLst>
      <p:ext uri="{BB962C8B-B14F-4D97-AF65-F5344CB8AC3E}">
        <p14:creationId xmlns:p14="http://schemas.microsoft.com/office/powerpoint/2010/main" val="1657031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975768" y="4361314"/>
            <a:ext cx="10972800" cy="1600200"/>
          </a:xfrm>
        </p:spPr>
        <p:txBody>
          <a:bodyPr/>
          <a:lstStyle/>
          <a:p>
            <a:r>
              <a:rPr lang="es-MX" sz="4000" b="1" dirty="0"/>
              <a:t>Problema 4.10: (Aplicación de la sentencia for como un bucle descendente) </a:t>
            </a:r>
            <a:br>
              <a:rPr lang="es-MX" sz="5400" b="1" dirty="0">
                <a:solidFill>
                  <a:srgbClr val="FF0000"/>
                </a:solidFill>
              </a:rPr>
            </a:br>
            <a:br>
              <a:rPr lang="es-MX" sz="5400" b="1" dirty="0">
                <a:solidFill>
                  <a:srgbClr val="FF0000"/>
                </a:solidFill>
              </a:rPr>
            </a:br>
            <a:r>
              <a:rPr lang="es-MX" b="1" dirty="0"/>
              <a:t> </a:t>
            </a: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3/12/2025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13</a:t>
            </a:fld>
            <a:endParaRPr lang="es-EC"/>
          </a:p>
        </p:txBody>
      </p:sp>
      <p:sp>
        <p:nvSpPr>
          <p:cNvPr id="7" name="Marcador de contenido 2">
            <a:extLst>
              <a:ext uri="{FF2B5EF4-FFF2-40B4-BE49-F238E27FC236}">
                <a16:creationId xmlns:a16="http://schemas.microsoft.com/office/drawing/2014/main" id="{51B66AFF-D605-45C7-8750-6946F3E5C2FA}"/>
              </a:ext>
            </a:extLst>
          </p:cNvPr>
          <p:cNvSpPr>
            <a:spLocks noGrp="1"/>
          </p:cNvSpPr>
          <p:nvPr>
            <p:ph idx="1"/>
          </p:nvPr>
        </p:nvSpPr>
        <p:spPr>
          <a:xfrm>
            <a:off x="1525137" y="2265456"/>
            <a:ext cx="3544704" cy="1600200"/>
          </a:xfrm>
        </p:spPr>
        <p:txBody>
          <a:bodyPr>
            <a:normAutofit fontScale="92500" lnSpcReduction="20000"/>
          </a:bodyPr>
          <a:lstStyle/>
          <a:p>
            <a:pPr marL="0" indent="0">
              <a:buNone/>
            </a:pPr>
            <a:r>
              <a:rPr lang="es-MX" sz="2000" dirty="0"/>
              <a:t>Problema 4.10: Escribir un programa que permita imprimir de manera descendente los números del 10 al 1 utilizando un bucle for().</a:t>
            </a:r>
            <a:endParaRPr lang="es-EC" sz="2800" b="1" dirty="0"/>
          </a:p>
        </p:txBody>
      </p:sp>
      <p:pic>
        <p:nvPicPr>
          <p:cNvPr id="8" name="Imagen 7">
            <a:extLst>
              <a:ext uri="{FF2B5EF4-FFF2-40B4-BE49-F238E27FC236}">
                <a16:creationId xmlns:a16="http://schemas.microsoft.com/office/drawing/2014/main" id="{50C8E1A3-AC42-4D36-B02C-354F1E40C37A}"/>
              </a:ext>
            </a:extLst>
          </p:cNvPr>
          <p:cNvPicPr>
            <a:picLocks noChangeAspect="1"/>
          </p:cNvPicPr>
          <p:nvPr/>
        </p:nvPicPr>
        <p:blipFill>
          <a:blip r:embed="rId2"/>
          <a:stretch>
            <a:fillRect/>
          </a:stretch>
        </p:blipFill>
        <p:spPr>
          <a:xfrm>
            <a:off x="5069841" y="1413698"/>
            <a:ext cx="4964653" cy="4942653"/>
          </a:xfrm>
          <a:prstGeom prst="rect">
            <a:avLst/>
          </a:prstGeom>
        </p:spPr>
      </p:pic>
      <p:sp>
        <p:nvSpPr>
          <p:cNvPr id="9" name="CuadroTexto 8">
            <a:extLst>
              <a:ext uri="{FF2B5EF4-FFF2-40B4-BE49-F238E27FC236}">
                <a16:creationId xmlns:a16="http://schemas.microsoft.com/office/drawing/2014/main" id="{4B7710A8-4AEA-40D0-BD38-25048BE51C8B}"/>
              </a:ext>
            </a:extLst>
          </p:cNvPr>
          <p:cNvSpPr txBox="1"/>
          <p:nvPr/>
        </p:nvSpPr>
        <p:spPr>
          <a:xfrm>
            <a:off x="5107020" y="6352542"/>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4.10</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10278910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945288" y="4308064"/>
            <a:ext cx="10972800" cy="1600200"/>
          </a:xfrm>
        </p:spPr>
        <p:txBody>
          <a:bodyPr/>
          <a:lstStyle/>
          <a:p>
            <a:r>
              <a:rPr lang="es-MX" sz="4000" b="1" dirty="0"/>
              <a:t>Problema 4.10: (Aplicación de la sentencia for como un bucle descendente) </a:t>
            </a:r>
            <a:br>
              <a:rPr lang="es-MX" sz="5400" b="1" dirty="0">
                <a:solidFill>
                  <a:srgbClr val="FF0000"/>
                </a:solidFill>
              </a:rPr>
            </a:br>
            <a:br>
              <a:rPr lang="es-MX" sz="5400" b="1" dirty="0">
                <a:solidFill>
                  <a:srgbClr val="FF0000"/>
                </a:solidFill>
              </a:rPr>
            </a:br>
            <a:r>
              <a:rPr lang="es-MX" b="1" dirty="0"/>
              <a:t> </a:t>
            </a: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3/12/2025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14</a:t>
            </a:fld>
            <a:endParaRPr lang="es-EC"/>
          </a:p>
        </p:txBody>
      </p:sp>
      <p:sp>
        <p:nvSpPr>
          <p:cNvPr id="12" name="CuadroTexto 11">
            <a:extLst>
              <a:ext uri="{FF2B5EF4-FFF2-40B4-BE49-F238E27FC236}">
                <a16:creationId xmlns:a16="http://schemas.microsoft.com/office/drawing/2014/main" id="{B137D952-ACC5-4670-92A2-5CADC1AF15C2}"/>
              </a:ext>
            </a:extLst>
          </p:cNvPr>
          <p:cNvSpPr txBox="1"/>
          <p:nvPr/>
        </p:nvSpPr>
        <p:spPr>
          <a:xfrm>
            <a:off x="1381760" y="2486812"/>
            <a:ext cx="2783840" cy="1846659"/>
          </a:xfrm>
          <a:prstGeom prst="rect">
            <a:avLst/>
          </a:prstGeom>
          <a:noFill/>
        </p:spPr>
        <p:txBody>
          <a:bodyPr wrap="square">
            <a:spAutoFit/>
          </a:bodyPr>
          <a:lstStyle/>
          <a:p>
            <a:r>
              <a:rPr lang="es-MX" sz="1900" dirty="0">
                <a:solidFill>
                  <a:schemeClr val="tx1">
                    <a:lumMod val="50000"/>
                    <a:lumOff val="50000"/>
                  </a:schemeClr>
                </a:solidFill>
                <a:latin typeface="+mj-lt"/>
              </a:rPr>
              <a:t>En la salida de la Ejecución 4.10 se puede ver la impresión del 10 al 1 de manera decreciente. </a:t>
            </a:r>
            <a:endParaRPr lang="es-EC" sz="1900" dirty="0">
              <a:solidFill>
                <a:schemeClr val="tx1">
                  <a:lumMod val="50000"/>
                  <a:lumOff val="50000"/>
                </a:schemeClr>
              </a:solidFill>
              <a:latin typeface="+mj-lt"/>
            </a:endParaRPr>
          </a:p>
        </p:txBody>
      </p:sp>
      <p:sp>
        <p:nvSpPr>
          <p:cNvPr id="13" name="CuadroTexto 12">
            <a:extLst>
              <a:ext uri="{FF2B5EF4-FFF2-40B4-BE49-F238E27FC236}">
                <a16:creationId xmlns:a16="http://schemas.microsoft.com/office/drawing/2014/main" id="{B1572C3B-9653-46F2-8585-4BE7AACFE9EF}"/>
              </a:ext>
            </a:extLst>
          </p:cNvPr>
          <p:cNvSpPr txBox="1"/>
          <p:nvPr/>
        </p:nvSpPr>
        <p:spPr>
          <a:xfrm>
            <a:off x="4491408" y="5023616"/>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4.10</a:t>
            </a:r>
            <a:r>
              <a:rPr lang="es-ES" sz="1200" dirty="0">
                <a:solidFill>
                  <a:schemeClr val="tx1">
                    <a:lumMod val="50000"/>
                    <a:lumOff val="50000"/>
                  </a:schemeClr>
                </a:solidFill>
                <a:latin typeface="+mj-lt"/>
              </a:rPr>
              <a:t>. 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pic>
        <p:nvPicPr>
          <p:cNvPr id="7" name="Imagen 6">
            <a:extLst>
              <a:ext uri="{FF2B5EF4-FFF2-40B4-BE49-F238E27FC236}">
                <a16:creationId xmlns:a16="http://schemas.microsoft.com/office/drawing/2014/main" id="{4D1DAAAB-102B-4415-84E0-8249B168FD4B}"/>
              </a:ext>
            </a:extLst>
          </p:cNvPr>
          <p:cNvPicPr>
            <a:picLocks noChangeAspect="1"/>
          </p:cNvPicPr>
          <p:nvPr/>
        </p:nvPicPr>
        <p:blipFill>
          <a:blip r:embed="rId2"/>
          <a:stretch>
            <a:fillRect/>
          </a:stretch>
        </p:blipFill>
        <p:spPr>
          <a:xfrm>
            <a:off x="4491408" y="2374559"/>
            <a:ext cx="5052748" cy="2291281"/>
          </a:xfrm>
          <a:prstGeom prst="rect">
            <a:avLst/>
          </a:prstGeom>
        </p:spPr>
      </p:pic>
    </p:spTree>
    <p:extLst>
      <p:ext uri="{BB962C8B-B14F-4D97-AF65-F5344CB8AC3E}">
        <p14:creationId xmlns:p14="http://schemas.microsoft.com/office/powerpoint/2010/main" val="10491668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945288" y="4308064"/>
            <a:ext cx="10972800" cy="1600200"/>
          </a:xfrm>
        </p:spPr>
        <p:txBody>
          <a:bodyPr/>
          <a:lstStyle/>
          <a:p>
            <a:r>
              <a:rPr lang="es-MX" sz="4000" b="1" dirty="0"/>
              <a:t>Problema 4.10: (Aplicación de la sentencia for como un bucle descendente) </a:t>
            </a:r>
            <a:br>
              <a:rPr lang="es-MX" sz="5400" b="1" dirty="0">
                <a:solidFill>
                  <a:srgbClr val="FF0000"/>
                </a:solidFill>
              </a:rPr>
            </a:br>
            <a:br>
              <a:rPr lang="es-MX" sz="5400" b="1" dirty="0">
                <a:solidFill>
                  <a:srgbClr val="FF0000"/>
                </a:solidFill>
              </a:rPr>
            </a:br>
            <a:r>
              <a:rPr lang="es-MX" b="1" dirty="0"/>
              <a:t> </a:t>
            </a: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3/12/2025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15</a:t>
            </a:fld>
            <a:endParaRPr lang="es-EC"/>
          </a:p>
        </p:txBody>
      </p:sp>
      <p:sp>
        <p:nvSpPr>
          <p:cNvPr id="12" name="CuadroTexto 11">
            <a:extLst>
              <a:ext uri="{FF2B5EF4-FFF2-40B4-BE49-F238E27FC236}">
                <a16:creationId xmlns:a16="http://schemas.microsoft.com/office/drawing/2014/main" id="{B137D952-ACC5-4670-92A2-5CADC1AF15C2}"/>
              </a:ext>
            </a:extLst>
          </p:cNvPr>
          <p:cNvSpPr txBox="1"/>
          <p:nvPr/>
        </p:nvSpPr>
        <p:spPr>
          <a:xfrm>
            <a:off x="1381760" y="2486812"/>
            <a:ext cx="2783840" cy="3308598"/>
          </a:xfrm>
          <a:prstGeom prst="rect">
            <a:avLst/>
          </a:prstGeom>
          <a:noFill/>
        </p:spPr>
        <p:txBody>
          <a:bodyPr wrap="square">
            <a:spAutoFit/>
          </a:bodyPr>
          <a:lstStyle/>
          <a:p>
            <a:r>
              <a:rPr lang="es-MX" sz="1900" dirty="0">
                <a:solidFill>
                  <a:schemeClr val="tx1">
                    <a:lumMod val="50000"/>
                    <a:lumOff val="50000"/>
                  </a:schemeClr>
                </a:solidFill>
                <a:latin typeface="+mj-lt"/>
              </a:rPr>
              <a:t>En la Tabla 4.10 se puede ver la prueba de escritorio del programa, donde se puede ver que en cada iteración del bucle el contador se decrementa en uno, mientras la condición del bucle sea verdadera. </a:t>
            </a:r>
            <a:endParaRPr lang="es-EC" sz="1900" dirty="0">
              <a:solidFill>
                <a:schemeClr val="tx1">
                  <a:lumMod val="50000"/>
                  <a:lumOff val="50000"/>
                </a:schemeClr>
              </a:solidFill>
              <a:latin typeface="+mj-lt"/>
            </a:endParaRPr>
          </a:p>
        </p:txBody>
      </p:sp>
      <p:pic>
        <p:nvPicPr>
          <p:cNvPr id="6" name="Imagen 5">
            <a:extLst>
              <a:ext uri="{FF2B5EF4-FFF2-40B4-BE49-F238E27FC236}">
                <a16:creationId xmlns:a16="http://schemas.microsoft.com/office/drawing/2014/main" id="{72C281B2-2C44-427D-80D5-E1F42DBDB018}"/>
              </a:ext>
            </a:extLst>
          </p:cNvPr>
          <p:cNvPicPr>
            <a:picLocks noChangeAspect="1"/>
          </p:cNvPicPr>
          <p:nvPr/>
        </p:nvPicPr>
        <p:blipFill>
          <a:blip r:embed="rId2"/>
          <a:stretch>
            <a:fillRect/>
          </a:stretch>
        </p:blipFill>
        <p:spPr>
          <a:xfrm>
            <a:off x="4490312" y="2469133"/>
            <a:ext cx="4324954" cy="2781688"/>
          </a:xfrm>
          <a:prstGeom prst="rect">
            <a:avLst/>
          </a:prstGeom>
        </p:spPr>
      </p:pic>
    </p:spTree>
    <p:extLst>
      <p:ext uri="{BB962C8B-B14F-4D97-AF65-F5344CB8AC3E}">
        <p14:creationId xmlns:p14="http://schemas.microsoft.com/office/powerpoint/2010/main" val="37966306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lnSpc>
                <a:spcPct val="90000"/>
              </a:lnSpc>
            </a:pPr>
            <a:r>
              <a:rPr lang="es-MX" sz="2800" dirty="0"/>
              <a:t>La sentencia for</a:t>
            </a:r>
          </a:p>
          <a:p>
            <a:pPr lvl="1">
              <a:lnSpc>
                <a:spcPct val="90000"/>
              </a:lnSpc>
            </a:pPr>
            <a:r>
              <a:rPr lang="es-MX" sz="2800" dirty="0"/>
              <a:t>Problema 4.9: (Aplicación de la sentencia for como un bucle ascendente) </a:t>
            </a:r>
          </a:p>
          <a:p>
            <a:pPr lvl="1">
              <a:lnSpc>
                <a:spcPct val="90000"/>
              </a:lnSpc>
            </a:pPr>
            <a:r>
              <a:rPr lang="es-MX" sz="2800" dirty="0"/>
              <a:t>Problema 4.10: (Aplicación de la sentencia for como un bucle descendente) </a:t>
            </a:r>
          </a:p>
          <a:p>
            <a:pPr lvl="1">
              <a:lnSpc>
                <a:spcPct val="90000"/>
              </a:lnSpc>
            </a:pPr>
            <a:r>
              <a:rPr lang="es-MX" sz="3100" b="1" dirty="0">
                <a:solidFill>
                  <a:srgbClr val="FF0000"/>
                </a:solidFill>
              </a:rPr>
              <a:t>Caso de Estudio 4.5: Sumatoria de una sucesión </a:t>
            </a:r>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3/12/2025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16</a:t>
            </a:fld>
            <a:endParaRPr lang="es-EC">
              <a:solidFill>
                <a:prstClr val="black">
                  <a:lumMod val="65000"/>
                  <a:lumOff val="35000"/>
                </a:prstClr>
              </a:solidFill>
            </a:endParaRPr>
          </a:p>
        </p:txBody>
      </p:sp>
    </p:spTree>
    <p:extLst>
      <p:ext uri="{BB962C8B-B14F-4D97-AF65-F5344CB8AC3E}">
        <p14:creationId xmlns:p14="http://schemas.microsoft.com/office/powerpoint/2010/main" val="26487692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167538" y="5676357"/>
            <a:ext cx="10972800" cy="1600200"/>
          </a:xfrm>
        </p:spPr>
        <p:txBody>
          <a:bodyPr/>
          <a:lstStyle/>
          <a:p>
            <a:r>
              <a:rPr lang="es-MX" sz="4000" b="1" dirty="0"/>
              <a:t>Caso</a:t>
            </a:r>
            <a:r>
              <a:rPr lang="es-MX" sz="5400" b="1" dirty="0">
                <a:solidFill>
                  <a:srgbClr val="FF0000"/>
                </a:solidFill>
              </a:rPr>
              <a:t> </a:t>
            </a:r>
            <a:r>
              <a:rPr lang="es-MX" sz="4000" b="1" dirty="0"/>
              <a:t>de Estudio 4.5: Sumatoria de una sucesión </a:t>
            </a:r>
            <a:br>
              <a:rPr lang="es-MX" sz="5400" b="1" dirty="0">
                <a:solidFill>
                  <a:srgbClr val="FF0000"/>
                </a:solidFill>
              </a:rPr>
            </a:br>
            <a:br>
              <a:rPr lang="es-MX" sz="5400" b="1" dirty="0">
                <a:solidFill>
                  <a:srgbClr val="FF0000"/>
                </a:solidFill>
              </a:rPr>
            </a:br>
            <a:br>
              <a:rPr lang="es-MX" sz="5400" b="1" dirty="0">
                <a:solidFill>
                  <a:srgbClr val="FF0000"/>
                </a:solidFill>
              </a:rPr>
            </a:br>
            <a:r>
              <a:rPr lang="es-MX" b="1" dirty="0"/>
              <a:t> </a:t>
            </a: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3/12/2025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17</a:t>
            </a:fld>
            <a:endParaRPr lang="es-EC"/>
          </a:p>
        </p:txBody>
      </p:sp>
      <p:sp>
        <p:nvSpPr>
          <p:cNvPr id="7" name="Marcador de contenido 2">
            <a:extLst>
              <a:ext uri="{FF2B5EF4-FFF2-40B4-BE49-F238E27FC236}">
                <a16:creationId xmlns:a16="http://schemas.microsoft.com/office/drawing/2014/main" id="{51B66AFF-D605-45C7-8750-6946F3E5C2FA}"/>
              </a:ext>
            </a:extLst>
          </p:cNvPr>
          <p:cNvSpPr>
            <a:spLocks noGrp="1"/>
          </p:cNvSpPr>
          <p:nvPr>
            <p:ph idx="1"/>
          </p:nvPr>
        </p:nvSpPr>
        <p:spPr>
          <a:xfrm>
            <a:off x="1525136" y="2265456"/>
            <a:ext cx="8380863" cy="4369024"/>
          </a:xfrm>
        </p:spPr>
        <p:txBody>
          <a:bodyPr>
            <a:normAutofit/>
          </a:bodyPr>
          <a:lstStyle/>
          <a:p>
            <a:pPr marL="457200" indent="-457200">
              <a:buAutoNum type="alphaUcParenR"/>
            </a:pPr>
            <a:r>
              <a:rPr lang="es-MX" sz="2000" dirty="0"/>
              <a:t>Problema </a:t>
            </a:r>
          </a:p>
          <a:p>
            <a:pPr marL="0" indent="0">
              <a:buNone/>
            </a:pPr>
            <a:endParaRPr lang="es-MX" sz="2000" dirty="0"/>
          </a:p>
          <a:p>
            <a:pPr marL="0" indent="0">
              <a:buNone/>
            </a:pPr>
            <a:r>
              <a:rPr lang="es-MX" sz="2000" dirty="0"/>
              <a:t>Dada la sucesión:</a:t>
            </a:r>
          </a:p>
          <a:p>
            <a:pPr marL="514350" indent="-514350">
              <a:buAutoNum type="alphaUcParenR"/>
            </a:pPr>
            <a:endParaRPr lang="es-MX" sz="2000" b="1" dirty="0"/>
          </a:p>
          <a:p>
            <a:pPr marL="0" indent="0">
              <a:buNone/>
            </a:pPr>
            <a:r>
              <a:rPr lang="es-MX" sz="2000" dirty="0"/>
              <a:t>Donde la fórmula de la sumatoria de los n-términos es:</a:t>
            </a:r>
          </a:p>
          <a:p>
            <a:pPr marL="0" indent="0">
              <a:buNone/>
            </a:pPr>
            <a:endParaRPr lang="es-MX" sz="2000" dirty="0"/>
          </a:p>
          <a:p>
            <a:pPr marL="0" indent="0">
              <a:buNone/>
            </a:pPr>
            <a:endParaRPr lang="es-MX" sz="2000" dirty="0"/>
          </a:p>
          <a:p>
            <a:pPr marL="0" indent="0">
              <a:buNone/>
            </a:pPr>
            <a:endParaRPr lang="es-MX" sz="2000" dirty="0"/>
          </a:p>
          <a:p>
            <a:pPr marL="0" indent="0">
              <a:buNone/>
            </a:pPr>
            <a:r>
              <a:rPr lang="es-MX" sz="2000" dirty="0"/>
              <a:t>Escribir un programa que permita calcular la sumatoria de la sucesión, utilizando un bucle </a:t>
            </a:r>
            <a:endParaRPr lang="es-EC" sz="2000" dirty="0"/>
          </a:p>
        </p:txBody>
      </p:sp>
      <p:pic>
        <p:nvPicPr>
          <p:cNvPr id="6" name="Imagen 5">
            <a:extLst>
              <a:ext uri="{FF2B5EF4-FFF2-40B4-BE49-F238E27FC236}">
                <a16:creationId xmlns:a16="http://schemas.microsoft.com/office/drawing/2014/main" id="{E997D459-8B25-415A-9F45-51FAC2728CEA}"/>
              </a:ext>
            </a:extLst>
          </p:cNvPr>
          <p:cNvPicPr>
            <a:picLocks noChangeAspect="1"/>
          </p:cNvPicPr>
          <p:nvPr/>
        </p:nvPicPr>
        <p:blipFill>
          <a:blip r:embed="rId2"/>
          <a:stretch>
            <a:fillRect/>
          </a:stretch>
        </p:blipFill>
        <p:spPr>
          <a:xfrm>
            <a:off x="4521685" y="2879792"/>
            <a:ext cx="2152950" cy="549208"/>
          </a:xfrm>
          <a:prstGeom prst="rect">
            <a:avLst/>
          </a:prstGeom>
        </p:spPr>
      </p:pic>
      <p:pic>
        <p:nvPicPr>
          <p:cNvPr id="11" name="Imagen 10">
            <a:extLst>
              <a:ext uri="{FF2B5EF4-FFF2-40B4-BE49-F238E27FC236}">
                <a16:creationId xmlns:a16="http://schemas.microsoft.com/office/drawing/2014/main" id="{C8E73E14-FC32-4120-A1F4-BB3325A87F06}"/>
              </a:ext>
            </a:extLst>
          </p:cNvPr>
          <p:cNvPicPr>
            <a:picLocks noChangeAspect="1"/>
          </p:cNvPicPr>
          <p:nvPr/>
        </p:nvPicPr>
        <p:blipFill>
          <a:blip r:embed="rId3"/>
          <a:stretch>
            <a:fillRect/>
          </a:stretch>
        </p:blipFill>
        <p:spPr>
          <a:xfrm>
            <a:off x="4771751" y="4049737"/>
            <a:ext cx="1652818" cy="1042712"/>
          </a:xfrm>
          <a:prstGeom prst="rect">
            <a:avLst/>
          </a:prstGeom>
        </p:spPr>
      </p:pic>
    </p:spTree>
    <p:extLst>
      <p:ext uri="{BB962C8B-B14F-4D97-AF65-F5344CB8AC3E}">
        <p14:creationId xmlns:p14="http://schemas.microsoft.com/office/powerpoint/2010/main" val="7975319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167538" y="5676357"/>
            <a:ext cx="10972800" cy="1600200"/>
          </a:xfrm>
        </p:spPr>
        <p:txBody>
          <a:bodyPr/>
          <a:lstStyle/>
          <a:p>
            <a:r>
              <a:rPr lang="es-MX" sz="4000" b="1" dirty="0"/>
              <a:t>Caso</a:t>
            </a:r>
            <a:r>
              <a:rPr lang="es-MX" sz="5400" b="1" dirty="0">
                <a:solidFill>
                  <a:srgbClr val="FF0000"/>
                </a:solidFill>
              </a:rPr>
              <a:t> </a:t>
            </a:r>
            <a:r>
              <a:rPr lang="es-MX" sz="4000" b="1" dirty="0"/>
              <a:t>de Estudio 4.5: Sumatoria de una sucesión </a:t>
            </a:r>
            <a:br>
              <a:rPr lang="es-MX" sz="5400" b="1" dirty="0">
                <a:solidFill>
                  <a:srgbClr val="FF0000"/>
                </a:solidFill>
              </a:rPr>
            </a:br>
            <a:br>
              <a:rPr lang="es-MX" sz="5400" b="1" dirty="0">
                <a:solidFill>
                  <a:srgbClr val="FF0000"/>
                </a:solidFill>
              </a:rPr>
            </a:br>
            <a:br>
              <a:rPr lang="es-MX" sz="5400" b="1" dirty="0">
                <a:solidFill>
                  <a:srgbClr val="FF0000"/>
                </a:solidFill>
              </a:rPr>
            </a:br>
            <a:r>
              <a:rPr lang="es-MX" b="1" dirty="0"/>
              <a:t> </a:t>
            </a: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3/12/2025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18</a:t>
            </a:fld>
            <a:endParaRPr lang="es-EC"/>
          </a:p>
        </p:txBody>
      </p:sp>
      <p:sp>
        <p:nvSpPr>
          <p:cNvPr id="7" name="Marcador de contenido 2">
            <a:extLst>
              <a:ext uri="{FF2B5EF4-FFF2-40B4-BE49-F238E27FC236}">
                <a16:creationId xmlns:a16="http://schemas.microsoft.com/office/drawing/2014/main" id="{51B66AFF-D605-45C7-8750-6946F3E5C2FA}"/>
              </a:ext>
            </a:extLst>
          </p:cNvPr>
          <p:cNvSpPr>
            <a:spLocks noGrp="1"/>
          </p:cNvSpPr>
          <p:nvPr>
            <p:ph idx="1"/>
          </p:nvPr>
        </p:nvSpPr>
        <p:spPr>
          <a:xfrm>
            <a:off x="1525136" y="2265456"/>
            <a:ext cx="8380863" cy="4369024"/>
          </a:xfrm>
        </p:spPr>
        <p:txBody>
          <a:bodyPr>
            <a:normAutofit/>
          </a:bodyPr>
          <a:lstStyle/>
          <a:p>
            <a:pPr marL="0" indent="0">
              <a:buNone/>
            </a:pPr>
            <a:r>
              <a:rPr lang="es-MX" sz="1600" dirty="0"/>
              <a:t>B) Análisis</a:t>
            </a:r>
          </a:p>
          <a:p>
            <a:pPr marL="0" indent="0">
              <a:buNone/>
            </a:pPr>
            <a:r>
              <a:rPr lang="es-MX" sz="1600" dirty="0"/>
              <a:t> Claramente se puede ver que la única entrada del problema es el número de términos de la sucesión. Se requiere una sola salida que es el valor de la sumatoria de la sucesión. El proceso de cálculo requiere que la sucesión numérica infinita de la ecuación (2), se convierta a una sucesión numérica finita, donde el valor de ‘n’ se convierte en el valor de ‘i’ y el valor de infinito pasa a ser el valor de ‘n’, ya que, si se quiere calcular la sumatoria de los cinco primeros términos de la sucesión, la sumatoria iría desde el valor de i = 1 hasta el valor de i = 5, como se puede ver en la ecuación (3):</a:t>
            </a:r>
          </a:p>
          <a:p>
            <a:pPr marL="0" indent="0">
              <a:buNone/>
            </a:pPr>
            <a:endParaRPr lang="es-MX" sz="1600" dirty="0"/>
          </a:p>
          <a:p>
            <a:pPr marL="0" indent="0">
              <a:buNone/>
            </a:pPr>
            <a:endParaRPr lang="es-MX" sz="1600" dirty="0"/>
          </a:p>
          <a:p>
            <a:pPr marL="0" indent="0">
              <a:buNone/>
            </a:pPr>
            <a:endParaRPr lang="es-MX" sz="1600" dirty="0"/>
          </a:p>
          <a:p>
            <a:pPr marL="0" indent="0">
              <a:buNone/>
            </a:pPr>
            <a:r>
              <a:rPr lang="es-MX" sz="1600" dirty="0"/>
              <a:t>Como se puede ver en la ecuación (3) se requiere utilizar un solo bucle para calcular la sumatoria de la sucesión.</a:t>
            </a:r>
            <a:endParaRPr lang="es-MX" sz="2000" dirty="0"/>
          </a:p>
        </p:txBody>
      </p:sp>
      <p:pic>
        <p:nvPicPr>
          <p:cNvPr id="8" name="Imagen 7">
            <a:extLst>
              <a:ext uri="{FF2B5EF4-FFF2-40B4-BE49-F238E27FC236}">
                <a16:creationId xmlns:a16="http://schemas.microsoft.com/office/drawing/2014/main" id="{BE599260-C95A-42BF-9E6C-7EE3E1CC205C}"/>
              </a:ext>
            </a:extLst>
          </p:cNvPr>
          <p:cNvPicPr>
            <a:picLocks noChangeAspect="1"/>
          </p:cNvPicPr>
          <p:nvPr/>
        </p:nvPicPr>
        <p:blipFill>
          <a:blip r:embed="rId2"/>
          <a:stretch>
            <a:fillRect/>
          </a:stretch>
        </p:blipFill>
        <p:spPr>
          <a:xfrm>
            <a:off x="4819472" y="4449968"/>
            <a:ext cx="1276528" cy="905001"/>
          </a:xfrm>
          <a:prstGeom prst="rect">
            <a:avLst/>
          </a:prstGeom>
        </p:spPr>
      </p:pic>
    </p:spTree>
    <p:extLst>
      <p:ext uri="{BB962C8B-B14F-4D97-AF65-F5344CB8AC3E}">
        <p14:creationId xmlns:p14="http://schemas.microsoft.com/office/powerpoint/2010/main" val="39398188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167538" y="5676357"/>
            <a:ext cx="10972800" cy="1600200"/>
          </a:xfrm>
        </p:spPr>
        <p:txBody>
          <a:bodyPr/>
          <a:lstStyle/>
          <a:p>
            <a:r>
              <a:rPr lang="es-MX" sz="4000" b="1" dirty="0"/>
              <a:t>Caso</a:t>
            </a:r>
            <a:r>
              <a:rPr lang="es-MX" sz="5400" b="1" dirty="0">
                <a:solidFill>
                  <a:srgbClr val="FF0000"/>
                </a:solidFill>
              </a:rPr>
              <a:t> </a:t>
            </a:r>
            <a:r>
              <a:rPr lang="es-MX" sz="4000" b="1" dirty="0"/>
              <a:t>de Estudio 4.5: Sumatoria de una sucesión </a:t>
            </a:r>
            <a:br>
              <a:rPr lang="es-MX" sz="5400" b="1" dirty="0">
                <a:solidFill>
                  <a:srgbClr val="FF0000"/>
                </a:solidFill>
              </a:rPr>
            </a:br>
            <a:br>
              <a:rPr lang="es-MX" sz="5400" b="1" dirty="0">
                <a:solidFill>
                  <a:srgbClr val="FF0000"/>
                </a:solidFill>
              </a:rPr>
            </a:br>
            <a:br>
              <a:rPr lang="es-MX" sz="5400" b="1" dirty="0">
                <a:solidFill>
                  <a:srgbClr val="FF0000"/>
                </a:solidFill>
              </a:rPr>
            </a:br>
            <a:r>
              <a:rPr lang="es-MX" b="1" dirty="0"/>
              <a:t> </a:t>
            </a: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3/12/2025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19</a:t>
            </a:fld>
            <a:endParaRPr lang="es-EC"/>
          </a:p>
        </p:txBody>
      </p:sp>
      <p:sp>
        <p:nvSpPr>
          <p:cNvPr id="7" name="Marcador de contenido 2">
            <a:extLst>
              <a:ext uri="{FF2B5EF4-FFF2-40B4-BE49-F238E27FC236}">
                <a16:creationId xmlns:a16="http://schemas.microsoft.com/office/drawing/2014/main" id="{51B66AFF-D605-45C7-8750-6946F3E5C2FA}"/>
              </a:ext>
            </a:extLst>
          </p:cNvPr>
          <p:cNvSpPr>
            <a:spLocks noGrp="1"/>
          </p:cNvSpPr>
          <p:nvPr>
            <p:ph idx="1"/>
          </p:nvPr>
        </p:nvSpPr>
        <p:spPr>
          <a:xfrm>
            <a:off x="1525136" y="2265456"/>
            <a:ext cx="8380863" cy="4369024"/>
          </a:xfrm>
        </p:spPr>
        <p:txBody>
          <a:bodyPr>
            <a:normAutofit/>
          </a:bodyPr>
          <a:lstStyle/>
          <a:p>
            <a:pPr marL="0" indent="0">
              <a:buNone/>
            </a:pPr>
            <a:r>
              <a:rPr lang="es-MX" sz="1600" dirty="0"/>
              <a:t>B) Análisis</a:t>
            </a:r>
          </a:p>
          <a:p>
            <a:pPr marL="0" indent="0">
              <a:buNone/>
            </a:pPr>
            <a:r>
              <a:rPr lang="es-MX" sz="1600" dirty="0"/>
              <a:t> Claramente se puede ver que la única entrada del problema es el número de términos de la sucesión. Se requiere una sola salida que es el valor de la sumatoria de la sucesión. El proceso de cálculo requiere que la sucesión numérica infinita de la ecuación (2), se convierta a una sucesión numérica finita, donde el valor de ‘n’ se convierte en el valor de ‘i’ y el valor de infinito pasa a ser el valor de ‘n’, ya que, si se quiere calcular la sumatoria de los cinco primeros términos de la sucesión, la sumatoria iría desde el valor de i = 1 hasta el valor de i = 5, como se puede ver en la ecuación (3):</a:t>
            </a:r>
          </a:p>
          <a:p>
            <a:pPr marL="0" indent="0">
              <a:buNone/>
            </a:pPr>
            <a:endParaRPr lang="es-MX" sz="1600" dirty="0"/>
          </a:p>
          <a:p>
            <a:pPr marL="0" indent="0">
              <a:buNone/>
            </a:pPr>
            <a:endParaRPr lang="es-MX" sz="1600" dirty="0"/>
          </a:p>
          <a:p>
            <a:pPr marL="0" indent="0">
              <a:buNone/>
            </a:pPr>
            <a:endParaRPr lang="es-MX" sz="1600" dirty="0"/>
          </a:p>
          <a:p>
            <a:pPr marL="0" indent="0">
              <a:buNone/>
            </a:pPr>
            <a:r>
              <a:rPr lang="es-MX" sz="1600" dirty="0"/>
              <a:t>Como se puede ver en la ecuación (3) se requiere utilizar un solo bucle para calcular la sumatoria de la sucesión.</a:t>
            </a:r>
            <a:endParaRPr lang="es-MX" sz="2000" dirty="0"/>
          </a:p>
        </p:txBody>
      </p:sp>
      <p:pic>
        <p:nvPicPr>
          <p:cNvPr id="8" name="Imagen 7">
            <a:extLst>
              <a:ext uri="{FF2B5EF4-FFF2-40B4-BE49-F238E27FC236}">
                <a16:creationId xmlns:a16="http://schemas.microsoft.com/office/drawing/2014/main" id="{BE599260-C95A-42BF-9E6C-7EE3E1CC205C}"/>
              </a:ext>
            </a:extLst>
          </p:cNvPr>
          <p:cNvPicPr>
            <a:picLocks noChangeAspect="1"/>
          </p:cNvPicPr>
          <p:nvPr/>
        </p:nvPicPr>
        <p:blipFill>
          <a:blip r:embed="rId2"/>
          <a:stretch>
            <a:fillRect/>
          </a:stretch>
        </p:blipFill>
        <p:spPr>
          <a:xfrm>
            <a:off x="4819472" y="4449968"/>
            <a:ext cx="1276528" cy="905001"/>
          </a:xfrm>
          <a:prstGeom prst="rect">
            <a:avLst/>
          </a:prstGeom>
        </p:spPr>
      </p:pic>
    </p:spTree>
    <p:extLst>
      <p:ext uri="{BB962C8B-B14F-4D97-AF65-F5344CB8AC3E}">
        <p14:creationId xmlns:p14="http://schemas.microsoft.com/office/powerpoint/2010/main" val="27141928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167538" y="5676357"/>
            <a:ext cx="10972800" cy="1600200"/>
          </a:xfrm>
        </p:spPr>
        <p:txBody>
          <a:bodyPr/>
          <a:lstStyle/>
          <a:p>
            <a:r>
              <a:rPr lang="es-MX" sz="4000" b="1" dirty="0"/>
              <a:t>Caso</a:t>
            </a:r>
            <a:r>
              <a:rPr lang="es-MX" sz="5400" b="1" dirty="0">
                <a:solidFill>
                  <a:srgbClr val="FF0000"/>
                </a:solidFill>
              </a:rPr>
              <a:t> </a:t>
            </a:r>
            <a:r>
              <a:rPr lang="es-MX" sz="4000" b="1" dirty="0"/>
              <a:t>de Estudio 4.5: Sumatoria de una sucesión </a:t>
            </a:r>
            <a:br>
              <a:rPr lang="es-MX" sz="5400" b="1" dirty="0">
                <a:solidFill>
                  <a:srgbClr val="FF0000"/>
                </a:solidFill>
              </a:rPr>
            </a:br>
            <a:br>
              <a:rPr lang="es-MX" sz="5400" b="1" dirty="0">
                <a:solidFill>
                  <a:srgbClr val="FF0000"/>
                </a:solidFill>
              </a:rPr>
            </a:br>
            <a:br>
              <a:rPr lang="es-MX" sz="5400" b="1" dirty="0">
                <a:solidFill>
                  <a:srgbClr val="FF0000"/>
                </a:solidFill>
              </a:rPr>
            </a:br>
            <a:r>
              <a:rPr lang="es-MX" b="1" dirty="0"/>
              <a:t> </a:t>
            </a: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3/12/2025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20</a:t>
            </a:fld>
            <a:endParaRPr lang="es-EC"/>
          </a:p>
        </p:txBody>
      </p:sp>
      <p:sp>
        <p:nvSpPr>
          <p:cNvPr id="7" name="Marcador de contenido 2">
            <a:extLst>
              <a:ext uri="{FF2B5EF4-FFF2-40B4-BE49-F238E27FC236}">
                <a16:creationId xmlns:a16="http://schemas.microsoft.com/office/drawing/2014/main" id="{51B66AFF-D605-45C7-8750-6946F3E5C2FA}"/>
              </a:ext>
            </a:extLst>
          </p:cNvPr>
          <p:cNvSpPr>
            <a:spLocks noGrp="1"/>
          </p:cNvSpPr>
          <p:nvPr>
            <p:ph idx="1"/>
          </p:nvPr>
        </p:nvSpPr>
        <p:spPr>
          <a:xfrm>
            <a:off x="1525136" y="2265456"/>
            <a:ext cx="8380863" cy="4369024"/>
          </a:xfrm>
        </p:spPr>
        <p:txBody>
          <a:bodyPr>
            <a:normAutofit/>
          </a:bodyPr>
          <a:lstStyle/>
          <a:p>
            <a:pPr marL="0" indent="0">
              <a:buNone/>
            </a:pPr>
            <a:r>
              <a:rPr lang="es-MX" sz="2000" dirty="0"/>
              <a:t>B.1) Requerimiento de los Datos</a:t>
            </a:r>
            <a:endParaRPr lang="es-MX" sz="2800" dirty="0"/>
          </a:p>
          <a:p>
            <a:pPr marL="0" indent="0">
              <a:buNone/>
            </a:pPr>
            <a:endParaRPr lang="es-MX" sz="1600" dirty="0"/>
          </a:p>
        </p:txBody>
      </p:sp>
      <p:pic>
        <p:nvPicPr>
          <p:cNvPr id="6" name="Imagen 5">
            <a:extLst>
              <a:ext uri="{FF2B5EF4-FFF2-40B4-BE49-F238E27FC236}">
                <a16:creationId xmlns:a16="http://schemas.microsoft.com/office/drawing/2014/main" id="{B6086D4A-0208-41EA-93BC-2AAEAF35059C}"/>
              </a:ext>
            </a:extLst>
          </p:cNvPr>
          <p:cNvPicPr>
            <a:picLocks noChangeAspect="1"/>
          </p:cNvPicPr>
          <p:nvPr/>
        </p:nvPicPr>
        <p:blipFill>
          <a:blip r:embed="rId2"/>
          <a:stretch>
            <a:fillRect/>
          </a:stretch>
        </p:blipFill>
        <p:spPr>
          <a:xfrm>
            <a:off x="1692535" y="2693835"/>
            <a:ext cx="5372850" cy="2181529"/>
          </a:xfrm>
          <a:prstGeom prst="rect">
            <a:avLst/>
          </a:prstGeom>
        </p:spPr>
      </p:pic>
      <p:pic>
        <p:nvPicPr>
          <p:cNvPr id="10" name="Imagen 9">
            <a:extLst>
              <a:ext uri="{FF2B5EF4-FFF2-40B4-BE49-F238E27FC236}">
                <a16:creationId xmlns:a16="http://schemas.microsoft.com/office/drawing/2014/main" id="{59FB489E-CA76-4968-9860-EA0A54E30320}"/>
              </a:ext>
            </a:extLst>
          </p:cNvPr>
          <p:cNvPicPr>
            <a:picLocks noChangeAspect="1"/>
          </p:cNvPicPr>
          <p:nvPr/>
        </p:nvPicPr>
        <p:blipFill>
          <a:blip r:embed="rId3"/>
          <a:stretch>
            <a:fillRect/>
          </a:stretch>
        </p:blipFill>
        <p:spPr>
          <a:xfrm>
            <a:off x="1921345" y="5205531"/>
            <a:ext cx="6906589" cy="1428949"/>
          </a:xfrm>
          <a:prstGeom prst="rect">
            <a:avLst/>
          </a:prstGeom>
        </p:spPr>
      </p:pic>
    </p:spTree>
    <p:extLst>
      <p:ext uri="{BB962C8B-B14F-4D97-AF65-F5344CB8AC3E}">
        <p14:creationId xmlns:p14="http://schemas.microsoft.com/office/powerpoint/2010/main" val="33804441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167538" y="5676357"/>
            <a:ext cx="10972800" cy="1600200"/>
          </a:xfrm>
        </p:spPr>
        <p:txBody>
          <a:bodyPr/>
          <a:lstStyle/>
          <a:p>
            <a:r>
              <a:rPr lang="es-MX" sz="4000" b="1" dirty="0"/>
              <a:t>Caso</a:t>
            </a:r>
            <a:r>
              <a:rPr lang="es-MX" sz="5400" b="1" dirty="0">
                <a:solidFill>
                  <a:srgbClr val="FF0000"/>
                </a:solidFill>
              </a:rPr>
              <a:t> </a:t>
            </a:r>
            <a:r>
              <a:rPr lang="es-MX" sz="4000" b="1" dirty="0"/>
              <a:t>de Estudio 4.5: Sumatoria de una sucesión </a:t>
            </a:r>
            <a:br>
              <a:rPr lang="es-MX" sz="5400" b="1" dirty="0">
                <a:solidFill>
                  <a:srgbClr val="FF0000"/>
                </a:solidFill>
              </a:rPr>
            </a:br>
            <a:br>
              <a:rPr lang="es-MX" sz="5400" b="1" dirty="0">
                <a:solidFill>
                  <a:srgbClr val="FF0000"/>
                </a:solidFill>
              </a:rPr>
            </a:br>
            <a:br>
              <a:rPr lang="es-MX" sz="5400" b="1" dirty="0">
                <a:solidFill>
                  <a:srgbClr val="FF0000"/>
                </a:solidFill>
              </a:rPr>
            </a:br>
            <a:r>
              <a:rPr lang="es-MX" b="1" dirty="0"/>
              <a:t> </a:t>
            </a: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3/12/2025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21</a:t>
            </a:fld>
            <a:endParaRPr lang="es-EC"/>
          </a:p>
        </p:txBody>
      </p:sp>
      <p:sp>
        <p:nvSpPr>
          <p:cNvPr id="7" name="Marcador de contenido 2">
            <a:extLst>
              <a:ext uri="{FF2B5EF4-FFF2-40B4-BE49-F238E27FC236}">
                <a16:creationId xmlns:a16="http://schemas.microsoft.com/office/drawing/2014/main" id="{51B66AFF-D605-45C7-8750-6946F3E5C2FA}"/>
              </a:ext>
            </a:extLst>
          </p:cNvPr>
          <p:cNvSpPr>
            <a:spLocks noGrp="1"/>
          </p:cNvSpPr>
          <p:nvPr>
            <p:ph idx="1"/>
          </p:nvPr>
        </p:nvSpPr>
        <p:spPr>
          <a:xfrm>
            <a:off x="1525136" y="2265456"/>
            <a:ext cx="8380863" cy="4369024"/>
          </a:xfrm>
        </p:spPr>
        <p:txBody>
          <a:bodyPr>
            <a:normAutofit/>
          </a:bodyPr>
          <a:lstStyle/>
          <a:p>
            <a:pPr marL="0" indent="0">
              <a:buNone/>
            </a:pPr>
            <a:r>
              <a:rPr lang="es-MX" sz="1600" dirty="0"/>
              <a:t>B.2) Diagrama de Entrada-Salida </a:t>
            </a:r>
          </a:p>
          <a:p>
            <a:pPr marL="0" indent="0">
              <a:buNone/>
            </a:pPr>
            <a:r>
              <a:rPr lang="es-MX" sz="1600" dirty="0"/>
              <a:t>En la Figura 4.5.1 se muestra el diagrama de Entrada-Salida del programa donde se identifican y se diagraman las entradas, salidas y auxiliares del problema como son: a) Entradas: la variable ‘n’; b) Salidas: la variable ‘sum’; c) Auxiliares: el contador ‘i’.</a:t>
            </a:r>
            <a:endParaRPr lang="es-MX" sz="2000" dirty="0"/>
          </a:p>
        </p:txBody>
      </p:sp>
      <p:pic>
        <p:nvPicPr>
          <p:cNvPr id="8" name="Imagen 7">
            <a:extLst>
              <a:ext uri="{FF2B5EF4-FFF2-40B4-BE49-F238E27FC236}">
                <a16:creationId xmlns:a16="http://schemas.microsoft.com/office/drawing/2014/main" id="{FF1ACD0F-EE3D-45A2-B89F-9FFB806A4016}"/>
              </a:ext>
            </a:extLst>
          </p:cNvPr>
          <p:cNvPicPr>
            <a:picLocks noChangeAspect="1"/>
          </p:cNvPicPr>
          <p:nvPr/>
        </p:nvPicPr>
        <p:blipFill>
          <a:blip r:embed="rId2"/>
          <a:stretch>
            <a:fillRect/>
          </a:stretch>
        </p:blipFill>
        <p:spPr>
          <a:xfrm>
            <a:off x="4635260" y="3552714"/>
            <a:ext cx="3429479" cy="1581371"/>
          </a:xfrm>
          <a:prstGeom prst="rect">
            <a:avLst/>
          </a:prstGeom>
        </p:spPr>
      </p:pic>
      <p:sp>
        <p:nvSpPr>
          <p:cNvPr id="11" name="CuadroTexto 10">
            <a:extLst>
              <a:ext uri="{FF2B5EF4-FFF2-40B4-BE49-F238E27FC236}">
                <a16:creationId xmlns:a16="http://schemas.microsoft.com/office/drawing/2014/main" id="{14043329-892E-4B6E-B0CD-DFCAA05E6630}"/>
              </a:ext>
            </a:extLst>
          </p:cNvPr>
          <p:cNvSpPr txBox="1"/>
          <p:nvPr/>
        </p:nvSpPr>
        <p:spPr>
          <a:xfrm>
            <a:off x="5210848" y="5560002"/>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4.5.1</a:t>
            </a:r>
            <a:r>
              <a:rPr lang="es-ES" sz="1200" dirty="0">
                <a:solidFill>
                  <a:schemeClr val="tx1">
                    <a:lumMod val="50000"/>
                    <a:lumOff val="50000"/>
                  </a:schemeClr>
                </a:solidFill>
                <a:latin typeface="+mj-lt"/>
              </a:rPr>
              <a:t> </a:t>
            </a:r>
            <a:r>
              <a:rPr lang="es-EC" sz="1200" dirty="0">
                <a:solidFill>
                  <a:schemeClr val="tx1">
                    <a:lumMod val="50000"/>
                    <a:lumOff val="50000"/>
                  </a:schemeClr>
                </a:solidFill>
                <a:latin typeface="+mj-lt"/>
              </a:rPr>
              <a:t>Diagrama de Entrada-Salida del Programa.</a:t>
            </a:r>
            <a:r>
              <a:rPr lang="es-ES" sz="1200" dirty="0">
                <a:solidFill>
                  <a:schemeClr val="tx1">
                    <a:lumMod val="50000"/>
                    <a:lumOff val="50000"/>
                  </a:schemeClr>
                </a:solidFill>
                <a:latin typeface="+mj-lt"/>
              </a:rPr>
              <a:t> .</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8654850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167538" y="5676357"/>
            <a:ext cx="10972800" cy="1600200"/>
          </a:xfrm>
        </p:spPr>
        <p:txBody>
          <a:bodyPr/>
          <a:lstStyle/>
          <a:p>
            <a:r>
              <a:rPr lang="es-MX" sz="4000" b="1" dirty="0"/>
              <a:t>Caso</a:t>
            </a:r>
            <a:r>
              <a:rPr lang="es-MX" sz="5400" b="1" dirty="0">
                <a:solidFill>
                  <a:srgbClr val="FF0000"/>
                </a:solidFill>
              </a:rPr>
              <a:t> </a:t>
            </a:r>
            <a:r>
              <a:rPr lang="es-MX" sz="4000" b="1" dirty="0"/>
              <a:t>de Estudio 4.5: Sumatoria de una sucesión </a:t>
            </a:r>
            <a:br>
              <a:rPr lang="es-MX" sz="5400" b="1" dirty="0">
                <a:solidFill>
                  <a:srgbClr val="FF0000"/>
                </a:solidFill>
              </a:rPr>
            </a:br>
            <a:br>
              <a:rPr lang="es-MX" sz="5400" b="1" dirty="0">
                <a:solidFill>
                  <a:srgbClr val="FF0000"/>
                </a:solidFill>
              </a:rPr>
            </a:br>
            <a:br>
              <a:rPr lang="es-MX" sz="5400" b="1" dirty="0">
                <a:solidFill>
                  <a:srgbClr val="FF0000"/>
                </a:solidFill>
              </a:rPr>
            </a:br>
            <a:r>
              <a:rPr lang="es-MX" b="1" dirty="0"/>
              <a:t> </a:t>
            </a: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3/12/2025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22</a:t>
            </a:fld>
            <a:endParaRPr lang="es-EC"/>
          </a:p>
        </p:txBody>
      </p:sp>
      <p:sp>
        <p:nvSpPr>
          <p:cNvPr id="7" name="Marcador de contenido 2">
            <a:extLst>
              <a:ext uri="{FF2B5EF4-FFF2-40B4-BE49-F238E27FC236}">
                <a16:creationId xmlns:a16="http://schemas.microsoft.com/office/drawing/2014/main" id="{51B66AFF-D605-45C7-8750-6946F3E5C2FA}"/>
              </a:ext>
            </a:extLst>
          </p:cNvPr>
          <p:cNvSpPr>
            <a:spLocks noGrp="1"/>
          </p:cNvSpPr>
          <p:nvPr>
            <p:ph idx="1"/>
          </p:nvPr>
        </p:nvSpPr>
        <p:spPr>
          <a:xfrm>
            <a:off x="1525136" y="2265456"/>
            <a:ext cx="8380863" cy="4369024"/>
          </a:xfrm>
        </p:spPr>
        <p:txBody>
          <a:bodyPr>
            <a:normAutofit/>
          </a:bodyPr>
          <a:lstStyle/>
          <a:p>
            <a:pPr marL="0" indent="0">
              <a:buNone/>
            </a:pPr>
            <a:r>
              <a:rPr lang="es-MX" sz="1600" dirty="0"/>
              <a:t>C) Diseño </a:t>
            </a:r>
          </a:p>
          <a:p>
            <a:pPr marL="0" indent="0">
              <a:buNone/>
            </a:pPr>
            <a:r>
              <a:rPr lang="es-MX" sz="1600" dirty="0"/>
              <a:t>Una vez que se conoce las entradas, las auxiliares y las salidas del problema, se deben listar los pasos necesarios para resolver el problema, es decir, el algoritmo. </a:t>
            </a:r>
            <a:endParaRPr lang="es-MX" sz="2000" dirty="0"/>
          </a:p>
        </p:txBody>
      </p:sp>
      <p:pic>
        <p:nvPicPr>
          <p:cNvPr id="6" name="Imagen 5">
            <a:extLst>
              <a:ext uri="{FF2B5EF4-FFF2-40B4-BE49-F238E27FC236}">
                <a16:creationId xmlns:a16="http://schemas.microsoft.com/office/drawing/2014/main" id="{217EB2AF-F96A-4F6C-B7CE-948B97038799}"/>
              </a:ext>
            </a:extLst>
          </p:cNvPr>
          <p:cNvPicPr>
            <a:picLocks noChangeAspect="1"/>
          </p:cNvPicPr>
          <p:nvPr/>
        </p:nvPicPr>
        <p:blipFill>
          <a:blip r:embed="rId2"/>
          <a:stretch>
            <a:fillRect/>
          </a:stretch>
        </p:blipFill>
        <p:spPr>
          <a:xfrm>
            <a:off x="1525136" y="3065954"/>
            <a:ext cx="7268589" cy="2648320"/>
          </a:xfrm>
          <a:prstGeom prst="rect">
            <a:avLst/>
          </a:prstGeom>
        </p:spPr>
      </p:pic>
    </p:spTree>
    <p:extLst>
      <p:ext uri="{BB962C8B-B14F-4D97-AF65-F5344CB8AC3E}">
        <p14:creationId xmlns:p14="http://schemas.microsoft.com/office/powerpoint/2010/main" val="16544930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883922" y="4988559"/>
            <a:ext cx="10972800" cy="1600200"/>
          </a:xfrm>
        </p:spPr>
        <p:txBody>
          <a:bodyPr/>
          <a:lstStyle/>
          <a:p>
            <a:r>
              <a:rPr lang="es-MX" sz="4000" b="1" dirty="0"/>
              <a:t>Caso</a:t>
            </a:r>
            <a:r>
              <a:rPr lang="es-MX" sz="5400" b="1" dirty="0">
                <a:solidFill>
                  <a:srgbClr val="FF0000"/>
                </a:solidFill>
              </a:rPr>
              <a:t> </a:t>
            </a:r>
            <a:r>
              <a:rPr lang="es-MX" sz="4000" b="1" dirty="0"/>
              <a:t>de Estudio 4.5: Sumatoria de una sucesión </a:t>
            </a:r>
            <a:br>
              <a:rPr lang="es-MX" sz="5400" b="1" dirty="0">
                <a:solidFill>
                  <a:srgbClr val="FF0000"/>
                </a:solidFill>
              </a:rPr>
            </a:br>
            <a:br>
              <a:rPr lang="es-MX" sz="5400" b="1" dirty="0">
                <a:solidFill>
                  <a:srgbClr val="FF0000"/>
                </a:solidFill>
              </a:rPr>
            </a:br>
            <a:br>
              <a:rPr lang="es-MX" sz="5400" b="1" dirty="0">
                <a:solidFill>
                  <a:srgbClr val="FF0000"/>
                </a:solidFill>
              </a:rPr>
            </a:br>
            <a:r>
              <a:rPr lang="es-MX" b="1" dirty="0"/>
              <a:t> </a:t>
            </a: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3/12/2025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23</a:t>
            </a:fld>
            <a:endParaRPr lang="es-EC"/>
          </a:p>
        </p:txBody>
      </p:sp>
      <p:sp>
        <p:nvSpPr>
          <p:cNvPr id="7" name="Marcador de contenido 2">
            <a:extLst>
              <a:ext uri="{FF2B5EF4-FFF2-40B4-BE49-F238E27FC236}">
                <a16:creationId xmlns:a16="http://schemas.microsoft.com/office/drawing/2014/main" id="{51B66AFF-D605-45C7-8750-6946F3E5C2FA}"/>
              </a:ext>
            </a:extLst>
          </p:cNvPr>
          <p:cNvSpPr>
            <a:spLocks noGrp="1"/>
          </p:cNvSpPr>
          <p:nvPr>
            <p:ph idx="1"/>
          </p:nvPr>
        </p:nvSpPr>
        <p:spPr>
          <a:xfrm>
            <a:off x="1525137" y="2265456"/>
            <a:ext cx="4296543" cy="2723104"/>
          </a:xfrm>
        </p:spPr>
        <p:txBody>
          <a:bodyPr>
            <a:normAutofit/>
          </a:bodyPr>
          <a:lstStyle/>
          <a:p>
            <a:pPr marL="0" indent="0">
              <a:buNone/>
            </a:pPr>
            <a:r>
              <a:rPr lang="es-MX" sz="1600" dirty="0"/>
              <a:t>D) Implementación </a:t>
            </a:r>
          </a:p>
          <a:p>
            <a:pPr marL="0" indent="0">
              <a:buNone/>
            </a:pPr>
            <a:endParaRPr lang="es-MX" sz="1600" dirty="0"/>
          </a:p>
          <a:p>
            <a:pPr marL="0" indent="0">
              <a:buNone/>
            </a:pPr>
            <a:r>
              <a:rPr lang="es-MX" sz="1600" dirty="0"/>
              <a:t>Para implementar la solución, se debe escribir el algoritmo como un programa de C/C++ que contenga toda la información necesaria para completar la traducción a lenguaje máquina. En la Tabla 4.5.1 se muestra el código del programa en C/C++</a:t>
            </a:r>
            <a:r>
              <a:rPr lang="es-MX" sz="2000" dirty="0"/>
              <a:t>. </a:t>
            </a:r>
            <a:endParaRPr lang="es-MX" sz="2800" dirty="0"/>
          </a:p>
        </p:txBody>
      </p:sp>
      <p:pic>
        <p:nvPicPr>
          <p:cNvPr id="8" name="Imagen 7">
            <a:extLst>
              <a:ext uri="{FF2B5EF4-FFF2-40B4-BE49-F238E27FC236}">
                <a16:creationId xmlns:a16="http://schemas.microsoft.com/office/drawing/2014/main" id="{1CBC2817-8608-4819-8047-897E026D6F54}"/>
              </a:ext>
            </a:extLst>
          </p:cNvPr>
          <p:cNvPicPr>
            <a:picLocks noChangeAspect="1"/>
          </p:cNvPicPr>
          <p:nvPr/>
        </p:nvPicPr>
        <p:blipFill>
          <a:blip r:embed="rId2"/>
          <a:stretch>
            <a:fillRect/>
          </a:stretch>
        </p:blipFill>
        <p:spPr>
          <a:xfrm>
            <a:off x="5683880" y="1332303"/>
            <a:ext cx="2076740" cy="667495"/>
          </a:xfrm>
          <a:prstGeom prst="rect">
            <a:avLst/>
          </a:prstGeom>
        </p:spPr>
      </p:pic>
      <p:pic>
        <p:nvPicPr>
          <p:cNvPr id="10" name="Imagen 9">
            <a:extLst>
              <a:ext uri="{FF2B5EF4-FFF2-40B4-BE49-F238E27FC236}">
                <a16:creationId xmlns:a16="http://schemas.microsoft.com/office/drawing/2014/main" id="{BCDF158E-31FA-4228-877B-BB5E3BC2CA16}"/>
              </a:ext>
            </a:extLst>
          </p:cNvPr>
          <p:cNvPicPr>
            <a:picLocks noChangeAspect="1"/>
          </p:cNvPicPr>
          <p:nvPr/>
        </p:nvPicPr>
        <p:blipFill>
          <a:blip r:embed="rId3"/>
          <a:stretch>
            <a:fillRect/>
          </a:stretch>
        </p:blipFill>
        <p:spPr>
          <a:xfrm>
            <a:off x="5683880" y="2019986"/>
            <a:ext cx="5475892" cy="3973645"/>
          </a:xfrm>
          <a:prstGeom prst="rect">
            <a:avLst/>
          </a:prstGeom>
        </p:spPr>
      </p:pic>
      <p:sp>
        <p:nvSpPr>
          <p:cNvPr id="11" name="CuadroTexto 10">
            <a:extLst>
              <a:ext uri="{FF2B5EF4-FFF2-40B4-BE49-F238E27FC236}">
                <a16:creationId xmlns:a16="http://schemas.microsoft.com/office/drawing/2014/main" id="{ED1E48D6-B1D8-4011-B4F2-8664490F92C2}"/>
              </a:ext>
            </a:extLst>
          </p:cNvPr>
          <p:cNvSpPr txBox="1"/>
          <p:nvPr/>
        </p:nvSpPr>
        <p:spPr>
          <a:xfrm>
            <a:off x="6031802" y="6271945"/>
            <a:ext cx="433808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4.5</a:t>
            </a:r>
            <a:r>
              <a:rPr lang="es-ES" sz="1200" dirty="0">
                <a:solidFill>
                  <a:schemeClr val="tx1">
                    <a:lumMod val="50000"/>
                    <a:lumOff val="50000"/>
                  </a:schemeClr>
                </a:solidFill>
                <a:latin typeface="+mj-lt"/>
              </a:rPr>
              <a:t>.1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2335840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883922" y="4988559"/>
            <a:ext cx="10972800" cy="1600200"/>
          </a:xfrm>
        </p:spPr>
        <p:txBody>
          <a:bodyPr/>
          <a:lstStyle/>
          <a:p>
            <a:r>
              <a:rPr lang="es-MX" sz="4000" b="1" dirty="0"/>
              <a:t>Caso</a:t>
            </a:r>
            <a:r>
              <a:rPr lang="es-MX" sz="5400" b="1" dirty="0">
                <a:solidFill>
                  <a:srgbClr val="FF0000"/>
                </a:solidFill>
              </a:rPr>
              <a:t> </a:t>
            </a:r>
            <a:r>
              <a:rPr lang="es-MX" sz="4000" b="1" dirty="0"/>
              <a:t>de Estudio 4.5: Sumatoria de una sucesión </a:t>
            </a:r>
            <a:br>
              <a:rPr lang="es-MX" sz="5400" b="1" dirty="0">
                <a:solidFill>
                  <a:srgbClr val="FF0000"/>
                </a:solidFill>
              </a:rPr>
            </a:br>
            <a:br>
              <a:rPr lang="es-MX" sz="5400" b="1" dirty="0">
                <a:solidFill>
                  <a:srgbClr val="FF0000"/>
                </a:solidFill>
              </a:rPr>
            </a:br>
            <a:br>
              <a:rPr lang="es-MX" sz="5400" b="1" dirty="0">
                <a:solidFill>
                  <a:srgbClr val="FF0000"/>
                </a:solidFill>
              </a:rPr>
            </a:br>
            <a:r>
              <a:rPr lang="es-MX" b="1" dirty="0"/>
              <a:t> </a:t>
            </a: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3/12/2025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24</a:t>
            </a:fld>
            <a:endParaRPr lang="es-EC"/>
          </a:p>
        </p:txBody>
      </p:sp>
      <p:sp>
        <p:nvSpPr>
          <p:cNvPr id="7" name="Marcador de contenido 2">
            <a:extLst>
              <a:ext uri="{FF2B5EF4-FFF2-40B4-BE49-F238E27FC236}">
                <a16:creationId xmlns:a16="http://schemas.microsoft.com/office/drawing/2014/main" id="{51B66AFF-D605-45C7-8750-6946F3E5C2FA}"/>
              </a:ext>
            </a:extLst>
          </p:cNvPr>
          <p:cNvSpPr>
            <a:spLocks noGrp="1"/>
          </p:cNvSpPr>
          <p:nvPr>
            <p:ph idx="1"/>
          </p:nvPr>
        </p:nvSpPr>
        <p:spPr>
          <a:xfrm>
            <a:off x="1525137" y="2265456"/>
            <a:ext cx="4296543" cy="2723104"/>
          </a:xfrm>
        </p:spPr>
        <p:txBody>
          <a:bodyPr>
            <a:normAutofit/>
          </a:bodyPr>
          <a:lstStyle/>
          <a:p>
            <a:pPr marL="0" indent="0">
              <a:buNone/>
            </a:pPr>
            <a:r>
              <a:rPr lang="es-MX" sz="1600" dirty="0"/>
              <a:t>D) Implementación </a:t>
            </a:r>
          </a:p>
          <a:p>
            <a:pPr marL="0" indent="0">
              <a:buNone/>
            </a:pPr>
            <a:endParaRPr lang="es-MX" sz="1600" dirty="0"/>
          </a:p>
          <a:p>
            <a:pPr marL="0" indent="0">
              <a:buNone/>
            </a:pPr>
            <a:r>
              <a:rPr lang="es-MX" sz="1600" dirty="0"/>
              <a:t>Para implementar la solución, se debe escribir el algoritmo como un programa de C/C++ que contenga toda la información necesaria para completar la traducción a lenguaje máquina. En la Tabla 4.5.1 se muestra el código del programa en C/C++</a:t>
            </a:r>
            <a:r>
              <a:rPr lang="es-MX" sz="2000" dirty="0"/>
              <a:t>. </a:t>
            </a:r>
            <a:endParaRPr lang="es-MX" sz="2800" dirty="0"/>
          </a:p>
        </p:txBody>
      </p:sp>
      <p:pic>
        <p:nvPicPr>
          <p:cNvPr id="8" name="Imagen 7">
            <a:extLst>
              <a:ext uri="{FF2B5EF4-FFF2-40B4-BE49-F238E27FC236}">
                <a16:creationId xmlns:a16="http://schemas.microsoft.com/office/drawing/2014/main" id="{1CBC2817-8608-4819-8047-897E026D6F54}"/>
              </a:ext>
            </a:extLst>
          </p:cNvPr>
          <p:cNvPicPr>
            <a:picLocks noChangeAspect="1"/>
          </p:cNvPicPr>
          <p:nvPr/>
        </p:nvPicPr>
        <p:blipFill>
          <a:blip r:embed="rId2"/>
          <a:stretch>
            <a:fillRect/>
          </a:stretch>
        </p:blipFill>
        <p:spPr>
          <a:xfrm>
            <a:off x="5683880" y="1332303"/>
            <a:ext cx="2076740" cy="667495"/>
          </a:xfrm>
          <a:prstGeom prst="rect">
            <a:avLst/>
          </a:prstGeom>
        </p:spPr>
      </p:pic>
      <p:pic>
        <p:nvPicPr>
          <p:cNvPr id="10" name="Imagen 9">
            <a:extLst>
              <a:ext uri="{FF2B5EF4-FFF2-40B4-BE49-F238E27FC236}">
                <a16:creationId xmlns:a16="http://schemas.microsoft.com/office/drawing/2014/main" id="{BCDF158E-31FA-4228-877B-BB5E3BC2CA16}"/>
              </a:ext>
            </a:extLst>
          </p:cNvPr>
          <p:cNvPicPr>
            <a:picLocks noChangeAspect="1"/>
          </p:cNvPicPr>
          <p:nvPr/>
        </p:nvPicPr>
        <p:blipFill>
          <a:blip r:embed="rId3"/>
          <a:stretch>
            <a:fillRect/>
          </a:stretch>
        </p:blipFill>
        <p:spPr>
          <a:xfrm>
            <a:off x="5683880" y="2019986"/>
            <a:ext cx="5475892" cy="3973645"/>
          </a:xfrm>
          <a:prstGeom prst="rect">
            <a:avLst/>
          </a:prstGeom>
        </p:spPr>
      </p:pic>
      <p:sp>
        <p:nvSpPr>
          <p:cNvPr id="11" name="CuadroTexto 10">
            <a:extLst>
              <a:ext uri="{FF2B5EF4-FFF2-40B4-BE49-F238E27FC236}">
                <a16:creationId xmlns:a16="http://schemas.microsoft.com/office/drawing/2014/main" id="{ED1E48D6-B1D8-4011-B4F2-8664490F92C2}"/>
              </a:ext>
            </a:extLst>
          </p:cNvPr>
          <p:cNvSpPr txBox="1"/>
          <p:nvPr/>
        </p:nvSpPr>
        <p:spPr>
          <a:xfrm>
            <a:off x="6031802" y="6271945"/>
            <a:ext cx="433808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4.5</a:t>
            </a:r>
            <a:r>
              <a:rPr lang="es-ES" sz="1200" dirty="0">
                <a:solidFill>
                  <a:schemeClr val="tx1">
                    <a:lumMod val="50000"/>
                    <a:lumOff val="50000"/>
                  </a:schemeClr>
                </a:solidFill>
                <a:latin typeface="+mj-lt"/>
              </a:rPr>
              <a:t>.1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683989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883922" y="4988559"/>
            <a:ext cx="10972800" cy="1600200"/>
          </a:xfrm>
        </p:spPr>
        <p:txBody>
          <a:bodyPr/>
          <a:lstStyle/>
          <a:p>
            <a:r>
              <a:rPr lang="es-MX" sz="4000" b="1" dirty="0"/>
              <a:t>Caso</a:t>
            </a:r>
            <a:r>
              <a:rPr lang="es-MX" sz="5400" b="1" dirty="0">
                <a:solidFill>
                  <a:srgbClr val="FF0000"/>
                </a:solidFill>
              </a:rPr>
              <a:t> </a:t>
            </a:r>
            <a:r>
              <a:rPr lang="es-MX" sz="4000" b="1" dirty="0"/>
              <a:t>de Estudio 4.5: Sumatoria de una sucesión </a:t>
            </a:r>
            <a:br>
              <a:rPr lang="es-MX" sz="5400" b="1" dirty="0">
                <a:solidFill>
                  <a:srgbClr val="FF0000"/>
                </a:solidFill>
              </a:rPr>
            </a:br>
            <a:br>
              <a:rPr lang="es-MX" sz="5400" b="1" dirty="0">
                <a:solidFill>
                  <a:srgbClr val="FF0000"/>
                </a:solidFill>
              </a:rPr>
            </a:br>
            <a:br>
              <a:rPr lang="es-MX" sz="5400" b="1" dirty="0">
                <a:solidFill>
                  <a:srgbClr val="FF0000"/>
                </a:solidFill>
              </a:rPr>
            </a:br>
            <a:r>
              <a:rPr lang="es-MX" b="1" dirty="0"/>
              <a:t> </a:t>
            </a: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3/12/2025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25</a:t>
            </a:fld>
            <a:endParaRPr lang="es-EC"/>
          </a:p>
        </p:txBody>
      </p:sp>
      <p:sp>
        <p:nvSpPr>
          <p:cNvPr id="7" name="Marcador de contenido 2">
            <a:extLst>
              <a:ext uri="{FF2B5EF4-FFF2-40B4-BE49-F238E27FC236}">
                <a16:creationId xmlns:a16="http://schemas.microsoft.com/office/drawing/2014/main" id="{51B66AFF-D605-45C7-8750-6946F3E5C2FA}"/>
              </a:ext>
            </a:extLst>
          </p:cNvPr>
          <p:cNvSpPr>
            <a:spLocks noGrp="1"/>
          </p:cNvSpPr>
          <p:nvPr>
            <p:ph idx="1"/>
          </p:nvPr>
        </p:nvSpPr>
        <p:spPr>
          <a:xfrm>
            <a:off x="1525137" y="2265456"/>
            <a:ext cx="4296543" cy="3403824"/>
          </a:xfrm>
        </p:spPr>
        <p:txBody>
          <a:bodyPr>
            <a:normAutofit fontScale="92500" lnSpcReduction="20000"/>
          </a:bodyPr>
          <a:lstStyle/>
          <a:p>
            <a:pPr marL="0" indent="0">
              <a:buNone/>
            </a:pPr>
            <a:r>
              <a:rPr lang="es-MX" sz="2000" dirty="0"/>
              <a:t>E) Pruebas</a:t>
            </a:r>
          </a:p>
          <a:p>
            <a:pPr marL="0" indent="0">
              <a:buNone/>
            </a:pPr>
            <a:r>
              <a:rPr lang="es-MX" sz="2000" dirty="0"/>
              <a:t> En la Tabla 4.5.2, se muestra un ejemplo de la salida del programa, donde se puede ver que los resultados del programa tienen sentido, comparando estos resultados con los datos devueltos por una calculadora científica. En la salida de la Tabla 4.5.2 se puede ver que, al ingresar el número de términos igual a 5, se obtiene la sumatoria de los primeros cinco números, es decir, 1+2+3+4+5, cuyo resultado es 15. </a:t>
            </a:r>
            <a:endParaRPr lang="es-MX" sz="2800" dirty="0"/>
          </a:p>
        </p:txBody>
      </p:sp>
      <p:pic>
        <p:nvPicPr>
          <p:cNvPr id="6" name="Imagen 5">
            <a:extLst>
              <a:ext uri="{FF2B5EF4-FFF2-40B4-BE49-F238E27FC236}">
                <a16:creationId xmlns:a16="http://schemas.microsoft.com/office/drawing/2014/main" id="{40C7D56D-39B7-4CE0-A502-E2AC631438BF}"/>
              </a:ext>
            </a:extLst>
          </p:cNvPr>
          <p:cNvPicPr>
            <a:picLocks noChangeAspect="1"/>
          </p:cNvPicPr>
          <p:nvPr/>
        </p:nvPicPr>
        <p:blipFill>
          <a:blip r:embed="rId2"/>
          <a:stretch>
            <a:fillRect/>
          </a:stretch>
        </p:blipFill>
        <p:spPr>
          <a:xfrm>
            <a:off x="6096000" y="2507238"/>
            <a:ext cx="3905795" cy="847843"/>
          </a:xfrm>
          <a:prstGeom prst="rect">
            <a:avLst/>
          </a:prstGeom>
        </p:spPr>
      </p:pic>
      <p:sp>
        <p:nvSpPr>
          <p:cNvPr id="12" name="CuadroTexto 11">
            <a:extLst>
              <a:ext uri="{FF2B5EF4-FFF2-40B4-BE49-F238E27FC236}">
                <a16:creationId xmlns:a16="http://schemas.microsoft.com/office/drawing/2014/main" id="{D3FE2579-B006-46EB-BF8B-196FE450CAB4}"/>
              </a:ext>
            </a:extLst>
          </p:cNvPr>
          <p:cNvSpPr txBox="1"/>
          <p:nvPr/>
        </p:nvSpPr>
        <p:spPr>
          <a:xfrm>
            <a:off x="6096001" y="3644202"/>
            <a:ext cx="3749040"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4.5.2</a:t>
            </a:r>
            <a:r>
              <a:rPr lang="es-ES" sz="1200" dirty="0">
                <a:solidFill>
                  <a:schemeClr val="tx1">
                    <a:lumMod val="50000"/>
                    <a:lumOff val="50000"/>
                  </a:schemeClr>
                </a:solidFill>
                <a:latin typeface="+mj-lt"/>
              </a:rPr>
              <a:t> 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14495403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883922" y="4988559"/>
            <a:ext cx="10972800" cy="1600200"/>
          </a:xfrm>
        </p:spPr>
        <p:txBody>
          <a:bodyPr/>
          <a:lstStyle/>
          <a:p>
            <a:r>
              <a:rPr lang="es-MX" sz="4000" b="1" dirty="0"/>
              <a:t>Caso</a:t>
            </a:r>
            <a:r>
              <a:rPr lang="es-MX" sz="5400" b="1" dirty="0">
                <a:solidFill>
                  <a:srgbClr val="FF0000"/>
                </a:solidFill>
              </a:rPr>
              <a:t> </a:t>
            </a:r>
            <a:r>
              <a:rPr lang="es-MX" sz="4000" b="1" dirty="0"/>
              <a:t>de Estudio 4.5: Sumatoria de una sucesión </a:t>
            </a:r>
            <a:br>
              <a:rPr lang="es-MX" sz="5400" b="1" dirty="0">
                <a:solidFill>
                  <a:srgbClr val="FF0000"/>
                </a:solidFill>
              </a:rPr>
            </a:br>
            <a:br>
              <a:rPr lang="es-MX" sz="5400" b="1" dirty="0">
                <a:solidFill>
                  <a:srgbClr val="FF0000"/>
                </a:solidFill>
              </a:rPr>
            </a:br>
            <a:br>
              <a:rPr lang="es-MX" sz="5400" b="1" dirty="0">
                <a:solidFill>
                  <a:srgbClr val="FF0000"/>
                </a:solidFill>
              </a:rPr>
            </a:br>
            <a:r>
              <a:rPr lang="es-MX" b="1" dirty="0"/>
              <a:t> </a:t>
            </a:r>
            <a:br>
              <a:rPr lang="es-MX" sz="5400" b="1" dirty="0">
                <a:solidFill>
                  <a:srgbClr val="FF0000"/>
                </a:solidFill>
              </a:rPr>
            </a:br>
            <a:br>
              <a:rPr lang="es-MX" sz="5400" b="1" dirty="0">
                <a:solidFill>
                  <a:srgbClr val="FF0000"/>
                </a:solidFill>
              </a:rPr>
            </a:br>
            <a:r>
              <a:rPr lang="es-MX" b="1" dirty="0"/>
              <a:t> </a:t>
            </a: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3/12/2025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26</a:t>
            </a:fld>
            <a:endParaRPr lang="es-EC"/>
          </a:p>
        </p:txBody>
      </p:sp>
      <p:sp>
        <p:nvSpPr>
          <p:cNvPr id="7" name="Marcador de contenido 2">
            <a:extLst>
              <a:ext uri="{FF2B5EF4-FFF2-40B4-BE49-F238E27FC236}">
                <a16:creationId xmlns:a16="http://schemas.microsoft.com/office/drawing/2014/main" id="{51B66AFF-D605-45C7-8750-6946F3E5C2FA}"/>
              </a:ext>
            </a:extLst>
          </p:cNvPr>
          <p:cNvSpPr>
            <a:spLocks noGrp="1"/>
          </p:cNvSpPr>
          <p:nvPr>
            <p:ph idx="1"/>
          </p:nvPr>
        </p:nvSpPr>
        <p:spPr>
          <a:xfrm>
            <a:off x="1525137" y="2265456"/>
            <a:ext cx="4329672" cy="3962624"/>
          </a:xfrm>
        </p:spPr>
        <p:txBody>
          <a:bodyPr>
            <a:normAutofit/>
          </a:bodyPr>
          <a:lstStyle/>
          <a:p>
            <a:pPr marL="0" indent="0">
              <a:buNone/>
            </a:pPr>
            <a:r>
              <a:rPr lang="es-MX" sz="1600" dirty="0"/>
              <a:t>En la Tabla 4.5.3, se muestra la prueba de escritorio del programa, donde se puede comprobar que en cada iteración del bucle for() se utiliza un acumulador de sumas donde se acumulan los valores parciales de la sucesión. Finalmente, la ejecución del bucle termina cuando la condición de esta sentencia se hace falsa.</a:t>
            </a:r>
            <a:r>
              <a:rPr lang="es-MX" sz="2000" dirty="0"/>
              <a:t> </a:t>
            </a:r>
            <a:endParaRPr lang="es-MX" sz="2800" dirty="0"/>
          </a:p>
        </p:txBody>
      </p:sp>
      <p:pic>
        <p:nvPicPr>
          <p:cNvPr id="8" name="Imagen 7">
            <a:extLst>
              <a:ext uri="{FF2B5EF4-FFF2-40B4-BE49-F238E27FC236}">
                <a16:creationId xmlns:a16="http://schemas.microsoft.com/office/drawing/2014/main" id="{C09C9E0E-6300-4872-BBDE-301677D8671E}"/>
              </a:ext>
            </a:extLst>
          </p:cNvPr>
          <p:cNvPicPr>
            <a:picLocks noChangeAspect="1"/>
          </p:cNvPicPr>
          <p:nvPr/>
        </p:nvPicPr>
        <p:blipFill>
          <a:blip r:embed="rId2"/>
          <a:stretch>
            <a:fillRect/>
          </a:stretch>
        </p:blipFill>
        <p:spPr>
          <a:xfrm>
            <a:off x="5854809" y="3054714"/>
            <a:ext cx="4579512" cy="1933845"/>
          </a:xfrm>
          <a:prstGeom prst="rect">
            <a:avLst/>
          </a:prstGeom>
        </p:spPr>
      </p:pic>
    </p:spTree>
    <p:extLst>
      <p:ext uri="{BB962C8B-B14F-4D97-AF65-F5344CB8AC3E}">
        <p14:creationId xmlns:p14="http://schemas.microsoft.com/office/powerpoint/2010/main" val="20454727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524001" y="-1"/>
            <a:ext cx="9105252" cy="954107"/>
          </a:xfrm>
        </p:spPr>
        <p:txBody>
          <a:bodyPr/>
          <a:lstStyle/>
          <a:p>
            <a:r>
              <a:rPr lang="es-ES" sz="4800" b="1" dirty="0"/>
              <a:t>Pensamiento</a:t>
            </a:r>
            <a:endParaRPr lang="en-US" sz="4800" b="1" dirty="0"/>
          </a:p>
        </p:txBody>
      </p:sp>
      <p:sp>
        <p:nvSpPr>
          <p:cNvPr id="5" name="4 Marcador de contenido"/>
          <p:cNvSpPr>
            <a:spLocks noGrp="1"/>
          </p:cNvSpPr>
          <p:nvPr>
            <p:ph idx="1"/>
          </p:nvPr>
        </p:nvSpPr>
        <p:spPr>
          <a:xfrm>
            <a:off x="1630385" y="3004126"/>
            <a:ext cx="4755908" cy="2459009"/>
          </a:xfrm>
        </p:spPr>
        <p:txBody>
          <a:bodyPr>
            <a:normAutofit/>
          </a:bodyPr>
          <a:lstStyle/>
          <a:p>
            <a:r>
              <a:rPr lang="es-EC" b="1" dirty="0"/>
              <a:t>“</a:t>
            </a:r>
            <a:r>
              <a:rPr lang="es-ES" b="1" dirty="0"/>
              <a:t>Todo el mundo debería saber programar”</a:t>
            </a:r>
            <a:endParaRPr lang="es-ES" dirty="0"/>
          </a:p>
        </p:txBody>
      </p:sp>
      <p:sp>
        <p:nvSpPr>
          <p:cNvPr id="3" name="2 Marcador de fecha"/>
          <p:cNvSpPr>
            <a:spLocks noGrp="1"/>
          </p:cNvSpPr>
          <p:nvPr>
            <p:ph type="dt" sz="half" idx="10"/>
          </p:nvPr>
        </p:nvSpPr>
        <p:spPr/>
        <p:txBody>
          <a:bodyPr/>
          <a:lstStyle/>
          <a:p>
            <a:fld id="{44C3288D-7DAC-4DD2-9022-6C6BA4238517}" type="datetime1">
              <a:rPr lang="es-EC" smtClean="0"/>
              <a:t>2/12/2025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27</a:t>
            </a:fld>
            <a:endParaRPr lang="es-EC"/>
          </a:p>
        </p:txBody>
      </p:sp>
      <p:sp>
        <p:nvSpPr>
          <p:cNvPr id="8" name="7 CuadroTexto"/>
          <p:cNvSpPr txBox="1"/>
          <p:nvPr/>
        </p:nvSpPr>
        <p:spPr>
          <a:xfrm>
            <a:off x="1630385" y="1587689"/>
            <a:ext cx="9241702" cy="523220"/>
          </a:xfrm>
          <a:prstGeom prst="rect">
            <a:avLst/>
          </a:prstGeom>
          <a:noFill/>
        </p:spPr>
        <p:txBody>
          <a:bodyPr wrap="square" rtlCol="0">
            <a:spAutoFit/>
          </a:bodyPr>
          <a:lstStyle/>
          <a:p>
            <a:r>
              <a:rPr lang="es-EC" sz="2800" dirty="0">
                <a:solidFill>
                  <a:schemeClr val="bg1">
                    <a:lumMod val="50000"/>
                  </a:schemeClr>
                </a:solidFill>
              </a:rPr>
              <a:t>Científico de la Computación</a:t>
            </a:r>
          </a:p>
        </p:txBody>
      </p:sp>
      <p:sp>
        <p:nvSpPr>
          <p:cNvPr id="9" name="12 CuadroTexto"/>
          <p:cNvSpPr txBox="1"/>
          <p:nvPr/>
        </p:nvSpPr>
        <p:spPr>
          <a:xfrm>
            <a:off x="6096000" y="5105588"/>
            <a:ext cx="4264624" cy="646331"/>
          </a:xfrm>
          <a:prstGeom prst="rect">
            <a:avLst/>
          </a:prstGeom>
          <a:noFill/>
        </p:spPr>
        <p:txBody>
          <a:bodyPr wrap="square" rtlCol="0">
            <a:spAutoFit/>
          </a:bodyPr>
          <a:lstStyle/>
          <a:p>
            <a:r>
              <a:rPr lang="es-ES_tradnl" sz="1200" dirty="0">
                <a:solidFill>
                  <a:schemeClr val="tx1">
                    <a:lumMod val="50000"/>
                    <a:lumOff val="50000"/>
                  </a:schemeClr>
                </a:solidFill>
                <a:latin typeface="+mj-lt"/>
              </a:rPr>
              <a:t>Figura 32. </a:t>
            </a:r>
            <a:r>
              <a:rPr lang="es-EC" sz="1200" dirty="0">
                <a:solidFill>
                  <a:schemeClr val="tx1">
                    <a:lumMod val="50000"/>
                    <a:lumOff val="50000"/>
                  </a:schemeClr>
                </a:solidFill>
                <a:latin typeface="+mj-lt"/>
              </a:rPr>
              <a:t>Universidad de las Fuerzas Armadas - ESPE</a:t>
            </a:r>
            <a:r>
              <a:rPr lang="es-ES_tradnl" sz="1200" dirty="0">
                <a:solidFill>
                  <a:schemeClr val="tx1">
                    <a:lumMod val="50000"/>
                    <a:lumOff val="50000"/>
                  </a:schemeClr>
                </a:solidFill>
                <a:latin typeface="+mj-lt"/>
              </a:rPr>
              <a:t>. </a:t>
            </a:r>
          </a:p>
          <a:p>
            <a:r>
              <a:rPr lang="es-ES_tradnl" sz="1200" dirty="0">
                <a:solidFill>
                  <a:schemeClr val="tx1">
                    <a:lumMod val="50000"/>
                    <a:lumOff val="50000"/>
                  </a:schemeClr>
                </a:solidFill>
                <a:latin typeface="+mj-lt"/>
              </a:rPr>
              <a:t>Fuente: https://economipedia.com/definiciones/steve-jobs.html</a:t>
            </a:r>
            <a:endParaRPr lang="es-EC" sz="1200" dirty="0">
              <a:solidFill>
                <a:schemeClr val="tx1">
                  <a:lumMod val="50000"/>
                  <a:lumOff val="50000"/>
                </a:schemeClr>
              </a:solidFill>
              <a:latin typeface="+mj-lt"/>
            </a:endParaRPr>
          </a:p>
        </p:txBody>
      </p:sp>
      <p:pic>
        <p:nvPicPr>
          <p:cNvPr id="10" name="Imagen 9">
            <a:extLst>
              <a:ext uri="{FF2B5EF4-FFF2-40B4-BE49-F238E27FC236}">
                <a16:creationId xmlns:a16="http://schemas.microsoft.com/office/drawing/2014/main" id="{F0B58358-E067-4062-8B4C-9A21F65546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0878" y="2222286"/>
            <a:ext cx="4232938" cy="2638134"/>
          </a:xfrm>
          <a:prstGeom prst="rect">
            <a:avLst/>
          </a:prstGeom>
        </p:spPr>
      </p:pic>
    </p:spTree>
    <p:extLst>
      <p:ext uri="{BB962C8B-B14F-4D97-AF65-F5344CB8AC3E}">
        <p14:creationId xmlns:p14="http://schemas.microsoft.com/office/powerpoint/2010/main" val="10817259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063552" y="2060848"/>
            <a:ext cx="8229600" cy="836712"/>
          </a:xfrm>
        </p:spPr>
        <p:txBody>
          <a:bodyPr/>
          <a:lstStyle/>
          <a:p>
            <a:r>
              <a:rPr lang="en-US" b="1" dirty="0"/>
              <a:t>¿</a:t>
            </a:r>
            <a:r>
              <a:rPr lang="en-US" b="1" dirty="0" err="1"/>
              <a:t>Preguntas</a:t>
            </a:r>
            <a:r>
              <a:rPr lang="en-US" b="1" dirty="0"/>
              <a:t>?</a:t>
            </a:r>
          </a:p>
        </p:txBody>
      </p:sp>
      <p:sp>
        <p:nvSpPr>
          <p:cNvPr id="5" name="4 Marcador de contenido"/>
          <p:cNvSpPr>
            <a:spLocks noGrp="1"/>
          </p:cNvSpPr>
          <p:nvPr>
            <p:ph idx="1"/>
          </p:nvPr>
        </p:nvSpPr>
        <p:spPr>
          <a:xfrm>
            <a:off x="4295800" y="3501008"/>
            <a:ext cx="5760640" cy="792088"/>
          </a:xfrm>
        </p:spPr>
        <p:txBody>
          <a:bodyPr>
            <a:normAutofit/>
          </a:bodyPr>
          <a:lstStyle/>
          <a:p>
            <a:pPr marL="0" indent="0">
              <a:buNone/>
            </a:pPr>
            <a:r>
              <a:rPr lang="es-EC" sz="4000" dirty="0"/>
              <a:t>!Gracias!</a:t>
            </a:r>
          </a:p>
        </p:txBody>
      </p:sp>
      <p:sp>
        <p:nvSpPr>
          <p:cNvPr id="3" name="2 Marcador de fecha"/>
          <p:cNvSpPr>
            <a:spLocks noGrp="1"/>
          </p:cNvSpPr>
          <p:nvPr>
            <p:ph type="dt" sz="half" idx="10"/>
          </p:nvPr>
        </p:nvSpPr>
        <p:spPr/>
        <p:txBody>
          <a:bodyPr/>
          <a:lstStyle/>
          <a:p>
            <a:fld id="{EA350481-F057-463F-9522-14A55A4D5C62}" type="datetime1">
              <a:rPr lang="es-EC" smtClean="0"/>
              <a:t>2/12/2025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28</a:t>
            </a:fld>
            <a:endParaRPr lang="es-EC"/>
          </a:p>
        </p:txBody>
      </p:sp>
    </p:spTree>
    <p:extLst>
      <p:ext uri="{BB962C8B-B14F-4D97-AF65-F5344CB8AC3E}">
        <p14:creationId xmlns:p14="http://schemas.microsoft.com/office/powerpoint/2010/main" val="1093471285"/>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jecutivo">
  <a:themeElements>
    <a:clrScheme name="Ejecutivo">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jecutivo">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jecutiv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8009</TotalTime>
  <Words>1872</Words>
  <Application>Microsoft Office PowerPoint</Application>
  <PresentationFormat>Panorámica</PresentationFormat>
  <Paragraphs>168</Paragraphs>
  <Slides>28</Slides>
  <Notes>1</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28</vt:i4>
      </vt:variant>
    </vt:vector>
  </HeadingPairs>
  <TitlesOfParts>
    <vt:vector size="36" baseType="lpstr">
      <vt:lpstr>Arial</vt:lpstr>
      <vt:lpstr>Calibri</vt:lpstr>
      <vt:lpstr>Calibri Light</vt:lpstr>
      <vt:lpstr>Century Gothic</vt:lpstr>
      <vt:lpstr>Courier New</vt:lpstr>
      <vt:lpstr>Palatino Linotype</vt:lpstr>
      <vt:lpstr>Tema de Office</vt:lpstr>
      <vt:lpstr>Ejecutivo</vt:lpstr>
      <vt:lpstr>Presentación de PowerPoint</vt:lpstr>
      <vt:lpstr>Contenido</vt:lpstr>
      <vt:lpstr>La sentencia for       </vt:lpstr>
      <vt:lpstr>La sentencia for       </vt:lpstr>
      <vt:lpstr>La sentencia for       </vt:lpstr>
      <vt:lpstr>Contenido</vt:lpstr>
      <vt:lpstr>Problema 4.9: (Aplicación de la sentencia for como un bucle ascendente)         </vt:lpstr>
      <vt:lpstr>Problema 4.9: (Aplicación de la sentencia for como un bucle ascendente)         </vt:lpstr>
      <vt:lpstr>Problema 4.9: (Aplicación de la sentencia for como un bucle ascendente)         </vt:lpstr>
      <vt:lpstr>Problema 4.9: (Aplicación de la sentencia for como un bucle ascendente)        </vt:lpstr>
      <vt:lpstr>Contenido</vt:lpstr>
      <vt:lpstr>Problema 4.10: (Aplicación de la sentencia for como un bucle descendente)         </vt:lpstr>
      <vt:lpstr>Problema 4.10: (Aplicación de la sentencia for como un bucle descendente)         </vt:lpstr>
      <vt:lpstr>Problema 4.10: (Aplicación de la sentencia for como un bucle descendente)         </vt:lpstr>
      <vt:lpstr>Problema 4.10: (Aplicación de la sentencia for como un bucle descendente)         </vt:lpstr>
      <vt:lpstr>Contenido</vt:lpstr>
      <vt:lpstr>Caso de Estudio 4.5: Sumatoria de una sucesión          </vt:lpstr>
      <vt:lpstr>Caso de Estudio 4.5: Sumatoria de una sucesión          </vt:lpstr>
      <vt:lpstr>Caso de Estudio 4.5: Sumatoria de una sucesión          </vt:lpstr>
      <vt:lpstr>Caso de Estudio 4.5: Sumatoria de una sucesión          </vt:lpstr>
      <vt:lpstr>Caso de Estudio 4.5: Sumatoria de una sucesión          </vt:lpstr>
      <vt:lpstr>Caso de Estudio 4.5: Sumatoria de una sucesión          </vt:lpstr>
      <vt:lpstr>Caso de Estudio 4.5: Sumatoria de una sucesión          </vt:lpstr>
      <vt:lpstr>Caso de Estudio 4.5: Sumatoria de una sucesión          </vt:lpstr>
      <vt:lpstr>Caso de Estudio 4.5: Sumatoria de una sucesión          </vt:lpstr>
      <vt:lpstr>Caso de Estudio 4.5: Sumatoria de una sucesión          </vt:lpstr>
      <vt:lpstr>Pensamiento</vt:lpstr>
      <vt:lpstr>¿Preguntas?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HP</dc:creator>
  <cp:lastModifiedBy>HP</cp:lastModifiedBy>
  <cp:revision>14</cp:revision>
  <dcterms:created xsi:type="dcterms:W3CDTF">2025-10-07T22:49:11Z</dcterms:created>
  <dcterms:modified xsi:type="dcterms:W3CDTF">2025-12-03T17:06:56Z</dcterms:modified>
</cp:coreProperties>
</file>