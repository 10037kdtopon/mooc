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0"/>
  </p:notesMasterIdLst>
  <p:sldIdLst>
    <p:sldId id="311" r:id="rId3"/>
    <p:sldId id="257" r:id="rId4"/>
    <p:sldId id="569" r:id="rId5"/>
    <p:sldId id="589" r:id="rId6"/>
    <p:sldId id="593" r:id="rId7"/>
    <p:sldId id="594" r:id="rId8"/>
    <p:sldId id="595" r:id="rId9"/>
    <p:sldId id="596" r:id="rId10"/>
    <p:sldId id="597" r:id="rId11"/>
    <p:sldId id="598" r:id="rId12"/>
    <p:sldId id="599" r:id="rId13"/>
    <p:sldId id="600" r:id="rId14"/>
    <p:sldId id="601" r:id="rId15"/>
    <p:sldId id="602" r:id="rId16"/>
    <p:sldId id="603" r:id="rId17"/>
    <p:sldId id="604" r:id="rId18"/>
    <p:sldId id="605" r:id="rId19"/>
    <p:sldId id="607" r:id="rId20"/>
    <p:sldId id="606" r:id="rId21"/>
    <p:sldId id="608" r:id="rId22"/>
    <p:sldId id="609" r:id="rId23"/>
    <p:sldId id="610" r:id="rId24"/>
    <p:sldId id="611" r:id="rId25"/>
    <p:sldId id="612" r:id="rId26"/>
    <p:sldId id="613" r:id="rId27"/>
    <p:sldId id="393" r:id="rId28"/>
    <p:sldId id="275" r:id="rId29"/>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initials="H" lastIdx="1" clrIdx="0">
    <p:extLst>
      <p:ext uri="{19B8F6BF-5375-455C-9EA6-DF929625EA0E}">
        <p15:presenceInfo xmlns:p15="http://schemas.microsoft.com/office/powerpoint/2012/main" userId="H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89" autoAdjust="0"/>
    <p:restoredTop sz="94660"/>
  </p:normalViewPr>
  <p:slideViewPr>
    <p:cSldViewPr snapToGrid="0">
      <p:cViewPr varScale="1">
        <p:scale>
          <a:sx n="86" d="100"/>
          <a:sy n="86" d="100"/>
        </p:scale>
        <p:origin x="61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30/12/2025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30/12/2025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30/12/2025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30/12/2025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30/12/2025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30/12/2025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30/12/2025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371237" y="2031002"/>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MX" sz="2400" b="1" dirty="0">
                <a:effectLst/>
                <a:latin typeface="Arial" pitchFamily="34" charset="0"/>
                <a:cs typeface="Arial" pitchFamily="34" charset="0"/>
              </a:rPr>
              <a:t>CAPÍTULO 4 ALGORITMOS Y ESTRUCTURAS DE CONTROL REPETITIVAS EN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30/12/2025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4000" b="1" dirty="0">
                <a:solidFill>
                  <a:srgbClr val="FF0000"/>
                </a:solidFill>
              </a:rPr>
              <a:t>Bucles anidados </a:t>
            </a:r>
          </a:p>
          <a:p>
            <a:pPr lvl="1"/>
            <a:r>
              <a:rPr lang="es-EC" sz="3200" dirty="0"/>
              <a:t>Problema 4.13: (Aplicación de bucles anidados para visualizar un triángulo rectángulo isósceles de asteriscos)</a:t>
            </a:r>
          </a:p>
          <a:p>
            <a:pPr lvl="1"/>
            <a:r>
              <a:rPr lang="es-MX" sz="3200" dirty="0"/>
              <a:t>Caso de Estudio 4.8: Visualización de un Rombo con Asteriscos 254</a:t>
            </a:r>
            <a:endParaRPr lang="es-MX" sz="2800" dirty="0"/>
          </a:p>
        </p:txBody>
      </p:sp>
      <p:sp>
        <p:nvSpPr>
          <p:cNvPr id="5" name="4 Marcador de fecha"/>
          <p:cNvSpPr>
            <a:spLocks noGrp="1"/>
          </p:cNvSpPr>
          <p:nvPr>
            <p:ph type="dt" sz="half" idx="10"/>
          </p:nvPr>
        </p:nvSpPr>
        <p:spPr/>
        <p:txBody>
          <a:bodyPr/>
          <a:lstStyle/>
          <a:p>
            <a:r>
              <a:rPr lang="es-EC" dirty="0">
                <a:solidFill>
                  <a:prstClr val="black">
                    <a:lumMod val="65000"/>
                    <a:lumOff val="35000"/>
                  </a:prstClr>
                </a:solidFill>
              </a:rPr>
              <a:t>23/12/2025</a:t>
            </a: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092471" y="200210"/>
            <a:ext cx="7445677" cy="1467225"/>
          </a:xfrm>
        </p:spPr>
        <p:txBody>
          <a:bodyPr/>
          <a:lstStyle/>
          <a:p>
            <a:br>
              <a:rPr lang="es-MX" sz="4000" b="1" dirty="0">
                <a:solidFill>
                  <a:srgbClr val="FF0000"/>
                </a:solidFill>
              </a:rPr>
            </a:br>
            <a:r>
              <a:rPr lang="es-MX" sz="7200" b="1" dirty="0"/>
              <a:t>Bucles anidados</a:t>
            </a: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24123" y="2353252"/>
            <a:ext cx="3654729" cy="2935923"/>
          </a:xfrm>
        </p:spPr>
        <p:txBody>
          <a:bodyPr>
            <a:normAutofit fontScale="77500" lnSpcReduction="20000"/>
          </a:bodyPr>
          <a:lstStyle/>
          <a:p>
            <a:pPr marL="0" indent="0">
              <a:buNone/>
            </a:pPr>
            <a:r>
              <a:rPr lang="es-MX" sz="2000" dirty="0"/>
              <a:t>En el lenguaje C/C++ es posible anidar bucles, donde estos bucles anidados constan de un bucle externo con uno o más bucles internos (Joyanes Aguilar, L., 2008). Cada vez que se repite el bucle externo, los bucles internos se repiten y se ejecutan las sentencias de estos bucles. Se pueden combinar bucles </a:t>
            </a:r>
            <a:r>
              <a:rPr lang="es-MX" sz="2000" dirty="0" err="1"/>
              <a:t>for</a:t>
            </a:r>
            <a:r>
              <a:rPr lang="es-MX" sz="2000" dirty="0"/>
              <a:t>() entre sí, pero también se pueden combinar bucles </a:t>
            </a:r>
            <a:r>
              <a:rPr lang="es-MX" sz="2000" dirty="0" err="1"/>
              <a:t>for</a:t>
            </a:r>
            <a:r>
              <a:rPr lang="es-MX" sz="2000" dirty="0"/>
              <a:t>() con bucles </a:t>
            </a:r>
            <a:r>
              <a:rPr lang="es-MX" sz="2000" dirty="0" err="1"/>
              <a:t>while</a:t>
            </a:r>
            <a:r>
              <a:rPr lang="es-MX" sz="2000" dirty="0"/>
              <a:t>() y do-</a:t>
            </a:r>
            <a:r>
              <a:rPr lang="es-MX" sz="2000" dirty="0" err="1"/>
              <a:t>while</a:t>
            </a:r>
            <a:r>
              <a:rPr lang="es-MX" sz="2000" dirty="0"/>
              <a:t>() en diferente orden, por ejemplo: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3</a:t>
            </a:fld>
            <a:endParaRPr lang="es-EC"/>
          </a:p>
        </p:txBody>
      </p:sp>
      <p:pic>
        <p:nvPicPr>
          <p:cNvPr id="8" name="Imagen 7">
            <a:extLst>
              <a:ext uri="{FF2B5EF4-FFF2-40B4-BE49-F238E27FC236}">
                <a16:creationId xmlns:a16="http://schemas.microsoft.com/office/drawing/2014/main" id="{CCB25DA0-7AA7-48D3-89D4-255D0ABEBFD2}"/>
              </a:ext>
            </a:extLst>
          </p:cNvPr>
          <p:cNvPicPr>
            <a:picLocks noChangeAspect="1"/>
          </p:cNvPicPr>
          <p:nvPr/>
        </p:nvPicPr>
        <p:blipFill>
          <a:blip r:embed="rId2"/>
          <a:stretch>
            <a:fillRect/>
          </a:stretch>
        </p:blipFill>
        <p:spPr>
          <a:xfrm>
            <a:off x="5602941" y="2052059"/>
            <a:ext cx="4964936" cy="3538311"/>
          </a:xfrm>
          <a:prstGeom prst="rect">
            <a:avLst/>
          </a:prstGeom>
        </p:spPr>
      </p:pic>
    </p:spTree>
    <p:extLst>
      <p:ext uri="{BB962C8B-B14F-4D97-AF65-F5344CB8AC3E}">
        <p14:creationId xmlns:p14="http://schemas.microsoft.com/office/powerpoint/2010/main" val="1705670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3200" dirty="0"/>
              <a:t>Bucles anidados </a:t>
            </a:r>
          </a:p>
          <a:p>
            <a:pPr lvl="1"/>
            <a:r>
              <a:rPr lang="es-EC" sz="4000" b="1" dirty="0">
                <a:solidFill>
                  <a:srgbClr val="FF0000"/>
                </a:solidFill>
              </a:rPr>
              <a:t>Problema 4.13: (Aplicación de bucles anidados para visualizar un triángulo rectángulo isósceles de asteriscos)</a:t>
            </a:r>
          </a:p>
          <a:p>
            <a:pPr lvl="1"/>
            <a:r>
              <a:rPr lang="es-MX" sz="3200" dirty="0"/>
              <a:t>Caso de Estudio 4.8: Visualización de un Rombo con Asteriscos 254</a:t>
            </a:r>
            <a:endParaRPr lang="es-MX" sz="2800" dirty="0"/>
          </a:p>
        </p:txBody>
      </p:sp>
      <p:sp>
        <p:nvSpPr>
          <p:cNvPr id="5" name="4 Marcador de fecha"/>
          <p:cNvSpPr>
            <a:spLocks noGrp="1"/>
          </p:cNvSpPr>
          <p:nvPr>
            <p:ph type="dt" sz="half" idx="10"/>
          </p:nvPr>
        </p:nvSpPr>
        <p:spPr/>
        <p:txBody>
          <a:bodyPr/>
          <a:lstStyle/>
          <a:p>
            <a:r>
              <a:rPr lang="es-EC" dirty="0">
                <a:solidFill>
                  <a:prstClr val="black">
                    <a:lumMod val="65000"/>
                    <a:lumOff val="35000"/>
                  </a:prstClr>
                </a:solidFill>
              </a:rPr>
              <a:t>23/12/2025</a:t>
            </a: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789973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997906" y="2522069"/>
            <a:ext cx="5886117" cy="328707"/>
          </a:xfrm>
        </p:spPr>
        <p:txBody>
          <a:bodyPr/>
          <a:lstStyle/>
          <a:p>
            <a:br>
              <a:rPr lang="es-MX" sz="2400" b="1" dirty="0">
                <a:solidFill>
                  <a:srgbClr val="FF0000"/>
                </a:solidFill>
              </a:rPr>
            </a:br>
            <a:r>
              <a:rPr lang="es-EC" sz="2400" dirty="0"/>
              <a:t>Problema 4.13: (Aplicación de bucles anidados para visualizar un triángulo rectángulo isósceles de asteriscos)</a:t>
            </a: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624123" y="2353252"/>
            <a:ext cx="3654729" cy="2935923"/>
          </a:xfrm>
        </p:spPr>
        <p:txBody>
          <a:bodyPr>
            <a:normAutofit/>
          </a:bodyPr>
          <a:lstStyle/>
          <a:p>
            <a:pPr marL="0" indent="0">
              <a:buNone/>
            </a:pPr>
            <a:r>
              <a:rPr lang="es-MX" sz="2000" dirty="0"/>
              <a:t>Escribir un programa que permita visualizar un triángulo rectángulo isósceles de asteriscos. Así, por ejemplo, si el valor del lado del triángulo es igual a 5, se obtendrá la siguiente figura:</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5</a:t>
            </a:fld>
            <a:endParaRPr lang="es-EC"/>
          </a:p>
        </p:txBody>
      </p:sp>
      <p:pic>
        <p:nvPicPr>
          <p:cNvPr id="7" name="Imagen 6">
            <a:extLst>
              <a:ext uri="{FF2B5EF4-FFF2-40B4-BE49-F238E27FC236}">
                <a16:creationId xmlns:a16="http://schemas.microsoft.com/office/drawing/2014/main" id="{2DB6442A-6A64-4F5C-9E74-296B51296ECC}"/>
              </a:ext>
            </a:extLst>
          </p:cNvPr>
          <p:cNvPicPr>
            <a:picLocks noChangeAspect="1"/>
          </p:cNvPicPr>
          <p:nvPr/>
        </p:nvPicPr>
        <p:blipFill>
          <a:blip r:embed="rId2"/>
          <a:stretch>
            <a:fillRect/>
          </a:stretch>
        </p:blipFill>
        <p:spPr>
          <a:xfrm>
            <a:off x="1624123" y="4843544"/>
            <a:ext cx="7773485" cy="1228896"/>
          </a:xfrm>
          <a:prstGeom prst="rect">
            <a:avLst/>
          </a:prstGeom>
        </p:spPr>
      </p:pic>
    </p:spTree>
    <p:extLst>
      <p:ext uri="{BB962C8B-B14F-4D97-AF65-F5344CB8AC3E}">
        <p14:creationId xmlns:p14="http://schemas.microsoft.com/office/powerpoint/2010/main" val="2569429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2997906" y="2423457"/>
            <a:ext cx="5886117" cy="328707"/>
          </a:xfrm>
        </p:spPr>
        <p:txBody>
          <a:bodyPr/>
          <a:lstStyle/>
          <a:p>
            <a:br>
              <a:rPr lang="es-MX" sz="2400" b="1" dirty="0">
                <a:solidFill>
                  <a:srgbClr val="FF0000"/>
                </a:solidFill>
              </a:rPr>
            </a:br>
            <a:r>
              <a:rPr lang="es-EC" sz="2400" dirty="0"/>
              <a:t>Problema 4.13: (Aplicación de bucles anidados para visualizar un triángulo rectángulo isósceles de asteriscos)</a:t>
            </a:r>
            <a:br>
              <a:rPr lang="es-EC" sz="4000"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6</a:t>
            </a:fld>
            <a:endParaRPr lang="es-EC"/>
          </a:p>
        </p:txBody>
      </p:sp>
      <p:pic>
        <p:nvPicPr>
          <p:cNvPr id="10" name="Imagen 9">
            <a:extLst>
              <a:ext uri="{FF2B5EF4-FFF2-40B4-BE49-F238E27FC236}">
                <a16:creationId xmlns:a16="http://schemas.microsoft.com/office/drawing/2014/main" id="{38401EAE-D8E8-408C-A149-1B928F44FD73}"/>
              </a:ext>
            </a:extLst>
          </p:cNvPr>
          <p:cNvPicPr>
            <a:picLocks noChangeAspect="1"/>
          </p:cNvPicPr>
          <p:nvPr/>
        </p:nvPicPr>
        <p:blipFill>
          <a:blip r:embed="rId2"/>
          <a:stretch>
            <a:fillRect/>
          </a:stretch>
        </p:blipFill>
        <p:spPr>
          <a:xfrm>
            <a:off x="2312893" y="1954306"/>
            <a:ext cx="7562219" cy="2590801"/>
          </a:xfrm>
          <a:prstGeom prst="rect">
            <a:avLst/>
          </a:prstGeom>
        </p:spPr>
      </p:pic>
      <p:pic>
        <p:nvPicPr>
          <p:cNvPr id="12" name="Imagen 11">
            <a:extLst>
              <a:ext uri="{FF2B5EF4-FFF2-40B4-BE49-F238E27FC236}">
                <a16:creationId xmlns:a16="http://schemas.microsoft.com/office/drawing/2014/main" id="{2777D56E-58C2-4F3B-9CC5-79FE1AF10D50}"/>
              </a:ext>
            </a:extLst>
          </p:cNvPr>
          <p:cNvPicPr>
            <a:picLocks noChangeAspect="1"/>
          </p:cNvPicPr>
          <p:nvPr/>
        </p:nvPicPr>
        <p:blipFill>
          <a:blip r:embed="rId3"/>
          <a:stretch>
            <a:fillRect/>
          </a:stretch>
        </p:blipFill>
        <p:spPr>
          <a:xfrm>
            <a:off x="2383114" y="4645651"/>
            <a:ext cx="7415310" cy="1710700"/>
          </a:xfrm>
          <a:prstGeom prst="rect">
            <a:avLst/>
          </a:prstGeom>
        </p:spPr>
      </p:pic>
    </p:spTree>
    <p:extLst>
      <p:ext uri="{BB962C8B-B14F-4D97-AF65-F5344CB8AC3E}">
        <p14:creationId xmlns:p14="http://schemas.microsoft.com/office/powerpoint/2010/main" val="42699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7</a:t>
            </a:fld>
            <a:endParaRPr lang="es-EC"/>
          </a:p>
        </p:txBody>
      </p:sp>
      <p:pic>
        <p:nvPicPr>
          <p:cNvPr id="12" name="Imagen 11">
            <a:extLst>
              <a:ext uri="{FF2B5EF4-FFF2-40B4-BE49-F238E27FC236}">
                <a16:creationId xmlns:a16="http://schemas.microsoft.com/office/drawing/2014/main" id="{C3708167-1371-4EF0-9BE2-1FC5EE78DBD1}"/>
              </a:ext>
            </a:extLst>
          </p:cNvPr>
          <p:cNvPicPr>
            <a:picLocks noChangeAspect="1"/>
          </p:cNvPicPr>
          <p:nvPr/>
        </p:nvPicPr>
        <p:blipFill>
          <a:blip r:embed="rId2"/>
          <a:stretch>
            <a:fillRect/>
          </a:stretch>
        </p:blipFill>
        <p:spPr>
          <a:xfrm>
            <a:off x="2268072" y="59447"/>
            <a:ext cx="7177472" cy="5920012"/>
          </a:xfrm>
          <a:prstGeom prst="rect">
            <a:avLst/>
          </a:prstGeom>
        </p:spPr>
      </p:pic>
      <p:sp>
        <p:nvSpPr>
          <p:cNvPr id="13" name="CuadroTexto 12">
            <a:extLst>
              <a:ext uri="{FF2B5EF4-FFF2-40B4-BE49-F238E27FC236}">
                <a16:creationId xmlns:a16="http://schemas.microsoft.com/office/drawing/2014/main" id="{35576C65-38AB-44A0-B625-F04E809A4935}"/>
              </a:ext>
            </a:extLst>
          </p:cNvPr>
          <p:cNvSpPr txBox="1"/>
          <p:nvPr/>
        </p:nvSpPr>
        <p:spPr>
          <a:xfrm>
            <a:off x="2880279" y="6152222"/>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4.13</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49280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96635" y="1867645"/>
            <a:ext cx="9068588" cy="328707"/>
          </a:xfrm>
        </p:spPr>
        <p:txBody>
          <a:bodyPr/>
          <a:lstStyle/>
          <a:p>
            <a:br>
              <a:rPr lang="es-MX" sz="2400" b="1" dirty="0">
                <a:solidFill>
                  <a:srgbClr val="FF0000"/>
                </a:solidFill>
              </a:rPr>
            </a:br>
            <a:r>
              <a:rPr lang="es-EC" sz="2400" dirty="0"/>
              <a:t>Problema 4.13: (Aplicación de bucles anidados para visualizar un triángulo rectángulo isósceles de asteriscos)</a:t>
            </a:r>
            <a:br>
              <a:rPr lang="es-EC" sz="4000"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8</a:t>
            </a:fld>
            <a:endParaRPr lang="es-EC"/>
          </a:p>
        </p:txBody>
      </p:sp>
      <p:pic>
        <p:nvPicPr>
          <p:cNvPr id="6" name="Imagen 5">
            <a:extLst>
              <a:ext uri="{FF2B5EF4-FFF2-40B4-BE49-F238E27FC236}">
                <a16:creationId xmlns:a16="http://schemas.microsoft.com/office/drawing/2014/main" id="{53B34921-EB00-492D-A65F-C68D02F4EBE5}"/>
              </a:ext>
            </a:extLst>
          </p:cNvPr>
          <p:cNvPicPr>
            <a:picLocks noChangeAspect="1"/>
          </p:cNvPicPr>
          <p:nvPr/>
        </p:nvPicPr>
        <p:blipFill rotWithShape="1">
          <a:blip r:embed="rId2"/>
          <a:srcRect t="10457"/>
          <a:stretch/>
        </p:blipFill>
        <p:spPr>
          <a:xfrm>
            <a:off x="1595064" y="3343833"/>
            <a:ext cx="5782889" cy="1407460"/>
          </a:xfrm>
          <a:prstGeom prst="rect">
            <a:avLst/>
          </a:prstGeom>
        </p:spPr>
      </p:pic>
      <p:sp>
        <p:nvSpPr>
          <p:cNvPr id="9" name="Marcador de contenido 2">
            <a:extLst>
              <a:ext uri="{FF2B5EF4-FFF2-40B4-BE49-F238E27FC236}">
                <a16:creationId xmlns:a16="http://schemas.microsoft.com/office/drawing/2014/main" id="{8FA05877-0FAE-4FCA-B51E-2C0031E80F59}"/>
              </a:ext>
            </a:extLst>
          </p:cNvPr>
          <p:cNvSpPr>
            <a:spLocks noGrp="1"/>
          </p:cNvSpPr>
          <p:nvPr>
            <p:ph idx="1"/>
          </p:nvPr>
        </p:nvSpPr>
        <p:spPr>
          <a:xfrm>
            <a:off x="1482048" y="1600218"/>
            <a:ext cx="5277339" cy="4540605"/>
          </a:xfrm>
        </p:spPr>
        <p:txBody>
          <a:bodyPr>
            <a:normAutofit/>
          </a:bodyPr>
          <a:lstStyle/>
          <a:p>
            <a:pPr marL="0" indent="0">
              <a:buNone/>
            </a:pPr>
            <a:r>
              <a:rPr lang="es-MX" sz="2400" dirty="0"/>
              <a:t>En la salida de la Ejecución 4.13 se puede ver la impresión del triángulo rectángulo isósceles de asteriscos de lado igual a 5</a:t>
            </a:r>
            <a:endParaRPr lang="es-EC" sz="3200" b="1" dirty="0"/>
          </a:p>
        </p:txBody>
      </p:sp>
      <p:sp>
        <p:nvSpPr>
          <p:cNvPr id="11" name="CuadroTexto 10">
            <a:extLst>
              <a:ext uri="{FF2B5EF4-FFF2-40B4-BE49-F238E27FC236}">
                <a16:creationId xmlns:a16="http://schemas.microsoft.com/office/drawing/2014/main" id="{04D488C6-C7E5-458B-B693-CD4A0F690E9F}"/>
              </a:ext>
            </a:extLst>
          </p:cNvPr>
          <p:cNvSpPr txBox="1"/>
          <p:nvPr/>
        </p:nvSpPr>
        <p:spPr>
          <a:xfrm>
            <a:off x="1594342" y="493461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4.13</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13291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96635" y="1867645"/>
            <a:ext cx="9068588" cy="328707"/>
          </a:xfrm>
        </p:spPr>
        <p:txBody>
          <a:bodyPr/>
          <a:lstStyle/>
          <a:p>
            <a:br>
              <a:rPr lang="es-MX" sz="2400" b="1" dirty="0">
                <a:solidFill>
                  <a:srgbClr val="FF0000"/>
                </a:solidFill>
              </a:rPr>
            </a:br>
            <a:r>
              <a:rPr lang="es-EC" sz="2400" dirty="0"/>
              <a:t>Problema 4.13: (Aplicación de bucles anidados para visualizar un triángulo rectángulo isósceles de asteriscos)</a:t>
            </a:r>
            <a:br>
              <a:rPr lang="es-EC" sz="4000"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9</a:t>
            </a:fld>
            <a:endParaRPr lang="es-EC"/>
          </a:p>
        </p:txBody>
      </p:sp>
      <p:sp>
        <p:nvSpPr>
          <p:cNvPr id="9" name="Marcador de contenido 2">
            <a:extLst>
              <a:ext uri="{FF2B5EF4-FFF2-40B4-BE49-F238E27FC236}">
                <a16:creationId xmlns:a16="http://schemas.microsoft.com/office/drawing/2014/main" id="{8FA05877-0FAE-4FCA-B51E-2C0031E80F59}"/>
              </a:ext>
            </a:extLst>
          </p:cNvPr>
          <p:cNvSpPr>
            <a:spLocks noGrp="1"/>
          </p:cNvSpPr>
          <p:nvPr>
            <p:ph idx="1"/>
          </p:nvPr>
        </p:nvSpPr>
        <p:spPr>
          <a:xfrm>
            <a:off x="1222482" y="1483676"/>
            <a:ext cx="10216893" cy="4540605"/>
          </a:xfrm>
        </p:spPr>
        <p:txBody>
          <a:bodyPr>
            <a:normAutofit/>
          </a:bodyPr>
          <a:lstStyle/>
          <a:p>
            <a:pPr marL="0" indent="0">
              <a:buNone/>
            </a:pPr>
            <a:r>
              <a:rPr lang="es-MX" sz="2400" dirty="0"/>
              <a:t>En la Tabla 4.13 se puede ver la prueba de escritorio del programa, donde la impresión del triángulo rectángulo isósceles se realiza mediante un bucle externo y un bucle interno. Cada vez que se repite el bucle externo, se ejecuta el bucle interno. El bucle externo se repite cinco veces en este caso, según la condición que depende del valor del lado del triangulo rectángulo y se controla con el contador de las filas ‘f’. El número de repeticiones realizadas por el bucle interno se controla con el contador de los asteriscos ‘a’ cuya condición depende del valor de las filas ‘f’ del triángulo rectángulo, donde este bucle se encarga de manejar la impresión de los asteriscos.</a:t>
            </a:r>
            <a:endParaRPr lang="es-EC" sz="3200" b="1" dirty="0"/>
          </a:p>
        </p:txBody>
      </p:sp>
    </p:spTree>
    <p:extLst>
      <p:ext uri="{BB962C8B-B14F-4D97-AF65-F5344CB8AC3E}">
        <p14:creationId xmlns:p14="http://schemas.microsoft.com/office/powerpoint/2010/main" val="657718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1796635" y="1867645"/>
            <a:ext cx="9068588" cy="328707"/>
          </a:xfrm>
        </p:spPr>
        <p:txBody>
          <a:bodyPr/>
          <a:lstStyle/>
          <a:p>
            <a:br>
              <a:rPr lang="es-MX" sz="2400" b="1" dirty="0">
                <a:solidFill>
                  <a:srgbClr val="FF0000"/>
                </a:solidFill>
              </a:rPr>
            </a:br>
            <a:r>
              <a:rPr lang="es-EC" sz="2400" dirty="0"/>
              <a:t>Problema 4.13: (Aplicación de bucles anidados para visualizar un triángulo rectángulo isósceles de asteriscos)</a:t>
            </a:r>
            <a:br>
              <a:rPr lang="es-EC" sz="4000" dirty="0"/>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10</a:t>
            </a:fld>
            <a:endParaRPr lang="es-EC"/>
          </a:p>
        </p:txBody>
      </p:sp>
      <p:pic>
        <p:nvPicPr>
          <p:cNvPr id="8" name="Imagen 7">
            <a:extLst>
              <a:ext uri="{FF2B5EF4-FFF2-40B4-BE49-F238E27FC236}">
                <a16:creationId xmlns:a16="http://schemas.microsoft.com/office/drawing/2014/main" id="{091A83D9-F467-455F-95F2-A26DFFA13296}"/>
              </a:ext>
            </a:extLst>
          </p:cNvPr>
          <p:cNvPicPr>
            <a:picLocks noChangeAspect="1"/>
          </p:cNvPicPr>
          <p:nvPr/>
        </p:nvPicPr>
        <p:blipFill>
          <a:blip r:embed="rId2"/>
          <a:stretch>
            <a:fillRect/>
          </a:stretch>
        </p:blipFill>
        <p:spPr>
          <a:xfrm>
            <a:off x="1724918" y="1738076"/>
            <a:ext cx="9140305" cy="3381847"/>
          </a:xfrm>
          <a:prstGeom prst="rect">
            <a:avLst/>
          </a:prstGeom>
        </p:spPr>
      </p:pic>
      <p:sp>
        <p:nvSpPr>
          <p:cNvPr id="10" name="CuadroTexto 9">
            <a:extLst>
              <a:ext uri="{FF2B5EF4-FFF2-40B4-BE49-F238E27FC236}">
                <a16:creationId xmlns:a16="http://schemas.microsoft.com/office/drawing/2014/main" id="{370E04CB-E405-4649-8092-0D7018549D23}"/>
              </a:ext>
            </a:extLst>
          </p:cNvPr>
          <p:cNvSpPr txBox="1"/>
          <p:nvPr/>
        </p:nvSpPr>
        <p:spPr>
          <a:xfrm>
            <a:off x="1724918" y="524949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Tabla 4.13</a:t>
            </a:r>
            <a:r>
              <a:rPr lang="es-ES" sz="1200" dirty="0">
                <a:solidFill>
                  <a:schemeClr val="tx1">
                    <a:lumMod val="50000"/>
                    <a:lumOff val="50000"/>
                  </a:schemeClr>
                </a:solidFill>
                <a:latin typeface="+mj-lt"/>
              </a:rPr>
              <a:t>. Prueba de Escritorio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16462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lvl="1"/>
            <a:r>
              <a:rPr lang="es-EC" sz="3200" dirty="0"/>
              <a:t>Bucles anidados </a:t>
            </a:r>
          </a:p>
          <a:p>
            <a:pPr lvl="1"/>
            <a:r>
              <a:rPr lang="es-EC" sz="3200" dirty="0"/>
              <a:t>Problema 4.13: (Aplicación de bucles anidados para visualizar un triángulo rectángulo isósceles de asteriscos)</a:t>
            </a:r>
          </a:p>
          <a:p>
            <a:pPr lvl="1"/>
            <a:r>
              <a:rPr lang="es-MX" sz="4000" b="1" dirty="0">
                <a:solidFill>
                  <a:srgbClr val="FF0000"/>
                </a:solidFill>
              </a:rPr>
              <a:t>Caso de Estudio 4.8: Visualización de un Rombo con Asteriscos 254</a:t>
            </a:r>
          </a:p>
        </p:txBody>
      </p:sp>
      <p:sp>
        <p:nvSpPr>
          <p:cNvPr id="5" name="4 Marcador de fecha"/>
          <p:cNvSpPr>
            <a:spLocks noGrp="1"/>
          </p:cNvSpPr>
          <p:nvPr>
            <p:ph type="dt" sz="half" idx="10"/>
          </p:nvPr>
        </p:nvSpPr>
        <p:spPr/>
        <p:txBody>
          <a:bodyPr/>
          <a:lstStyle/>
          <a:p>
            <a:r>
              <a:rPr lang="es-EC" dirty="0">
                <a:solidFill>
                  <a:prstClr val="black">
                    <a:lumMod val="65000"/>
                    <a:lumOff val="35000"/>
                  </a:prstClr>
                </a:solidFill>
              </a:rPr>
              <a:t>23/12/2025</a:t>
            </a: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11</a:t>
            </a:fld>
            <a:endParaRPr lang="es-EC">
              <a:solidFill>
                <a:prstClr val="black">
                  <a:lumMod val="65000"/>
                  <a:lumOff val="35000"/>
                </a:prstClr>
              </a:solidFill>
            </a:endParaRPr>
          </a:p>
        </p:txBody>
      </p:sp>
    </p:spTree>
    <p:extLst>
      <p:ext uri="{BB962C8B-B14F-4D97-AF65-F5344CB8AC3E}">
        <p14:creationId xmlns:p14="http://schemas.microsoft.com/office/powerpoint/2010/main" val="1511167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61370" y="1961037"/>
            <a:ext cx="3654729" cy="2935923"/>
          </a:xfrm>
        </p:spPr>
        <p:txBody>
          <a:bodyPr>
            <a:normAutofit/>
          </a:bodyPr>
          <a:lstStyle/>
          <a:p>
            <a:pPr marL="457200" indent="-457200">
              <a:buAutoNum type="alphaUcParenR"/>
            </a:pPr>
            <a:r>
              <a:rPr lang="es-MX" sz="2000" dirty="0"/>
              <a:t>Problema</a:t>
            </a:r>
          </a:p>
          <a:p>
            <a:pPr marL="0" indent="0">
              <a:buNone/>
            </a:pPr>
            <a:r>
              <a:rPr lang="es-MX" sz="2000" dirty="0"/>
              <a:t> Escribir un programa que permita visualizar un rombo de asteriscos. Así, por ejemplo, si el valor de la Diagonal mayor es igual a 9 o a 10, se obtendrá la siguiente figura: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12</a:t>
            </a:fld>
            <a:endParaRPr lang="es-EC"/>
          </a:p>
        </p:txBody>
      </p:sp>
      <p:pic>
        <p:nvPicPr>
          <p:cNvPr id="10" name="Imagen 9">
            <a:extLst>
              <a:ext uri="{FF2B5EF4-FFF2-40B4-BE49-F238E27FC236}">
                <a16:creationId xmlns:a16="http://schemas.microsoft.com/office/drawing/2014/main" id="{7832106A-E074-4328-B35B-F4006B97265A}"/>
              </a:ext>
            </a:extLst>
          </p:cNvPr>
          <p:cNvPicPr>
            <a:picLocks noChangeAspect="1"/>
          </p:cNvPicPr>
          <p:nvPr/>
        </p:nvPicPr>
        <p:blipFill>
          <a:blip r:embed="rId2"/>
          <a:stretch>
            <a:fillRect/>
          </a:stretch>
        </p:blipFill>
        <p:spPr>
          <a:xfrm>
            <a:off x="5290688" y="2239902"/>
            <a:ext cx="5544324" cy="2657058"/>
          </a:xfrm>
          <a:prstGeom prst="rect">
            <a:avLst/>
          </a:prstGeom>
        </p:spPr>
      </p:pic>
    </p:spTree>
    <p:extLst>
      <p:ext uri="{BB962C8B-B14F-4D97-AF65-F5344CB8AC3E}">
        <p14:creationId xmlns:p14="http://schemas.microsoft.com/office/powerpoint/2010/main" val="3481905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61370" y="1961037"/>
            <a:ext cx="3654729" cy="2935923"/>
          </a:xfrm>
        </p:spPr>
        <p:txBody>
          <a:bodyPr>
            <a:normAutofit fontScale="85000" lnSpcReduction="20000"/>
          </a:bodyPr>
          <a:lstStyle/>
          <a:p>
            <a:pPr marL="0" indent="0">
              <a:buNone/>
            </a:pPr>
            <a:r>
              <a:rPr lang="es-MX" sz="1600" dirty="0"/>
              <a:t>B) Análisis </a:t>
            </a:r>
          </a:p>
          <a:p>
            <a:pPr marL="0" indent="0">
              <a:buNone/>
            </a:pPr>
            <a:endParaRPr lang="es-MX" sz="1600" dirty="0"/>
          </a:p>
          <a:p>
            <a:pPr marL="0" indent="0">
              <a:buNone/>
            </a:pPr>
            <a:r>
              <a:rPr lang="es-MX" sz="1600" dirty="0"/>
              <a:t>Claramente se puede ver que la única entrada del problema es el valor de la diagonal mayor del rombo. Se requieren dos salidas que son los espacios en blanco y los asteriscos de la figura geométrica controlados por los contadores ‘b’ y ‘a’ respectivamente. Se requiere una variable auxiliar llamada ‘</a:t>
            </a:r>
            <a:r>
              <a:rPr lang="es-MX" sz="1600" dirty="0" err="1"/>
              <a:t>aux</a:t>
            </a:r>
            <a:r>
              <a:rPr lang="es-MX" sz="1600" dirty="0"/>
              <a:t>’ que tiene el valor de la mitad de la </a:t>
            </a:r>
            <a:r>
              <a:rPr lang="es-MX" sz="1600" dirty="0" err="1"/>
              <a:t>diaginal</a:t>
            </a:r>
            <a:r>
              <a:rPr lang="es-MX" sz="1600" dirty="0"/>
              <a:t> del rombo. El proceso de cálculo y visualización del rombo con asteriscos requiere la utilización de bucles anidados. </a:t>
            </a:r>
            <a:endParaRPr lang="es-EC" sz="28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13</a:t>
            </a:fld>
            <a:endParaRPr lang="es-EC"/>
          </a:p>
        </p:txBody>
      </p:sp>
      <p:pic>
        <p:nvPicPr>
          <p:cNvPr id="7" name="Imagen 6">
            <a:extLst>
              <a:ext uri="{FF2B5EF4-FFF2-40B4-BE49-F238E27FC236}">
                <a16:creationId xmlns:a16="http://schemas.microsoft.com/office/drawing/2014/main" id="{79B70F10-C0C2-4CE6-96AF-1C7C12809F5C}"/>
              </a:ext>
            </a:extLst>
          </p:cNvPr>
          <p:cNvPicPr>
            <a:picLocks noChangeAspect="1"/>
          </p:cNvPicPr>
          <p:nvPr/>
        </p:nvPicPr>
        <p:blipFill>
          <a:blip r:embed="rId2"/>
          <a:stretch>
            <a:fillRect/>
          </a:stretch>
        </p:blipFill>
        <p:spPr>
          <a:xfrm>
            <a:off x="5494436" y="2240598"/>
            <a:ext cx="4014421" cy="3380273"/>
          </a:xfrm>
          <a:prstGeom prst="rect">
            <a:avLst/>
          </a:prstGeom>
        </p:spPr>
      </p:pic>
      <p:pic>
        <p:nvPicPr>
          <p:cNvPr id="9" name="Imagen 8">
            <a:extLst>
              <a:ext uri="{FF2B5EF4-FFF2-40B4-BE49-F238E27FC236}">
                <a16:creationId xmlns:a16="http://schemas.microsoft.com/office/drawing/2014/main" id="{B42EB14D-025F-4E5D-8711-A2CF703535FE}"/>
              </a:ext>
            </a:extLst>
          </p:cNvPr>
          <p:cNvPicPr>
            <a:picLocks noChangeAspect="1"/>
          </p:cNvPicPr>
          <p:nvPr/>
        </p:nvPicPr>
        <p:blipFill>
          <a:blip r:embed="rId3"/>
          <a:stretch>
            <a:fillRect/>
          </a:stretch>
        </p:blipFill>
        <p:spPr>
          <a:xfrm>
            <a:off x="5799236" y="5736759"/>
            <a:ext cx="3596588" cy="251665"/>
          </a:xfrm>
          <a:prstGeom prst="rect">
            <a:avLst/>
          </a:prstGeom>
        </p:spPr>
      </p:pic>
    </p:spTree>
    <p:extLst>
      <p:ext uri="{BB962C8B-B14F-4D97-AF65-F5344CB8AC3E}">
        <p14:creationId xmlns:p14="http://schemas.microsoft.com/office/powerpoint/2010/main" val="3759200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4"/>
            <a:ext cx="3654729" cy="3821198"/>
          </a:xfrm>
        </p:spPr>
        <p:txBody>
          <a:bodyPr>
            <a:normAutofit lnSpcReduction="10000"/>
          </a:bodyPr>
          <a:lstStyle/>
          <a:p>
            <a:pPr marL="0" indent="0">
              <a:buNone/>
            </a:pPr>
            <a:r>
              <a:rPr lang="es-MX" sz="1600" dirty="0"/>
              <a:t>B.2) Diagrama de Entrada-Salida</a:t>
            </a:r>
          </a:p>
          <a:p>
            <a:pPr marL="0" indent="0">
              <a:buNone/>
            </a:pPr>
            <a:endParaRPr lang="es-MX" sz="1600" dirty="0"/>
          </a:p>
          <a:p>
            <a:pPr marL="0" indent="0">
              <a:buNone/>
            </a:pPr>
            <a:r>
              <a:rPr lang="es-MX" sz="1600" dirty="0"/>
              <a:t>En la Figura 4.8.1 se muestra el diagrama de Entrada-Salida del programa donde se identifican y se diagraman las entradas, salidas y auxiliares del problema como son: a) Entradas: la variable ‘</a:t>
            </a:r>
            <a:r>
              <a:rPr lang="es-MX" sz="1600" dirty="0" err="1"/>
              <a:t>diagonalMayor</a:t>
            </a:r>
            <a:r>
              <a:rPr lang="es-MX" sz="1600" dirty="0"/>
              <a:t>’; b) Salidas: Mensaje1 que imprime un espacio en blanco; Mensaje2 que imprime un asterisco; Mensaje3 que imprime un INTRO; c) Auxiliares: la variable ‘altura’; la variable ‘f’; la variable ‘b’; la variable ‘a’.</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14</a:t>
            </a:fld>
            <a:endParaRPr lang="es-EC"/>
          </a:p>
        </p:txBody>
      </p:sp>
      <p:pic>
        <p:nvPicPr>
          <p:cNvPr id="8" name="Imagen 7">
            <a:extLst>
              <a:ext uri="{FF2B5EF4-FFF2-40B4-BE49-F238E27FC236}">
                <a16:creationId xmlns:a16="http://schemas.microsoft.com/office/drawing/2014/main" id="{6BE43D12-01CF-49A3-B9F6-0E3FCE974155}"/>
              </a:ext>
            </a:extLst>
          </p:cNvPr>
          <p:cNvPicPr>
            <a:picLocks noChangeAspect="1"/>
          </p:cNvPicPr>
          <p:nvPr/>
        </p:nvPicPr>
        <p:blipFill>
          <a:blip r:embed="rId2"/>
          <a:stretch>
            <a:fillRect/>
          </a:stretch>
        </p:blipFill>
        <p:spPr>
          <a:xfrm>
            <a:off x="6096000" y="2340591"/>
            <a:ext cx="3305636" cy="2087973"/>
          </a:xfrm>
          <a:prstGeom prst="rect">
            <a:avLst/>
          </a:prstGeom>
        </p:spPr>
      </p:pic>
      <p:sp>
        <p:nvSpPr>
          <p:cNvPr id="10" name="CuadroTexto 9">
            <a:extLst>
              <a:ext uri="{FF2B5EF4-FFF2-40B4-BE49-F238E27FC236}">
                <a16:creationId xmlns:a16="http://schemas.microsoft.com/office/drawing/2014/main" id="{F7F1D94B-45BD-4E95-9A9D-DE30388A2F50}"/>
              </a:ext>
            </a:extLst>
          </p:cNvPr>
          <p:cNvSpPr txBox="1"/>
          <p:nvPr/>
        </p:nvSpPr>
        <p:spPr>
          <a:xfrm>
            <a:off x="5960153" y="4630255"/>
            <a:ext cx="365472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4.8.1</a:t>
            </a:r>
            <a:r>
              <a:rPr lang="es-ES" sz="1200" dirty="0">
                <a:solidFill>
                  <a:schemeClr val="tx1">
                    <a:lumMod val="50000"/>
                    <a:lumOff val="50000"/>
                  </a:schemeClr>
                </a:solidFill>
                <a:latin typeface="+mj-lt"/>
              </a:rPr>
              <a:t> Diagrama de Entrada-Salida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564208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3"/>
            <a:ext cx="3305637" cy="2602000"/>
          </a:xfrm>
        </p:spPr>
        <p:txBody>
          <a:bodyPr>
            <a:normAutofit fontScale="77500" lnSpcReduction="20000"/>
          </a:bodyPr>
          <a:lstStyle/>
          <a:p>
            <a:pPr marL="0" indent="0">
              <a:buNone/>
            </a:pPr>
            <a:r>
              <a:rPr lang="es-MX" dirty="0"/>
              <a:t>C) Diseño</a:t>
            </a:r>
          </a:p>
          <a:p>
            <a:pPr marL="0" indent="0">
              <a:buNone/>
            </a:pPr>
            <a:endParaRPr lang="es-MX" dirty="0"/>
          </a:p>
          <a:p>
            <a:pPr marL="0" indent="0">
              <a:buNone/>
            </a:pPr>
            <a:r>
              <a:rPr lang="es-MX" dirty="0"/>
              <a:t>Una vez que se conoce las entradas, las auxiliares y las salidas del problema, se deben listar los pasos necesarios para resolver el problema, es decir, el algoritmo.</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15</a:t>
            </a:fld>
            <a:endParaRPr lang="es-EC"/>
          </a:p>
        </p:txBody>
      </p:sp>
      <p:pic>
        <p:nvPicPr>
          <p:cNvPr id="7" name="Imagen 6">
            <a:extLst>
              <a:ext uri="{FF2B5EF4-FFF2-40B4-BE49-F238E27FC236}">
                <a16:creationId xmlns:a16="http://schemas.microsoft.com/office/drawing/2014/main" id="{336C7E3A-AC89-4468-BB2E-86ECFFD61CD2}"/>
              </a:ext>
            </a:extLst>
          </p:cNvPr>
          <p:cNvPicPr>
            <a:picLocks noChangeAspect="1"/>
          </p:cNvPicPr>
          <p:nvPr/>
        </p:nvPicPr>
        <p:blipFill>
          <a:blip r:embed="rId2"/>
          <a:stretch>
            <a:fillRect/>
          </a:stretch>
        </p:blipFill>
        <p:spPr>
          <a:xfrm>
            <a:off x="5086224" y="2118696"/>
            <a:ext cx="5820587" cy="4420217"/>
          </a:xfrm>
          <a:prstGeom prst="rect">
            <a:avLst/>
          </a:prstGeom>
        </p:spPr>
      </p:pic>
    </p:spTree>
    <p:extLst>
      <p:ext uri="{BB962C8B-B14F-4D97-AF65-F5344CB8AC3E}">
        <p14:creationId xmlns:p14="http://schemas.microsoft.com/office/powerpoint/2010/main" val="274159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3"/>
            <a:ext cx="3305637" cy="2602000"/>
          </a:xfrm>
        </p:spPr>
        <p:txBody>
          <a:bodyPr>
            <a:normAutofit fontScale="77500" lnSpcReduction="20000"/>
          </a:bodyPr>
          <a:lstStyle/>
          <a:p>
            <a:pPr marL="0" indent="0">
              <a:buNone/>
            </a:pPr>
            <a:r>
              <a:rPr lang="es-MX" dirty="0"/>
              <a:t>C) Diseño</a:t>
            </a:r>
          </a:p>
          <a:p>
            <a:pPr marL="0" indent="0">
              <a:buNone/>
            </a:pPr>
            <a:endParaRPr lang="es-MX" dirty="0"/>
          </a:p>
          <a:p>
            <a:pPr marL="0" indent="0">
              <a:buNone/>
            </a:pPr>
            <a:r>
              <a:rPr lang="es-MX" dirty="0"/>
              <a:t>Una vez que se conoce las entradas, las auxiliares y las salidas del problema, se deben listar los pasos necesarios para resolver el problema, es decir, el algoritmo.</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16</a:t>
            </a:fld>
            <a:endParaRPr lang="es-EC"/>
          </a:p>
        </p:txBody>
      </p:sp>
      <p:pic>
        <p:nvPicPr>
          <p:cNvPr id="8" name="Imagen 7">
            <a:extLst>
              <a:ext uri="{FF2B5EF4-FFF2-40B4-BE49-F238E27FC236}">
                <a16:creationId xmlns:a16="http://schemas.microsoft.com/office/drawing/2014/main" id="{CAE7DDDA-10A5-492A-B2CC-E0F40CD740B0}"/>
              </a:ext>
            </a:extLst>
          </p:cNvPr>
          <p:cNvPicPr>
            <a:picLocks noChangeAspect="1"/>
          </p:cNvPicPr>
          <p:nvPr/>
        </p:nvPicPr>
        <p:blipFill>
          <a:blip r:embed="rId2"/>
          <a:stretch>
            <a:fillRect/>
          </a:stretch>
        </p:blipFill>
        <p:spPr>
          <a:xfrm>
            <a:off x="5130215" y="2303706"/>
            <a:ext cx="5696745" cy="3200847"/>
          </a:xfrm>
          <a:prstGeom prst="rect">
            <a:avLst/>
          </a:prstGeom>
        </p:spPr>
      </p:pic>
    </p:spTree>
    <p:extLst>
      <p:ext uri="{BB962C8B-B14F-4D97-AF65-F5344CB8AC3E}">
        <p14:creationId xmlns:p14="http://schemas.microsoft.com/office/powerpoint/2010/main" val="439996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2"/>
            <a:ext cx="3880207" cy="3408823"/>
          </a:xfrm>
        </p:spPr>
        <p:txBody>
          <a:bodyPr>
            <a:normAutofit fontScale="85000" lnSpcReduction="20000"/>
          </a:bodyPr>
          <a:lstStyle/>
          <a:p>
            <a:pPr marL="0" indent="0">
              <a:buNone/>
            </a:pPr>
            <a:r>
              <a:rPr lang="es-MX" dirty="0"/>
              <a:t>D) Implementación </a:t>
            </a:r>
          </a:p>
          <a:p>
            <a:pPr marL="0" indent="0">
              <a:buNone/>
            </a:pPr>
            <a:endParaRPr lang="es-MX" dirty="0"/>
          </a:p>
          <a:p>
            <a:pPr marL="0" indent="0">
              <a:buNone/>
            </a:pPr>
            <a:r>
              <a:rPr lang="es-MX" dirty="0"/>
              <a:t>Para implementar la solución, se debe escribir el algoritmo como un programa de C/C++ que contenga toda la información necesaria para completar la traducción a lenguaje máquina. En la Tabla 4.8.1 se muestra el código del programa en C/C++.</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17</a:t>
            </a:fld>
            <a:endParaRPr lang="es-EC"/>
          </a:p>
        </p:txBody>
      </p:sp>
      <p:pic>
        <p:nvPicPr>
          <p:cNvPr id="7" name="Imagen 6">
            <a:extLst>
              <a:ext uri="{FF2B5EF4-FFF2-40B4-BE49-F238E27FC236}">
                <a16:creationId xmlns:a16="http://schemas.microsoft.com/office/drawing/2014/main" id="{AE270158-174E-4635-BA29-F3E6DB38F517}"/>
              </a:ext>
            </a:extLst>
          </p:cNvPr>
          <p:cNvPicPr>
            <a:picLocks noChangeAspect="1"/>
          </p:cNvPicPr>
          <p:nvPr/>
        </p:nvPicPr>
        <p:blipFill>
          <a:blip r:embed="rId2"/>
          <a:stretch>
            <a:fillRect/>
          </a:stretch>
        </p:blipFill>
        <p:spPr>
          <a:xfrm>
            <a:off x="5383643" y="2090117"/>
            <a:ext cx="6201640" cy="4448796"/>
          </a:xfrm>
          <a:prstGeom prst="rect">
            <a:avLst/>
          </a:prstGeom>
        </p:spPr>
      </p:pic>
    </p:spTree>
    <p:extLst>
      <p:ext uri="{BB962C8B-B14F-4D97-AF65-F5344CB8AC3E}">
        <p14:creationId xmlns:p14="http://schemas.microsoft.com/office/powerpoint/2010/main" val="1423247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18</a:t>
            </a:fld>
            <a:endParaRPr lang="es-EC"/>
          </a:p>
        </p:txBody>
      </p:sp>
      <p:pic>
        <p:nvPicPr>
          <p:cNvPr id="8" name="Imagen 7">
            <a:extLst>
              <a:ext uri="{FF2B5EF4-FFF2-40B4-BE49-F238E27FC236}">
                <a16:creationId xmlns:a16="http://schemas.microsoft.com/office/drawing/2014/main" id="{4F06F100-DE48-4EAD-9FC1-C19D14926425}"/>
              </a:ext>
            </a:extLst>
          </p:cNvPr>
          <p:cNvPicPr>
            <a:picLocks noChangeAspect="1"/>
          </p:cNvPicPr>
          <p:nvPr/>
        </p:nvPicPr>
        <p:blipFill>
          <a:blip r:embed="rId2"/>
          <a:stretch>
            <a:fillRect/>
          </a:stretch>
        </p:blipFill>
        <p:spPr>
          <a:xfrm>
            <a:off x="2608730" y="0"/>
            <a:ext cx="7503458" cy="6858000"/>
          </a:xfrm>
          <a:prstGeom prst="rect">
            <a:avLst/>
          </a:prstGeom>
        </p:spPr>
      </p:pic>
    </p:spTree>
    <p:extLst>
      <p:ext uri="{BB962C8B-B14F-4D97-AF65-F5344CB8AC3E}">
        <p14:creationId xmlns:p14="http://schemas.microsoft.com/office/powerpoint/2010/main" val="4029868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2"/>
            <a:ext cx="3880207" cy="3408823"/>
          </a:xfrm>
        </p:spPr>
        <p:txBody>
          <a:bodyPr>
            <a:normAutofit fontScale="85000" lnSpcReduction="20000"/>
          </a:bodyPr>
          <a:lstStyle/>
          <a:p>
            <a:pPr marL="0" indent="0">
              <a:buNone/>
            </a:pPr>
            <a:r>
              <a:rPr lang="es-MX" dirty="0"/>
              <a:t>D) Implementación </a:t>
            </a:r>
          </a:p>
          <a:p>
            <a:pPr marL="0" indent="0">
              <a:buNone/>
            </a:pPr>
            <a:endParaRPr lang="es-MX" dirty="0"/>
          </a:p>
          <a:p>
            <a:pPr marL="0" indent="0">
              <a:buNone/>
            </a:pPr>
            <a:r>
              <a:rPr lang="es-MX" dirty="0"/>
              <a:t>Para implementar la solución, se debe escribir el algoritmo como un programa de C/C++ que contenga toda la información necesaria para completar la traducción a lenguaje máquina. En la Tabla 4.8.1 se muestra el código del programa en C/C++.</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19</a:t>
            </a:fld>
            <a:endParaRPr lang="es-EC"/>
          </a:p>
        </p:txBody>
      </p:sp>
      <p:pic>
        <p:nvPicPr>
          <p:cNvPr id="13" name="Imagen 12">
            <a:extLst>
              <a:ext uri="{FF2B5EF4-FFF2-40B4-BE49-F238E27FC236}">
                <a16:creationId xmlns:a16="http://schemas.microsoft.com/office/drawing/2014/main" id="{8AE67EA3-CB7D-4D0E-8E64-A2DF1CF9B824}"/>
              </a:ext>
            </a:extLst>
          </p:cNvPr>
          <p:cNvPicPr>
            <a:picLocks noChangeAspect="1"/>
          </p:cNvPicPr>
          <p:nvPr/>
        </p:nvPicPr>
        <p:blipFill>
          <a:blip r:embed="rId2"/>
          <a:stretch>
            <a:fillRect/>
          </a:stretch>
        </p:blipFill>
        <p:spPr>
          <a:xfrm>
            <a:off x="5531236" y="1823813"/>
            <a:ext cx="5144218" cy="3210373"/>
          </a:xfrm>
          <a:prstGeom prst="rect">
            <a:avLst/>
          </a:prstGeom>
        </p:spPr>
      </p:pic>
      <p:sp>
        <p:nvSpPr>
          <p:cNvPr id="14" name="CuadroTexto 13">
            <a:extLst>
              <a:ext uri="{FF2B5EF4-FFF2-40B4-BE49-F238E27FC236}">
                <a16:creationId xmlns:a16="http://schemas.microsoft.com/office/drawing/2014/main" id="{D7C714A8-14C0-4E8A-84BE-420761E5F25C}"/>
              </a:ext>
            </a:extLst>
          </p:cNvPr>
          <p:cNvSpPr txBox="1"/>
          <p:nvPr/>
        </p:nvSpPr>
        <p:spPr>
          <a:xfrm>
            <a:off x="5656742" y="5166105"/>
            <a:ext cx="3593833"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4.8</a:t>
            </a:r>
            <a:r>
              <a:rPr lang="es-ES" sz="1200" dirty="0">
                <a:solidFill>
                  <a:schemeClr val="tx1">
                    <a:lumMod val="50000"/>
                    <a:lumOff val="50000"/>
                  </a:schemeClr>
                </a:solidFill>
                <a:latin typeface="+mj-lt"/>
              </a:rPr>
              <a:t>.1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16718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2"/>
            <a:ext cx="4418089" cy="3408823"/>
          </a:xfrm>
        </p:spPr>
        <p:txBody>
          <a:bodyPr>
            <a:normAutofit fontScale="70000" lnSpcReduction="20000"/>
          </a:bodyPr>
          <a:lstStyle/>
          <a:p>
            <a:pPr marL="0" indent="0">
              <a:buNone/>
            </a:pPr>
            <a:r>
              <a:rPr lang="es-MX" dirty="0"/>
              <a:t>E) Pruebas </a:t>
            </a:r>
          </a:p>
          <a:p>
            <a:pPr marL="0" indent="0">
              <a:buNone/>
            </a:pPr>
            <a:endParaRPr lang="es-MX" dirty="0"/>
          </a:p>
          <a:p>
            <a:pPr marL="0" indent="0">
              <a:buNone/>
            </a:pPr>
            <a:r>
              <a:rPr lang="es-MX" dirty="0"/>
              <a:t>En la Tabla 4.8.2, se muestra un ejemplo de la salida del programa, donde se puede ver que los resultados del programa tienen sentido, comparando estos resultados con los obtenidos en una hoja de cuadros o de papel </a:t>
            </a:r>
            <a:r>
              <a:rPr lang="es-MX" dirty="0" err="1"/>
              <a:t>milimetrado</a:t>
            </a:r>
            <a:r>
              <a:rPr lang="es-MX" dirty="0"/>
              <a:t>. En la salida de la Tabla 4.8.2 se puede ver que, al ingresar el valor de la diagonal mayor igual a 9 se </a:t>
            </a:r>
            <a:r>
              <a:rPr lang="es-MX" dirty="0" err="1"/>
              <a:t>obiene</a:t>
            </a:r>
            <a:r>
              <a:rPr lang="es-MX" dirty="0"/>
              <a:t> el rombo de asteriscos compuesto por dos triángulos isósceles, el uno de altura igual a 5 y el otro de altura igual a 4. </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20</a:t>
            </a:fld>
            <a:endParaRPr lang="es-EC"/>
          </a:p>
        </p:txBody>
      </p:sp>
      <p:pic>
        <p:nvPicPr>
          <p:cNvPr id="8" name="Imagen 7">
            <a:extLst>
              <a:ext uri="{FF2B5EF4-FFF2-40B4-BE49-F238E27FC236}">
                <a16:creationId xmlns:a16="http://schemas.microsoft.com/office/drawing/2014/main" id="{3E61B5E7-1B6E-4ADB-AB1B-F2E1F43FA45B}"/>
              </a:ext>
            </a:extLst>
          </p:cNvPr>
          <p:cNvPicPr>
            <a:picLocks noChangeAspect="1"/>
          </p:cNvPicPr>
          <p:nvPr/>
        </p:nvPicPr>
        <p:blipFill>
          <a:blip r:embed="rId2"/>
          <a:stretch>
            <a:fillRect/>
          </a:stretch>
        </p:blipFill>
        <p:spPr>
          <a:xfrm>
            <a:off x="5809372" y="2795497"/>
            <a:ext cx="4553585" cy="2377137"/>
          </a:xfrm>
          <a:prstGeom prst="rect">
            <a:avLst/>
          </a:prstGeom>
        </p:spPr>
      </p:pic>
      <p:sp>
        <p:nvSpPr>
          <p:cNvPr id="9" name="CuadroTexto 8">
            <a:extLst>
              <a:ext uri="{FF2B5EF4-FFF2-40B4-BE49-F238E27FC236}">
                <a16:creationId xmlns:a16="http://schemas.microsoft.com/office/drawing/2014/main" id="{2E3F0A5C-C0C7-4D02-8723-1B0B636B7D1C}"/>
              </a:ext>
            </a:extLst>
          </p:cNvPr>
          <p:cNvSpPr txBox="1"/>
          <p:nvPr/>
        </p:nvSpPr>
        <p:spPr>
          <a:xfrm>
            <a:off x="5809372" y="5315943"/>
            <a:ext cx="3915905"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Ejecución 4.8.2</a:t>
            </a:r>
            <a:r>
              <a:rPr lang="es-ES" sz="1200" dirty="0">
                <a:solidFill>
                  <a:schemeClr val="tx1">
                    <a:lumMod val="50000"/>
                    <a:lumOff val="50000"/>
                  </a:schemeClr>
                </a:solidFill>
                <a:latin typeface="+mj-lt"/>
              </a:rPr>
              <a:t> Ejecución del Programa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707384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516546" y="2185152"/>
            <a:ext cx="4418089" cy="3408823"/>
          </a:xfrm>
        </p:spPr>
        <p:txBody>
          <a:bodyPr>
            <a:normAutofit fontScale="77500" lnSpcReduction="20000"/>
          </a:bodyPr>
          <a:lstStyle/>
          <a:p>
            <a:pPr marL="0" indent="0">
              <a:buNone/>
            </a:pPr>
            <a:r>
              <a:rPr lang="es-MX" dirty="0"/>
              <a:t>En la Tabla 4.8.3 se puede ver la primera parte de la prueba de escritorio del programa, donde se almacena en la variable ‘</a:t>
            </a:r>
            <a:r>
              <a:rPr lang="es-MX" dirty="0" err="1"/>
              <a:t>diagonalMayor</a:t>
            </a:r>
            <a:r>
              <a:rPr lang="es-MX" dirty="0"/>
              <a:t>’ el valor de 9. Luego se verifica que este valor es impar utilizando el operador de módulo (%). Como este valor es impar, se suma el valor de uno obteniéndose 10 y ese resultado se divide para 2 obteniéndose el valor de 5 en la variable altura, caso contrario, se dividiría directamente para 2.</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21</a:t>
            </a:fld>
            <a:endParaRPr lang="es-EC"/>
          </a:p>
        </p:txBody>
      </p:sp>
      <p:sp>
        <p:nvSpPr>
          <p:cNvPr id="9" name="CuadroTexto 8">
            <a:extLst>
              <a:ext uri="{FF2B5EF4-FFF2-40B4-BE49-F238E27FC236}">
                <a16:creationId xmlns:a16="http://schemas.microsoft.com/office/drawing/2014/main" id="{2E3F0A5C-C0C7-4D02-8723-1B0B636B7D1C}"/>
              </a:ext>
            </a:extLst>
          </p:cNvPr>
          <p:cNvSpPr txBox="1"/>
          <p:nvPr/>
        </p:nvSpPr>
        <p:spPr>
          <a:xfrm>
            <a:off x="5827301" y="3647101"/>
            <a:ext cx="3915905"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Tabla 4.8.3</a:t>
            </a:r>
            <a:r>
              <a:rPr lang="es-ES" sz="1200" dirty="0">
                <a:solidFill>
                  <a:schemeClr val="tx1">
                    <a:lumMod val="50000"/>
                    <a:lumOff val="50000"/>
                  </a:schemeClr>
                </a:solidFill>
                <a:latin typeface="+mj-lt"/>
              </a:rPr>
              <a:t> Prueba de Escritorio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FB7E4DA1-C498-474D-AE76-3CA55551953B}"/>
              </a:ext>
            </a:extLst>
          </p:cNvPr>
          <p:cNvPicPr>
            <a:picLocks noChangeAspect="1"/>
          </p:cNvPicPr>
          <p:nvPr/>
        </p:nvPicPr>
        <p:blipFill>
          <a:blip r:embed="rId2"/>
          <a:stretch>
            <a:fillRect/>
          </a:stretch>
        </p:blipFill>
        <p:spPr>
          <a:xfrm>
            <a:off x="5934635" y="2467449"/>
            <a:ext cx="4410691" cy="1028786"/>
          </a:xfrm>
          <a:prstGeom prst="rect">
            <a:avLst/>
          </a:prstGeom>
        </p:spPr>
      </p:pic>
    </p:spTree>
    <p:extLst>
      <p:ext uri="{BB962C8B-B14F-4D97-AF65-F5344CB8AC3E}">
        <p14:creationId xmlns:p14="http://schemas.microsoft.com/office/powerpoint/2010/main" val="9828824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50690" y="2346517"/>
            <a:ext cx="9940348" cy="3408823"/>
          </a:xfrm>
        </p:spPr>
        <p:txBody>
          <a:bodyPr>
            <a:normAutofit fontScale="92500" lnSpcReduction="20000"/>
          </a:bodyPr>
          <a:lstStyle/>
          <a:p>
            <a:pPr marL="0" indent="0">
              <a:buNone/>
            </a:pPr>
            <a:r>
              <a:rPr lang="es-MX" dirty="0"/>
              <a:t>En la Tabla 4.8.4 se puede ver la segunda parte de la prueba de escritorio del programa, donde la impresión de la mitad del rombo de asteriscos es un triángulo isósceles cuyo valor de altura es 5, se realiza mediante un bucle externo y dos bucles internos. Cada vez que se repite el bucle externo incremental, se ejecutan los dos bucles internos. El bucle externo incremental se repite cinco veces en este caso, según la altura del triángulo y se controla con el contador de las filas ‘f’. El número de repeticiones realizadas por los bucles internos se basan en el valor del contador de las filas ‘f’. El primer bucle interno controla la impresión de los espacios en blanco con el contador ‘b’ y el segundo bucle interno controla la impresión de los asteriscos con el contador ‘a’.</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22</a:t>
            </a:fld>
            <a:endParaRPr lang="es-EC"/>
          </a:p>
        </p:txBody>
      </p:sp>
    </p:spTree>
    <p:extLst>
      <p:ext uri="{BB962C8B-B14F-4D97-AF65-F5344CB8AC3E}">
        <p14:creationId xmlns:p14="http://schemas.microsoft.com/office/powerpoint/2010/main" val="3037890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23</a:t>
            </a:fld>
            <a:endParaRPr lang="es-EC"/>
          </a:p>
        </p:txBody>
      </p:sp>
      <p:sp>
        <p:nvSpPr>
          <p:cNvPr id="9" name="CuadroTexto 8">
            <a:extLst>
              <a:ext uri="{FF2B5EF4-FFF2-40B4-BE49-F238E27FC236}">
                <a16:creationId xmlns:a16="http://schemas.microsoft.com/office/drawing/2014/main" id="{2E3F0A5C-C0C7-4D02-8723-1B0B636B7D1C}"/>
              </a:ext>
            </a:extLst>
          </p:cNvPr>
          <p:cNvSpPr txBox="1"/>
          <p:nvPr/>
        </p:nvSpPr>
        <p:spPr>
          <a:xfrm>
            <a:off x="2096776" y="5710020"/>
            <a:ext cx="3915905"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Tabla 4.8.4</a:t>
            </a:r>
            <a:r>
              <a:rPr lang="es-ES" sz="1200" dirty="0">
                <a:solidFill>
                  <a:schemeClr val="tx1">
                    <a:lumMod val="50000"/>
                    <a:lumOff val="50000"/>
                  </a:schemeClr>
                </a:solidFill>
                <a:latin typeface="+mj-lt"/>
              </a:rPr>
              <a:t> Prueba de Escritorio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15" name="Imagen 14">
            <a:extLst>
              <a:ext uri="{FF2B5EF4-FFF2-40B4-BE49-F238E27FC236}">
                <a16:creationId xmlns:a16="http://schemas.microsoft.com/office/drawing/2014/main" id="{D492B232-9DBC-4E68-A121-9C8A0DB28DAF}"/>
              </a:ext>
            </a:extLst>
          </p:cNvPr>
          <p:cNvPicPr>
            <a:picLocks noChangeAspect="1"/>
          </p:cNvPicPr>
          <p:nvPr/>
        </p:nvPicPr>
        <p:blipFill>
          <a:blip r:embed="rId2"/>
          <a:stretch>
            <a:fillRect/>
          </a:stretch>
        </p:blipFill>
        <p:spPr>
          <a:xfrm>
            <a:off x="2128866" y="136524"/>
            <a:ext cx="7611537" cy="5496692"/>
          </a:xfrm>
          <a:prstGeom prst="rect">
            <a:avLst/>
          </a:prstGeom>
        </p:spPr>
      </p:pic>
    </p:spTree>
    <p:extLst>
      <p:ext uri="{BB962C8B-B14F-4D97-AF65-F5344CB8AC3E}">
        <p14:creationId xmlns:p14="http://schemas.microsoft.com/office/powerpoint/2010/main" val="3484463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r>
              <a:rPr lang="es-MX" sz="3200" b="1" dirty="0"/>
              <a:t>Caso de Estudio 4.8: Visualización de un Rombo con Asteriscos 254</a:t>
            </a:r>
            <a:br>
              <a:rPr lang="es-MX" sz="3200" b="1" dirty="0"/>
            </a:br>
            <a:br>
              <a:rPr lang="es-EC" sz="4000" dirty="0"/>
            </a:br>
            <a:endParaRPr lang="es-EC" sz="4000" b="1" dirty="0"/>
          </a:p>
        </p:txBody>
      </p:sp>
      <p:sp>
        <p:nvSpPr>
          <p:cNvPr id="3" name="Marcador de contenido 2">
            <a:extLst>
              <a:ext uri="{FF2B5EF4-FFF2-40B4-BE49-F238E27FC236}">
                <a16:creationId xmlns:a16="http://schemas.microsoft.com/office/drawing/2014/main" id="{B39ABCB5-E55E-4A8D-9660-6AA9CFC7EFC8}"/>
              </a:ext>
            </a:extLst>
          </p:cNvPr>
          <p:cNvSpPr>
            <a:spLocks noGrp="1"/>
          </p:cNvSpPr>
          <p:nvPr>
            <p:ph idx="1"/>
          </p:nvPr>
        </p:nvSpPr>
        <p:spPr>
          <a:xfrm>
            <a:off x="1450690" y="2346517"/>
            <a:ext cx="9940348" cy="3408823"/>
          </a:xfrm>
        </p:spPr>
        <p:txBody>
          <a:bodyPr>
            <a:normAutofit fontScale="92500" lnSpcReduction="20000"/>
          </a:bodyPr>
          <a:lstStyle/>
          <a:p>
            <a:pPr marL="0" indent="0">
              <a:buNone/>
            </a:pPr>
            <a:r>
              <a:rPr lang="es-MX" dirty="0"/>
              <a:t>En la Tabla 4.8.5 se puede ver la tercera parte de la prueba de escritorio del programa, donde la impresión de la mitad del rombo de asteriscos es un triángulo isósceles invertido cuyo valor de altura es 4, se realiza mediante un bucle externo y dos bucles internos. Cada vez que se repite el bucle externo </a:t>
            </a:r>
            <a:r>
              <a:rPr lang="es-MX" dirty="0" err="1"/>
              <a:t>decremental</a:t>
            </a:r>
            <a:r>
              <a:rPr lang="es-MX" dirty="0"/>
              <a:t>, se ejecutan los dos bucles internos. El bucle externo </a:t>
            </a:r>
            <a:r>
              <a:rPr lang="es-MX" dirty="0" err="1"/>
              <a:t>decremental</a:t>
            </a:r>
            <a:r>
              <a:rPr lang="es-MX" dirty="0"/>
              <a:t> se repite cuatro veces en este caso, según la altura del triángulo y se controla con el contador de las filas ‘f’. El número de repeticiones realizadas por los bucles internos se basan en el valor del contador de las filas ‘f’. El primer bucle interno controla la impresión de los espacios en blanco con el contador ‘b’ y el segundo bucle interno controla la impresión de los asteriscos con el contador ‘a’. </a:t>
            </a:r>
            <a:endParaRPr lang="es-EC"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24</a:t>
            </a:fld>
            <a:endParaRPr lang="es-EC"/>
          </a:p>
        </p:txBody>
      </p:sp>
    </p:spTree>
    <p:extLst>
      <p:ext uri="{BB962C8B-B14F-4D97-AF65-F5344CB8AC3E}">
        <p14:creationId xmlns:p14="http://schemas.microsoft.com/office/powerpoint/2010/main" val="4004952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336313-92ED-4C4E-A167-C43C9A51DF0F}"/>
              </a:ext>
            </a:extLst>
          </p:cNvPr>
          <p:cNvSpPr>
            <a:spLocks noGrp="1"/>
          </p:cNvSpPr>
          <p:nvPr>
            <p:ph type="title"/>
          </p:nvPr>
        </p:nvSpPr>
        <p:spPr>
          <a:xfrm>
            <a:off x="3069623" y="3264646"/>
            <a:ext cx="5886117" cy="328707"/>
          </a:xfrm>
        </p:spPr>
        <p:txBody>
          <a:bodyPr/>
          <a:lstStyle/>
          <a:p>
            <a:br>
              <a:rPr lang="es-MX" sz="2400" b="1" dirty="0">
                <a:solidFill>
                  <a:srgbClr val="FF0000"/>
                </a:solidFill>
              </a:rPr>
            </a:br>
            <a:endParaRPr lang="es-EC" sz="4000" b="1" dirty="0"/>
          </a:p>
        </p:txBody>
      </p:sp>
      <p:sp>
        <p:nvSpPr>
          <p:cNvPr id="4" name="Marcador de fecha 3">
            <a:extLst>
              <a:ext uri="{FF2B5EF4-FFF2-40B4-BE49-F238E27FC236}">
                <a16:creationId xmlns:a16="http://schemas.microsoft.com/office/drawing/2014/main" id="{8A3F89B3-60A2-4AFE-9923-63D421F6FA9A}"/>
              </a:ext>
            </a:extLst>
          </p:cNvPr>
          <p:cNvSpPr>
            <a:spLocks noGrp="1"/>
          </p:cNvSpPr>
          <p:nvPr>
            <p:ph type="dt" sz="half" idx="10"/>
          </p:nvPr>
        </p:nvSpPr>
        <p:spPr/>
        <p:txBody>
          <a:bodyPr/>
          <a:lstStyle/>
          <a:p>
            <a:r>
              <a:rPr lang="es-EC" dirty="0"/>
              <a:t>23/12/2025</a:t>
            </a:r>
          </a:p>
        </p:txBody>
      </p:sp>
      <p:sp>
        <p:nvSpPr>
          <p:cNvPr id="5" name="Marcador de número de diapositiva 4">
            <a:extLst>
              <a:ext uri="{FF2B5EF4-FFF2-40B4-BE49-F238E27FC236}">
                <a16:creationId xmlns:a16="http://schemas.microsoft.com/office/drawing/2014/main" id="{2730CB84-C1F0-4115-B843-9CB9B8AFA91C}"/>
              </a:ext>
            </a:extLst>
          </p:cNvPr>
          <p:cNvSpPr>
            <a:spLocks noGrp="1"/>
          </p:cNvSpPr>
          <p:nvPr>
            <p:ph type="sldNum" sz="quarter" idx="12"/>
          </p:nvPr>
        </p:nvSpPr>
        <p:spPr/>
        <p:txBody>
          <a:bodyPr/>
          <a:lstStyle/>
          <a:p>
            <a:fld id="{14B28EB2-3408-4757-A806-361BA67028B7}" type="slidenum">
              <a:rPr lang="es-EC" smtClean="0"/>
              <a:t>25</a:t>
            </a:fld>
            <a:endParaRPr lang="es-EC"/>
          </a:p>
        </p:txBody>
      </p:sp>
      <p:sp>
        <p:nvSpPr>
          <p:cNvPr id="9" name="CuadroTexto 8">
            <a:extLst>
              <a:ext uri="{FF2B5EF4-FFF2-40B4-BE49-F238E27FC236}">
                <a16:creationId xmlns:a16="http://schemas.microsoft.com/office/drawing/2014/main" id="{2E3F0A5C-C0C7-4D02-8723-1B0B636B7D1C}"/>
              </a:ext>
            </a:extLst>
          </p:cNvPr>
          <p:cNvSpPr txBox="1"/>
          <p:nvPr/>
        </p:nvSpPr>
        <p:spPr>
          <a:xfrm>
            <a:off x="2314879" y="5046632"/>
            <a:ext cx="3915905"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Tabla 4.8.5</a:t>
            </a:r>
            <a:r>
              <a:rPr lang="es-ES" sz="1200" dirty="0">
                <a:solidFill>
                  <a:schemeClr val="tx1">
                    <a:lumMod val="50000"/>
                    <a:lumOff val="50000"/>
                  </a:schemeClr>
                </a:solidFill>
                <a:latin typeface="+mj-lt"/>
              </a:rPr>
              <a:t> Prueba de Escritorio .</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6" name="Imagen 5">
            <a:extLst>
              <a:ext uri="{FF2B5EF4-FFF2-40B4-BE49-F238E27FC236}">
                <a16:creationId xmlns:a16="http://schemas.microsoft.com/office/drawing/2014/main" id="{9ED161C0-C7E0-462E-9E26-C6B6103FACD5}"/>
              </a:ext>
            </a:extLst>
          </p:cNvPr>
          <p:cNvPicPr>
            <a:picLocks noChangeAspect="1"/>
          </p:cNvPicPr>
          <p:nvPr/>
        </p:nvPicPr>
        <p:blipFill>
          <a:blip r:embed="rId2"/>
          <a:stretch>
            <a:fillRect/>
          </a:stretch>
        </p:blipFill>
        <p:spPr>
          <a:xfrm>
            <a:off x="2314879" y="491189"/>
            <a:ext cx="7687748" cy="2181529"/>
          </a:xfrm>
          <a:prstGeom prst="rect">
            <a:avLst/>
          </a:prstGeom>
        </p:spPr>
      </p:pic>
      <p:pic>
        <p:nvPicPr>
          <p:cNvPr id="8" name="Imagen 7">
            <a:extLst>
              <a:ext uri="{FF2B5EF4-FFF2-40B4-BE49-F238E27FC236}">
                <a16:creationId xmlns:a16="http://schemas.microsoft.com/office/drawing/2014/main" id="{8EBAF9B0-CA29-4099-9713-96CCD2AE2183}"/>
              </a:ext>
            </a:extLst>
          </p:cNvPr>
          <p:cNvPicPr>
            <a:picLocks noChangeAspect="1"/>
          </p:cNvPicPr>
          <p:nvPr/>
        </p:nvPicPr>
        <p:blipFill>
          <a:blip r:embed="rId3"/>
          <a:stretch>
            <a:fillRect/>
          </a:stretch>
        </p:blipFill>
        <p:spPr>
          <a:xfrm>
            <a:off x="2314879" y="2607378"/>
            <a:ext cx="7763958" cy="1971950"/>
          </a:xfrm>
          <a:prstGeom prst="rect">
            <a:avLst/>
          </a:prstGeom>
        </p:spPr>
      </p:pic>
    </p:spTree>
    <p:extLst>
      <p:ext uri="{BB962C8B-B14F-4D97-AF65-F5344CB8AC3E}">
        <p14:creationId xmlns:p14="http://schemas.microsoft.com/office/powerpoint/2010/main" val="11703064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¿Preguntas?</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30/12/2025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7261</TotalTime>
  <Words>1819</Words>
  <Application>Microsoft Office PowerPoint</Application>
  <PresentationFormat>Panorámica</PresentationFormat>
  <Paragraphs>142</Paragraphs>
  <Slides>27</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27</vt:i4>
      </vt:variant>
    </vt:vector>
  </HeadingPairs>
  <TitlesOfParts>
    <vt:vector size="35"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 Bucles anidados</vt:lpstr>
      <vt:lpstr>Contenido</vt:lpstr>
      <vt:lpstr> Problema 4.13: (Aplicación de bucles anidados para visualizar un triángulo rectángulo isósceles de asteriscos) </vt:lpstr>
      <vt:lpstr> Problema 4.13: (Aplicación de bucles anidados para visualizar un triángulo rectángulo isósceles de asteriscos) </vt:lpstr>
      <vt:lpstr>Presentación de PowerPoint</vt:lpstr>
      <vt:lpstr> Problema 4.13: (Aplicación de bucles anidados para visualizar un triángulo rectángulo isósceles de asteriscos) </vt:lpstr>
      <vt:lpstr> Problema 4.13: (Aplicación de bucles anidados para visualizar un triángulo rectángulo isósceles de asteriscos) </vt:lpstr>
      <vt:lpstr> Problema 4.13: (Aplicación de bucles anidados para visualizar un triángulo rectángulo isósceles de asteriscos) </vt:lpstr>
      <vt:lpstr>Contenido</vt:lpstr>
      <vt:lpstr> Caso de Estudio 4.8: Visualización de un Rombo con Asteriscos 254  </vt:lpstr>
      <vt:lpstr> Caso de Estudio 4.8: Visualización de un Rombo con Asteriscos 254  </vt:lpstr>
      <vt:lpstr> Caso de Estudio 4.8: Visualización de un Rombo con Asteriscos 254  </vt:lpstr>
      <vt:lpstr> Caso de Estudio 4.8: Visualización de un Rombo con Asteriscos 254  </vt:lpstr>
      <vt:lpstr> Caso de Estudio 4.8: Visualización de un Rombo con Asteriscos 254  </vt:lpstr>
      <vt:lpstr> Caso de Estudio 4.8: Visualización de un Rombo con Asteriscos 254  </vt:lpstr>
      <vt:lpstr>Presentación de PowerPoint</vt:lpstr>
      <vt:lpstr>Presentación de PowerPoint</vt:lpstr>
      <vt:lpstr> Caso de Estudio 4.8: Visualización de un Rombo con Asteriscos 254  </vt:lpstr>
      <vt:lpstr> Caso de Estudio 4.8: Visualización de un Rombo con Asteriscos 254  </vt:lpstr>
      <vt:lpstr> Caso de Estudio 4.8: Visualización de un Rombo con Asteriscos 254  </vt:lpstr>
      <vt:lpstr> </vt:lpstr>
      <vt:lpstr> Caso de Estudio 4.8: Visualización de un Rombo con Asteriscos 254  </vt:lpstr>
      <vt:lpstr>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KEVIN TOPÓN SALAZAR</cp:lastModifiedBy>
  <cp:revision>13</cp:revision>
  <dcterms:created xsi:type="dcterms:W3CDTF">2025-10-07T22:49:11Z</dcterms:created>
  <dcterms:modified xsi:type="dcterms:W3CDTF">2025-12-30T17:09:56Z</dcterms:modified>
</cp:coreProperties>
</file>