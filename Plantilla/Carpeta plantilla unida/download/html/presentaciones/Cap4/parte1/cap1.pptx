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4"/>
  </p:notesMasterIdLst>
  <p:sldIdLst>
    <p:sldId id="311" r:id="rId3"/>
    <p:sldId id="257" r:id="rId4"/>
    <p:sldId id="560" r:id="rId5"/>
    <p:sldId id="561" r:id="rId6"/>
    <p:sldId id="562" r:id="rId7"/>
    <p:sldId id="563" r:id="rId8"/>
    <p:sldId id="564" r:id="rId9"/>
    <p:sldId id="565" r:id="rId10"/>
    <p:sldId id="566" r:id="rId11"/>
    <p:sldId id="567" r:id="rId12"/>
    <p:sldId id="568" r:id="rId13"/>
    <p:sldId id="569" r:id="rId14"/>
    <p:sldId id="570" r:id="rId15"/>
    <p:sldId id="571" r:id="rId16"/>
    <p:sldId id="572" r:id="rId17"/>
    <p:sldId id="573" r:id="rId18"/>
    <p:sldId id="574" r:id="rId19"/>
    <p:sldId id="575" r:id="rId20"/>
    <p:sldId id="576" r:id="rId21"/>
    <p:sldId id="578" r:id="rId22"/>
    <p:sldId id="577" r:id="rId23"/>
    <p:sldId id="579" r:id="rId24"/>
    <p:sldId id="580" r:id="rId25"/>
    <p:sldId id="581" r:id="rId26"/>
    <p:sldId id="582" r:id="rId27"/>
    <p:sldId id="583" r:id="rId28"/>
    <p:sldId id="584" r:id="rId29"/>
    <p:sldId id="585" r:id="rId30"/>
    <p:sldId id="588" r:id="rId31"/>
    <p:sldId id="393" r:id="rId32"/>
    <p:sldId id="275" r:id="rId33"/>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11" autoAdjust="0"/>
    <p:restoredTop sz="94660"/>
  </p:normalViewPr>
  <p:slideViewPr>
    <p:cSldViewPr snapToGrid="0">
      <p:cViewPr varScale="1">
        <p:scale>
          <a:sx n="85" d="100"/>
          <a:sy n="85"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2/12/2025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2/12/2025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4 ALGORITMOS Y ESTRUCTURAS DE CONTROL REPETITIVAS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3400" b="1" dirty="0">
                <a:solidFill>
                  <a:srgbClr val="FF0000"/>
                </a:solidFill>
              </a:rPr>
              <a:t>Introducción </a:t>
            </a:r>
          </a:p>
          <a:p>
            <a:pPr lvl="1"/>
            <a:r>
              <a:rPr lang="es-MX" sz="2800" dirty="0"/>
              <a:t>Objetivos </a:t>
            </a:r>
          </a:p>
          <a:p>
            <a:pPr lvl="1"/>
            <a:r>
              <a:rPr lang="es-MX" sz="2800" dirty="0"/>
              <a:t>Estructuras de Control Repetitivas o Bucles </a:t>
            </a:r>
          </a:p>
          <a:p>
            <a:pPr lvl="1"/>
            <a:r>
              <a:rPr lang="es-MX" sz="2800" dirty="0"/>
              <a:t>La sentencia while </a:t>
            </a:r>
          </a:p>
          <a:p>
            <a:pPr lvl="1"/>
            <a:r>
              <a:rPr lang="es-MX" sz="2800" dirty="0"/>
              <a:t>Problema 4.1: (Aplicación de la sentencia while como un bucle ascendente) </a:t>
            </a:r>
          </a:p>
          <a:p>
            <a:pPr lvl="1"/>
            <a:r>
              <a:rPr lang="es-MX" sz="2800" dirty="0"/>
              <a:t>Problema 4.2: (Aplicación de la sentencia while como un bucle descendente) </a:t>
            </a:r>
          </a:p>
          <a:p>
            <a:pPr lvl="1"/>
            <a:r>
              <a:rPr lang="es-MX" sz="2800" dirty="0"/>
              <a:t>Caso de Estudio 4.1: Sumatoria y Promedio de un Grupo de Notas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1498600"/>
            <a:ext cx="10972800" cy="1600200"/>
          </a:xfrm>
        </p:spPr>
        <p:txBody>
          <a:bodyPr/>
          <a:lstStyle/>
          <a:p>
            <a:r>
              <a:rPr lang="es-MX" b="1" dirty="0"/>
              <a:t>Introducción</a:t>
            </a: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93518" y="1363232"/>
            <a:ext cx="4934175" cy="3800438"/>
          </a:xfrm>
        </p:spPr>
        <p:txBody>
          <a:bodyPr>
            <a:normAutofit fontScale="85000" lnSpcReduction="20000"/>
          </a:bodyPr>
          <a:lstStyle/>
          <a:p>
            <a:r>
              <a:rPr lang="es-MX" sz="2000" dirty="0"/>
              <a:t>En este capítulo se aprenderán a diseñar algoritmos y a utilizar la computadora como una herramienta para resolver problemas creando programas con estructuras de control de repetición en el lenguaje C/C++. El estudio de las estructuras de control de repetición se realiza en base al diseño de algoritmos y a la creación de programas en un lenguaje de programación estructurado como es el Lenguaje C/C++. Para la solución de problemas de programación se aplican aspectos de Ingeniería de Software y el método científico que permiten identificar a la programación con un enfoque sistemático.</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7" name="Picture 2">
            <a:extLst>
              <a:ext uri="{FF2B5EF4-FFF2-40B4-BE49-F238E27FC236}">
                <a16:creationId xmlns:a16="http://schemas.microsoft.com/office/drawing/2014/main" id="{D4EC2F2E-EB96-44C9-BA34-A68D5F13C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6124" y="1498600"/>
            <a:ext cx="4496709" cy="2425178"/>
          </a:xfrm>
          <a:prstGeom prst="rect">
            <a:avLst/>
          </a:prstGeom>
          <a:noFill/>
          <a:extLst>
            <a:ext uri="{909E8E84-426E-40DD-AFC4-6F175D3DCCD1}">
              <a14:hiddenFill xmlns:a14="http://schemas.microsoft.com/office/drawing/2010/main">
                <a:solidFill>
                  <a:srgbClr val="FFFFFF"/>
                </a:solidFill>
              </a14:hiddenFill>
            </a:ext>
          </a:extLst>
        </p:spPr>
      </p:pic>
      <p:sp>
        <p:nvSpPr>
          <p:cNvPr id="8" name="12 CuadroTexto">
            <a:extLst>
              <a:ext uri="{FF2B5EF4-FFF2-40B4-BE49-F238E27FC236}">
                <a16:creationId xmlns:a16="http://schemas.microsoft.com/office/drawing/2014/main" id="{A08CABAC-0A6B-4469-BE4C-A7DE4EB1B9F7}"/>
              </a:ext>
            </a:extLst>
          </p:cNvPr>
          <p:cNvSpPr txBox="1"/>
          <p:nvPr/>
        </p:nvSpPr>
        <p:spPr>
          <a:xfrm>
            <a:off x="6586124" y="4148007"/>
            <a:ext cx="4355976" cy="1015663"/>
          </a:xfrm>
          <a:prstGeom prst="rect">
            <a:avLst/>
          </a:prstGeom>
          <a:noFill/>
        </p:spPr>
        <p:txBody>
          <a:bodyPr wrap="square" rtlCol="0">
            <a:spAutoFit/>
          </a:bodyPr>
          <a:lstStyle/>
          <a:p>
            <a:pPr algn="just"/>
            <a:r>
              <a:rPr lang="es-MX" sz="1200" b="1" dirty="0">
                <a:solidFill>
                  <a:schemeClr val="tx1">
                    <a:lumMod val="50000"/>
                    <a:lumOff val="50000"/>
                  </a:schemeClr>
                </a:solidFill>
                <a:latin typeface="+mj-lt"/>
              </a:rPr>
              <a:t>Imagen 4.1 </a:t>
            </a:r>
            <a:r>
              <a:rPr lang="es-MX" sz="1200" dirty="0">
                <a:solidFill>
                  <a:schemeClr val="tx1">
                    <a:lumMod val="50000"/>
                    <a:lumOff val="50000"/>
                  </a:schemeClr>
                </a:solidFill>
                <a:latin typeface="+mj-lt"/>
              </a:rPr>
              <a:t>Representación del lenguaje de programación C.</a:t>
            </a:r>
          </a:p>
          <a:p>
            <a:r>
              <a:rPr lang="es-MX" sz="1200" dirty="0">
                <a:solidFill>
                  <a:schemeClr val="tx1">
                    <a:lumMod val="50000"/>
                    <a:lumOff val="50000"/>
                  </a:schemeClr>
                </a:solidFill>
                <a:latin typeface="+mj-lt"/>
              </a:rPr>
              <a:t>Fuente: MSMK University, 2025.</a:t>
            </a:r>
          </a:p>
          <a:p>
            <a:pPr algn="just"/>
            <a:endParaRPr lang="es-MX"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15131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1498600"/>
            <a:ext cx="10972800" cy="1600200"/>
          </a:xfrm>
        </p:spPr>
        <p:txBody>
          <a:bodyPr/>
          <a:lstStyle/>
          <a:p>
            <a:r>
              <a:rPr lang="es-MX" b="1" dirty="0"/>
              <a:t>Introducción</a:t>
            </a: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08201" y="1666538"/>
            <a:ext cx="5068578" cy="3757109"/>
          </a:xfrm>
        </p:spPr>
        <p:txBody>
          <a:bodyPr>
            <a:normAutofit fontScale="92500" lnSpcReduction="10000"/>
          </a:bodyPr>
          <a:lstStyle/>
          <a:p>
            <a:r>
              <a:rPr lang="es-MX" sz="1400" dirty="0"/>
              <a:t>Continuando con la reseña histórica de los Sistemas Operativos (SO), cabe señalar que dos de los </a:t>
            </a:r>
            <a:r>
              <a:rPr lang="es-MX" sz="1400" dirty="0" err="1"/>
              <a:t>sitemas</a:t>
            </a:r>
            <a:r>
              <a:rPr lang="es-MX" sz="1400" dirty="0"/>
              <a:t> operativos que han revolucionado la industria de las computadoras y de los dispositivos móviles han sido los sistemas operativos LINUX y </a:t>
            </a:r>
            <a:r>
              <a:rPr lang="es-MX" sz="1400" dirty="0" err="1"/>
              <a:t>Andoid</a:t>
            </a:r>
            <a:r>
              <a:rPr lang="es-MX" sz="1400" dirty="0"/>
              <a:t>. El sistema operativo GNU/LINUX proviene de la familia de los SO tipo UNIX compuesto por software libre y código abierto. Las dos contribuciones mas importantes para la creación de este SO fueron las de Richard Stallman en 1983 como parte del proyecto GNU y el desarrollo del núcleo de LINUX creado por Linus Torvalds en 1991. El sistema operativo </a:t>
            </a:r>
            <a:r>
              <a:rPr lang="es-MX" sz="1400" dirty="0" err="1"/>
              <a:t>Andoid</a:t>
            </a:r>
            <a:r>
              <a:rPr lang="es-MX" sz="1400" dirty="0"/>
              <a:t> es un sistema operativo móvil basado en el núcleo Linux y otros aplicativos de software de código abierto. Este SO fue desarrollado por la empresa Android Inc., que fue adquirida por la empresa de tecnología multinacional Google en el año 2005. Android es el SO más utilizado en dispositivos móviles con pantalla táctil, como teléfonos inteligentes, tabletas, relojes inteligentes, cerebros de automóviles y televisores inteligentes.</a:t>
            </a:r>
            <a:endParaRPr lang="es-EC" sz="2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4</a:t>
            </a:fld>
            <a:endParaRPr lang="es-EC"/>
          </a:p>
        </p:txBody>
      </p:sp>
      <p:pic>
        <p:nvPicPr>
          <p:cNvPr id="7" name="Imagen 6">
            <a:extLst>
              <a:ext uri="{FF2B5EF4-FFF2-40B4-BE49-F238E27FC236}">
                <a16:creationId xmlns:a16="http://schemas.microsoft.com/office/drawing/2014/main" id="{63D3AA01-0763-4E27-B905-31ABD6643BCA}"/>
              </a:ext>
            </a:extLst>
          </p:cNvPr>
          <p:cNvPicPr>
            <a:picLocks noChangeAspect="1"/>
          </p:cNvPicPr>
          <p:nvPr/>
        </p:nvPicPr>
        <p:blipFill>
          <a:blip r:embed="rId2"/>
          <a:stretch>
            <a:fillRect/>
          </a:stretch>
        </p:blipFill>
        <p:spPr>
          <a:xfrm>
            <a:off x="7909487" y="785443"/>
            <a:ext cx="2648320" cy="5287113"/>
          </a:xfrm>
          <a:prstGeom prst="rect">
            <a:avLst/>
          </a:prstGeom>
        </p:spPr>
      </p:pic>
      <p:sp>
        <p:nvSpPr>
          <p:cNvPr id="8" name="12 CuadroTexto">
            <a:extLst>
              <a:ext uri="{FF2B5EF4-FFF2-40B4-BE49-F238E27FC236}">
                <a16:creationId xmlns:a16="http://schemas.microsoft.com/office/drawing/2014/main" id="{EFB51CD8-CD72-4B60-A213-5D7F4BA72BCB}"/>
              </a:ext>
            </a:extLst>
          </p:cNvPr>
          <p:cNvSpPr txBox="1"/>
          <p:nvPr/>
        </p:nvSpPr>
        <p:spPr>
          <a:xfrm>
            <a:off x="7534399" y="6125518"/>
            <a:ext cx="3794001" cy="461665"/>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1. Fundador GNU / LINUX. </a:t>
            </a:r>
          </a:p>
          <a:p>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135198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2800" dirty="0"/>
              <a:t>Introducción </a:t>
            </a:r>
          </a:p>
          <a:p>
            <a:pPr lvl="1"/>
            <a:r>
              <a:rPr lang="es-MX" sz="3400" b="1" dirty="0">
                <a:solidFill>
                  <a:srgbClr val="FF0000"/>
                </a:solidFill>
              </a:rPr>
              <a:t>Objetivos </a:t>
            </a:r>
          </a:p>
          <a:p>
            <a:pPr lvl="1"/>
            <a:r>
              <a:rPr lang="es-MX" sz="2800" dirty="0"/>
              <a:t>Estructuras de Control Repetitivas o Bucles </a:t>
            </a:r>
          </a:p>
          <a:p>
            <a:pPr lvl="1"/>
            <a:r>
              <a:rPr lang="es-MX" sz="2800" dirty="0"/>
              <a:t> La sentencia while </a:t>
            </a:r>
          </a:p>
          <a:p>
            <a:pPr lvl="1"/>
            <a:r>
              <a:rPr lang="es-MX" sz="2800" dirty="0"/>
              <a:t>Problema 4.1: (Aplicación de la sentencia while como un bucle ascendente) </a:t>
            </a:r>
          </a:p>
          <a:p>
            <a:pPr lvl="1"/>
            <a:r>
              <a:rPr lang="es-MX" sz="2800" dirty="0"/>
              <a:t>Problema 4.2: (Aplicación de la sentencia while como un bucle descendente) </a:t>
            </a:r>
          </a:p>
          <a:p>
            <a:pPr lvl="1"/>
            <a:r>
              <a:rPr lang="es-MX" sz="2800" dirty="0"/>
              <a:t>Caso de Estudio 4.1: Sumatoria y Promedio de un Grupo de Notas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5</a:t>
            </a:fld>
            <a:endParaRPr lang="es-EC">
              <a:solidFill>
                <a:prstClr val="black">
                  <a:lumMod val="65000"/>
                  <a:lumOff val="35000"/>
                </a:prstClr>
              </a:solidFill>
            </a:endParaRPr>
          </a:p>
        </p:txBody>
      </p:sp>
    </p:spTree>
    <p:extLst>
      <p:ext uri="{BB962C8B-B14F-4D97-AF65-F5344CB8AC3E}">
        <p14:creationId xmlns:p14="http://schemas.microsoft.com/office/powerpoint/2010/main" val="1183534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563907" y="136524"/>
            <a:ext cx="6373310" cy="821765"/>
          </a:xfrm>
        </p:spPr>
        <p:txBody>
          <a:bodyPr/>
          <a:lstStyle/>
          <a:p>
            <a:r>
              <a:rPr lang="es-MX" b="1" dirty="0"/>
              <a:t>Objetivos</a:t>
            </a: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82048" y="1600218"/>
            <a:ext cx="8988727" cy="4114203"/>
          </a:xfrm>
        </p:spPr>
        <p:txBody>
          <a:bodyPr>
            <a:normAutofit/>
          </a:bodyPr>
          <a:lstStyle/>
          <a:p>
            <a:pPr marL="0" indent="0">
              <a:buNone/>
            </a:pPr>
            <a:r>
              <a:rPr lang="es-MX" sz="2000" dirty="0"/>
              <a:t>▪ Revisar los principales conceptos en torno a algoritmos y a estructuras de control de repetición. </a:t>
            </a:r>
          </a:p>
          <a:p>
            <a:pPr marL="0" indent="0">
              <a:buNone/>
            </a:pPr>
            <a:r>
              <a:rPr lang="es-MX" sz="2000" dirty="0"/>
              <a:t>▪ Entender cómo trabajan los algoritmos y las estructuras de control de repetición y cómo se aplican con el lenguaje C/C++ en la construcción de programas. </a:t>
            </a:r>
          </a:p>
          <a:p>
            <a:pPr marL="0" indent="0">
              <a:buNone/>
            </a:pPr>
            <a:r>
              <a:rPr lang="es-MX" sz="2000" dirty="0"/>
              <a:t>▪ Aprender a crear algoritmos en Pseudocódigo y en Lenguaje C/C++ con estructuras de control de repetición. </a:t>
            </a:r>
          </a:p>
          <a:p>
            <a:pPr marL="0" indent="0">
              <a:buNone/>
            </a:pPr>
            <a:r>
              <a:rPr lang="es-MX" sz="2000" dirty="0"/>
              <a:t>▪ Diseñar y crear programas en lenguaje C/C++ utilizando algoritmos y estructuras de control de repetición. </a:t>
            </a:r>
          </a:p>
          <a:p>
            <a:pPr marL="0" indent="0">
              <a:buNone/>
            </a:pPr>
            <a:r>
              <a:rPr lang="es-MX" sz="2000" dirty="0"/>
              <a:t>▪ Resolver casos de estudio con algoritmos y estructuras de control de repetición aplicadas al área Matemática.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6</a:t>
            </a:fld>
            <a:endParaRPr lang="es-EC"/>
          </a:p>
        </p:txBody>
      </p:sp>
    </p:spTree>
    <p:extLst>
      <p:ext uri="{BB962C8B-B14F-4D97-AF65-F5344CB8AC3E}">
        <p14:creationId xmlns:p14="http://schemas.microsoft.com/office/powerpoint/2010/main" val="3433679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2800" dirty="0"/>
              <a:t>Introducción </a:t>
            </a:r>
          </a:p>
          <a:p>
            <a:pPr lvl="1"/>
            <a:r>
              <a:rPr lang="es-MX" sz="2800" dirty="0"/>
              <a:t>Objetivos </a:t>
            </a:r>
          </a:p>
          <a:p>
            <a:pPr lvl="1"/>
            <a:r>
              <a:rPr lang="es-MX" sz="3400" b="1" dirty="0">
                <a:solidFill>
                  <a:srgbClr val="FF0000"/>
                </a:solidFill>
              </a:rPr>
              <a:t>Estructuras de Control Repetitivas o Bucles </a:t>
            </a:r>
          </a:p>
          <a:p>
            <a:pPr lvl="1"/>
            <a:r>
              <a:rPr lang="es-MX" sz="2800" dirty="0"/>
              <a:t>La sentencia while </a:t>
            </a:r>
          </a:p>
          <a:p>
            <a:pPr lvl="1"/>
            <a:r>
              <a:rPr lang="es-MX" sz="2800" dirty="0"/>
              <a:t>Problema 4.1: (Aplicación de la sentencia while como un bucle ascendente) </a:t>
            </a:r>
          </a:p>
          <a:p>
            <a:pPr lvl="1"/>
            <a:r>
              <a:rPr lang="es-MX" sz="2800" dirty="0"/>
              <a:t>Problema 4.2: (Aplicación de la sentencia while como un bucle descendente) </a:t>
            </a:r>
          </a:p>
          <a:p>
            <a:pPr lvl="1"/>
            <a:r>
              <a:rPr lang="es-MX" sz="2800" dirty="0"/>
              <a:t>Caso de Estudio 4.1: Sumatoria y Promedio de un Grupo de Notas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7</a:t>
            </a:fld>
            <a:endParaRPr lang="es-EC">
              <a:solidFill>
                <a:prstClr val="black">
                  <a:lumMod val="65000"/>
                  <a:lumOff val="35000"/>
                </a:prstClr>
              </a:solidFill>
            </a:endParaRPr>
          </a:p>
        </p:txBody>
      </p:sp>
    </p:spTree>
    <p:extLst>
      <p:ext uri="{BB962C8B-B14F-4D97-AF65-F5344CB8AC3E}">
        <p14:creationId xmlns:p14="http://schemas.microsoft.com/office/powerpoint/2010/main" val="15168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789756" y="1355723"/>
            <a:ext cx="6373310" cy="821765"/>
          </a:xfrm>
        </p:spPr>
        <p:txBody>
          <a:bodyPr/>
          <a:lstStyle/>
          <a:p>
            <a:r>
              <a:rPr lang="es-MX" sz="4000" b="1" dirty="0"/>
              <a:t>Estructuras de Control Repetitivas o Bucles </a:t>
            </a:r>
            <a:br>
              <a:rPr lang="es-MX" sz="4000" b="1" dirty="0">
                <a:solidFill>
                  <a:srgbClr val="FF0000"/>
                </a:solidFill>
              </a:rPr>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82048" y="1600218"/>
            <a:ext cx="8988727" cy="4114203"/>
          </a:xfrm>
        </p:spPr>
        <p:txBody>
          <a:bodyPr>
            <a:normAutofit/>
          </a:bodyPr>
          <a:lstStyle/>
          <a:p>
            <a:pPr marL="0" indent="0">
              <a:buNone/>
            </a:pPr>
            <a:r>
              <a:rPr lang="es-MX" sz="2000" dirty="0"/>
              <a:t>La estructura de control conocida como bucle es aquella que realiza la repetición o iteración de acciones. La sentencia o grupos de sentencias que se repiten en un bloque se denominan cuerpo del bucle y cada repetición del cuerpo del bucle se llama iteración del bucle (Jones, B., </a:t>
            </a:r>
            <a:r>
              <a:rPr lang="es-MX" sz="2000" dirty="0" err="1"/>
              <a:t>Aitken</a:t>
            </a:r>
            <a:r>
              <a:rPr lang="es-MX" sz="2000" dirty="0"/>
              <a:t>, P., 2003). Las principales sentencias de repetición son: </a:t>
            </a:r>
          </a:p>
          <a:p>
            <a:pPr marL="0" indent="0">
              <a:buNone/>
            </a:pPr>
            <a:r>
              <a:rPr lang="es-MX" sz="2000" dirty="0"/>
              <a:t>q) La sentencia while </a:t>
            </a:r>
          </a:p>
          <a:p>
            <a:pPr marL="0" indent="0">
              <a:buNone/>
            </a:pPr>
            <a:r>
              <a:rPr lang="es-MX" sz="2000" dirty="0"/>
              <a:t>b) La sentencia do-while</a:t>
            </a:r>
          </a:p>
          <a:p>
            <a:pPr marL="0" indent="0">
              <a:buNone/>
            </a:pPr>
            <a:r>
              <a:rPr lang="es-MX" sz="2000" dirty="0"/>
              <a:t>c) La sentencia </a:t>
            </a:r>
            <a:r>
              <a:rPr lang="es-MX" sz="2000" dirty="0" err="1"/>
              <a:t>for</a:t>
            </a:r>
            <a:r>
              <a:rPr lang="es-MX" sz="2000" dirty="0"/>
              <a:t> </a:t>
            </a:r>
          </a:p>
          <a:p>
            <a:pPr marL="0" indent="0">
              <a:buNone/>
            </a:pPr>
            <a:r>
              <a:rPr lang="es-MX" sz="2000" dirty="0"/>
              <a:t>d) Bucles anidados</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8</a:t>
            </a:fld>
            <a:endParaRPr lang="es-EC"/>
          </a:p>
        </p:txBody>
      </p:sp>
    </p:spTree>
    <p:extLst>
      <p:ext uri="{BB962C8B-B14F-4D97-AF65-F5344CB8AC3E}">
        <p14:creationId xmlns:p14="http://schemas.microsoft.com/office/powerpoint/2010/main" val="3288866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789756" y="1355723"/>
            <a:ext cx="6373310" cy="821765"/>
          </a:xfrm>
        </p:spPr>
        <p:txBody>
          <a:bodyPr/>
          <a:lstStyle/>
          <a:p>
            <a:r>
              <a:rPr lang="es-MX" sz="4000" b="1" dirty="0"/>
              <a:t>Estructuras de Control Repetitivas o Bucles </a:t>
            </a:r>
            <a:br>
              <a:rPr lang="es-MX" sz="4000" b="1" dirty="0">
                <a:solidFill>
                  <a:srgbClr val="FF0000"/>
                </a:solidFill>
              </a:rPr>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82048" y="1600218"/>
            <a:ext cx="5277339" cy="4540605"/>
          </a:xfrm>
        </p:spPr>
        <p:txBody>
          <a:bodyPr>
            <a:normAutofit fontScale="92500" lnSpcReduction="10000"/>
          </a:bodyPr>
          <a:lstStyle/>
          <a:p>
            <a:r>
              <a:rPr lang="es-MX" sz="2000" dirty="0"/>
              <a:t>La sentencia while() </a:t>
            </a:r>
          </a:p>
          <a:p>
            <a:pPr marL="0" indent="0">
              <a:buNone/>
            </a:pPr>
            <a:r>
              <a:rPr lang="es-MX" sz="2000" dirty="0"/>
              <a:t>La sentencia while() crea un bucle que se repite hasta que la expresión lógica o condición del bucle se vuelva falsa. El cuerpo del bucle while() se ejecutará cero o más veces dependiendo de la condición del bucle (Davies, P., 1995). El formato de esta sentencia tiene la siguiente sintaxis:</a:t>
            </a:r>
          </a:p>
          <a:p>
            <a:pPr marL="0" indent="0">
              <a:buNone/>
            </a:pPr>
            <a:r>
              <a:rPr lang="es-MX" sz="2000" dirty="0"/>
              <a:t>Condición_Bucle : Expresión lógica o booleana que determina si la sentencia o acción se ha de ejecutar de manera repetitiva. </a:t>
            </a:r>
          </a:p>
          <a:p>
            <a:pPr marL="0" indent="0">
              <a:buNone/>
            </a:pPr>
            <a:r>
              <a:rPr lang="es-MX" sz="2000" dirty="0"/>
              <a:t>sentencia : La sentencia o acción se ejecuta si la expresión lógica es verdadera dentro del bucle.</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9</a:t>
            </a:fld>
            <a:endParaRPr lang="es-EC"/>
          </a:p>
        </p:txBody>
      </p:sp>
      <p:pic>
        <p:nvPicPr>
          <p:cNvPr id="7" name="Imagen 6">
            <a:extLst>
              <a:ext uri="{FF2B5EF4-FFF2-40B4-BE49-F238E27FC236}">
                <a16:creationId xmlns:a16="http://schemas.microsoft.com/office/drawing/2014/main" id="{034A5D86-F019-4626-A4B6-DE0EFE660673}"/>
              </a:ext>
            </a:extLst>
          </p:cNvPr>
          <p:cNvPicPr>
            <a:picLocks noChangeAspect="1"/>
          </p:cNvPicPr>
          <p:nvPr/>
        </p:nvPicPr>
        <p:blipFill>
          <a:blip r:embed="rId2"/>
          <a:stretch>
            <a:fillRect/>
          </a:stretch>
        </p:blipFill>
        <p:spPr>
          <a:xfrm>
            <a:off x="6530876" y="1600219"/>
            <a:ext cx="3025500" cy="1958769"/>
          </a:xfrm>
          <a:prstGeom prst="rect">
            <a:avLst/>
          </a:prstGeom>
        </p:spPr>
      </p:pic>
      <p:sp>
        <p:nvSpPr>
          <p:cNvPr id="9" name="CuadroTexto 8">
            <a:extLst>
              <a:ext uri="{FF2B5EF4-FFF2-40B4-BE49-F238E27FC236}">
                <a16:creationId xmlns:a16="http://schemas.microsoft.com/office/drawing/2014/main" id="{F013223E-35BC-4973-94CF-A8B1BA8D8BC0}"/>
              </a:ext>
            </a:extLst>
          </p:cNvPr>
          <p:cNvSpPr txBox="1"/>
          <p:nvPr/>
        </p:nvSpPr>
        <p:spPr>
          <a:xfrm>
            <a:off x="1604683" y="5892582"/>
            <a:ext cx="6096000" cy="646331"/>
          </a:xfrm>
          <a:prstGeom prst="rect">
            <a:avLst/>
          </a:prstGeom>
          <a:noFill/>
        </p:spPr>
        <p:txBody>
          <a:bodyPr wrap="square">
            <a:spAutoFit/>
          </a:bodyPr>
          <a:lstStyle/>
          <a:p>
            <a:r>
              <a:rPr lang="es-MX" dirty="0"/>
              <a:t>Nota: En esta sintaxis no es necesario utilizar llaves ya que se tiene una sola sentencia o instrucción. </a:t>
            </a:r>
            <a:endParaRPr lang="es-EC" dirty="0"/>
          </a:p>
        </p:txBody>
      </p:sp>
    </p:spTree>
    <p:extLst>
      <p:ext uri="{BB962C8B-B14F-4D97-AF65-F5344CB8AC3E}">
        <p14:creationId xmlns:p14="http://schemas.microsoft.com/office/powerpoint/2010/main" val="877652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789756" y="1355723"/>
            <a:ext cx="6373310" cy="821765"/>
          </a:xfrm>
        </p:spPr>
        <p:txBody>
          <a:bodyPr/>
          <a:lstStyle/>
          <a:p>
            <a:r>
              <a:rPr lang="es-MX" sz="4000" b="1" dirty="0"/>
              <a:t>Estructuras de Control Repetitivas o Bucles </a:t>
            </a:r>
            <a:br>
              <a:rPr lang="es-MX" sz="4000" b="1" dirty="0">
                <a:solidFill>
                  <a:srgbClr val="FF0000"/>
                </a:solidFill>
              </a:rPr>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82048" y="1600218"/>
            <a:ext cx="5277339" cy="4540605"/>
          </a:xfrm>
        </p:spPr>
        <p:txBody>
          <a:bodyPr>
            <a:normAutofit/>
          </a:bodyPr>
          <a:lstStyle/>
          <a:p>
            <a:pPr marL="0" indent="0">
              <a:buNone/>
            </a:pPr>
            <a:r>
              <a:rPr lang="es-MX" sz="2000" dirty="0"/>
              <a:t>Condición_Bucle :Expresión lógica o booleana que determina si las sentencias o acciones se han de ejecutar de manera repetitiva.</a:t>
            </a:r>
          </a:p>
          <a:p>
            <a:pPr marL="0" indent="0">
              <a:buNone/>
            </a:pPr>
            <a:endParaRPr lang="es-MX" sz="2000" dirty="0"/>
          </a:p>
          <a:p>
            <a:pPr marL="0" indent="0">
              <a:buNone/>
            </a:pPr>
            <a:r>
              <a:rPr lang="es-MX" sz="2000" dirty="0"/>
              <a:t>sentencias :Las acciones o sentencias se ejecutan si la expresión lógica es verdadera dentro del bucle.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pic>
        <p:nvPicPr>
          <p:cNvPr id="8" name="Imagen 7">
            <a:extLst>
              <a:ext uri="{FF2B5EF4-FFF2-40B4-BE49-F238E27FC236}">
                <a16:creationId xmlns:a16="http://schemas.microsoft.com/office/drawing/2014/main" id="{066052FA-820E-4E3C-A43C-A50182C152A8}"/>
              </a:ext>
            </a:extLst>
          </p:cNvPr>
          <p:cNvPicPr>
            <a:picLocks noChangeAspect="1"/>
          </p:cNvPicPr>
          <p:nvPr/>
        </p:nvPicPr>
        <p:blipFill>
          <a:blip r:embed="rId2"/>
          <a:stretch>
            <a:fillRect/>
          </a:stretch>
        </p:blipFill>
        <p:spPr>
          <a:xfrm>
            <a:off x="7245846" y="1692797"/>
            <a:ext cx="2629267" cy="1876687"/>
          </a:xfrm>
          <a:prstGeom prst="rect">
            <a:avLst/>
          </a:prstGeom>
        </p:spPr>
      </p:pic>
    </p:spTree>
    <p:extLst>
      <p:ext uri="{BB962C8B-B14F-4D97-AF65-F5344CB8AC3E}">
        <p14:creationId xmlns:p14="http://schemas.microsoft.com/office/powerpoint/2010/main" val="3159763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2800" dirty="0"/>
              <a:t>Introducción </a:t>
            </a:r>
          </a:p>
          <a:p>
            <a:pPr lvl="1"/>
            <a:r>
              <a:rPr lang="es-MX" sz="2800" dirty="0"/>
              <a:t>Objetivos </a:t>
            </a:r>
          </a:p>
          <a:p>
            <a:pPr lvl="1"/>
            <a:r>
              <a:rPr lang="es-MX" sz="2800" dirty="0"/>
              <a:t>Estructuras de Control Repetitivas o Bucles </a:t>
            </a:r>
          </a:p>
          <a:p>
            <a:pPr lvl="1"/>
            <a:r>
              <a:rPr lang="es-MX" sz="2800" dirty="0"/>
              <a:t>La sentencia while </a:t>
            </a:r>
          </a:p>
          <a:p>
            <a:pPr lvl="1"/>
            <a:r>
              <a:rPr lang="es-MX" sz="3400" b="1" dirty="0">
                <a:solidFill>
                  <a:srgbClr val="FF0000"/>
                </a:solidFill>
              </a:rPr>
              <a:t>Problema 4.1: (Aplicación de la sentencia while como un bucle ascendente) </a:t>
            </a:r>
          </a:p>
          <a:p>
            <a:pPr lvl="1"/>
            <a:r>
              <a:rPr lang="es-MX" sz="2800" dirty="0"/>
              <a:t>Problema 4.2: (Aplicación de la sentencia while como un bucle descendente) </a:t>
            </a:r>
          </a:p>
          <a:p>
            <a:pPr lvl="1"/>
            <a:r>
              <a:rPr lang="es-MX" sz="2800" dirty="0"/>
              <a:t>Caso de Estudio 4.1: Sumatoria y Promedio de un Grupo de Notas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11</a:t>
            </a:fld>
            <a:endParaRPr lang="es-EC">
              <a:solidFill>
                <a:prstClr val="black">
                  <a:lumMod val="65000"/>
                  <a:lumOff val="35000"/>
                </a:prstClr>
              </a:solidFill>
            </a:endParaRPr>
          </a:p>
        </p:txBody>
      </p:sp>
    </p:spTree>
    <p:extLst>
      <p:ext uri="{BB962C8B-B14F-4D97-AF65-F5344CB8AC3E}">
        <p14:creationId xmlns:p14="http://schemas.microsoft.com/office/powerpoint/2010/main" val="2025534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868652" y="2127678"/>
            <a:ext cx="8601282" cy="821765"/>
          </a:xfrm>
        </p:spPr>
        <p:txBody>
          <a:bodyPr/>
          <a:lstStyle/>
          <a:p>
            <a:br>
              <a:rPr lang="es-MX" sz="4000" b="1" dirty="0">
                <a:solidFill>
                  <a:srgbClr val="FF0000"/>
                </a:solidFill>
              </a:rPr>
            </a:br>
            <a:r>
              <a:rPr lang="es-MX" sz="4000" b="1" dirty="0"/>
              <a:t>Problema 4.1: (Aplicación de la sentencia while como un bucle ascendente) </a:t>
            </a:r>
            <a:br>
              <a:rPr lang="es-MX" sz="4000" b="1"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78636" y="2702877"/>
            <a:ext cx="3278211" cy="2935923"/>
          </a:xfrm>
        </p:spPr>
        <p:txBody>
          <a:bodyPr>
            <a:normAutofit/>
          </a:bodyPr>
          <a:lstStyle/>
          <a:p>
            <a:pPr marL="0" indent="0">
              <a:buNone/>
            </a:pPr>
            <a:r>
              <a:rPr lang="es-MX" sz="2000" dirty="0"/>
              <a:t>Problema 4.1: Escribir un programa que permita imprimir de manera ascendente los números del 1 al 10 utilizando un bucle while().</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pic>
        <p:nvPicPr>
          <p:cNvPr id="7" name="Imagen 6">
            <a:extLst>
              <a:ext uri="{FF2B5EF4-FFF2-40B4-BE49-F238E27FC236}">
                <a16:creationId xmlns:a16="http://schemas.microsoft.com/office/drawing/2014/main" id="{9289172D-5937-4CDE-A829-3C1C73FBF7EC}"/>
              </a:ext>
            </a:extLst>
          </p:cNvPr>
          <p:cNvPicPr>
            <a:picLocks noChangeAspect="1"/>
          </p:cNvPicPr>
          <p:nvPr/>
        </p:nvPicPr>
        <p:blipFill>
          <a:blip r:embed="rId2"/>
          <a:stretch>
            <a:fillRect/>
          </a:stretch>
        </p:blipFill>
        <p:spPr>
          <a:xfrm>
            <a:off x="4769223" y="2628788"/>
            <a:ext cx="5554125" cy="2319730"/>
          </a:xfrm>
          <a:prstGeom prst="rect">
            <a:avLst/>
          </a:prstGeom>
        </p:spPr>
      </p:pic>
    </p:spTree>
    <p:extLst>
      <p:ext uri="{BB962C8B-B14F-4D97-AF65-F5344CB8AC3E}">
        <p14:creationId xmlns:p14="http://schemas.microsoft.com/office/powerpoint/2010/main" val="1705670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877617" y="1425318"/>
            <a:ext cx="8601282" cy="902393"/>
          </a:xfrm>
        </p:spPr>
        <p:txBody>
          <a:bodyPr/>
          <a:lstStyle/>
          <a:p>
            <a:br>
              <a:rPr lang="es-MX" sz="4000" b="1" dirty="0">
                <a:solidFill>
                  <a:srgbClr val="FF0000"/>
                </a:solidFill>
              </a:rPr>
            </a:br>
            <a:r>
              <a:rPr lang="es-MX" sz="2800" b="1" dirty="0"/>
              <a:t>Problema 4.1: (Aplicación de la sentencia while como un bucle ascendente) </a:t>
            </a: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13</a:t>
            </a:fld>
            <a:endParaRPr lang="es-EC"/>
          </a:p>
        </p:txBody>
      </p:sp>
      <p:pic>
        <p:nvPicPr>
          <p:cNvPr id="10" name="Imagen 9">
            <a:extLst>
              <a:ext uri="{FF2B5EF4-FFF2-40B4-BE49-F238E27FC236}">
                <a16:creationId xmlns:a16="http://schemas.microsoft.com/office/drawing/2014/main" id="{9E2FF809-FD41-4CE1-92D4-CBF7EC0F88DF}"/>
              </a:ext>
            </a:extLst>
          </p:cNvPr>
          <p:cNvPicPr>
            <a:picLocks noChangeAspect="1"/>
          </p:cNvPicPr>
          <p:nvPr/>
        </p:nvPicPr>
        <p:blipFill>
          <a:blip r:embed="rId2"/>
          <a:stretch>
            <a:fillRect/>
          </a:stretch>
        </p:blipFill>
        <p:spPr>
          <a:xfrm>
            <a:off x="2952803" y="1709147"/>
            <a:ext cx="7240067" cy="3947583"/>
          </a:xfrm>
          <a:prstGeom prst="rect">
            <a:avLst/>
          </a:prstGeom>
        </p:spPr>
      </p:pic>
      <p:sp>
        <p:nvSpPr>
          <p:cNvPr id="11" name="CuadroTexto 10">
            <a:extLst>
              <a:ext uri="{FF2B5EF4-FFF2-40B4-BE49-F238E27FC236}">
                <a16:creationId xmlns:a16="http://schemas.microsoft.com/office/drawing/2014/main" id="{1ED85B70-4598-4B7B-B0D4-1ECA153F72C6}"/>
              </a:ext>
            </a:extLst>
          </p:cNvPr>
          <p:cNvSpPr txBox="1"/>
          <p:nvPr/>
        </p:nvSpPr>
        <p:spPr>
          <a:xfrm>
            <a:off x="2835719" y="6075145"/>
            <a:ext cx="359383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2.17</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120967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877617" y="1425318"/>
            <a:ext cx="8601282" cy="902393"/>
          </a:xfrm>
        </p:spPr>
        <p:txBody>
          <a:bodyPr/>
          <a:lstStyle/>
          <a:p>
            <a:br>
              <a:rPr lang="es-MX" sz="4000" b="1" dirty="0">
                <a:solidFill>
                  <a:srgbClr val="FF0000"/>
                </a:solidFill>
              </a:rPr>
            </a:br>
            <a:r>
              <a:rPr lang="es-MX" sz="2800" b="1" dirty="0"/>
              <a:t>Problema 4.1: (Aplicación de la sentencia while como un bucle ascendente) </a:t>
            </a: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pic>
        <p:nvPicPr>
          <p:cNvPr id="6" name="Imagen 5">
            <a:extLst>
              <a:ext uri="{FF2B5EF4-FFF2-40B4-BE49-F238E27FC236}">
                <a16:creationId xmlns:a16="http://schemas.microsoft.com/office/drawing/2014/main" id="{E451FC63-5398-4558-A19E-DE44D98B1100}"/>
              </a:ext>
            </a:extLst>
          </p:cNvPr>
          <p:cNvPicPr>
            <a:picLocks noChangeAspect="1"/>
          </p:cNvPicPr>
          <p:nvPr/>
        </p:nvPicPr>
        <p:blipFill>
          <a:blip r:embed="rId2"/>
          <a:stretch>
            <a:fillRect/>
          </a:stretch>
        </p:blipFill>
        <p:spPr>
          <a:xfrm>
            <a:off x="1482048" y="2917887"/>
            <a:ext cx="6639852" cy="1905266"/>
          </a:xfrm>
          <a:prstGeom prst="rect">
            <a:avLst/>
          </a:prstGeom>
        </p:spPr>
      </p:pic>
      <p:sp>
        <p:nvSpPr>
          <p:cNvPr id="9" name="Marcador de contenido 2">
            <a:extLst>
              <a:ext uri="{FF2B5EF4-FFF2-40B4-BE49-F238E27FC236}">
                <a16:creationId xmlns:a16="http://schemas.microsoft.com/office/drawing/2014/main" id="{7D34C92C-9D86-4134-B55A-BFE820688916}"/>
              </a:ext>
            </a:extLst>
          </p:cNvPr>
          <p:cNvSpPr>
            <a:spLocks noGrp="1"/>
          </p:cNvSpPr>
          <p:nvPr>
            <p:ph idx="1"/>
          </p:nvPr>
        </p:nvSpPr>
        <p:spPr>
          <a:xfrm>
            <a:off x="1482048" y="1600218"/>
            <a:ext cx="5277339" cy="4540605"/>
          </a:xfrm>
        </p:spPr>
        <p:txBody>
          <a:bodyPr>
            <a:normAutofit/>
          </a:bodyPr>
          <a:lstStyle/>
          <a:p>
            <a:pPr marL="0" indent="0">
              <a:buNone/>
            </a:pPr>
            <a:r>
              <a:rPr lang="es-MX" dirty="0"/>
              <a:t>En la salida de la Ejecución 4.1 se puede ver la impresión del 1 al 10 de manera creciente.</a:t>
            </a:r>
            <a:endParaRPr lang="es-EC" sz="3200" b="1" dirty="0"/>
          </a:p>
        </p:txBody>
      </p:sp>
      <p:sp>
        <p:nvSpPr>
          <p:cNvPr id="12" name="CuadroTexto 11">
            <a:extLst>
              <a:ext uri="{FF2B5EF4-FFF2-40B4-BE49-F238E27FC236}">
                <a16:creationId xmlns:a16="http://schemas.microsoft.com/office/drawing/2014/main" id="{BB5CE587-D346-44BC-B9C1-F4AA59B33280}"/>
              </a:ext>
            </a:extLst>
          </p:cNvPr>
          <p:cNvSpPr txBox="1"/>
          <p:nvPr/>
        </p:nvSpPr>
        <p:spPr>
          <a:xfrm>
            <a:off x="1482048" y="499805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4.1</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554405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877617" y="1425318"/>
            <a:ext cx="8601282" cy="902393"/>
          </a:xfrm>
        </p:spPr>
        <p:txBody>
          <a:bodyPr/>
          <a:lstStyle/>
          <a:p>
            <a:br>
              <a:rPr lang="es-MX" sz="4000" b="1" dirty="0">
                <a:solidFill>
                  <a:srgbClr val="FF0000"/>
                </a:solidFill>
              </a:rPr>
            </a:br>
            <a:r>
              <a:rPr lang="es-MX" sz="2800" b="1" dirty="0"/>
              <a:t>Problema 4.1: (Aplicación de la sentencia while como un bucle ascendente) </a:t>
            </a: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sp>
        <p:nvSpPr>
          <p:cNvPr id="9" name="Marcador de contenido 2">
            <a:extLst>
              <a:ext uri="{FF2B5EF4-FFF2-40B4-BE49-F238E27FC236}">
                <a16:creationId xmlns:a16="http://schemas.microsoft.com/office/drawing/2014/main" id="{7D34C92C-9D86-4134-B55A-BFE820688916}"/>
              </a:ext>
            </a:extLst>
          </p:cNvPr>
          <p:cNvSpPr>
            <a:spLocks noGrp="1"/>
          </p:cNvSpPr>
          <p:nvPr>
            <p:ph idx="1"/>
          </p:nvPr>
        </p:nvSpPr>
        <p:spPr>
          <a:xfrm>
            <a:off x="1482048" y="1600219"/>
            <a:ext cx="4032553" cy="3509664"/>
          </a:xfrm>
        </p:spPr>
        <p:txBody>
          <a:bodyPr>
            <a:normAutofit/>
          </a:bodyPr>
          <a:lstStyle/>
          <a:p>
            <a:pPr marL="0" indent="0">
              <a:buNone/>
            </a:pPr>
            <a:r>
              <a:rPr lang="es-MX" sz="2400" dirty="0"/>
              <a:t>En la Tabla 4.1 se puede ver la prueba de escritorio del programa, donde se puede ver que en cada iteración del bucle el contador se incrementa en uno, mientras la condición del bucle sea verdadera. </a:t>
            </a:r>
            <a:endParaRPr lang="es-EC" sz="3200" b="1" dirty="0"/>
          </a:p>
        </p:txBody>
      </p:sp>
      <p:pic>
        <p:nvPicPr>
          <p:cNvPr id="7" name="Imagen 6">
            <a:extLst>
              <a:ext uri="{FF2B5EF4-FFF2-40B4-BE49-F238E27FC236}">
                <a16:creationId xmlns:a16="http://schemas.microsoft.com/office/drawing/2014/main" id="{2683E2F8-35F1-4C94-9D80-4B425EDDFC5D}"/>
              </a:ext>
            </a:extLst>
          </p:cNvPr>
          <p:cNvPicPr>
            <a:picLocks noChangeAspect="1"/>
          </p:cNvPicPr>
          <p:nvPr/>
        </p:nvPicPr>
        <p:blipFill>
          <a:blip r:embed="rId2"/>
          <a:stretch>
            <a:fillRect/>
          </a:stretch>
        </p:blipFill>
        <p:spPr>
          <a:xfrm>
            <a:off x="5910170" y="1936777"/>
            <a:ext cx="4032552" cy="1209844"/>
          </a:xfrm>
          <a:prstGeom prst="rect">
            <a:avLst/>
          </a:prstGeom>
        </p:spPr>
      </p:pic>
      <p:pic>
        <p:nvPicPr>
          <p:cNvPr id="10" name="Imagen 9">
            <a:extLst>
              <a:ext uri="{FF2B5EF4-FFF2-40B4-BE49-F238E27FC236}">
                <a16:creationId xmlns:a16="http://schemas.microsoft.com/office/drawing/2014/main" id="{DF879BBD-465A-47A3-B03D-C07D025D6CDA}"/>
              </a:ext>
            </a:extLst>
          </p:cNvPr>
          <p:cNvPicPr>
            <a:picLocks noChangeAspect="1"/>
          </p:cNvPicPr>
          <p:nvPr/>
        </p:nvPicPr>
        <p:blipFill>
          <a:blip r:embed="rId3"/>
          <a:stretch>
            <a:fillRect/>
          </a:stretch>
        </p:blipFill>
        <p:spPr>
          <a:xfrm>
            <a:off x="5824003" y="3067104"/>
            <a:ext cx="4324954" cy="1848108"/>
          </a:xfrm>
          <a:prstGeom prst="rect">
            <a:avLst/>
          </a:prstGeom>
        </p:spPr>
      </p:pic>
    </p:spTree>
    <p:extLst>
      <p:ext uri="{BB962C8B-B14F-4D97-AF65-F5344CB8AC3E}">
        <p14:creationId xmlns:p14="http://schemas.microsoft.com/office/powerpoint/2010/main" val="1024997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2800" dirty="0"/>
              <a:t>Introducción </a:t>
            </a:r>
          </a:p>
          <a:p>
            <a:pPr lvl="1"/>
            <a:r>
              <a:rPr lang="es-MX" sz="2800" dirty="0"/>
              <a:t>Objetivos </a:t>
            </a:r>
          </a:p>
          <a:p>
            <a:pPr lvl="1"/>
            <a:r>
              <a:rPr lang="es-MX" sz="2800" dirty="0"/>
              <a:t>Estructuras de Control Repetitivas o Bucles </a:t>
            </a:r>
          </a:p>
          <a:p>
            <a:pPr lvl="1"/>
            <a:r>
              <a:rPr lang="es-MX" sz="2800" dirty="0"/>
              <a:t>La sentencia while </a:t>
            </a:r>
          </a:p>
          <a:p>
            <a:pPr lvl="1"/>
            <a:r>
              <a:rPr lang="es-MX" sz="2800" dirty="0"/>
              <a:t>Problema 4.1: (Aplicación de la sentencia while como un bucle ascendente) </a:t>
            </a:r>
          </a:p>
          <a:p>
            <a:pPr lvl="1"/>
            <a:r>
              <a:rPr lang="es-MX" sz="3400" b="1" dirty="0">
                <a:solidFill>
                  <a:srgbClr val="FF0000"/>
                </a:solidFill>
              </a:rPr>
              <a:t>Problema 4.2: (Aplicación de la sentencia while como un bucle descendente) </a:t>
            </a:r>
          </a:p>
          <a:p>
            <a:pPr lvl="1"/>
            <a:r>
              <a:rPr lang="es-MX" sz="2800" dirty="0"/>
              <a:t>Caso de Estudio 4.1: Sumatoria y Promedio de un Grupo de Notas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16</a:t>
            </a:fld>
            <a:endParaRPr lang="es-EC">
              <a:solidFill>
                <a:prstClr val="black">
                  <a:lumMod val="65000"/>
                  <a:lumOff val="35000"/>
                </a:prstClr>
              </a:solidFill>
            </a:endParaRPr>
          </a:p>
        </p:txBody>
      </p:sp>
    </p:spTree>
    <p:extLst>
      <p:ext uri="{BB962C8B-B14F-4D97-AF65-F5344CB8AC3E}">
        <p14:creationId xmlns:p14="http://schemas.microsoft.com/office/powerpoint/2010/main" val="3363503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877617" y="1425318"/>
            <a:ext cx="8601282" cy="902393"/>
          </a:xfrm>
        </p:spPr>
        <p:txBody>
          <a:bodyPr/>
          <a:lstStyle/>
          <a:p>
            <a:br>
              <a:rPr lang="es-MX" sz="4000" b="1" dirty="0">
                <a:solidFill>
                  <a:srgbClr val="FF0000"/>
                </a:solidFill>
              </a:rPr>
            </a:br>
            <a:r>
              <a:rPr lang="es-MX" sz="2800" b="1" dirty="0"/>
              <a:t>Problema 4.2: (Aplicación de la sentencia while como un bucle descendente) </a:t>
            </a: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17</a:t>
            </a:fld>
            <a:endParaRPr lang="es-EC"/>
          </a:p>
        </p:txBody>
      </p:sp>
      <p:sp>
        <p:nvSpPr>
          <p:cNvPr id="9" name="Marcador de contenido 2">
            <a:extLst>
              <a:ext uri="{FF2B5EF4-FFF2-40B4-BE49-F238E27FC236}">
                <a16:creationId xmlns:a16="http://schemas.microsoft.com/office/drawing/2014/main" id="{7D34C92C-9D86-4134-B55A-BFE820688916}"/>
              </a:ext>
            </a:extLst>
          </p:cNvPr>
          <p:cNvSpPr>
            <a:spLocks noGrp="1"/>
          </p:cNvSpPr>
          <p:nvPr>
            <p:ph idx="1"/>
          </p:nvPr>
        </p:nvSpPr>
        <p:spPr>
          <a:xfrm>
            <a:off x="1482048" y="1600219"/>
            <a:ext cx="4032553" cy="3509664"/>
          </a:xfrm>
        </p:spPr>
        <p:txBody>
          <a:bodyPr>
            <a:normAutofit/>
          </a:bodyPr>
          <a:lstStyle/>
          <a:p>
            <a:pPr marL="0" indent="0">
              <a:buNone/>
            </a:pPr>
            <a:r>
              <a:rPr lang="es-MX" sz="2400" dirty="0"/>
              <a:t>Problema 4.2: Escribir un programa que permita imprimir de manera descendente los números del 10 al 1 utilizando un bucle while()</a:t>
            </a:r>
            <a:endParaRPr lang="es-EC" sz="3200" b="1" dirty="0"/>
          </a:p>
        </p:txBody>
      </p:sp>
      <p:pic>
        <p:nvPicPr>
          <p:cNvPr id="6" name="Imagen 5">
            <a:extLst>
              <a:ext uri="{FF2B5EF4-FFF2-40B4-BE49-F238E27FC236}">
                <a16:creationId xmlns:a16="http://schemas.microsoft.com/office/drawing/2014/main" id="{2F13A766-D4FC-4066-8CD5-D833FA00FE08}"/>
              </a:ext>
            </a:extLst>
          </p:cNvPr>
          <p:cNvPicPr>
            <a:picLocks noChangeAspect="1"/>
          </p:cNvPicPr>
          <p:nvPr/>
        </p:nvPicPr>
        <p:blipFill>
          <a:blip r:embed="rId2"/>
          <a:stretch>
            <a:fillRect/>
          </a:stretch>
        </p:blipFill>
        <p:spPr>
          <a:xfrm>
            <a:off x="1482048" y="3952486"/>
            <a:ext cx="7030431" cy="1552792"/>
          </a:xfrm>
          <a:prstGeom prst="rect">
            <a:avLst/>
          </a:prstGeom>
        </p:spPr>
      </p:pic>
    </p:spTree>
    <p:extLst>
      <p:ext uri="{BB962C8B-B14F-4D97-AF65-F5344CB8AC3E}">
        <p14:creationId xmlns:p14="http://schemas.microsoft.com/office/powerpoint/2010/main" val="3326590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877617" y="1425318"/>
            <a:ext cx="8601282" cy="902393"/>
          </a:xfrm>
        </p:spPr>
        <p:txBody>
          <a:bodyPr/>
          <a:lstStyle/>
          <a:p>
            <a:br>
              <a:rPr lang="es-MX" sz="4000" b="1" dirty="0">
                <a:solidFill>
                  <a:srgbClr val="FF0000"/>
                </a:solidFill>
              </a:rPr>
            </a:br>
            <a:r>
              <a:rPr lang="es-MX" sz="2800" b="1" dirty="0"/>
              <a:t>Problema 4.2: (Aplicación de la sentencia while como un bucle descendente) </a:t>
            </a: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18</a:t>
            </a:fld>
            <a:endParaRPr lang="es-EC"/>
          </a:p>
        </p:txBody>
      </p:sp>
      <p:pic>
        <p:nvPicPr>
          <p:cNvPr id="10" name="Imagen 9">
            <a:extLst>
              <a:ext uri="{FF2B5EF4-FFF2-40B4-BE49-F238E27FC236}">
                <a16:creationId xmlns:a16="http://schemas.microsoft.com/office/drawing/2014/main" id="{7D8FD2E8-16A9-44C7-B27E-4D0E9FE41368}"/>
              </a:ext>
            </a:extLst>
          </p:cNvPr>
          <p:cNvPicPr>
            <a:picLocks noChangeAspect="1"/>
          </p:cNvPicPr>
          <p:nvPr/>
        </p:nvPicPr>
        <p:blipFill>
          <a:blip r:embed="rId2"/>
          <a:stretch>
            <a:fillRect/>
          </a:stretch>
        </p:blipFill>
        <p:spPr>
          <a:xfrm>
            <a:off x="3639213" y="1608190"/>
            <a:ext cx="5078090" cy="4631664"/>
          </a:xfrm>
          <a:prstGeom prst="rect">
            <a:avLst/>
          </a:prstGeom>
        </p:spPr>
      </p:pic>
      <p:sp>
        <p:nvSpPr>
          <p:cNvPr id="11" name="CuadroTexto 10">
            <a:extLst>
              <a:ext uri="{FF2B5EF4-FFF2-40B4-BE49-F238E27FC236}">
                <a16:creationId xmlns:a16="http://schemas.microsoft.com/office/drawing/2014/main" id="{0C973559-82F3-452A-BE86-2674C9AB85F8}"/>
              </a:ext>
            </a:extLst>
          </p:cNvPr>
          <p:cNvSpPr txBox="1"/>
          <p:nvPr/>
        </p:nvSpPr>
        <p:spPr>
          <a:xfrm>
            <a:off x="4009832" y="6215747"/>
            <a:ext cx="359383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4.2</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609483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877617" y="1425318"/>
            <a:ext cx="8601282" cy="902393"/>
          </a:xfrm>
        </p:spPr>
        <p:txBody>
          <a:bodyPr/>
          <a:lstStyle/>
          <a:p>
            <a:br>
              <a:rPr lang="es-MX" sz="4000" b="1" dirty="0">
                <a:solidFill>
                  <a:srgbClr val="FF0000"/>
                </a:solidFill>
              </a:rPr>
            </a:br>
            <a:r>
              <a:rPr lang="es-MX" sz="2800" b="1" dirty="0"/>
              <a:t>Problema 4.2: (Aplicación de la sentencia while como un bucle descendente) </a:t>
            </a: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19</a:t>
            </a:fld>
            <a:endParaRPr lang="es-EC"/>
          </a:p>
        </p:txBody>
      </p:sp>
      <p:sp>
        <p:nvSpPr>
          <p:cNvPr id="7" name="CuadroTexto 6">
            <a:extLst>
              <a:ext uri="{FF2B5EF4-FFF2-40B4-BE49-F238E27FC236}">
                <a16:creationId xmlns:a16="http://schemas.microsoft.com/office/drawing/2014/main" id="{0F4A22ED-4CB3-4C74-A74B-92D93FAE55FD}"/>
              </a:ext>
            </a:extLst>
          </p:cNvPr>
          <p:cNvSpPr txBox="1"/>
          <p:nvPr/>
        </p:nvSpPr>
        <p:spPr>
          <a:xfrm>
            <a:off x="1482049" y="571002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4.2</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1482049" y="1600219"/>
            <a:ext cx="3753340" cy="2093240"/>
          </a:xfrm>
        </p:spPr>
        <p:txBody>
          <a:bodyPr>
            <a:normAutofit/>
          </a:bodyPr>
          <a:lstStyle/>
          <a:p>
            <a:pPr marL="0" indent="0">
              <a:buNone/>
            </a:pPr>
            <a:r>
              <a:rPr lang="es-MX" sz="2400" dirty="0"/>
              <a:t>En la salida de la Ejecución 4.2 se puede ver la impresión del 10 al 1 de manera decreciente</a:t>
            </a:r>
            <a:endParaRPr lang="es-EC" sz="3200" b="1" dirty="0"/>
          </a:p>
        </p:txBody>
      </p:sp>
      <p:pic>
        <p:nvPicPr>
          <p:cNvPr id="6" name="Imagen 5">
            <a:extLst>
              <a:ext uri="{FF2B5EF4-FFF2-40B4-BE49-F238E27FC236}">
                <a16:creationId xmlns:a16="http://schemas.microsoft.com/office/drawing/2014/main" id="{16613FB1-B4F0-41A1-A3CE-BBE7BF792BAA}"/>
              </a:ext>
            </a:extLst>
          </p:cNvPr>
          <p:cNvPicPr>
            <a:picLocks noChangeAspect="1"/>
          </p:cNvPicPr>
          <p:nvPr/>
        </p:nvPicPr>
        <p:blipFill>
          <a:blip r:embed="rId2"/>
          <a:stretch>
            <a:fillRect/>
          </a:stretch>
        </p:blipFill>
        <p:spPr>
          <a:xfrm>
            <a:off x="1482049" y="3558604"/>
            <a:ext cx="6592220" cy="1943371"/>
          </a:xfrm>
          <a:prstGeom prst="rect">
            <a:avLst/>
          </a:prstGeom>
        </p:spPr>
      </p:pic>
    </p:spTree>
    <p:extLst>
      <p:ext uri="{BB962C8B-B14F-4D97-AF65-F5344CB8AC3E}">
        <p14:creationId xmlns:p14="http://schemas.microsoft.com/office/powerpoint/2010/main" val="1622147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877617" y="1425318"/>
            <a:ext cx="8601282" cy="902393"/>
          </a:xfrm>
        </p:spPr>
        <p:txBody>
          <a:bodyPr/>
          <a:lstStyle/>
          <a:p>
            <a:br>
              <a:rPr lang="es-MX" sz="4000" b="1" dirty="0">
                <a:solidFill>
                  <a:srgbClr val="FF0000"/>
                </a:solidFill>
              </a:rPr>
            </a:br>
            <a:r>
              <a:rPr lang="es-MX" sz="2800" b="1" dirty="0"/>
              <a:t>Problema 4.2: (Aplicación de la sentencia while como un bucle descendente) </a:t>
            </a: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20</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1383437" y="2327711"/>
            <a:ext cx="3753340" cy="2093240"/>
          </a:xfrm>
        </p:spPr>
        <p:txBody>
          <a:bodyPr>
            <a:normAutofit fontScale="85000" lnSpcReduction="20000"/>
          </a:bodyPr>
          <a:lstStyle/>
          <a:p>
            <a:pPr marL="0" indent="0" algn="just">
              <a:buNone/>
            </a:pPr>
            <a:r>
              <a:rPr lang="es-MX" sz="2400" dirty="0"/>
              <a:t>En la Tabla 4.2 se puede ver la prueba de escritorio del programa, donde se puede ver que en cada iteración del bucle el contador se decrementa en uno, mientras la condición del bucle sea verdadera.</a:t>
            </a:r>
            <a:endParaRPr lang="es-EC" sz="3200" b="1" dirty="0"/>
          </a:p>
        </p:txBody>
      </p:sp>
      <p:pic>
        <p:nvPicPr>
          <p:cNvPr id="11" name="Imagen 10">
            <a:extLst>
              <a:ext uri="{FF2B5EF4-FFF2-40B4-BE49-F238E27FC236}">
                <a16:creationId xmlns:a16="http://schemas.microsoft.com/office/drawing/2014/main" id="{6C0412CF-6BCA-4789-BF77-2ED1BB82288A}"/>
              </a:ext>
            </a:extLst>
          </p:cNvPr>
          <p:cNvPicPr>
            <a:picLocks noChangeAspect="1"/>
          </p:cNvPicPr>
          <p:nvPr/>
        </p:nvPicPr>
        <p:blipFill>
          <a:blip r:embed="rId2"/>
          <a:stretch>
            <a:fillRect/>
          </a:stretch>
        </p:blipFill>
        <p:spPr>
          <a:xfrm>
            <a:off x="5314941" y="1815286"/>
            <a:ext cx="4143953" cy="2715004"/>
          </a:xfrm>
          <a:prstGeom prst="rect">
            <a:avLst/>
          </a:prstGeom>
        </p:spPr>
      </p:pic>
    </p:spTree>
    <p:extLst>
      <p:ext uri="{BB962C8B-B14F-4D97-AF65-F5344CB8AC3E}">
        <p14:creationId xmlns:p14="http://schemas.microsoft.com/office/powerpoint/2010/main" val="1281408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fontScale="92500" lnSpcReduction="10000"/>
          </a:bodyPr>
          <a:lstStyle/>
          <a:p>
            <a:pPr lvl="1"/>
            <a:r>
              <a:rPr lang="es-MX" sz="2800" dirty="0"/>
              <a:t>Introducción </a:t>
            </a:r>
          </a:p>
          <a:p>
            <a:pPr lvl="1"/>
            <a:r>
              <a:rPr lang="es-MX" sz="2800" dirty="0"/>
              <a:t>Objetivos </a:t>
            </a:r>
          </a:p>
          <a:p>
            <a:pPr lvl="1"/>
            <a:r>
              <a:rPr lang="es-MX" sz="2800" dirty="0"/>
              <a:t>Estructuras de Control Repetitivas o Bucles </a:t>
            </a:r>
          </a:p>
          <a:p>
            <a:pPr lvl="1"/>
            <a:r>
              <a:rPr lang="es-MX" sz="2800" dirty="0"/>
              <a:t>La sentencia while </a:t>
            </a:r>
          </a:p>
          <a:p>
            <a:pPr lvl="1"/>
            <a:r>
              <a:rPr lang="es-MX" sz="2800" dirty="0"/>
              <a:t>Problema 4.1: (Aplicación de la sentencia while como un bucle ascendente) </a:t>
            </a:r>
          </a:p>
          <a:p>
            <a:pPr lvl="1"/>
            <a:r>
              <a:rPr lang="es-MX" sz="2800" dirty="0"/>
              <a:t>Problema 4.2: (Aplicación de la sentencia while como un bucle descendente) </a:t>
            </a:r>
          </a:p>
          <a:p>
            <a:pPr lvl="1"/>
            <a:r>
              <a:rPr lang="es-MX" sz="3400" b="1" dirty="0">
                <a:solidFill>
                  <a:srgbClr val="FF0000"/>
                </a:solidFill>
              </a:rPr>
              <a:t>Caso de Estudio 4.1: Sumatoria y Promedio de un Grupo de Notas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21</a:t>
            </a:fld>
            <a:endParaRPr lang="es-EC">
              <a:solidFill>
                <a:prstClr val="black">
                  <a:lumMod val="65000"/>
                  <a:lumOff val="35000"/>
                </a:prstClr>
              </a:solidFill>
            </a:endParaRPr>
          </a:p>
        </p:txBody>
      </p:sp>
    </p:spTree>
    <p:extLst>
      <p:ext uri="{BB962C8B-B14F-4D97-AF65-F5344CB8AC3E}">
        <p14:creationId xmlns:p14="http://schemas.microsoft.com/office/powerpoint/2010/main" val="1630665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904511" y="2761060"/>
            <a:ext cx="8601282" cy="902393"/>
          </a:xfrm>
        </p:spPr>
        <p:txBody>
          <a:bodyPr/>
          <a:lstStyle/>
          <a:p>
            <a:r>
              <a:rPr lang="es-MX" b="1" dirty="0"/>
              <a:t>Caso de Estudio 4.1: Sumatoria y Promedio de un Grupo de Notas </a:t>
            </a:r>
            <a:br>
              <a:rPr lang="es-MX" sz="2800" b="1" dirty="0">
                <a:solidFill>
                  <a:srgbClr val="FF0000"/>
                </a:solidFill>
              </a:rPr>
            </a:b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22</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1392402" y="2587686"/>
            <a:ext cx="3753340" cy="2952501"/>
          </a:xfrm>
        </p:spPr>
        <p:txBody>
          <a:bodyPr>
            <a:normAutofit/>
          </a:bodyPr>
          <a:lstStyle/>
          <a:p>
            <a:pPr marL="457200" indent="-457200">
              <a:buAutoNum type="alphaUcParenR"/>
            </a:pPr>
            <a:r>
              <a:rPr lang="es-MX" sz="2400" dirty="0"/>
              <a:t>Problema</a:t>
            </a:r>
          </a:p>
          <a:p>
            <a:pPr marL="0" indent="0" algn="just">
              <a:buNone/>
            </a:pPr>
            <a:r>
              <a:rPr lang="es-MX" sz="2400" dirty="0"/>
              <a:t>Escribir un programa que permita calcular la sumatoria y el promedio de un grupo de notas leídas desde el teclado.</a:t>
            </a:r>
            <a:endParaRPr lang="es-EC" sz="3200" b="1" dirty="0"/>
          </a:p>
        </p:txBody>
      </p:sp>
    </p:spTree>
    <p:extLst>
      <p:ext uri="{BB962C8B-B14F-4D97-AF65-F5344CB8AC3E}">
        <p14:creationId xmlns:p14="http://schemas.microsoft.com/office/powerpoint/2010/main" val="555853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904511" y="2761060"/>
            <a:ext cx="8601282" cy="902393"/>
          </a:xfrm>
        </p:spPr>
        <p:txBody>
          <a:bodyPr/>
          <a:lstStyle/>
          <a:p>
            <a:r>
              <a:rPr lang="es-MX" b="1" dirty="0"/>
              <a:t>Caso de Estudio 4.1: Sumatoria y Promedio de un Grupo de Notas </a:t>
            </a:r>
            <a:br>
              <a:rPr lang="es-MX" sz="2800" b="1" dirty="0">
                <a:solidFill>
                  <a:srgbClr val="FF0000"/>
                </a:solidFill>
              </a:rPr>
            </a:b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23</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1392402" y="2587686"/>
            <a:ext cx="9015622" cy="3382808"/>
          </a:xfrm>
        </p:spPr>
        <p:txBody>
          <a:bodyPr>
            <a:normAutofit fontScale="92500" lnSpcReduction="20000"/>
          </a:bodyPr>
          <a:lstStyle/>
          <a:p>
            <a:pPr marL="0" indent="0">
              <a:buNone/>
            </a:pPr>
            <a:r>
              <a:rPr lang="es-MX" sz="2400" dirty="0"/>
              <a:t>B) Análisis</a:t>
            </a:r>
          </a:p>
          <a:p>
            <a:pPr marL="0" indent="0">
              <a:buNone/>
            </a:pPr>
            <a:endParaRPr lang="es-MX" sz="2400" dirty="0"/>
          </a:p>
          <a:p>
            <a:pPr marL="0" indent="0">
              <a:buNone/>
            </a:pPr>
            <a:r>
              <a:rPr lang="es-MX" sz="2400" dirty="0"/>
              <a:t>Claramente se puede ver que las entradas del problema son el número de notas representada por la variable ‘n’ y el valor de una nota representada por la variable ‘nota’. Hay dos salidas requeridas que son la sumatoria de un grupo de notas representada por la variable ‘sum’ y el promedio de un grupo de notas representada por la variable ‘</a:t>
            </a:r>
            <a:r>
              <a:rPr lang="es-MX" sz="2400" dirty="0" err="1"/>
              <a:t>prom</a:t>
            </a:r>
            <a:r>
              <a:rPr lang="es-MX" sz="2400" dirty="0"/>
              <a:t>’. Se requiere un dato auxiliar que es el contador del bucle representado por la variable ‘i’. El requerimiento de los datos y las fórmulas requeridas se muestran a continuación.</a:t>
            </a:r>
            <a:endParaRPr lang="es-EC" sz="3200" b="1" dirty="0"/>
          </a:p>
        </p:txBody>
      </p:sp>
    </p:spTree>
    <p:extLst>
      <p:ext uri="{BB962C8B-B14F-4D97-AF65-F5344CB8AC3E}">
        <p14:creationId xmlns:p14="http://schemas.microsoft.com/office/powerpoint/2010/main" val="3099397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904511" y="2761060"/>
            <a:ext cx="8601282" cy="902393"/>
          </a:xfrm>
        </p:spPr>
        <p:txBody>
          <a:bodyPr/>
          <a:lstStyle/>
          <a:p>
            <a:r>
              <a:rPr lang="es-MX" b="1" dirty="0"/>
              <a:t>Caso de Estudio 4.1: Sumatoria y Promedio de un Grupo de Notas </a:t>
            </a:r>
            <a:br>
              <a:rPr lang="es-MX" sz="2800" b="1" dirty="0">
                <a:solidFill>
                  <a:srgbClr val="FF0000"/>
                </a:solidFill>
              </a:rPr>
            </a:b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24</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1392402" y="2587686"/>
            <a:ext cx="9015622" cy="3382808"/>
          </a:xfrm>
        </p:spPr>
        <p:txBody>
          <a:bodyPr>
            <a:normAutofit/>
          </a:bodyPr>
          <a:lstStyle/>
          <a:p>
            <a:pPr marL="0" indent="0">
              <a:buNone/>
            </a:pPr>
            <a:r>
              <a:rPr lang="es-MX" sz="2400" dirty="0"/>
              <a:t>B.1) Requerimiento de los Datos</a:t>
            </a:r>
            <a:endParaRPr lang="es-EC" sz="3200" b="1" dirty="0"/>
          </a:p>
        </p:txBody>
      </p:sp>
      <p:pic>
        <p:nvPicPr>
          <p:cNvPr id="6" name="Imagen 5">
            <a:extLst>
              <a:ext uri="{FF2B5EF4-FFF2-40B4-BE49-F238E27FC236}">
                <a16:creationId xmlns:a16="http://schemas.microsoft.com/office/drawing/2014/main" id="{C1D036D8-2484-4AA2-916C-12036B7F3F37}"/>
              </a:ext>
            </a:extLst>
          </p:cNvPr>
          <p:cNvPicPr>
            <a:picLocks noChangeAspect="1"/>
          </p:cNvPicPr>
          <p:nvPr/>
        </p:nvPicPr>
        <p:blipFill>
          <a:blip r:embed="rId2"/>
          <a:stretch>
            <a:fillRect/>
          </a:stretch>
        </p:blipFill>
        <p:spPr>
          <a:xfrm>
            <a:off x="2176213" y="3063366"/>
            <a:ext cx="6571811" cy="3382809"/>
          </a:xfrm>
          <a:prstGeom prst="rect">
            <a:avLst/>
          </a:prstGeom>
        </p:spPr>
      </p:pic>
    </p:spTree>
    <p:extLst>
      <p:ext uri="{BB962C8B-B14F-4D97-AF65-F5344CB8AC3E}">
        <p14:creationId xmlns:p14="http://schemas.microsoft.com/office/powerpoint/2010/main" val="3432663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904511" y="2761060"/>
            <a:ext cx="8601282" cy="902393"/>
          </a:xfrm>
        </p:spPr>
        <p:txBody>
          <a:bodyPr/>
          <a:lstStyle/>
          <a:p>
            <a:r>
              <a:rPr lang="es-MX" b="1" dirty="0"/>
              <a:t>Caso de Estudio 4.1: Sumatoria y Promedio de un Grupo de Notas </a:t>
            </a:r>
            <a:br>
              <a:rPr lang="es-MX" sz="2800" b="1" dirty="0">
                <a:solidFill>
                  <a:srgbClr val="FF0000"/>
                </a:solidFill>
              </a:rPr>
            </a:b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25</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1392402" y="2587685"/>
            <a:ext cx="5457585" cy="3517279"/>
          </a:xfrm>
        </p:spPr>
        <p:txBody>
          <a:bodyPr>
            <a:normAutofit lnSpcReduction="10000"/>
          </a:bodyPr>
          <a:lstStyle/>
          <a:p>
            <a:pPr marL="0" indent="0">
              <a:buNone/>
            </a:pPr>
            <a:r>
              <a:rPr lang="es-MX" sz="2400" dirty="0"/>
              <a:t>B.2) Diagrama de Entrada-Salida </a:t>
            </a:r>
          </a:p>
          <a:p>
            <a:pPr marL="0" indent="0">
              <a:buNone/>
            </a:pPr>
            <a:r>
              <a:rPr lang="es-MX" sz="2400" dirty="0"/>
              <a:t>En la Figura 4.1.1 se muestra el diagrama de Entrada-Salida del programa donde se identifican y se diagraman las entradas, salidas y auxiliares del problema como son: a) Entradas: la variable ‘n’; la variable ‘nota’; b) Salidas: la variable ‘sum’; la variable ‘</a:t>
            </a:r>
            <a:r>
              <a:rPr lang="es-MX" sz="2400" dirty="0" err="1"/>
              <a:t>prom</a:t>
            </a:r>
            <a:r>
              <a:rPr lang="es-MX" sz="2400" dirty="0"/>
              <a:t>’; c) Auxiliares: el contador ‘i’. </a:t>
            </a:r>
            <a:endParaRPr lang="es-EC" sz="3200" b="1" dirty="0"/>
          </a:p>
        </p:txBody>
      </p:sp>
      <p:pic>
        <p:nvPicPr>
          <p:cNvPr id="7" name="Imagen 6">
            <a:extLst>
              <a:ext uri="{FF2B5EF4-FFF2-40B4-BE49-F238E27FC236}">
                <a16:creationId xmlns:a16="http://schemas.microsoft.com/office/drawing/2014/main" id="{FB7D0AEE-4B22-43A3-B01C-3414AD59DAEA}"/>
              </a:ext>
            </a:extLst>
          </p:cNvPr>
          <p:cNvPicPr>
            <a:picLocks noChangeAspect="1"/>
          </p:cNvPicPr>
          <p:nvPr/>
        </p:nvPicPr>
        <p:blipFill>
          <a:blip r:embed="rId2"/>
          <a:stretch>
            <a:fillRect/>
          </a:stretch>
        </p:blipFill>
        <p:spPr>
          <a:xfrm>
            <a:off x="6401697" y="2468874"/>
            <a:ext cx="3655806" cy="1920252"/>
          </a:xfrm>
          <a:prstGeom prst="rect">
            <a:avLst/>
          </a:prstGeom>
        </p:spPr>
      </p:pic>
      <p:sp>
        <p:nvSpPr>
          <p:cNvPr id="9" name="CuadroTexto 8">
            <a:extLst>
              <a:ext uri="{FF2B5EF4-FFF2-40B4-BE49-F238E27FC236}">
                <a16:creationId xmlns:a16="http://schemas.microsoft.com/office/drawing/2014/main" id="{68C1B508-5954-4CC7-9BB3-F182D2391B43}"/>
              </a:ext>
            </a:extLst>
          </p:cNvPr>
          <p:cNvSpPr txBox="1"/>
          <p:nvPr/>
        </p:nvSpPr>
        <p:spPr>
          <a:xfrm>
            <a:off x="6849987" y="4719911"/>
            <a:ext cx="2513679" cy="1015663"/>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4.4.1</a:t>
            </a:r>
            <a:r>
              <a:rPr lang="es-ES" sz="1200" dirty="0">
                <a:solidFill>
                  <a:schemeClr val="tx1">
                    <a:lumMod val="50000"/>
                    <a:lumOff val="50000"/>
                  </a:schemeClr>
                </a:solidFill>
                <a:latin typeface="+mj-lt"/>
              </a:rPr>
              <a:t> </a:t>
            </a:r>
            <a:r>
              <a:rPr lang="es-EC" sz="1200" dirty="0">
                <a:solidFill>
                  <a:schemeClr val="tx1">
                    <a:lumMod val="50000"/>
                    <a:lumOff val="50000"/>
                  </a:schemeClr>
                </a:solidFill>
                <a:latin typeface="+mj-lt"/>
              </a:rPr>
              <a:t>Diagrama de Entrada-Salida del Programa.</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820529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904511" y="2761060"/>
            <a:ext cx="8601282" cy="902393"/>
          </a:xfrm>
        </p:spPr>
        <p:txBody>
          <a:bodyPr/>
          <a:lstStyle/>
          <a:p>
            <a:r>
              <a:rPr lang="es-MX" sz="4000" b="1" dirty="0"/>
              <a:t>Caso de Estudio 4.1: Sumatoria y Promedio de un Grupo de Notas </a:t>
            </a:r>
            <a:br>
              <a:rPr lang="es-MX" sz="2800" b="1" dirty="0">
                <a:solidFill>
                  <a:srgbClr val="FF0000"/>
                </a:solidFill>
              </a:rPr>
            </a:b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26</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1392403" y="2587686"/>
            <a:ext cx="2740326" cy="2145679"/>
          </a:xfrm>
        </p:spPr>
        <p:txBody>
          <a:bodyPr>
            <a:normAutofit/>
          </a:bodyPr>
          <a:lstStyle/>
          <a:p>
            <a:pPr marL="0" indent="0">
              <a:buNone/>
            </a:pPr>
            <a:r>
              <a:rPr lang="es-MX" sz="1600" dirty="0"/>
              <a:t>C) Diseño </a:t>
            </a:r>
          </a:p>
          <a:p>
            <a:pPr marL="0" indent="0">
              <a:buNone/>
            </a:pPr>
            <a:r>
              <a:rPr lang="es-MX" sz="1600" dirty="0"/>
              <a:t>Una vez que se conocen las entradas, las auxiliares y las salidas del problema, se deben listar los pasos necesarios para resolver el problema, es decir, el algoritmo.</a:t>
            </a:r>
            <a:endParaRPr lang="es-EC" sz="2000" b="1" dirty="0"/>
          </a:p>
        </p:txBody>
      </p:sp>
      <p:pic>
        <p:nvPicPr>
          <p:cNvPr id="6" name="Imagen 5">
            <a:extLst>
              <a:ext uri="{FF2B5EF4-FFF2-40B4-BE49-F238E27FC236}">
                <a16:creationId xmlns:a16="http://schemas.microsoft.com/office/drawing/2014/main" id="{0AD52C99-0A42-4E9D-895C-A70C404D3D0A}"/>
              </a:ext>
            </a:extLst>
          </p:cNvPr>
          <p:cNvPicPr>
            <a:picLocks noChangeAspect="1"/>
          </p:cNvPicPr>
          <p:nvPr/>
        </p:nvPicPr>
        <p:blipFill>
          <a:blip r:embed="rId2"/>
          <a:stretch>
            <a:fillRect/>
          </a:stretch>
        </p:blipFill>
        <p:spPr>
          <a:xfrm>
            <a:off x="4410636" y="2583204"/>
            <a:ext cx="5602942" cy="2810267"/>
          </a:xfrm>
          <a:prstGeom prst="rect">
            <a:avLst/>
          </a:prstGeom>
        </p:spPr>
      </p:pic>
    </p:spTree>
    <p:extLst>
      <p:ext uri="{BB962C8B-B14F-4D97-AF65-F5344CB8AC3E}">
        <p14:creationId xmlns:p14="http://schemas.microsoft.com/office/powerpoint/2010/main" val="3337339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27</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1392403" y="2587686"/>
            <a:ext cx="2740326" cy="2746314"/>
          </a:xfrm>
        </p:spPr>
        <p:txBody>
          <a:bodyPr>
            <a:normAutofit/>
          </a:bodyPr>
          <a:lstStyle/>
          <a:p>
            <a:pPr marL="0" indent="0">
              <a:buNone/>
            </a:pPr>
            <a:r>
              <a:rPr lang="es-MX" sz="1400" dirty="0"/>
              <a:t>D) Implementación</a:t>
            </a:r>
          </a:p>
          <a:p>
            <a:pPr marL="0" indent="0">
              <a:buNone/>
            </a:pPr>
            <a:r>
              <a:rPr lang="es-MX" sz="1400" dirty="0"/>
              <a:t> Para implementar la solución, se debe escribir el algoritmo como un programa de C/C++ que contenga toda la información necesaria para completar la traducción a lenguaje máquina. En la Tabla 4.1.1 se muestra el código del programa en C/C++. </a:t>
            </a:r>
            <a:endParaRPr lang="es-EC" sz="1800" b="1" dirty="0"/>
          </a:p>
        </p:txBody>
      </p:sp>
      <p:pic>
        <p:nvPicPr>
          <p:cNvPr id="7" name="Imagen 6">
            <a:extLst>
              <a:ext uri="{FF2B5EF4-FFF2-40B4-BE49-F238E27FC236}">
                <a16:creationId xmlns:a16="http://schemas.microsoft.com/office/drawing/2014/main" id="{D1C2157C-8480-4911-994A-2CF2B37D3977}"/>
              </a:ext>
            </a:extLst>
          </p:cNvPr>
          <p:cNvPicPr>
            <a:picLocks noChangeAspect="1"/>
          </p:cNvPicPr>
          <p:nvPr/>
        </p:nvPicPr>
        <p:blipFill rotWithShape="1">
          <a:blip r:embed="rId2"/>
          <a:srcRect t="1" b="435"/>
          <a:stretch/>
        </p:blipFill>
        <p:spPr>
          <a:xfrm>
            <a:off x="4653802" y="136524"/>
            <a:ext cx="4649855" cy="4680447"/>
          </a:xfrm>
          <a:prstGeom prst="rect">
            <a:avLst/>
          </a:prstGeom>
        </p:spPr>
      </p:pic>
      <p:sp>
        <p:nvSpPr>
          <p:cNvPr id="9" name="CuadroTexto 8">
            <a:extLst>
              <a:ext uri="{FF2B5EF4-FFF2-40B4-BE49-F238E27FC236}">
                <a16:creationId xmlns:a16="http://schemas.microsoft.com/office/drawing/2014/main" id="{95ECB6C4-2F8C-45F5-A590-20BD35E9F595}"/>
              </a:ext>
            </a:extLst>
          </p:cNvPr>
          <p:cNvSpPr txBox="1"/>
          <p:nvPr/>
        </p:nvSpPr>
        <p:spPr>
          <a:xfrm>
            <a:off x="4653802" y="6215747"/>
            <a:ext cx="359383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4.1.1 </a:t>
            </a:r>
            <a:r>
              <a:rPr lang="es-ES" sz="1200" dirty="0">
                <a:solidFill>
                  <a:schemeClr val="tx1">
                    <a:lumMod val="50000"/>
                    <a:lumOff val="50000"/>
                  </a:schemeClr>
                </a:solidFill>
                <a:latin typeface="+mj-lt"/>
              </a:rPr>
              <a:t>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13" name="Imagen 12">
            <a:extLst>
              <a:ext uri="{FF2B5EF4-FFF2-40B4-BE49-F238E27FC236}">
                <a16:creationId xmlns:a16="http://schemas.microsoft.com/office/drawing/2014/main" id="{05F046FD-224A-44BE-9297-48168A4037B9}"/>
              </a:ext>
            </a:extLst>
          </p:cNvPr>
          <p:cNvPicPr>
            <a:picLocks noChangeAspect="1"/>
          </p:cNvPicPr>
          <p:nvPr/>
        </p:nvPicPr>
        <p:blipFill>
          <a:blip r:embed="rId3"/>
          <a:stretch>
            <a:fillRect/>
          </a:stretch>
        </p:blipFill>
        <p:spPr>
          <a:xfrm>
            <a:off x="4653802" y="4725651"/>
            <a:ext cx="4981029" cy="1490096"/>
          </a:xfrm>
          <a:prstGeom prst="rect">
            <a:avLst/>
          </a:prstGeom>
        </p:spPr>
      </p:pic>
    </p:spTree>
    <p:extLst>
      <p:ext uri="{BB962C8B-B14F-4D97-AF65-F5344CB8AC3E}">
        <p14:creationId xmlns:p14="http://schemas.microsoft.com/office/powerpoint/2010/main" val="998202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95359" y="2088707"/>
            <a:ext cx="8601282" cy="902393"/>
          </a:xfrm>
        </p:spPr>
        <p:txBody>
          <a:bodyPr/>
          <a:lstStyle/>
          <a:p>
            <a:r>
              <a:rPr lang="es-MX" sz="4000" b="1" dirty="0"/>
              <a:t>Caso de Estudio 4.1: Sumatoria y Promedio de un Grupo de Notas </a:t>
            </a:r>
            <a:br>
              <a:rPr lang="es-MX" sz="1800" b="1" dirty="0">
                <a:solidFill>
                  <a:srgbClr val="FF0000"/>
                </a:solidFill>
              </a:rPr>
            </a:b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28</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953131" y="2336674"/>
            <a:ext cx="4963573" cy="3257302"/>
          </a:xfrm>
        </p:spPr>
        <p:txBody>
          <a:bodyPr>
            <a:normAutofit/>
          </a:bodyPr>
          <a:lstStyle/>
          <a:p>
            <a:pPr marL="0" indent="0">
              <a:buNone/>
            </a:pPr>
            <a:r>
              <a:rPr lang="es-MX" sz="1600" dirty="0"/>
              <a:t>E) Pruebas </a:t>
            </a:r>
          </a:p>
          <a:p>
            <a:pPr marL="0" indent="0">
              <a:buNone/>
            </a:pPr>
            <a:r>
              <a:rPr lang="es-MX" sz="1600" dirty="0"/>
              <a:t>En la Tabla 4.1.2, se muestra un ejemplo de la salida del programa, donde se puede ver que los resultados del programa tienen sentido, comparando estos resultados con los datos devueltos por una calculadora. En la salida de la Tabla 4.1.2 se puede ver que, se solicita al usuario que ingrese el número de notas que para este ejemplo es 10. Luego, el usuario ingresa cada una de las 10 notas y el programa calcula la sumatoria y el promedio.</a:t>
            </a:r>
            <a:endParaRPr lang="es-EC" sz="2000" b="1" dirty="0"/>
          </a:p>
        </p:txBody>
      </p:sp>
      <p:pic>
        <p:nvPicPr>
          <p:cNvPr id="7" name="Imagen 6">
            <a:extLst>
              <a:ext uri="{FF2B5EF4-FFF2-40B4-BE49-F238E27FC236}">
                <a16:creationId xmlns:a16="http://schemas.microsoft.com/office/drawing/2014/main" id="{0BCA6D35-8183-4FBB-9875-61B715D3FB6A}"/>
              </a:ext>
            </a:extLst>
          </p:cNvPr>
          <p:cNvPicPr>
            <a:picLocks noChangeAspect="1"/>
          </p:cNvPicPr>
          <p:nvPr/>
        </p:nvPicPr>
        <p:blipFill>
          <a:blip r:embed="rId2"/>
          <a:stretch>
            <a:fillRect/>
          </a:stretch>
        </p:blipFill>
        <p:spPr>
          <a:xfrm>
            <a:off x="5916704" y="2539903"/>
            <a:ext cx="4048690" cy="2327932"/>
          </a:xfrm>
          <a:prstGeom prst="rect">
            <a:avLst/>
          </a:prstGeom>
        </p:spPr>
      </p:pic>
      <p:sp>
        <p:nvSpPr>
          <p:cNvPr id="9" name="CuadroTexto 8">
            <a:extLst>
              <a:ext uri="{FF2B5EF4-FFF2-40B4-BE49-F238E27FC236}">
                <a16:creationId xmlns:a16="http://schemas.microsoft.com/office/drawing/2014/main" id="{0B9FC658-93C3-4987-96AE-2F10DE35F5AF}"/>
              </a:ext>
            </a:extLst>
          </p:cNvPr>
          <p:cNvSpPr txBox="1"/>
          <p:nvPr/>
        </p:nvSpPr>
        <p:spPr>
          <a:xfrm>
            <a:off x="5489272" y="519561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4.1.2 </a:t>
            </a:r>
            <a:r>
              <a:rPr lang="es-ES" sz="1200" dirty="0">
                <a:solidFill>
                  <a:schemeClr val="tx1">
                    <a:lumMod val="50000"/>
                    <a:lumOff val="50000"/>
                  </a:schemeClr>
                </a:solidFill>
                <a:latin typeface="+mj-lt"/>
              </a:rPr>
              <a:t>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362973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95359" y="2088707"/>
            <a:ext cx="8601282" cy="902393"/>
          </a:xfrm>
        </p:spPr>
        <p:txBody>
          <a:bodyPr/>
          <a:lstStyle/>
          <a:p>
            <a:r>
              <a:rPr lang="es-MX" sz="4000" b="1" dirty="0"/>
              <a:t>Caso de Estudio 4.1: Sumatoria y Promedio de un Grupo de Notas </a:t>
            </a:r>
            <a:br>
              <a:rPr lang="es-MX" sz="1800" b="1" dirty="0">
                <a:solidFill>
                  <a:srgbClr val="FF0000"/>
                </a:solidFill>
              </a:rPr>
            </a:br>
            <a:br>
              <a:rPr lang="es-MX" sz="2800" b="1"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29</a:t>
            </a:fld>
            <a:endParaRPr lang="es-EC"/>
          </a:p>
        </p:txBody>
      </p:sp>
      <p:sp>
        <p:nvSpPr>
          <p:cNvPr id="8" name="Marcador de contenido 2">
            <a:extLst>
              <a:ext uri="{FF2B5EF4-FFF2-40B4-BE49-F238E27FC236}">
                <a16:creationId xmlns:a16="http://schemas.microsoft.com/office/drawing/2014/main" id="{CC574D5C-61E9-44AA-ACE6-77BDCFE8B33A}"/>
              </a:ext>
            </a:extLst>
          </p:cNvPr>
          <p:cNvSpPr>
            <a:spLocks noGrp="1"/>
          </p:cNvSpPr>
          <p:nvPr>
            <p:ph idx="1"/>
          </p:nvPr>
        </p:nvSpPr>
        <p:spPr>
          <a:xfrm>
            <a:off x="2548849" y="1800349"/>
            <a:ext cx="7231645" cy="3257302"/>
          </a:xfrm>
        </p:spPr>
        <p:txBody>
          <a:bodyPr>
            <a:normAutofit/>
          </a:bodyPr>
          <a:lstStyle/>
          <a:p>
            <a:pPr marL="0" indent="0">
              <a:buNone/>
            </a:pPr>
            <a:r>
              <a:rPr lang="es-MX" sz="1600" dirty="0"/>
              <a:t>En la Tabla 4.1.3, se muestra la prueba de escritorio del programa, donde se puede comprobar que en cada ciclo del bucle while() se lee el valor de una nota y se suma en un acumulador el valor que tiene con el valor de una nueva nota ingresada desde el teclado y se incrementa en uno el valor del contador. Finalmente, la ejecución de la sentencia while() termina cuando la condición del bucle se hace falsa.</a:t>
            </a:r>
            <a:endParaRPr lang="es-EC" sz="2000" b="1" dirty="0"/>
          </a:p>
        </p:txBody>
      </p:sp>
      <p:pic>
        <p:nvPicPr>
          <p:cNvPr id="6" name="Imagen 5">
            <a:extLst>
              <a:ext uri="{FF2B5EF4-FFF2-40B4-BE49-F238E27FC236}">
                <a16:creationId xmlns:a16="http://schemas.microsoft.com/office/drawing/2014/main" id="{20669D7F-D7B2-4E31-8110-5DD461BBB195}"/>
              </a:ext>
            </a:extLst>
          </p:cNvPr>
          <p:cNvPicPr>
            <a:picLocks noChangeAspect="1"/>
          </p:cNvPicPr>
          <p:nvPr/>
        </p:nvPicPr>
        <p:blipFill>
          <a:blip r:embed="rId2"/>
          <a:stretch>
            <a:fillRect/>
          </a:stretch>
        </p:blipFill>
        <p:spPr>
          <a:xfrm>
            <a:off x="2703088" y="3734860"/>
            <a:ext cx="6727783" cy="2468716"/>
          </a:xfrm>
          <a:prstGeom prst="rect">
            <a:avLst/>
          </a:prstGeom>
        </p:spPr>
      </p:pic>
    </p:spTree>
    <p:extLst>
      <p:ext uri="{BB962C8B-B14F-4D97-AF65-F5344CB8AC3E}">
        <p14:creationId xmlns:p14="http://schemas.microsoft.com/office/powerpoint/2010/main" val="4286685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30</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31</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7225</TotalTime>
  <Words>2171</Words>
  <Application>Microsoft Office PowerPoint</Application>
  <PresentationFormat>Panorámica</PresentationFormat>
  <Paragraphs>202</Paragraphs>
  <Slides>31</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31</vt:i4>
      </vt:variant>
    </vt:vector>
  </HeadingPairs>
  <TitlesOfParts>
    <vt:vector size="39"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Introducción    </vt:lpstr>
      <vt:lpstr>Introducción    </vt:lpstr>
      <vt:lpstr>Contenido</vt:lpstr>
      <vt:lpstr>Objetivos</vt:lpstr>
      <vt:lpstr>Contenido</vt:lpstr>
      <vt:lpstr>Estructuras de Control Repetitivas o Bucles  </vt:lpstr>
      <vt:lpstr>Estructuras de Control Repetitivas o Bucles  </vt:lpstr>
      <vt:lpstr>Estructuras de Control Repetitivas o Bucles  </vt:lpstr>
      <vt:lpstr>Contenido</vt:lpstr>
      <vt:lpstr> Problema 4.1: (Aplicación de la sentencia while como un bucle ascendente)  </vt:lpstr>
      <vt:lpstr> Problema 4.1: (Aplicación de la sentencia while como un bucle ascendente)  </vt:lpstr>
      <vt:lpstr> Problema 4.1: (Aplicación de la sentencia while como un bucle ascendente)  </vt:lpstr>
      <vt:lpstr> Problema 4.1: (Aplicación de la sentencia while como un bucle ascendente)  </vt:lpstr>
      <vt:lpstr>Contenido</vt:lpstr>
      <vt:lpstr> Problema 4.2: (Aplicación de la sentencia while como un bucle descendente)  </vt:lpstr>
      <vt:lpstr> Problema 4.2: (Aplicación de la sentencia while como un bucle descendente)  </vt:lpstr>
      <vt:lpstr> Problema 4.2: (Aplicación de la sentencia while como un bucle descendente)  </vt:lpstr>
      <vt:lpstr> Problema 4.2: (Aplicación de la sentencia while como un bucle descendente)  </vt:lpstr>
      <vt:lpstr>Contenido</vt:lpstr>
      <vt:lpstr>Caso de Estudio 4.1: Sumatoria y Promedio de un Grupo de Notas   </vt:lpstr>
      <vt:lpstr>Caso de Estudio 4.1: Sumatoria y Promedio de un Grupo de Notas   </vt:lpstr>
      <vt:lpstr>Caso de Estudio 4.1: Sumatoria y Promedio de un Grupo de Notas   </vt:lpstr>
      <vt:lpstr>Caso de Estudio 4.1: Sumatoria y Promedio de un Grupo de Notas   </vt:lpstr>
      <vt:lpstr>Caso de Estudio 4.1: Sumatoria y Promedio de un Grupo de Notas   </vt:lpstr>
      <vt:lpstr>Presentación de PowerPoint</vt:lpstr>
      <vt:lpstr>Caso de Estudio 4.1: Sumatoria y Promedio de un Grupo de Notas   </vt:lpstr>
      <vt:lpstr>Caso de Estudio 4.1: Sumatoria y Promedio de un Grupo de Notas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HP</cp:lastModifiedBy>
  <cp:revision>11</cp:revision>
  <dcterms:created xsi:type="dcterms:W3CDTF">2025-10-07T22:49:11Z</dcterms:created>
  <dcterms:modified xsi:type="dcterms:W3CDTF">2025-12-03T04:03:30Z</dcterms:modified>
</cp:coreProperties>
</file>