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1"/>
  </p:notesMasterIdLst>
  <p:sldIdLst>
    <p:sldId id="311" r:id="rId3"/>
    <p:sldId id="312" r:id="rId4"/>
    <p:sldId id="278" r:id="rId5"/>
    <p:sldId id="313" r:id="rId6"/>
    <p:sldId id="315" r:id="rId7"/>
    <p:sldId id="317" r:id="rId8"/>
    <p:sldId id="318" r:id="rId9"/>
    <p:sldId id="319" r:id="rId10"/>
    <p:sldId id="320" r:id="rId11"/>
    <p:sldId id="321" r:id="rId12"/>
    <p:sldId id="322" r:id="rId13"/>
    <p:sldId id="323" r:id="rId14"/>
    <p:sldId id="324" r:id="rId15"/>
    <p:sldId id="331" r:id="rId16"/>
    <p:sldId id="325" r:id="rId17"/>
    <p:sldId id="332" r:id="rId18"/>
    <p:sldId id="326" r:id="rId19"/>
    <p:sldId id="333" r:id="rId20"/>
    <p:sldId id="327" r:id="rId21"/>
    <p:sldId id="334" r:id="rId22"/>
    <p:sldId id="328" r:id="rId23"/>
    <p:sldId id="336" r:id="rId24"/>
    <p:sldId id="337" r:id="rId25"/>
    <p:sldId id="338" r:id="rId26"/>
    <p:sldId id="329" r:id="rId27"/>
    <p:sldId id="339" r:id="rId28"/>
    <p:sldId id="393" r:id="rId29"/>
    <p:sldId id="275" r:id="rId30"/>
  </p:sldIdLst>
  <p:sldSz cx="12192000" cy="6858000"/>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681" autoAdjust="0"/>
    <p:restoredTop sz="94660"/>
  </p:normalViewPr>
  <p:slideViewPr>
    <p:cSldViewPr snapToGrid="0">
      <p:cViewPr varScale="1">
        <p:scale>
          <a:sx n="85" d="100"/>
          <a:sy n="85" d="100"/>
        </p:scale>
        <p:origin x="60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C"/>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612756-17CA-4AD3-AC83-B7B14B0BBA01}" type="datetimeFigureOut">
              <a:rPr lang="es-EC" smtClean="0"/>
              <a:t>7/10/2025</a:t>
            </a:fld>
            <a:endParaRPr lang="es-EC"/>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C"/>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C"/>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766755-D08B-4039-AACC-CF17240DABEC}" type="slidenum">
              <a:rPr lang="es-EC" smtClean="0"/>
              <a:t>‹Nº›</a:t>
            </a:fld>
            <a:endParaRPr lang="es-EC"/>
          </a:p>
        </p:txBody>
      </p:sp>
    </p:spTree>
    <p:extLst>
      <p:ext uri="{BB962C8B-B14F-4D97-AF65-F5344CB8AC3E}">
        <p14:creationId xmlns:p14="http://schemas.microsoft.com/office/powerpoint/2010/main" val="3251673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C" dirty="0"/>
          </a:p>
        </p:txBody>
      </p:sp>
      <p:sp>
        <p:nvSpPr>
          <p:cNvPr id="4" name="3 Marcador de número de diapositiva"/>
          <p:cNvSpPr>
            <a:spLocks noGrp="1"/>
          </p:cNvSpPr>
          <p:nvPr>
            <p:ph type="sldNum" sz="quarter" idx="10"/>
          </p:nvPr>
        </p:nvSpPr>
        <p:spPr/>
        <p:txBody>
          <a:bodyPr/>
          <a:lstStyle/>
          <a:p>
            <a:fld id="{C8DD2930-2CA9-432A-8292-C602BD3CCB94}" type="slidenum">
              <a:rPr lang="es-EC" smtClean="0"/>
              <a:t>1</a:t>
            </a:fld>
            <a:endParaRPr lang="es-EC"/>
          </a:p>
        </p:txBody>
      </p:sp>
    </p:spTree>
    <p:extLst>
      <p:ext uri="{BB962C8B-B14F-4D97-AF65-F5344CB8AC3E}">
        <p14:creationId xmlns:p14="http://schemas.microsoft.com/office/powerpoint/2010/main" val="23912008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C" dirty="0"/>
          </a:p>
        </p:txBody>
      </p:sp>
      <p:sp>
        <p:nvSpPr>
          <p:cNvPr id="4" name="Marcador de número de diapositiva 3"/>
          <p:cNvSpPr>
            <a:spLocks noGrp="1"/>
          </p:cNvSpPr>
          <p:nvPr>
            <p:ph type="sldNum" sz="quarter" idx="5"/>
          </p:nvPr>
        </p:nvSpPr>
        <p:spPr/>
        <p:txBody>
          <a:bodyPr/>
          <a:lstStyle/>
          <a:p>
            <a:fld id="{C8DD2930-2CA9-432A-8292-C602BD3CCB94}" type="slidenum">
              <a:rPr lang="es-EC" smtClean="0"/>
              <a:t>3</a:t>
            </a:fld>
            <a:endParaRPr lang="es-EC"/>
          </a:p>
        </p:txBody>
      </p:sp>
    </p:spTree>
    <p:extLst>
      <p:ext uri="{BB962C8B-B14F-4D97-AF65-F5344CB8AC3E}">
        <p14:creationId xmlns:p14="http://schemas.microsoft.com/office/powerpoint/2010/main" val="5279346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C" dirty="0"/>
          </a:p>
        </p:txBody>
      </p:sp>
      <p:sp>
        <p:nvSpPr>
          <p:cNvPr id="4" name="Marcador de número de diapositiva 3"/>
          <p:cNvSpPr>
            <a:spLocks noGrp="1"/>
          </p:cNvSpPr>
          <p:nvPr>
            <p:ph type="sldNum" sz="quarter" idx="5"/>
          </p:nvPr>
        </p:nvSpPr>
        <p:spPr/>
        <p:txBody>
          <a:bodyPr/>
          <a:lstStyle/>
          <a:p>
            <a:fld id="{C8DD2930-2CA9-432A-8292-C602BD3CCB94}" type="slidenum">
              <a:rPr lang="es-EC" smtClean="0"/>
              <a:t>5</a:t>
            </a:fld>
            <a:endParaRPr lang="es-EC"/>
          </a:p>
        </p:txBody>
      </p:sp>
    </p:spTree>
    <p:extLst>
      <p:ext uri="{BB962C8B-B14F-4D97-AF65-F5344CB8AC3E}">
        <p14:creationId xmlns:p14="http://schemas.microsoft.com/office/powerpoint/2010/main" val="10194300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C" dirty="0"/>
          </a:p>
        </p:txBody>
      </p:sp>
      <p:sp>
        <p:nvSpPr>
          <p:cNvPr id="4" name="Marcador de número de diapositiva 3"/>
          <p:cNvSpPr>
            <a:spLocks noGrp="1"/>
          </p:cNvSpPr>
          <p:nvPr>
            <p:ph type="sldNum" sz="quarter" idx="5"/>
          </p:nvPr>
        </p:nvSpPr>
        <p:spPr/>
        <p:txBody>
          <a:bodyPr/>
          <a:lstStyle/>
          <a:p>
            <a:fld id="{C8DD2930-2CA9-432A-8292-C602BD3CCB94}" type="slidenum">
              <a:rPr lang="es-EC" smtClean="0"/>
              <a:t>7</a:t>
            </a:fld>
            <a:endParaRPr lang="es-EC"/>
          </a:p>
        </p:txBody>
      </p:sp>
    </p:spTree>
    <p:extLst>
      <p:ext uri="{BB962C8B-B14F-4D97-AF65-F5344CB8AC3E}">
        <p14:creationId xmlns:p14="http://schemas.microsoft.com/office/powerpoint/2010/main" val="27788959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C" dirty="0"/>
          </a:p>
        </p:txBody>
      </p:sp>
      <p:sp>
        <p:nvSpPr>
          <p:cNvPr id="4" name="Marcador de número de diapositiva 3"/>
          <p:cNvSpPr>
            <a:spLocks noGrp="1"/>
          </p:cNvSpPr>
          <p:nvPr>
            <p:ph type="sldNum" sz="quarter" idx="5"/>
          </p:nvPr>
        </p:nvSpPr>
        <p:spPr/>
        <p:txBody>
          <a:bodyPr/>
          <a:lstStyle/>
          <a:p>
            <a:fld id="{C8DD2930-2CA9-432A-8292-C602BD3CCB94}" type="slidenum">
              <a:rPr lang="es-EC" smtClean="0"/>
              <a:t>9</a:t>
            </a:fld>
            <a:endParaRPr lang="es-EC"/>
          </a:p>
        </p:txBody>
      </p:sp>
    </p:spTree>
    <p:extLst>
      <p:ext uri="{BB962C8B-B14F-4D97-AF65-F5344CB8AC3E}">
        <p14:creationId xmlns:p14="http://schemas.microsoft.com/office/powerpoint/2010/main" val="40197767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C" dirty="0"/>
          </a:p>
        </p:txBody>
      </p:sp>
      <p:sp>
        <p:nvSpPr>
          <p:cNvPr id="4" name="Marcador de número de diapositiva 3"/>
          <p:cNvSpPr>
            <a:spLocks noGrp="1"/>
          </p:cNvSpPr>
          <p:nvPr>
            <p:ph type="sldNum" sz="quarter" idx="5"/>
          </p:nvPr>
        </p:nvSpPr>
        <p:spPr/>
        <p:txBody>
          <a:bodyPr/>
          <a:lstStyle/>
          <a:p>
            <a:fld id="{C8DD2930-2CA9-432A-8292-C602BD3CCB94}" type="slidenum">
              <a:rPr lang="es-EC" smtClean="0"/>
              <a:t>10</a:t>
            </a:fld>
            <a:endParaRPr lang="es-EC"/>
          </a:p>
        </p:txBody>
      </p:sp>
    </p:spTree>
    <p:extLst>
      <p:ext uri="{BB962C8B-B14F-4D97-AF65-F5344CB8AC3E}">
        <p14:creationId xmlns:p14="http://schemas.microsoft.com/office/powerpoint/2010/main" val="19199014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C" dirty="0"/>
          </a:p>
        </p:txBody>
      </p:sp>
      <p:sp>
        <p:nvSpPr>
          <p:cNvPr id="4" name="Marcador de número de diapositiva 3"/>
          <p:cNvSpPr>
            <a:spLocks noGrp="1"/>
          </p:cNvSpPr>
          <p:nvPr>
            <p:ph type="sldNum" sz="quarter" idx="5"/>
          </p:nvPr>
        </p:nvSpPr>
        <p:spPr/>
        <p:txBody>
          <a:bodyPr/>
          <a:lstStyle/>
          <a:p>
            <a:fld id="{C8DD2930-2CA9-432A-8292-C602BD3CCB94}" type="slidenum">
              <a:rPr lang="es-EC" smtClean="0"/>
              <a:t>12</a:t>
            </a:fld>
            <a:endParaRPr lang="es-EC"/>
          </a:p>
        </p:txBody>
      </p:sp>
    </p:spTree>
    <p:extLst>
      <p:ext uri="{BB962C8B-B14F-4D97-AF65-F5344CB8AC3E}">
        <p14:creationId xmlns:p14="http://schemas.microsoft.com/office/powerpoint/2010/main" val="22105657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C" dirty="0"/>
          </a:p>
        </p:txBody>
      </p:sp>
      <p:sp>
        <p:nvSpPr>
          <p:cNvPr id="4" name="Marcador de número de diapositiva 3"/>
          <p:cNvSpPr>
            <a:spLocks noGrp="1"/>
          </p:cNvSpPr>
          <p:nvPr>
            <p:ph type="sldNum" sz="quarter" idx="5"/>
          </p:nvPr>
        </p:nvSpPr>
        <p:spPr/>
        <p:txBody>
          <a:bodyPr/>
          <a:lstStyle/>
          <a:p>
            <a:fld id="{C8DD2930-2CA9-432A-8292-C602BD3CCB94}" type="slidenum">
              <a:rPr lang="es-EC" smtClean="0"/>
              <a:t>14</a:t>
            </a:fld>
            <a:endParaRPr lang="es-EC"/>
          </a:p>
        </p:txBody>
      </p:sp>
    </p:spTree>
    <p:extLst>
      <p:ext uri="{BB962C8B-B14F-4D97-AF65-F5344CB8AC3E}">
        <p14:creationId xmlns:p14="http://schemas.microsoft.com/office/powerpoint/2010/main" val="41336228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C" dirty="0"/>
          </a:p>
        </p:txBody>
      </p:sp>
      <p:sp>
        <p:nvSpPr>
          <p:cNvPr id="4" name="Marcador de número de diapositiva 3"/>
          <p:cNvSpPr>
            <a:spLocks noGrp="1"/>
          </p:cNvSpPr>
          <p:nvPr>
            <p:ph type="sldNum" sz="quarter" idx="5"/>
          </p:nvPr>
        </p:nvSpPr>
        <p:spPr/>
        <p:txBody>
          <a:bodyPr/>
          <a:lstStyle/>
          <a:p>
            <a:fld id="{C8DD2930-2CA9-432A-8292-C602BD3CCB94}" type="slidenum">
              <a:rPr lang="es-EC" smtClean="0"/>
              <a:t>16</a:t>
            </a:fld>
            <a:endParaRPr lang="es-EC"/>
          </a:p>
        </p:txBody>
      </p:sp>
    </p:spTree>
    <p:extLst>
      <p:ext uri="{BB962C8B-B14F-4D97-AF65-F5344CB8AC3E}">
        <p14:creationId xmlns:p14="http://schemas.microsoft.com/office/powerpoint/2010/main" val="42245771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C" dirty="0"/>
          </a:p>
        </p:txBody>
      </p:sp>
      <p:sp>
        <p:nvSpPr>
          <p:cNvPr id="4" name="Marcador de número de diapositiva 3"/>
          <p:cNvSpPr>
            <a:spLocks noGrp="1"/>
          </p:cNvSpPr>
          <p:nvPr>
            <p:ph type="sldNum" sz="quarter" idx="5"/>
          </p:nvPr>
        </p:nvSpPr>
        <p:spPr/>
        <p:txBody>
          <a:bodyPr/>
          <a:lstStyle/>
          <a:p>
            <a:fld id="{C8DD2930-2CA9-432A-8292-C602BD3CCB94}" type="slidenum">
              <a:rPr lang="es-EC" smtClean="0"/>
              <a:t>18</a:t>
            </a:fld>
            <a:endParaRPr lang="es-EC"/>
          </a:p>
        </p:txBody>
      </p:sp>
    </p:spTree>
    <p:extLst>
      <p:ext uri="{BB962C8B-B14F-4D97-AF65-F5344CB8AC3E}">
        <p14:creationId xmlns:p14="http://schemas.microsoft.com/office/powerpoint/2010/main" val="1317684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C" dirty="0"/>
          </a:p>
        </p:txBody>
      </p:sp>
      <p:sp>
        <p:nvSpPr>
          <p:cNvPr id="4" name="Marcador de número de diapositiva 3"/>
          <p:cNvSpPr>
            <a:spLocks noGrp="1"/>
          </p:cNvSpPr>
          <p:nvPr>
            <p:ph type="sldNum" sz="quarter" idx="5"/>
          </p:nvPr>
        </p:nvSpPr>
        <p:spPr/>
        <p:txBody>
          <a:bodyPr/>
          <a:lstStyle/>
          <a:p>
            <a:fld id="{C8DD2930-2CA9-432A-8292-C602BD3CCB94}" type="slidenum">
              <a:rPr lang="es-EC" smtClean="0"/>
              <a:t>20</a:t>
            </a:fld>
            <a:endParaRPr lang="es-EC"/>
          </a:p>
        </p:txBody>
      </p:sp>
    </p:spTree>
    <p:extLst>
      <p:ext uri="{BB962C8B-B14F-4D97-AF65-F5344CB8AC3E}">
        <p14:creationId xmlns:p14="http://schemas.microsoft.com/office/powerpoint/2010/main" val="160604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C" dirty="0"/>
          </a:p>
        </p:txBody>
      </p:sp>
      <p:sp>
        <p:nvSpPr>
          <p:cNvPr id="4" name="Marcador de número de diapositiva 3"/>
          <p:cNvSpPr>
            <a:spLocks noGrp="1"/>
          </p:cNvSpPr>
          <p:nvPr>
            <p:ph type="sldNum" sz="quarter" idx="5"/>
          </p:nvPr>
        </p:nvSpPr>
        <p:spPr/>
        <p:txBody>
          <a:bodyPr/>
          <a:lstStyle/>
          <a:p>
            <a:fld id="{C8DD2930-2CA9-432A-8292-C602BD3CCB94}" type="slidenum">
              <a:rPr lang="es-EC" smtClean="0"/>
              <a:t>22</a:t>
            </a:fld>
            <a:endParaRPr lang="es-EC"/>
          </a:p>
        </p:txBody>
      </p:sp>
    </p:spTree>
    <p:extLst>
      <p:ext uri="{BB962C8B-B14F-4D97-AF65-F5344CB8AC3E}">
        <p14:creationId xmlns:p14="http://schemas.microsoft.com/office/powerpoint/2010/main" val="13826885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C" dirty="0"/>
          </a:p>
        </p:txBody>
      </p:sp>
      <p:sp>
        <p:nvSpPr>
          <p:cNvPr id="4" name="Marcador de número de diapositiva 3"/>
          <p:cNvSpPr>
            <a:spLocks noGrp="1"/>
          </p:cNvSpPr>
          <p:nvPr>
            <p:ph type="sldNum" sz="quarter" idx="5"/>
          </p:nvPr>
        </p:nvSpPr>
        <p:spPr/>
        <p:txBody>
          <a:bodyPr/>
          <a:lstStyle/>
          <a:p>
            <a:fld id="{C8DD2930-2CA9-432A-8292-C602BD3CCB94}" type="slidenum">
              <a:rPr lang="es-EC" smtClean="0"/>
              <a:t>23</a:t>
            </a:fld>
            <a:endParaRPr lang="es-EC"/>
          </a:p>
        </p:txBody>
      </p:sp>
    </p:spTree>
    <p:extLst>
      <p:ext uri="{BB962C8B-B14F-4D97-AF65-F5344CB8AC3E}">
        <p14:creationId xmlns:p14="http://schemas.microsoft.com/office/powerpoint/2010/main" val="6793966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C" dirty="0"/>
          </a:p>
        </p:txBody>
      </p:sp>
      <p:sp>
        <p:nvSpPr>
          <p:cNvPr id="4" name="Marcador de número de diapositiva 3"/>
          <p:cNvSpPr>
            <a:spLocks noGrp="1"/>
          </p:cNvSpPr>
          <p:nvPr>
            <p:ph type="sldNum" sz="quarter" idx="5"/>
          </p:nvPr>
        </p:nvSpPr>
        <p:spPr/>
        <p:txBody>
          <a:bodyPr/>
          <a:lstStyle/>
          <a:p>
            <a:fld id="{C8DD2930-2CA9-432A-8292-C602BD3CCB94}" type="slidenum">
              <a:rPr lang="es-EC" smtClean="0"/>
              <a:t>24</a:t>
            </a:fld>
            <a:endParaRPr lang="es-EC"/>
          </a:p>
        </p:txBody>
      </p:sp>
    </p:spTree>
    <p:extLst>
      <p:ext uri="{BB962C8B-B14F-4D97-AF65-F5344CB8AC3E}">
        <p14:creationId xmlns:p14="http://schemas.microsoft.com/office/powerpoint/2010/main" val="13732632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C" dirty="0"/>
          </a:p>
        </p:txBody>
      </p:sp>
      <p:sp>
        <p:nvSpPr>
          <p:cNvPr id="4" name="Marcador de número de diapositiva 3"/>
          <p:cNvSpPr>
            <a:spLocks noGrp="1"/>
          </p:cNvSpPr>
          <p:nvPr>
            <p:ph type="sldNum" sz="quarter" idx="5"/>
          </p:nvPr>
        </p:nvSpPr>
        <p:spPr/>
        <p:txBody>
          <a:bodyPr/>
          <a:lstStyle/>
          <a:p>
            <a:fld id="{C8DD2930-2CA9-432A-8292-C602BD3CCB94}" type="slidenum">
              <a:rPr lang="es-EC" smtClean="0"/>
              <a:t>26</a:t>
            </a:fld>
            <a:endParaRPr lang="es-EC"/>
          </a:p>
        </p:txBody>
      </p:sp>
    </p:spTree>
    <p:extLst>
      <p:ext uri="{BB962C8B-B14F-4D97-AF65-F5344CB8AC3E}">
        <p14:creationId xmlns:p14="http://schemas.microsoft.com/office/powerpoint/2010/main" val="28783430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3FF36B-5284-4FF9-BD25-233DF54E08F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C"/>
          </a:p>
        </p:txBody>
      </p:sp>
      <p:sp>
        <p:nvSpPr>
          <p:cNvPr id="3" name="Subtítulo 2">
            <a:extLst>
              <a:ext uri="{FF2B5EF4-FFF2-40B4-BE49-F238E27FC236}">
                <a16:creationId xmlns:a16="http://schemas.microsoft.com/office/drawing/2014/main" id="{5BFE7901-A9B8-4388-9B46-93BAF32ADF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EC"/>
          </a:p>
        </p:txBody>
      </p:sp>
      <p:sp>
        <p:nvSpPr>
          <p:cNvPr id="4" name="Marcador de fecha 3">
            <a:extLst>
              <a:ext uri="{FF2B5EF4-FFF2-40B4-BE49-F238E27FC236}">
                <a16:creationId xmlns:a16="http://schemas.microsoft.com/office/drawing/2014/main" id="{79ACFBD6-FCA6-4CB5-9ADD-0A5B658F4E9D}"/>
              </a:ext>
            </a:extLst>
          </p:cNvPr>
          <p:cNvSpPr>
            <a:spLocks noGrp="1"/>
          </p:cNvSpPr>
          <p:nvPr>
            <p:ph type="dt" sz="half" idx="10"/>
          </p:nvPr>
        </p:nvSpPr>
        <p:spPr/>
        <p:txBody>
          <a:bodyPr/>
          <a:lstStyle/>
          <a:p>
            <a:fld id="{317CCF6A-450D-4AA0-A3EC-80C0876FF104}" type="datetimeFigureOut">
              <a:rPr lang="es-EC" smtClean="0"/>
              <a:t>7/10/2025</a:t>
            </a:fld>
            <a:endParaRPr lang="es-EC"/>
          </a:p>
        </p:txBody>
      </p:sp>
      <p:sp>
        <p:nvSpPr>
          <p:cNvPr id="5" name="Marcador de pie de página 4">
            <a:extLst>
              <a:ext uri="{FF2B5EF4-FFF2-40B4-BE49-F238E27FC236}">
                <a16:creationId xmlns:a16="http://schemas.microsoft.com/office/drawing/2014/main" id="{6EF5D047-D0B9-4815-948E-EE83B1BBF107}"/>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F5C39B11-0474-4985-8982-FB688332ABB5}"/>
              </a:ext>
            </a:extLst>
          </p:cNvPr>
          <p:cNvSpPr>
            <a:spLocks noGrp="1"/>
          </p:cNvSpPr>
          <p:nvPr>
            <p:ph type="sldNum" sz="quarter" idx="12"/>
          </p:nvPr>
        </p:nvSpPr>
        <p:spPr/>
        <p:txBody>
          <a:bodyPr/>
          <a:lstStyle/>
          <a:p>
            <a:fld id="{19A7A451-719B-4D04-92B8-1BC4047F9AFB}" type="slidenum">
              <a:rPr lang="es-EC" smtClean="0"/>
              <a:t>‹Nº›</a:t>
            </a:fld>
            <a:endParaRPr lang="es-EC"/>
          </a:p>
        </p:txBody>
      </p:sp>
    </p:spTree>
    <p:extLst>
      <p:ext uri="{BB962C8B-B14F-4D97-AF65-F5344CB8AC3E}">
        <p14:creationId xmlns:p14="http://schemas.microsoft.com/office/powerpoint/2010/main" val="17662989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049D65-F491-4510-98D2-84A6861E719A}"/>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14C41D91-4258-4E44-A030-441ABA78DF7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AED63CD2-BD58-4FFA-BBB1-32E2A2C3799F}"/>
              </a:ext>
            </a:extLst>
          </p:cNvPr>
          <p:cNvSpPr>
            <a:spLocks noGrp="1"/>
          </p:cNvSpPr>
          <p:nvPr>
            <p:ph type="dt" sz="half" idx="10"/>
          </p:nvPr>
        </p:nvSpPr>
        <p:spPr/>
        <p:txBody>
          <a:bodyPr/>
          <a:lstStyle/>
          <a:p>
            <a:fld id="{317CCF6A-450D-4AA0-A3EC-80C0876FF104}" type="datetimeFigureOut">
              <a:rPr lang="es-EC" smtClean="0"/>
              <a:t>7/10/2025</a:t>
            </a:fld>
            <a:endParaRPr lang="es-EC"/>
          </a:p>
        </p:txBody>
      </p:sp>
      <p:sp>
        <p:nvSpPr>
          <p:cNvPr id="5" name="Marcador de pie de página 4">
            <a:extLst>
              <a:ext uri="{FF2B5EF4-FFF2-40B4-BE49-F238E27FC236}">
                <a16:creationId xmlns:a16="http://schemas.microsoft.com/office/drawing/2014/main" id="{5D12DDA7-4117-4587-A374-C86036B15024}"/>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0DA48B71-5BA9-48D7-9C56-FDC3AB59EC35}"/>
              </a:ext>
            </a:extLst>
          </p:cNvPr>
          <p:cNvSpPr>
            <a:spLocks noGrp="1"/>
          </p:cNvSpPr>
          <p:nvPr>
            <p:ph type="sldNum" sz="quarter" idx="12"/>
          </p:nvPr>
        </p:nvSpPr>
        <p:spPr/>
        <p:txBody>
          <a:bodyPr/>
          <a:lstStyle/>
          <a:p>
            <a:fld id="{19A7A451-719B-4D04-92B8-1BC4047F9AFB}" type="slidenum">
              <a:rPr lang="es-EC" smtClean="0"/>
              <a:t>‹Nº›</a:t>
            </a:fld>
            <a:endParaRPr lang="es-EC"/>
          </a:p>
        </p:txBody>
      </p:sp>
    </p:spTree>
    <p:extLst>
      <p:ext uri="{BB962C8B-B14F-4D97-AF65-F5344CB8AC3E}">
        <p14:creationId xmlns:p14="http://schemas.microsoft.com/office/powerpoint/2010/main" val="1544231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E537AF-2947-41B3-9F76-43940FD59FF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15B94BF9-4BD7-4A6E-A6FE-EF546567EC9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51983ABD-DD66-4799-8A5E-DB43DA004B6E}"/>
              </a:ext>
            </a:extLst>
          </p:cNvPr>
          <p:cNvSpPr>
            <a:spLocks noGrp="1"/>
          </p:cNvSpPr>
          <p:nvPr>
            <p:ph type="dt" sz="half" idx="10"/>
          </p:nvPr>
        </p:nvSpPr>
        <p:spPr/>
        <p:txBody>
          <a:bodyPr/>
          <a:lstStyle/>
          <a:p>
            <a:fld id="{317CCF6A-450D-4AA0-A3EC-80C0876FF104}" type="datetimeFigureOut">
              <a:rPr lang="es-EC" smtClean="0"/>
              <a:t>7/10/2025</a:t>
            </a:fld>
            <a:endParaRPr lang="es-EC"/>
          </a:p>
        </p:txBody>
      </p:sp>
      <p:sp>
        <p:nvSpPr>
          <p:cNvPr id="5" name="Marcador de pie de página 4">
            <a:extLst>
              <a:ext uri="{FF2B5EF4-FFF2-40B4-BE49-F238E27FC236}">
                <a16:creationId xmlns:a16="http://schemas.microsoft.com/office/drawing/2014/main" id="{A32E9FB3-64D0-46FC-A041-899CA7F9A69F}"/>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A99D2572-BB1E-4A6D-A4E7-64549713974F}"/>
              </a:ext>
            </a:extLst>
          </p:cNvPr>
          <p:cNvSpPr>
            <a:spLocks noGrp="1"/>
          </p:cNvSpPr>
          <p:nvPr>
            <p:ph type="sldNum" sz="quarter" idx="12"/>
          </p:nvPr>
        </p:nvSpPr>
        <p:spPr/>
        <p:txBody>
          <a:bodyPr/>
          <a:lstStyle/>
          <a:p>
            <a:fld id="{19A7A451-719B-4D04-92B8-1BC4047F9AFB}" type="slidenum">
              <a:rPr lang="es-EC" smtClean="0"/>
              <a:t>‹Nº›</a:t>
            </a:fld>
            <a:endParaRPr lang="es-EC"/>
          </a:p>
        </p:txBody>
      </p:sp>
    </p:spTree>
    <p:extLst>
      <p:ext uri="{BB962C8B-B14F-4D97-AF65-F5344CB8AC3E}">
        <p14:creationId xmlns:p14="http://schemas.microsoft.com/office/powerpoint/2010/main" val="1601683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E79445-D9C3-4E52-B7C0-D41418A8BED6}"/>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ABCB4623-1952-4F55-BCA0-F4A4B8FCEDD5}"/>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contenido 3">
            <a:extLst>
              <a:ext uri="{FF2B5EF4-FFF2-40B4-BE49-F238E27FC236}">
                <a16:creationId xmlns:a16="http://schemas.microsoft.com/office/drawing/2014/main" id="{0FCA7F6A-8734-4F33-B5EC-C2B5F006A277}"/>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fecha 4">
            <a:extLst>
              <a:ext uri="{FF2B5EF4-FFF2-40B4-BE49-F238E27FC236}">
                <a16:creationId xmlns:a16="http://schemas.microsoft.com/office/drawing/2014/main" id="{D87B5082-FD3D-4477-A88F-07F215823E5F}"/>
              </a:ext>
            </a:extLst>
          </p:cNvPr>
          <p:cNvSpPr>
            <a:spLocks noGrp="1"/>
          </p:cNvSpPr>
          <p:nvPr>
            <p:ph type="dt" sz="half" idx="10"/>
          </p:nvPr>
        </p:nvSpPr>
        <p:spPr/>
        <p:txBody>
          <a:bodyPr/>
          <a:lstStyle/>
          <a:p>
            <a:fld id="{317CCF6A-450D-4AA0-A3EC-80C0876FF104}" type="datetimeFigureOut">
              <a:rPr lang="es-EC" smtClean="0"/>
              <a:t>7/10/2025</a:t>
            </a:fld>
            <a:endParaRPr lang="es-EC"/>
          </a:p>
        </p:txBody>
      </p:sp>
      <p:sp>
        <p:nvSpPr>
          <p:cNvPr id="6" name="Marcador de pie de página 5">
            <a:extLst>
              <a:ext uri="{FF2B5EF4-FFF2-40B4-BE49-F238E27FC236}">
                <a16:creationId xmlns:a16="http://schemas.microsoft.com/office/drawing/2014/main" id="{ED43D4B3-980B-4B7C-95B8-0BCE976815CB}"/>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75851872-F175-43B4-B88D-BF067E1A9E87}"/>
              </a:ext>
            </a:extLst>
          </p:cNvPr>
          <p:cNvSpPr>
            <a:spLocks noGrp="1"/>
          </p:cNvSpPr>
          <p:nvPr>
            <p:ph type="sldNum" sz="quarter" idx="12"/>
          </p:nvPr>
        </p:nvSpPr>
        <p:spPr/>
        <p:txBody>
          <a:bodyPr/>
          <a:lstStyle/>
          <a:p>
            <a:fld id="{19A7A451-719B-4D04-92B8-1BC4047F9AFB}" type="slidenum">
              <a:rPr lang="es-EC" smtClean="0"/>
              <a:t>‹Nº›</a:t>
            </a:fld>
            <a:endParaRPr lang="es-EC"/>
          </a:p>
        </p:txBody>
      </p:sp>
    </p:spTree>
    <p:extLst>
      <p:ext uri="{BB962C8B-B14F-4D97-AF65-F5344CB8AC3E}">
        <p14:creationId xmlns:p14="http://schemas.microsoft.com/office/powerpoint/2010/main" val="40448378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DB5874-A0FE-4E59-A64C-2E439BB1F453}"/>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99082818-327B-4247-A3FE-427890AF01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3F55F8A-DFF9-4CF6-AD8B-7DB066CBE4C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texto 4">
            <a:extLst>
              <a:ext uri="{FF2B5EF4-FFF2-40B4-BE49-F238E27FC236}">
                <a16:creationId xmlns:a16="http://schemas.microsoft.com/office/drawing/2014/main" id="{B229885E-925B-4F9A-ABB8-6EED5D50E7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2463C8E-1E5C-4428-8B61-CF333097B792}"/>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7" name="Marcador de fecha 6">
            <a:extLst>
              <a:ext uri="{FF2B5EF4-FFF2-40B4-BE49-F238E27FC236}">
                <a16:creationId xmlns:a16="http://schemas.microsoft.com/office/drawing/2014/main" id="{886925B7-8258-4E41-811E-291D5513F10C}"/>
              </a:ext>
            </a:extLst>
          </p:cNvPr>
          <p:cNvSpPr>
            <a:spLocks noGrp="1"/>
          </p:cNvSpPr>
          <p:nvPr>
            <p:ph type="dt" sz="half" idx="10"/>
          </p:nvPr>
        </p:nvSpPr>
        <p:spPr/>
        <p:txBody>
          <a:bodyPr/>
          <a:lstStyle/>
          <a:p>
            <a:fld id="{317CCF6A-450D-4AA0-A3EC-80C0876FF104}" type="datetimeFigureOut">
              <a:rPr lang="es-EC" smtClean="0"/>
              <a:t>7/10/2025</a:t>
            </a:fld>
            <a:endParaRPr lang="es-EC"/>
          </a:p>
        </p:txBody>
      </p:sp>
      <p:sp>
        <p:nvSpPr>
          <p:cNvPr id="8" name="Marcador de pie de página 7">
            <a:extLst>
              <a:ext uri="{FF2B5EF4-FFF2-40B4-BE49-F238E27FC236}">
                <a16:creationId xmlns:a16="http://schemas.microsoft.com/office/drawing/2014/main" id="{F1C9FA33-7E41-44FF-892E-0FD98506593F}"/>
              </a:ext>
            </a:extLst>
          </p:cNvPr>
          <p:cNvSpPr>
            <a:spLocks noGrp="1"/>
          </p:cNvSpPr>
          <p:nvPr>
            <p:ph type="ftr" sz="quarter" idx="11"/>
          </p:nvPr>
        </p:nvSpPr>
        <p:spPr/>
        <p:txBody>
          <a:bodyPr/>
          <a:lstStyle/>
          <a:p>
            <a:endParaRPr lang="es-EC"/>
          </a:p>
        </p:txBody>
      </p:sp>
      <p:sp>
        <p:nvSpPr>
          <p:cNvPr id="9" name="Marcador de número de diapositiva 8">
            <a:extLst>
              <a:ext uri="{FF2B5EF4-FFF2-40B4-BE49-F238E27FC236}">
                <a16:creationId xmlns:a16="http://schemas.microsoft.com/office/drawing/2014/main" id="{E0A0FE81-05E6-4551-B12D-312D8F659EE4}"/>
              </a:ext>
            </a:extLst>
          </p:cNvPr>
          <p:cNvSpPr>
            <a:spLocks noGrp="1"/>
          </p:cNvSpPr>
          <p:nvPr>
            <p:ph type="sldNum" sz="quarter" idx="12"/>
          </p:nvPr>
        </p:nvSpPr>
        <p:spPr/>
        <p:txBody>
          <a:bodyPr/>
          <a:lstStyle/>
          <a:p>
            <a:fld id="{19A7A451-719B-4D04-92B8-1BC4047F9AFB}" type="slidenum">
              <a:rPr lang="es-EC" smtClean="0"/>
              <a:t>‹Nº›</a:t>
            </a:fld>
            <a:endParaRPr lang="es-EC"/>
          </a:p>
        </p:txBody>
      </p:sp>
    </p:spTree>
    <p:extLst>
      <p:ext uri="{BB962C8B-B14F-4D97-AF65-F5344CB8AC3E}">
        <p14:creationId xmlns:p14="http://schemas.microsoft.com/office/powerpoint/2010/main" val="212930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42D9EE-B977-45A0-9BF6-DE930016D6F1}"/>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fecha 2">
            <a:extLst>
              <a:ext uri="{FF2B5EF4-FFF2-40B4-BE49-F238E27FC236}">
                <a16:creationId xmlns:a16="http://schemas.microsoft.com/office/drawing/2014/main" id="{D7B395D0-60EA-4601-8502-0750CB39272A}"/>
              </a:ext>
            </a:extLst>
          </p:cNvPr>
          <p:cNvSpPr>
            <a:spLocks noGrp="1"/>
          </p:cNvSpPr>
          <p:nvPr>
            <p:ph type="dt" sz="half" idx="10"/>
          </p:nvPr>
        </p:nvSpPr>
        <p:spPr/>
        <p:txBody>
          <a:bodyPr/>
          <a:lstStyle/>
          <a:p>
            <a:fld id="{317CCF6A-450D-4AA0-A3EC-80C0876FF104}" type="datetimeFigureOut">
              <a:rPr lang="es-EC" smtClean="0"/>
              <a:t>7/10/2025</a:t>
            </a:fld>
            <a:endParaRPr lang="es-EC"/>
          </a:p>
        </p:txBody>
      </p:sp>
      <p:sp>
        <p:nvSpPr>
          <p:cNvPr id="4" name="Marcador de pie de página 3">
            <a:extLst>
              <a:ext uri="{FF2B5EF4-FFF2-40B4-BE49-F238E27FC236}">
                <a16:creationId xmlns:a16="http://schemas.microsoft.com/office/drawing/2014/main" id="{9641BC12-D293-4EEA-9285-B557CC665670}"/>
              </a:ext>
            </a:extLst>
          </p:cNvPr>
          <p:cNvSpPr>
            <a:spLocks noGrp="1"/>
          </p:cNvSpPr>
          <p:nvPr>
            <p:ph type="ftr" sz="quarter" idx="11"/>
          </p:nvPr>
        </p:nvSpPr>
        <p:spPr/>
        <p:txBody>
          <a:bodyPr/>
          <a:lstStyle/>
          <a:p>
            <a:endParaRPr lang="es-EC"/>
          </a:p>
        </p:txBody>
      </p:sp>
      <p:sp>
        <p:nvSpPr>
          <p:cNvPr id="5" name="Marcador de número de diapositiva 4">
            <a:extLst>
              <a:ext uri="{FF2B5EF4-FFF2-40B4-BE49-F238E27FC236}">
                <a16:creationId xmlns:a16="http://schemas.microsoft.com/office/drawing/2014/main" id="{8790FB6F-C8B0-43EE-8A7D-B81719201028}"/>
              </a:ext>
            </a:extLst>
          </p:cNvPr>
          <p:cNvSpPr>
            <a:spLocks noGrp="1"/>
          </p:cNvSpPr>
          <p:nvPr>
            <p:ph type="sldNum" sz="quarter" idx="12"/>
          </p:nvPr>
        </p:nvSpPr>
        <p:spPr/>
        <p:txBody>
          <a:bodyPr/>
          <a:lstStyle/>
          <a:p>
            <a:fld id="{19A7A451-719B-4D04-92B8-1BC4047F9AFB}" type="slidenum">
              <a:rPr lang="es-EC" smtClean="0"/>
              <a:t>‹Nº›</a:t>
            </a:fld>
            <a:endParaRPr lang="es-EC"/>
          </a:p>
        </p:txBody>
      </p:sp>
    </p:spTree>
    <p:extLst>
      <p:ext uri="{BB962C8B-B14F-4D97-AF65-F5344CB8AC3E}">
        <p14:creationId xmlns:p14="http://schemas.microsoft.com/office/powerpoint/2010/main" val="3678451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B5083DB-BDF7-40E6-A95D-C648FA5CC818}"/>
              </a:ext>
            </a:extLst>
          </p:cNvPr>
          <p:cNvSpPr>
            <a:spLocks noGrp="1"/>
          </p:cNvSpPr>
          <p:nvPr>
            <p:ph type="dt" sz="half" idx="10"/>
          </p:nvPr>
        </p:nvSpPr>
        <p:spPr/>
        <p:txBody>
          <a:bodyPr/>
          <a:lstStyle/>
          <a:p>
            <a:fld id="{317CCF6A-450D-4AA0-A3EC-80C0876FF104}" type="datetimeFigureOut">
              <a:rPr lang="es-EC" smtClean="0"/>
              <a:t>7/10/2025</a:t>
            </a:fld>
            <a:endParaRPr lang="es-EC"/>
          </a:p>
        </p:txBody>
      </p:sp>
      <p:sp>
        <p:nvSpPr>
          <p:cNvPr id="3" name="Marcador de pie de página 2">
            <a:extLst>
              <a:ext uri="{FF2B5EF4-FFF2-40B4-BE49-F238E27FC236}">
                <a16:creationId xmlns:a16="http://schemas.microsoft.com/office/drawing/2014/main" id="{1AB73F5E-8DE1-4EC0-B166-5967FEE46756}"/>
              </a:ext>
            </a:extLst>
          </p:cNvPr>
          <p:cNvSpPr>
            <a:spLocks noGrp="1"/>
          </p:cNvSpPr>
          <p:nvPr>
            <p:ph type="ftr" sz="quarter" idx="11"/>
          </p:nvPr>
        </p:nvSpPr>
        <p:spPr/>
        <p:txBody>
          <a:bodyPr/>
          <a:lstStyle/>
          <a:p>
            <a:endParaRPr lang="es-EC"/>
          </a:p>
        </p:txBody>
      </p:sp>
      <p:sp>
        <p:nvSpPr>
          <p:cNvPr id="4" name="Marcador de número de diapositiva 3">
            <a:extLst>
              <a:ext uri="{FF2B5EF4-FFF2-40B4-BE49-F238E27FC236}">
                <a16:creationId xmlns:a16="http://schemas.microsoft.com/office/drawing/2014/main" id="{E84102AB-68CB-45E6-9B35-7DC6A0750596}"/>
              </a:ext>
            </a:extLst>
          </p:cNvPr>
          <p:cNvSpPr>
            <a:spLocks noGrp="1"/>
          </p:cNvSpPr>
          <p:nvPr>
            <p:ph type="sldNum" sz="quarter" idx="12"/>
          </p:nvPr>
        </p:nvSpPr>
        <p:spPr/>
        <p:txBody>
          <a:bodyPr/>
          <a:lstStyle/>
          <a:p>
            <a:fld id="{19A7A451-719B-4D04-92B8-1BC4047F9AFB}" type="slidenum">
              <a:rPr lang="es-EC" smtClean="0"/>
              <a:t>‹Nº›</a:t>
            </a:fld>
            <a:endParaRPr lang="es-EC"/>
          </a:p>
        </p:txBody>
      </p:sp>
    </p:spTree>
    <p:extLst>
      <p:ext uri="{BB962C8B-B14F-4D97-AF65-F5344CB8AC3E}">
        <p14:creationId xmlns:p14="http://schemas.microsoft.com/office/powerpoint/2010/main" val="746375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0E95F9-5B23-4752-9EC6-7D9498BEE8C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A1F78AAD-D78E-49A0-84AE-3876C1F352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texto 3">
            <a:extLst>
              <a:ext uri="{FF2B5EF4-FFF2-40B4-BE49-F238E27FC236}">
                <a16:creationId xmlns:a16="http://schemas.microsoft.com/office/drawing/2014/main" id="{BC759C3B-CC1E-4EA5-96A3-C742DCE035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1D7F48A-EE2E-4B17-B0EA-04E2AF865213}"/>
              </a:ext>
            </a:extLst>
          </p:cNvPr>
          <p:cNvSpPr>
            <a:spLocks noGrp="1"/>
          </p:cNvSpPr>
          <p:nvPr>
            <p:ph type="dt" sz="half" idx="10"/>
          </p:nvPr>
        </p:nvSpPr>
        <p:spPr/>
        <p:txBody>
          <a:bodyPr/>
          <a:lstStyle/>
          <a:p>
            <a:fld id="{317CCF6A-450D-4AA0-A3EC-80C0876FF104}" type="datetimeFigureOut">
              <a:rPr lang="es-EC" smtClean="0"/>
              <a:t>7/10/2025</a:t>
            </a:fld>
            <a:endParaRPr lang="es-EC"/>
          </a:p>
        </p:txBody>
      </p:sp>
      <p:sp>
        <p:nvSpPr>
          <p:cNvPr id="6" name="Marcador de pie de página 5">
            <a:extLst>
              <a:ext uri="{FF2B5EF4-FFF2-40B4-BE49-F238E27FC236}">
                <a16:creationId xmlns:a16="http://schemas.microsoft.com/office/drawing/2014/main" id="{A54852CF-D292-43E3-81D9-F81A0F2E905D}"/>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1EC902A9-9032-4AB6-A44E-7F0F4A9C0DE7}"/>
              </a:ext>
            </a:extLst>
          </p:cNvPr>
          <p:cNvSpPr>
            <a:spLocks noGrp="1"/>
          </p:cNvSpPr>
          <p:nvPr>
            <p:ph type="sldNum" sz="quarter" idx="12"/>
          </p:nvPr>
        </p:nvSpPr>
        <p:spPr/>
        <p:txBody>
          <a:bodyPr/>
          <a:lstStyle/>
          <a:p>
            <a:fld id="{19A7A451-719B-4D04-92B8-1BC4047F9AFB}" type="slidenum">
              <a:rPr lang="es-EC" smtClean="0"/>
              <a:t>‹Nº›</a:t>
            </a:fld>
            <a:endParaRPr lang="es-EC"/>
          </a:p>
        </p:txBody>
      </p:sp>
    </p:spTree>
    <p:extLst>
      <p:ext uri="{BB962C8B-B14F-4D97-AF65-F5344CB8AC3E}">
        <p14:creationId xmlns:p14="http://schemas.microsoft.com/office/powerpoint/2010/main" val="13473903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57B02B-1416-42D0-8C74-F81AD9A9562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posición de imagen 2">
            <a:extLst>
              <a:ext uri="{FF2B5EF4-FFF2-40B4-BE49-F238E27FC236}">
                <a16:creationId xmlns:a16="http://schemas.microsoft.com/office/drawing/2014/main" id="{E78518A5-1484-472A-B961-1543D1BCE6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C"/>
          </a:p>
        </p:txBody>
      </p:sp>
      <p:sp>
        <p:nvSpPr>
          <p:cNvPr id="4" name="Marcador de texto 3">
            <a:extLst>
              <a:ext uri="{FF2B5EF4-FFF2-40B4-BE49-F238E27FC236}">
                <a16:creationId xmlns:a16="http://schemas.microsoft.com/office/drawing/2014/main" id="{B2F608BD-AA0D-44CA-A912-D512EF16FC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05B8A0D-AE1F-4A64-99B6-6432988ADB34}"/>
              </a:ext>
            </a:extLst>
          </p:cNvPr>
          <p:cNvSpPr>
            <a:spLocks noGrp="1"/>
          </p:cNvSpPr>
          <p:nvPr>
            <p:ph type="dt" sz="half" idx="10"/>
          </p:nvPr>
        </p:nvSpPr>
        <p:spPr/>
        <p:txBody>
          <a:bodyPr/>
          <a:lstStyle/>
          <a:p>
            <a:fld id="{317CCF6A-450D-4AA0-A3EC-80C0876FF104}" type="datetimeFigureOut">
              <a:rPr lang="es-EC" smtClean="0"/>
              <a:t>7/10/2025</a:t>
            </a:fld>
            <a:endParaRPr lang="es-EC"/>
          </a:p>
        </p:txBody>
      </p:sp>
      <p:sp>
        <p:nvSpPr>
          <p:cNvPr id="6" name="Marcador de pie de página 5">
            <a:extLst>
              <a:ext uri="{FF2B5EF4-FFF2-40B4-BE49-F238E27FC236}">
                <a16:creationId xmlns:a16="http://schemas.microsoft.com/office/drawing/2014/main" id="{E333D5E1-AF6B-4E1B-8F8F-B5D0871CC01D}"/>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96D33787-6250-49F3-9A8C-94C41711400C}"/>
              </a:ext>
            </a:extLst>
          </p:cNvPr>
          <p:cNvSpPr>
            <a:spLocks noGrp="1"/>
          </p:cNvSpPr>
          <p:nvPr>
            <p:ph type="sldNum" sz="quarter" idx="12"/>
          </p:nvPr>
        </p:nvSpPr>
        <p:spPr/>
        <p:txBody>
          <a:bodyPr/>
          <a:lstStyle/>
          <a:p>
            <a:fld id="{19A7A451-719B-4D04-92B8-1BC4047F9AFB}" type="slidenum">
              <a:rPr lang="es-EC" smtClean="0"/>
              <a:t>‹Nº›</a:t>
            </a:fld>
            <a:endParaRPr lang="es-EC"/>
          </a:p>
        </p:txBody>
      </p:sp>
    </p:spTree>
    <p:extLst>
      <p:ext uri="{BB962C8B-B14F-4D97-AF65-F5344CB8AC3E}">
        <p14:creationId xmlns:p14="http://schemas.microsoft.com/office/powerpoint/2010/main" val="27047434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92C7CC-B9B1-4FB7-A872-509A9EC9FC08}"/>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125D8120-371B-4113-80E8-F5E799612334}"/>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2189E7D2-D232-400F-9C4E-0D7DD9B4B753}"/>
              </a:ext>
            </a:extLst>
          </p:cNvPr>
          <p:cNvSpPr>
            <a:spLocks noGrp="1"/>
          </p:cNvSpPr>
          <p:nvPr>
            <p:ph type="dt" sz="half" idx="10"/>
          </p:nvPr>
        </p:nvSpPr>
        <p:spPr/>
        <p:txBody>
          <a:bodyPr/>
          <a:lstStyle/>
          <a:p>
            <a:fld id="{317CCF6A-450D-4AA0-A3EC-80C0876FF104}" type="datetimeFigureOut">
              <a:rPr lang="es-EC" smtClean="0"/>
              <a:t>7/10/2025</a:t>
            </a:fld>
            <a:endParaRPr lang="es-EC"/>
          </a:p>
        </p:txBody>
      </p:sp>
      <p:sp>
        <p:nvSpPr>
          <p:cNvPr id="5" name="Marcador de pie de página 4">
            <a:extLst>
              <a:ext uri="{FF2B5EF4-FFF2-40B4-BE49-F238E27FC236}">
                <a16:creationId xmlns:a16="http://schemas.microsoft.com/office/drawing/2014/main" id="{0718F545-72E3-439E-8A56-BF58DE982636}"/>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3CD778AA-5C96-423C-96F1-A83313787547}"/>
              </a:ext>
            </a:extLst>
          </p:cNvPr>
          <p:cNvSpPr>
            <a:spLocks noGrp="1"/>
          </p:cNvSpPr>
          <p:nvPr>
            <p:ph type="sldNum" sz="quarter" idx="12"/>
          </p:nvPr>
        </p:nvSpPr>
        <p:spPr/>
        <p:txBody>
          <a:bodyPr/>
          <a:lstStyle/>
          <a:p>
            <a:fld id="{19A7A451-719B-4D04-92B8-1BC4047F9AFB}" type="slidenum">
              <a:rPr lang="es-EC" smtClean="0"/>
              <a:t>‹Nº›</a:t>
            </a:fld>
            <a:endParaRPr lang="es-EC"/>
          </a:p>
        </p:txBody>
      </p:sp>
    </p:spTree>
    <p:extLst>
      <p:ext uri="{BB962C8B-B14F-4D97-AF65-F5344CB8AC3E}">
        <p14:creationId xmlns:p14="http://schemas.microsoft.com/office/powerpoint/2010/main" val="3575419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952C425-5276-479C-BB3A-58693A8C87C3}"/>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3E97370A-F919-4E01-922A-45BA27C50B98}"/>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39087EC0-B3D9-4A41-938F-4062E3111C40}"/>
              </a:ext>
            </a:extLst>
          </p:cNvPr>
          <p:cNvSpPr>
            <a:spLocks noGrp="1"/>
          </p:cNvSpPr>
          <p:nvPr>
            <p:ph type="dt" sz="half" idx="10"/>
          </p:nvPr>
        </p:nvSpPr>
        <p:spPr/>
        <p:txBody>
          <a:bodyPr/>
          <a:lstStyle/>
          <a:p>
            <a:fld id="{317CCF6A-450D-4AA0-A3EC-80C0876FF104}" type="datetimeFigureOut">
              <a:rPr lang="es-EC" smtClean="0"/>
              <a:t>7/10/2025</a:t>
            </a:fld>
            <a:endParaRPr lang="es-EC"/>
          </a:p>
        </p:txBody>
      </p:sp>
      <p:sp>
        <p:nvSpPr>
          <p:cNvPr id="5" name="Marcador de pie de página 4">
            <a:extLst>
              <a:ext uri="{FF2B5EF4-FFF2-40B4-BE49-F238E27FC236}">
                <a16:creationId xmlns:a16="http://schemas.microsoft.com/office/drawing/2014/main" id="{5E426C2B-7D13-4C33-B33C-393439ED522F}"/>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2AF582CE-BF30-4248-94EB-028CF9334D37}"/>
              </a:ext>
            </a:extLst>
          </p:cNvPr>
          <p:cNvSpPr>
            <a:spLocks noGrp="1"/>
          </p:cNvSpPr>
          <p:nvPr>
            <p:ph type="sldNum" sz="quarter" idx="12"/>
          </p:nvPr>
        </p:nvSpPr>
        <p:spPr/>
        <p:txBody>
          <a:bodyPr/>
          <a:lstStyle/>
          <a:p>
            <a:fld id="{19A7A451-719B-4D04-92B8-1BC4047F9AFB}" type="slidenum">
              <a:rPr lang="es-EC" smtClean="0"/>
              <a:t>‹Nº›</a:t>
            </a:fld>
            <a:endParaRPr lang="es-EC"/>
          </a:p>
        </p:txBody>
      </p:sp>
    </p:spTree>
    <p:extLst>
      <p:ext uri="{BB962C8B-B14F-4D97-AF65-F5344CB8AC3E}">
        <p14:creationId xmlns:p14="http://schemas.microsoft.com/office/powerpoint/2010/main" val="30763534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914400" y="609601"/>
            <a:ext cx="10363200" cy="4267200"/>
          </a:xfrm>
        </p:spPr>
        <p:txBody>
          <a:bodyPr anchor="b">
            <a:noAutofit/>
          </a:bodyPr>
          <a:lstStyle>
            <a:lvl1pPr>
              <a:lnSpc>
                <a:spcPct val="100000"/>
              </a:lnSpc>
              <a:defRPr sz="8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28800" y="4953000"/>
            <a:ext cx="85344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7" name="Date Placeholder 6"/>
          <p:cNvSpPr>
            <a:spLocks noGrp="1"/>
          </p:cNvSpPr>
          <p:nvPr>
            <p:ph type="dt" sz="half" idx="10"/>
          </p:nvPr>
        </p:nvSpPr>
        <p:spPr/>
        <p:txBody>
          <a:bodyPr/>
          <a:lstStyle/>
          <a:p>
            <a:fld id="{E7C4E607-19DA-460D-873F-2665A632EB4B}" type="datetime1">
              <a:rPr lang="es-EC" smtClean="0"/>
              <a:t>6/10/2025</a:t>
            </a:fld>
            <a:endParaRPr lang="es-EC"/>
          </a:p>
        </p:txBody>
      </p:sp>
      <p:sp>
        <p:nvSpPr>
          <p:cNvPr id="8" name="Slide Number Placeholder 7"/>
          <p:cNvSpPr>
            <a:spLocks noGrp="1"/>
          </p:cNvSpPr>
          <p:nvPr>
            <p:ph type="sldNum" sz="quarter" idx="11"/>
          </p:nvPr>
        </p:nvSpPr>
        <p:spPr/>
        <p:txBody>
          <a:bodyPr/>
          <a:lstStyle/>
          <a:p>
            <a:fld id="{14B28EB2-3408-4757-A806-361BA67028B7}" type="slidenum">
              <a:rPr lang="es-EC" smtClean="0"/>
              <a:t>‹Nº›</a:t>
            </a:fld>
            <a:endParaRPr lang="es-EC"/>
          </a:p>
        </p:txBody>
      </p:sp>
      <p:sp>
        <p:nvSpPr>
          <p:cNvPr id="9" name="Footer Placeholder 8"/>
          <p:cNvSpPr>
            <a:spLocks noGrp="1"/>
          </p:cNvSpPr>
          <p:nvPr>
            <p:ph type="ftr" sz="quarter" idx="12"/>
          </p:nvPr>
        </p:nvSpPr>
        <p:spPr/>
        <p:txBody>
          <a:bodyPr/>
          <a:lstStyle/>
          <a:p>
            <a:endParaRPr lang="es-EC"/>
          </a:p>
        </p:txBody>
      </p:sp>
    </p:spTree>
    <p:extLst>
      <p:ext uri="{BB962C8B-B14F-4D97-AF65-F5344CB8AC3E}">
        <p14:creationId xmlns:p14="http://schemas.microsoft.com/office/powerpoint/2010/main" val="17556608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290B73B-B6A1-476A-B629-21320BBC12E2}" type="datetime1">
              <a:rPr lang="es-EC" smtClean="0"/>
              <a:t>6/10/2025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16306822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963084" y="1371601"/>
            <a:ext cx="103632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63084" y="4068764"/>
            <a:ext cx="103632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CDC2038A-D817-4671-8CB8-0981B299E92B}" type="datetime1">
              <a:rPr lang="es-EC" smtClean="0"/>
              <a:t>6/10/2025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
        <p:nvSpPr>
          <p:cNvPr id="7" name="Oval 6"/>
          <p:cNvSpPr/>
          <p:nvPr/>
        </p:nvSpPr>
        <p:spPr>
          <a:xfrm>
            <a:off x="5994400"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Oval 7"/>
          <p:cNvSpPr/>
          <p:nvPr/>
        </p:nvSpPr>
        <p:spPr>
          <a:xfrm>
            <a:off x="6261100"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Oval 8"/>
          <p:cNvSpPr/>
          <p:nvPr/>
        </p:nvSpPr>
        <p:spPr>
          <a:xfrm>
            <a:off x="5728971"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6083031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4" name="Content Placeholder 3"/>
          <p:cNvSpPr>
            <a:spLocks noGrp="1"/>
          </p:cNvSpPr>
          <p:nvPr>
            <p:ph sz="half" idx="2"/>
          </p:nvPr>
        </p:nvSpPr>
        <p:spPr>
          <a:xfrm>
            <a:off x="6197600" y="1600201"/>
            <a:ext cx="53848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DC4ADFD-670B-42AB-AA2D-8905C1A1B3E7}" type="datetime1">
              <a:rPr lang="es-EC" smtClean="0"/>
              <a:t>6/10/2025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
        <p:nvSpPr>
          <p:cNvPr id="9" name="Content Placeholder 8"/>
          <p:cNvSpPr>
            <a:spLocks noGrp="1"/>
          </p:cNvSpPr>
          <p:nvPr>
            <p:ph sz="quarter" idx="13"/>
          </p:nvPr>
        </p:nvSpPr>
        <p:spPr>
          <a:xfrm>
            <a:off x="487680" y="1600200"/>
            <a:ext cx="5388864" cy="452628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11219091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a:p>
        </p:txBody>
      </p:sp>
      <p:sp>
        <p:nvSpPr>
          <p:cNvPr id="3" name="Text Placeholder 2"/>
          <p:cNvSpPr>
            <a:spLocks noGrp="1"/>
          </p:cNvSpPr>
          <p:nvPr>
            <p:ph type="body" idx="1"/>
          </p:nvPr>
        </p:nvSpPr>
        <p:spPr>
          <a:xfrm>
            <a:off x="609600" y="1600200"/>
            <a:ext cx="5386917"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5" name="Text Placeholder 4"/>
          <p:cNvSpPr>
            <a:spLocks noGrp="1"/>
          </p:cNvSpPr>
          <p:nvPr>
            <p:ph type="body" sz="quarter" idx="3"/>
          </p:nvPr>
        </p:nvSpPr>
        <p:spPr>
          <a:xfrm>
            <a:off x="6197601" y="1600200"/>
            <a:ext cx="5389033"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7" name="Date Placeholder 6"/>
          <p:cNvSpPr>
            <a:spLocks noGrp="1"/>
          </p:cNvSpPr>
          <p:nvPr>
            <p:ph type="dt" sz="half" idx="10"/>
          </p:nvPr>
        </p:nvSpPr>
        <p:spPr/>
        <p:txBody>
          <a:bodyPr/>
          <a:lstStyle/>
          <a:p>
            <a:fld id="{9891E5A2-5B64-4460-A741-AB3873F3AED1}" type="datetime1">
              <a:rPr lang="es-EC" smtClean="0"/>
              <a:t>6/10/2025</a:t>
            </a:fld>
            <a:endParaRPr lang="es-EC"/>
          </a:p>
        </p:txBody>
      </p:sp>
      <p:sp>
        <p:nvSpPr>
          <p:cNvPr id="8" name="Footer Placeholder 7"/>
          <p:cNvSpPr>
            <a:spLocks noGrp="1"/>
          </p:cNvSpPr>
          <p:nvPr>
            <p:ph type="ftr" sz="quarter" idx="11"/>
          </p:nvPr>
        </p:nvSpPr>
        <p:spPr/>
        <p:txBody>
          <a:bodyPr/>
          <a:lstStyle/>
          <a:p>
            <a:endParaRPr lang="es-EC"/>
          </a:p>
        </p:txBody>
      </p:sp>
      <p:sp>
        <p:nvSpPr>
          <p:cNvPr id="9" name="Slide Number Placeholder 8"/>
          <p:cNvSpPr>
            <a:spLocks noGrp="1"/>
          </p:cNvSpPr>
          <p:nvPr>
            <p:ph type="sldNum" sz="quarter" idx="12"/>
          </p:nvPr>
        </p:nvSpPr>
        <p:spPr/>
        <p:txBody>
          <a:bodyPr/>
          <a:lstStyle/>
          <a:p>
            <a:fld id="{14B28EB2-3408-4757-A806-361BA67028B7}" type="slidenum">
              <a:rPr lang="es-EC" smtClean="0"/>
              <a:t>‹Nº›</a:t>
            </a:fld>
            <a:endParaRPr lang="es-EC"/>
          </a:p>
        </p:txBody>
      </p:sp>
      <p:sp>
        <p:nvSpPr>
          <p:cNvPr id="11" name="Content Placeholder 10"/>
          <p:cNvSpPr>
            <a:spLocks noGrp="1"/>
          </p:cNvSpPr>
          <p:nvPr>
            <p:ph sz="quarter" idx="13"/>
          </p:nvPr>
        </p:nvSpPr>
        <p:spPr>
          <a:xfrm>
            <a:off x="609600" y="2212848"/>
            <a:ext cx="5388864" cy="391363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12"/>
          <p:cNvSpPr>
            <a:spLocks noGrp="1"/>
          </p:cNvSpPr>
          <p:nvPr>
            <p:ph sz="quarter" idx="14"/>
          </p:nvPr>
        </p:nvSpPr>
        <p:spPr>
          <a:xfrm>
            <a:off x="6230112" y="2212849"/>
            <a:ext cx="5388864" cy="3913187"/>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42302036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60B840B2-0BA1-4127-9E25-74D449B7ADFD}" type="datetime1">
              <a:rPr lang="es-EC" smtClean="0"/>
              <a:t>6/10/2025</a:t>
            </a:fld>
            <a:endParaRPr lang="es-EC"/>
          </a:p>
        </p:txBody>
      </p:sp>
      <p:sp>
        <p:nvSpPr>
          <p:cNvPr id="4" name="Footer Placeholder 3"/>
          <p:cNvSpPr>
            <a:spLocks noGrp="1"/>
          </p:cNvSpPr>
          <p:nvPr>
            <p:ph type="ftr" sz="quarter" idx="11"/>
          </p:nvPr>
        </p:nvSpPr>
        <p:spPr/>
        <p:txBody>
          <a:bodyPr/>
          <a:lstStyle/>
          <a:p>
            <a:endParaRPr lang="es-EC"/>
          </a:p>
        </p:txBody>
      </p:sp>
      <p:sp>
        <p:nvSpPr>
          <p:cNvPr id="5" name="Slide Number Placeholder 4"/>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38712741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E0FE62-E592-4B65-AFBD-C1CCC30A5FE7}" type="datetime1">
              <a:rPr lang="es-EC" smtClean="0"/>
              <a:t>6/10/2025</a:t>
            </a:fld>
            <a:endParaRPr lang="es-EC"/>
          </a:p>
        </p:txBody>
      </p:sp>
      <p:sp>
        <p:nvSpPr>
          <p:cNvPr id="3" name="Footer Placeholder 2"/>
          <p:cNvSpPr>
            <a:spLocks noGrp="1"/>
          </p:cNvSpPr>
          <p:nvPr>
            <p:ph type="ftr" sz="quarter" idx="11"/>
          </p:nvPr>
        </p:nvSpPr>
        <p:spPr/>
        <p:txBody>
          <a:bodyPr/>
          <a:lstStyle/>
          <a:p>
            <a:endParaRPr lang="es-EC"/>
          </a:p>
        </p:txBody>
      </p:sp>
      <p:sp>
        <p:nvSpPr>
          <p:cNvPr id="4" name="Slide Number Placeholder 3"/>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12111689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7876117" y="266700"/>
            <a:ext cx="4011084"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958850" y="273051"/>
            <a:ext cx="66611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7876117" y="2438401"/>
            <a:ext cx="4011084"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67F15ACB-451F-4A5F-BEC9-AE2F848845F3}" type="datetime1">
              <a:rPr lang="es-EC" smtClean="0"/>
              <a:t>6/10/2025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16331180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239435" y="228600"/>
            <a:ext cx="7615765" cy="895350"/>
          </a:xfrm>
        </p:spPr>
        <p:txBody>
          <a:bodyPr anchor="b"/>
          <a:lstStyle>
            <a:lvl1pPr algn="ctr">
              <a:lnSpc>
                <a:spcPct val="100000"/>
              </a:lnSpc>
              <a:defRPr sz="2800" b="0"/>
            </a:lvl1pPr>
          </a:lstStyle>
          <a:p>
            <a:r>
              <a:rPr lang="es-ES"/>
              <a:t>Haga clic para modificar el estilo de título del patrón</a:t>
            </a:r>
            <a:endParaRPr lang="en-US" dirty="0"/>
          </a:p>
        </p:txBody>
      </p:sp>
      <p:sp>
        <p:nvSpPr>
          <p:cNvPr id="3" name="Picture Placeholder 2"/>
          <p:cNvSpPr>
            <a:spLocks noGrp="1"/>
          </p:cNvSpPr>
          <p:nvPr>
            <p:ph type="pic" idx="1"/>
          </p:nvPr>
        </p:nvSpPr>
        <p:spPr>
          <a:xfrm>
            <a:off x="2010835" y="1143000"/>
            <a:ext cx="8072965"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239435" y="5810250"/>
            <a:ext cx="7615765"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4A422F84-0CF5-40B2-88A0-C1094D415436}" type="datetime1">
              <a:rPr lang="es-EC" smtClean="0"/>
              <a:t>6/10/2025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6250980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BD623C0-6495-45E5-AD9B-690C29EB2D28}" type="datetime1">
              <a:rPr lang="es-EC" smtClean="0"/>
              <a:t>6/10/2025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3948978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4D8EE3C-3A2D-421B-8BCE-DCA3638F2800}" type="datetime1">
              <a:rPr lang="es-EC" smtClean="0"/>
              <a:t>6/10/2025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1671556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2388CD59-2A04-42D5-AA4D-4D652CDD4F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ACB7E47F-E9E0-484A-A955-D653EC4EC2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FE9FD370-1529-4663-A066-0AB8EA718A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7CCF6A-450D-4AA0-A3EC-80C0876FF104}" type="datetimeFigureOut">
              <a:rPr lang="es-EC" smtClean="0"/>
              <a:t>7/10/2025</a:t>
            </a:fld>
            <a:endParaRPr lang="es-EC"/>
          </a:p>
        </p:txBody>
      </p:sp>
      <p:sp>
        <p:nvSpPr>
          <p:cNvPr id="5" name="Marcador de pie de página 4">
            <a:extLst>
              <a:ext uri="{FF2B5EF4-FFF2-40B4-BE49-F238E27FC236}">
                <a16:creationId xmlns:a16="http://schemas.microsoft.com/office/drawing/2014/main" id="{DB20B59E-8214-4613-8D24-8A16E7EDF5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C"/>
          </a:p>
        </p:txBody>
      </p:sp>
      <p:sp>
        <p:nvSpPr>
          <p:cNvPr id="6" name="Marcador de número de diapositiva 5">
            <a:extLst>
              <a:ext uri="{FF2B5EF4-FFF2-40B4-BE49-F238E27FC236}">
                <a16:creationId xmlns:a16="http://schemas.microsoft.com/office/drawing/2014/main" id="{A7884C82-B4BF-412E-9E95-E3F336AC75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A7A451-719B-4D04-92B8-1BC4047F9AFB}" type="slidenum">
              <a:rPr lang="es-EC" smtClean="0"/>
              <a:t>‹Nº›</a:t>
            </a:fld>
            <a:endParaRPr lang="es-EC"/>
          </a:p>
        </p:txBody>
      </p:sp>
    </p:spTree>
    <p:extLst>
      <p:ext uri="{BB962C8B-B14F-4D97-AF65-F5344CB8AC3E}">
        <p14:creationId xmlns:p14="http://schemas.microsoft.com/office/powerpoint/2010/main" val="4367014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600200"/>
          </a:xfrm>
          <a:prstGeom prst="rect">
            <a:avLst/>
          </a:prstGeom>
        </p:spPr>
        <p:txBody>
          <a:bodyPr vert="horz" lIns="91440" tIns="45720" rIns="91440" bIns="45720" rtlCol="0" anchor="b">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484463" y="6356351"/>
            <a:ext cx="2781300"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214FB16F-AFAA-44A5-84B2-773ABBFEBDB3}" type="datetime1">
              <a:rPr lang="es-EC" smtClean="0"/>
              <a:t>6/10/2025</a:t>
            </a:fld>
            <a:endParaRPr lang="es-EC"/>
          </a:p>
        </p:txBody>
      </p:sp>
      <p:sp>
        <p:nvSpPr>
          <p:cNvPr id="5" name="Footer Placeholder 4"/>
          <p:cNvSpPr>
            <a:spLocks noGrp="1"/>
          </p:cNvSpPr>
          <p:nvPr>
            <p:ph type="ftr" sz="quarter" idx="3"/>
          </p:nvPr>
        </p:nvSpPr>
        <p:spPr>
          <a:xfrm>
            <a:off x="878887" y="6356351"/>
            <a:ext cx="3797300"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s-EC"/>
          </a:p>
        </p:txBody>
      </p:sp>
      <p:sp>
        <p:nvSpPr>
          <p:cNvPr id="6" name="Slide Number Placeholder 5"/>
          <p:cNvSpPr>
            <a:spLocks noGrp="1"/>
          </p:cNvSpPr>
          <p:nvPr>
            <p:ph type="sldNum" sz="quarter" idx="4"/>
          </p:nvPr>
        </p:nvSpPr>
        <p:spPr>
          <a:xfrm>
            <a:off x="11391038" y="6356351"/>
            <a:ext cx="749300"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14B28EB2-3408-4757-A806-361BA67028B7}" type="slidenum">
              <a:rPr lang="es-EC" smtClean="0"/>
              <a:t>‹Nº›</a:t>
            </a:fld>
            <a:endParaRPr lang="es-EC"/>
          </a:p>
        </p:txBody>
      </p:sp>
      <p:sp>
        <p:nvSpPr>
          <p:cNvPr id="7" name="Oval 6"/>
          <p:cNvSpPr/>
          <p:nvPr/>
        </p:nvSpPr>
        <p:spPr>
          <a:xfrm>
            <a:off x="11277014"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758826"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8748913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openxmlformats.org/officeDocument/2006/relationships/image" Target="../media/image14.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1559496" y="1844824"/>
            <a:ext cx="3562424" cy="1296144"/>
          </a:xfrm>
          <a:prstGeom prst="rect">
            <a:avLst/>
          </a:prstGeom>
        </p:spPr>
        <p:txBody>
          <a:bodyPr vert="horz" lIns="91440" tIns="45720" rIns="91440" bIns="45720" rtlCol="0" anchor="b">
            <a:noAutofit/>
          </a:bodyPr>
          <a:lstStyle>
            <a:lvl1pPr algn="ctr" defTabSz="914400" rtl="0" eaLnBrk="1" latinLnBrk="0" hangingPunct="1">
              <a:lnSpc>
                <a:spcPct val="100000"/>
              </a:lnSpc>
              <a:spcBef>
                <a:spcPct val="0"/>
              </a:spcBef>
              <a:buNone/>
              <a:defRPr sz="8000" kern="120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EC" sz="2400" b="1" dirty="0">
                <a:effectLst/>
                <a:latin typeface="Arial" pitchFamily="34" charset="0"/>
                <a:cs typeface="Arial" pitchFamily="34" charset="0"/>
              </a:rPr>
              <a:t>CAPÍTULO 1: FUNDAMENTOS DEL LENGUAJE C/C++</a:t>
            </a:r>
            <a:endParaRPr lang="es-ES" sz="2400" b="1" dirty="0">
              <a:effectLst/>
              <a:latin typeface="Arial" pitchFamily="34" charset="0"/>
              <a:cs typeface="Arial" pitchFamily="34" charset="0"/>
            </a:endParaRPr>
          </a:p>
        </p:txBody>
      </p:sp>
      <p:sp>
        <p:nvSpPr>
          <p:cNvPr id="7" name="Rectangle 3"/>
          <p:cNvSpPr txBox="1">
            <a:spLocks noChangeArrowheads="1"/>
          </p:cNvSpPr>
          <p:nvPr/>
        </p:nvSpPr>
        <p:spPr>
          <a:xfrm>
            <a:off x="2135560" y="4293096"/>
            <a:ext cx="8280400" cy="1814206"/>
          </a:xfrm>
          <a:prstGeom prst="rect">
            <a:avLst/>
          </a:prstGeom>
        </p:spPr>
        <p:txBody>
          <a:bodyPr vert="horz" lIns="91440" tIns="45720" rIns="91440" bIns="45720" rtlCol="0">
            <a:normAutofit fontScale="92500" lnSpcReduction="20000"/>
          </a:bodyPr>
          <a:lstStyle>
            <a:lvl1pPr marL="0" indent="0" algn="ctr" defTabSz="914400"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1pPr>
            <a:lvl2pPr marL="4572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2pPr>
            <a:lvl3pPr marL="9144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3pPr>
            <a:lvl4pPr marL="13716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5pPr>
            <a:lvl6pPr marL="22860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7pPr>
            <a:lvl8pPr marL="32004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9pPr>
          </a:lstStyle>
          <a:p>
            <a:pPr>
              <a:lnSpc>
                <a:spcPct val="80000"/>
              </a:lnSpc>
            </a:pPr>
            <a:r>
              <a:rPr lang="es-ES" dirty="0"/>
              <a:t>César Villacís, Margarita Zambrano, Sofía Bayona, Luis Pastor, David Alvarado, Luis García, Kevin Topón  </a:t>
            </a:r>
            <a:endParaRPr lang="en-US" b="1" dirty="0">
              <a:solidFill>
                <a:schemeClr val="tx2"/>
              </a:solidFill>
            </a:endParaRPr>
          </a:p>
          <a:p>
            <a:pPr>
              <a:lnSpc>
                <a:spcPct val="80000"/>
              </a:lnSpc>
            </a:pPr>
            <a:endParaRPr lang="en-US" b="1" dirty="0">
              <a:solidFill>
                <a:schemeClr val="tx2"/>
              </a:solidFill>
            </a:endParaRPr>
          </a:p>
          <a:p>
            <a:r>
              <a:rPr lang="es-EC" sz="1800" dirty="0"/>
              <a:t>Universidad de las Fueras Armadas – ESPE</a:t>
            </a:r>
          </a:p>
          <a:p>
            <a:r>
              <a:rPr lang="es-ES" sz="1800" dirty="0"/>
              <a:t>Quito, Ecuador</a:t>
            </a:r>
          </a:p>
          <a:p>
            <a:endParaRPr lang="es-EC" sz="1800" dirty="0"/>
          </a:p>
          <a:p>
            <a:r>
              <a:rPr lang="es-ES" sz="1800" dirty="0">
                <a:solidFill>
                  <a:srgbClr val="0070C0"/>
                </a:solidFill>
              </a:rPr>
              <a:t>e-mail: {cjvillacis, mezambrano,kdtopon,lfgarcia}@espe.edu.ec</a:t>
            </a:r>
            <a:endParaRPr lang="en-US" sz="1800" b="1" dirty="0">
              <a:solidFill>
                <a:srgbClr val="0070C0"/>
              </a:solidFill>
            </a:endParaRPr>
          </a:p>
          <a:p>
            <a:pPr>
              <a:lnSpc>
                <a:spcPct val="80000"/>
              </a:lnSpc>
            </a:pPr>
            <a:endParaRPr lang="en-US" b="1" dirty="0">
              <a:solidFill>
                <a:schemeClr val="hlink"/>
              </a:solidFill>
            </a:endParaRPr>
          </a:p>
          <a:p>
            <a:pPr>
              <a:lnSpc>
                <a:spcPct val="80000"/>
              </a:lnSpc>
            </a:pPr>
            <a:endParaRPr lang="es-ES" b="1" dirty="0">
              <a:solidFill>
                <a:schemeClr val="hlink"/>
              </a:solidFill>
            </a:endParaRPr>
          </a:p>
          <a:p>
            <a:pPr>
              <a:lnSpc>
                <a:spcPct val="80000"/>
              </a:lnSpc>
            </a:pPr>
            <a:endParaRPr lang="es-ES" b="1" dirty="0"/>
          </a:p>
        </p:txBody>
      </p:sp>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7552" y="281472"/>
            <a:ext cx="2967310" cy="927596"/>
          </a:xfrm>
          <a:prstGeom prst="rect">
            <a:avLst/>
          </a:prstGeom>
        </p:spPr>
      </p:pic>
      <p:pic>
        <p:nvPicPr>
          <p:cNvPr id="12" name="Imagen 11">
            <a:extLst>
              <a:ext uri="{FF2B5EF4-FFF2-40B4-BE49-F238E27FC236}">
                <a16:creationId xmlns:a16="http://schemas.microsoft.com/office/drawing/2014/main" id="{771F6278-F22F-1B52-5B3D-9A53240E0CCC}"/>
              </a:ext>
            </a:extLst>
          </p:cNvPr>
          <p:cNvPicPr>
            <a:picLocks noChangeAspect="1"/>
          </p:cNvPicPr>
          <p:nvPr/>
        </p:nvPicPr>
        <p:blipFill>
          <a:blip r:embed="rId4"/>
          <a:stretch>
            <a:fillRect/>
          </a:stretch>
        </p:blipFill>
        <p:spPr>
          <a:xfrm>
            <a:off x="5375920" y="1178050"/>
            <a:ext cx="3366640" cy="2755007"/>
          </a:xfrm>
          <a:prstGeom prst="rect">
            <a:avLst/>
          </a:prstGeom>
        </p:spPr>
      </p:pic>
    </p:spTree>
    <p:extLst>
      <p:ext uri="{BB962C8B-B14F-4D97-AF65-F5344CB8AC3E}">
        <p14:creationId xmlns:p14="http://schemas.microsoft.com/office/powerpoint/2010/main" val="1158697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lnSpcReduction="10000"/>
          </a:bodyPr>
          <a:lstStyle/>
          <a:p>
            <a:r>
              <a:rPr lang="es-MX" sz="3400" b="1" dirty="0">
                <a:solidFill>
                  <a:srgbClr val="FF0000"/>
                </a:solidFill>
              </a:rPr>
              <a:t>Funciones de Entrada y Salida de Datos</a:t>
            </a:r>
            <a:endParaRPr lang="es-419" sz="3400" b="1" dirty="0">
              <a:solidFill>
                <a:srgbClr val="FF0000"/>
              </a:solidFill>
            </a:endParaRPr>
          </a:p>
          <a:p>
            <a:pPr lvl="1"/>
            <a:r>
              <a:rPr lang="es-MX" sz="2000" dirty="0"/>
              <a:t>Funciones de Entrada y Salida de Datos </a:t>
            </a:r>
          </a:p>
          <a:p>
            <a:pPr lvl="1"/>
            <a:r>
              <a:rPr lang="es-MX" sz="2000" dirty="0"/>
              <a:t>Función de Salida cout &lt;&lt; </a:t>
            </a:r>
          </a:p>
          <a:p>
            <a:pPr lvl="1"/>
            <a:r>
              <a:rPr lang="es-MX" sz="2000" dirty="0"/>
              <a:t>Función de Entrada cin &gt;&gt; </a:t>
            </a:r>
          </a:p>
          <a:p>
            <a:pPr lvl="1"/>
            <a:r>
              <a:rPr lang="es-MX" sz="2000" dirty="0"/>
              <a:t>Problema 1.7. (Aplicación de las funciones cout y cin) </a:t>
            </a:r>
          </a:p>
          <a:p>
            <a:pPr lvl="1"/>
            <a:r>
              <a:rPr lang="es-MX" sz="2000" dirty="0"/>
              <a:t>Función de Salida printf() </a:t>
            </a:r>
          </a:p>
          <a:p>
            <a:pPr lvl="1"/>
            <a:r>
              <a:rPr lang="es-MX" sz="2000" dirty="0"/>
              <a:t>Especificadores de Formato </a:t>
            </a:r>
          </a:p>
          <a:p>
            <a:pPr lvl="1"/>
            <a:r>
              <a:rPr lang="es-MX" sz="2000" dirty="0"/>
              <a:t>Secuencias de Escape </a:t>
            </a:r>
          </a:p>
          <a:p>
            <a:pPr lvl="1"/>
            <a:r>
              <a:rPr lang="es-MX" sz="2000" dirty="0"/>
              <a:t>Problema 1.8. (Aplicación de las secuencias de escape) </a:t>
            </a:r>
          </a:p>
          <a:p>
            <a:pPr lvl="1"/>
            <a:r>
              <a:rPr lang="es-MX" sz="2000" dirty="0"/>
              <a:t>Función de Entrada scanf() </a:t>
            </a:r>
          </a:p>
          <a:p>
            <a:pPr lvl="1"/>
            <a:r>
              <a:rPr lang="es-MX" sz="2000" dirty="0"/>
              <a:t>Problema 1.9. (Aplicación de las funciones printf y scanf) </a:t>
            </a:r>
          </a:p>
          <a:p>
            <a:pPr lvl="1"/>
            <a:r>
              <a:rPr lang="es-MX" sz="2000" dirty="0"/>
              <a:t>Funciones de Utilidades Generales Estándar</a:t>
            </a:r>
            <a:endParaRPr lang="es-419" sz="1800" dirty="0"/>
          </a:p>
        </p:txBody>
      </p:sp>
      <p:sp>
        <p:nvSpPr>
          <p:cNvPr id="5" name="4 Marcador de fecha"/>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E4E129-A937-4BEE-8A17-D7969DFE55C2}" type="datetime1">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7/10/2025</a:t>
            </a:fld>
            <a:endParaRPr kumimoji="0" lang="es-EC" sz="1200" b="0" i="0" u="none" strike="noStrike" kern="1200" cap="none" spc="0" normalizeH="0" baseline="0" noProof="0" dirty="0">
              <a:ln>
                <a:noFill/>
              </a:ln>
              <a:solidFill>
                <a:prstClr val="black">
                  <a:lumMod val="65000"/>
                  <a:lumOff val="35000"/>
                </a:prstClr>
              </a:solidFill>
              <a:effectLst/>
              <a:uLnTx/>
              <a:uFillTx/>
              <a:latin typeface="Century Gothic" pitchFamily="34" charset="0"/>
              <a:ea typeface="+mn-ea"/>
              <a:cs typeface="+mn-cs"/>
            </a:endParaRPr>
          </a:p>
        </p:txBody>
      </p:sp>
      <p:sp>
        <p:nvSpPr>
          <p:cNvPr id="6" name="5 Marcador de número de diapositiva"/>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4B28EB2-3408-4757-A806-361BA67028B7}" type="slidenum">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endParaRPr>
          </a:p>
        </p:txBody>
      </p:sp>
    </p:spTree>
    <p:extLst>
      <p:ext uri="{BB962C8B-B14F-4D97-AF65-F5344CB8AC3E}">
        <p14:creationId xmlns:p14="http://schemas.microsoft.com/office/powerpoint/2010/main" val="2506737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81200" y="0"/>
            <a:ext cx="8229600" cy="980728"/>
          </a:xfrm>
        </p:spPr>
        <p:txBody>
          <a:bodyPr/>
          <a:lstStyle/>
          <a:p>
            <a:r>
              <a:rPr lang="es-EC" b="1" dirty="0"/>
              <a:t>Introducción</a:t>
            </a:r>
            <a:endParaRPr lang="en-US" b="1" dirty="0"/>
          </a:p>
        </p:txBody>
      </p:sp>
      <p:sp>
        <p:nvSpPr>
          <p:cNvPr id="5" name="4 Marcador de contenido"/>
          <p:cNvSpPr>
            <a:spLocks noGrp="1"/>
          </p:cNvSpPr>
          <p:nvPr>
            <p:ph idx="1"/>
          </p:nvPr>
        </p:nvSpPr>
        <p:spPr>
          <a:xfrm>
            <a:off x="1847528" y="2348880"/>
            <a:ext cx="4298532" cy="4156572"/>
          </a:xfrm>
        </p:spPr>
        <p:txBody>
          <a:bodyPr>
            <a:normAutofit fontScale="62500" lnSpcReduction="20000"/>
          </a:bodyPr>
          <a:lstStyle/>
          <a:p>
            <a:r>
              <a:rPr lang="es-MX" dirty="0"/>
              <a:t>El archivo de la librería de encabezado ‘iostream’ contiene un sinnúmero de funciones para entrada y salida de datos. Entre las funciones más importantes para esta sección están la función ‘</a:t>
            </a:r>
            <a:r>
              <a:rPr lang="es-MX" dirty="0" err="1"/>
              <a:t>cout</a:t>
            </a:r>
            <a:r>
              <a:rPr lang="es-MX" dirty="0"/>
              <a:t> &lt;&gt;’ que es una función para entrada de datos. </a:t>
            </a:r>
          </a:p>
          <a:p>
            <a:endParaRPr lang="es-MX" dirty="0"/>
          </a:p>
          <a:p>
            <a:r>
              <a:rPr lang="es-MX" dirty="0"/>
              <a:t>El archivo de la librería de encabezado “</a:t>
            </a:r>
            <a:r>
              <a:rPr lang="es-MX" dirty="0" err="1"/>
              <a:t>stdio.h</a:t>
            </a:r>
            <a:r>
              <a:rPr lang="es-MX" dirty="0"/>
              <a:t>” también contiene un sinnúmero de funciones para entrada y salida de datos. Entre las funciones más importantes para esta sección están la función printf() que es una función de salida de datos; y la función scanf() que es una función para entrada de datos. En la Figura 1.15 se muestra un ícono que representa a las funciones de entrada y salida de datos. </a:t>
            </a:r>
            <a:endParaRPr lang="es-ES" dirty="0"/>
          </a:p>
        </p:txBody>
      </p:sp>
      <p:sp>
        <p:nvSpPr>
          <p:cNvPr id="3" name="2 Marcador de fecha"/>
          <p:cNvSpPr>
            <a:spLocks noGrp="1"/>
          </p:cNvSpPr>
          <p:nvPr>
            <p:ph type="dt" sz="half" idx="10"/>
          </p:nvPr>
        </p:nvSpPr>
        <p:spPr/>
        <p:txBody>
          <a:bodyPr/>
          <a:lstStyle/>
          <a:p>
            <a:fld id="{44C3288D-7DAC-4DD2-9022-6C6BA4238517}" type="datetime1">
              <a:rPr lang="es-EC" smtClean="0"/>
              <a:t>7/10/2025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a:t>
            </a:fld>
            <a:endParaRPr lang="es-EC"/>
          </a:p>
        </p:txBody>
      </p:sp>
      <p:sp>
        <p:nvSpPr>
          <p:cNvPr id="8" name="7 CuadroTexto"/>
          <p:cNvSpPr txBox="1"/>
          <p:nvPr/>
        </p:nvSpPr>
        <p:spPr>
          <a:xfrm>
            <a:off x="2063552" y="1700808"/>
            <a:ext cx="8003726" cy="523220"/>
          </a:xfrm>
          <a:prstGeom prst="rect">
            <a:avLst/>
          </a:prstGeom>
          <a:noFill/>
        </p:spPr>
        <p:txBody>
          <a:bodyPr wrap="square" rtlCol="0">
            <a:spAutoFit/>
          </a:bodyPr>
          <a:lstStyle/>
          <a:p>
            <a:r>
              <a:rPr lang="es-ES" sz="2800" dirty="0">
                <a:solidFill>
                  <a:schemeClr val="bg1">
                    <a:lumMod val="50000"/>
                  </a:schemeClr>
                </a:solidFill>
              </a:rPr>
              <a:t>Importancia</a:t>
            </a:r>
            <a:endParaRPr lang="es-EC" sz="2800" dirty="0">
              <a:solidFill>
                <a:schemeClr val="bg1">
                  <a:lumMod val="50000"/>
                </a:schemeClr>
              </a:solidFill>
            </a:endParaRPr>
          </a:p>
        </p:txBody>
      </p:sp>
      <p:sp>
        <p:nvSpPr>
          <p:cNvPr id="9" name="12 CuadroTexto"/>
          <p:cNvSpPr txBox="1"/>
          <p:nvPr/>
        </p:nvSpPr>
        <p:spPr>
          <a:xfrm>
            <a:off x="6306475" y="5157192"/>
            <a:ext cx="4355976" cy="830997"/>
          </a:xfrm>
          <a:prstGeom prst="rect">
            <a:avLst/>
          </a:prstGeom>
          <a:noFill/>
        </p:spPr>
        <p:txBody>
          <a:bodyPr wrap="square" rtlCol="0">
            <a:spAutoFit/>
          </a:bodyPr>
          <a:lstStyle/>
          <a:p>
            <a:r>
              <a:rPr lang="es-ES_tradnl" sz="1200" b="1" dirty="0">
                <a:solidFill>
                  <a:schemeClr val="tx1">
                    <a:lumMod val="50000"/>
                    <a:lumOff val="50000"/>
                  </a:schemeClr>
                </a:solidFill>
                <a:latin typeface="+mj-lt"/>
              </a:rPr>
              <a:t>Figura</a:t>
            </a:r>
            <a:r>
              <a:rPr lang="es-ES_tradnl" sz="1200" dirty="0">
                <a:solidFill>
                  <a:schemeClr val="tx1">
                    <a:lumMod val="50000"/>
                    <a:lumOff val="50000"/>
                  </a:schemeClr>
                </a:solidFill>
                <a:latin typeface="+mj-lt"/>
              </a:rPr>
              <a:t> </a:t>
            </a:r>
            <a:r>
              <a:rPr lang="es-ES_tradnl" sz="1200" b="1" dirty="0">
                <a:solidFill>
                  <a:schemeClr val="tx1">
                    <a:lumMod val="50000"/>
                    <a:lumOff val="50000"/>
                  </a:schemeClr>
                </a:solidFill>
                <a:latin typeface="+mj-lt"/>
              </a:rPr>
              <a:t>1.15</a:t>
            </a:r>
            <a:r>
              <a:rPr lang="es-ES_tradnl" sz="1200" dirty="0">
                <a:solidFill>
                  <a:schemeClr val="tx1">
                    <a:lumMod val="50000"/>
                    <a:lumOff val="50000"/>
                  </a:schemeClr>
                </a:solidFill>
                <a:latin typeface="+mj-lt"/>
              </a:rPr>
              <a:t>  </a:t>
            </a:r>
            <a:r>
              <a:rPr lang="es-MX" sz="1200" dirty="0">
                <a:solidFill>
                  <a:schemeClr val="tx1">
                    <a:lumMod val="50000"/>
                    <a:lumOff val="50000"/>
                  </a:schemeClr>
                </a:solidFill>
                <a:latin typeface="+mj-lt"/>
              </a:rPr>
              <a:t>Ícono que representa las funciones de entrada y salida de datos.</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endParaRPr lang="es-ES_tradnl" sz="1200" dirty="0">
              <a:solidFill>
                <a:schemeClr val="tx1">
                  <a:lumMod val="50000"/>
                  <a:lumOff val="50000"/>
                </a:schemeClr>
              </a:solidFill>
              <a:latin typeface="+mj-lt"/>
            </a:endParaRPr>
          </a:p>
        </p:txBody>
      </p:sp>
      <p:pic>
        <p:nvPicPr>
          <p:cNvPr id="7" name="Imagen 6">
            <a:extLst>
              <a:ext uri="{FF2B5EF4-FFF2-40B4-BE49-F238E27FC236}">
                <a16:creationId xmlns:a16="http://schemas.microsoft.com/office/drawing/2014/main" id="{D1E6628F-DFC1-432F-A73A-305EFA6D2369}"/>
              </a:ext>
            </a:extLst>
          </p:cNvPr>
          <p:cNvPicPr>
            <a:picLocks noChangeAspect="1"/>
          </p:cNvPicPr>
          <p:nvPr/>
        </p:nvPicPr>
        <p:blipFill>
          <a:blip r:embed="rId3"/>
          <a:stretch>
            <a:fillRect/>
          </a:stretch>
        </p:blipFill>
        <p:spPr>
          <a:xfrm>
            <a:off x="6448203" y="2352524"/>
            <a:ext cx="3896269" cy="2557275"/>
          </a:xfrm>
          <a:prstGeom prst="rect">
            <a:avLst/>
          </a:prstGeom>
        </p:spPr>
      </p:pic>
    </p:spTree>
    <p:extLst>
      <p:ext uri="{BB962C8B-B14F-4D97-AF65-F5344CB8AC3E}">
        <p14:creationId xmlns:p14="http://schemas.microsoft.com/office/powerpoint/2010/main" val="1641893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marL="342900" lvl="1" indent="-342900">
              <a:lnSpc>
                <a:spcPct val="80000"/>
              </a:lnSpc>
              <a:buFont typeface="Arial" pitchFamily="34" charset="0"/>
              <a:buChar char="•"/>
            </a:pPr>
            <a:r>
              <a:rPr lang="es-MX" sz="2100" b="1" dirty="0">
                <a:solidFill>
                  <a:schemeClr val="bg1">
                    <a:lumMod val="50000"/>
                  </a:schemeClr>
                </a:solidFill>
              </a:rPr>
              <a:t>Funciones de Entrada y Salida de Datos</a:t>
            </a:r>
            <a:endParaRPr lang="es-419" sz="2100" b="1" dirty="0">
              <a:solidFill>
                <a:schemeClr val="bg1">
                  <a:lumMod val="50000"/>
                </a:schemeClr>
              </a:solidFill>
            </a:endParaRPr>
          </a:p>
          <a:p>
            <a:pPr lvl="1"/>
            <a:r>
              <a:rPr lang="es-MX" sz="2000" b="1" dirty="0">
                <a:solidFill>
                  <a:srgbClr val="FF0000"/>
                </a:solidFill>
              </a:rPr>
              <a:t>Función de Salida cout &lt;&lt; </a:t>
            </a:r>
          </a:p>
          <a:p>
            <a:pPr lvl="1"/>
            <a:r>
              <a:rPr lang="es-MX" sz="2000" dirty="0"/>
              <a:t>Función de Entrada cin &gt;&gt; </a:t>
            </a:r>
          </a:p>
          <a:p>
            <a:pPr lvl="1"/>
            <a:r>
              <a:rPr lang="es-MX" sz="2000" dirty="0"/>
              <a:t>Problema 1.7. (Aplicación de las funciones cout y cin) </a:t>
            </a:r>
          </a:p>
          <a:p>
            <a:pPr lvl="1"/>
            <a:r>
              <a:rPr lang="es-MX" sz="2000" dirty="0"/>
              <a:t>Función de Salida printf() </a:t>
            </a:r>
          </a:p>
          <a:p>
            <a:pPr lvl="1"/>
            <a:r>
              <a:rPr lang="es-MX" sz="2000" dirty="0"/>
              <a:t>Especificadores de Formato </a:t>
            </a:r>
          </a:p>
          <a:p>
            <a:pPr lvl="1"/>
            <a:r>
              <a:rPr lang="es-MX" sz="2000" dirty="0"/>
              <a:t>Secuencias de Escape </a:t>
            </a:r>
          </a:p>
          <a:p>
            <a:pPr lvl="1"/>
            <a:r>
              <a:rPr lang="es-MX" sz="2000" dirty="0"/>
              <a:t>Problema 1.8. (Aplicación de las secuencias de escape) </a:t>
            </a:r>
          </a:p>
          <a:p>
            <a:pPr lvl="1"/>
            <a:r>
              <a:rPr lang="es-MX" sz="2000" dirty="0"/>
              <a:t>Función de Entrada scanf() </a:t>
            </a:r>
          </a:p>
          <a:p>
            <a:pPr lvl="1"/>
            <a:r>
              <a:rPr lang="es-MX" sz="2000" dirty="0"/>
              <a:t>Problema 1.9. (Aplicación de las funciones printf y scanf) </a:t>
            </a:r>
          </a:p>
          <a:p>
            <a:pPr lvl="1"/>
            <a:r>
              <a:rPr lang="es-MX" sz="2000" dirty="0"/>
              <a:t>Funciones de Utilidades Generales Estándar</a:t>
            </a:r>
            <a:endParaRPr lang="es-419" sz="1800" dirty="0"/>
          </a:p>
        </p:txBody>
      </p:sp>
      <p:sp>
        <p:nvSpPr>
          <p:cNvPr id="5" name="4 Marcador de fecha"/>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E4E129-A937-4BEE-8A17-D7969DFE55C2}" type="datetime1">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7/10/2025</a:t>
            </a:fld>
            <a:endParaRPr kumimoji="0" lang="es-EC" sz="1200" b="0" i="0" u="none" strike="noStrike" kern="1200" cap="none" spc="0" normalizeH="0" baseline="0" noProof="0" dirty="0">
              <a:ln>
                <a:noFill/>
              </a:ln>
              <a:solidFill>
                <a:prstClr val="black">
                  <a:lumMod val="65000"/>
                  <a:lumOff val="35000"/>
                </a:prstClr>
              </a:solidFill>
              <a:effectLst/>
              <a:uLnTx/>
              <a:uFillTx/>
              <a:latin typeface="Century Gothic" pitchFamily="34" charset="0"/>
              <a:ea typeface="+mn-ea"/>
              <a:cs typeface="+mn-cs"/>
            </a:endParaRPr>
          </a:p>
        </p:txBody>
      </p:sp>
      <p:sp>
        <p:nvSpPr>
          <p:cNvPr id="6" name="5 Marcador de número de diapositiva"/>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4B28EB2-3408-4757-A806-361BA67028B7}" type="slidenum">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endParaRPr>
          </a:p>
        </p:txBody>
      </p:sp>
    </p:spTree>
    <p:extLst>
      <p:ext uri="{BB962C8B-B14F-4D97-AF65-F5344CB8AC3E}">
        <p14:creationId xmlns:p14="http://schemas.microsoft.com/office/powerpoint/2010/main" val="19037658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063552" y="693707"/>
            <a:ext cx="8229600" cy="980728"/>
          </a:xfrm>
        </p:spPr>
        <p:txBody>
          <a:bodyPr/>
          <a:lstStyle/>
          <a:p>
            <a:r>
              <a:rPr lang="es-MX" b="1" dirty="0"/>
              <a:t>Función de Salida cout &lt;&lt; </a:t>
            </a:r>
            <a:br>
              <a:rPr lang="es-MX" sz="5400" b="1" dirty="0">
                <a:solidFill>
                  <a:srgbClr val="FF0000"/>
                </a:solidFill>
              </a:rPr>
            </a:br>
            <a:endParaRPr lang="en-US" b="1" dirty="0"/>
          </a:p>
        </p:txBody>
      </p:sp>
      <p:sp>
        <p:nvSpPr>
          <p:cNvPr id="5" name="4 Marcador de contenido"/>
          <p:cNvSpPr>
            <a:spLocks noGrp="1"/>
          </p:cNvSpPr>
          <p:nvPr>
            <p:ph idx="1"/>
          </p:nvPr>
        </p:nvSpPr>
        <p:spPr>
          <a:xfrm>
            <a:off x="1282194" y="1770651"/>
            <a:ext cx="4298532" cy="4156572"/>
          </a:xfrm>
        </p:spPr>
        <p:txBody>
          <a:bodyPr>
            <a:normAutofit fontScale="92500" lnSpcReduction="20000"/>
          </a:bodyPr>
          <a:lstStyle/>
          <a:p>
            <a:r>
              <a:rPr lang="es-MX" sz="1800" dirty="0"/>
              <a:t>El programa 1.1 es capaz de desplegar datos desde la ventana de la consola. Al examinar el código del programa 1.1 se observa que se invoca dos veces a la función ‘</a:t>
            </a:r>
            <a:r>
              <a:rPr lang="es-MX" sz="1800" dirty="0" err="1"/>
              <a:t>cout</a:t>
            </a:r>
            <a:r>
              <a:rPr lang="es-MX" sz="1800" dirty="0"/>
              <a:t> &lt;&lt;’ para imprimir mensajes de texto. Entonces, la función ‘</a:t>
            </a:r>
            <a:r>
              <a:rPr lang="es-MX" sz="1800" dirty="0" err="1"/>
              <a:t>cout</a:t>
            </a:r>
            <a:r>
              <a:rPr lang="es-MX" sz="1800" dirty="0"/>
              <a:t> &lt;&lt;’ permite imprimir cadenas de caracteres o texto (Luna, F., 2004).</a:t>
            </a:r>
          </a:p>
          <a:p>
            <a:pPr marL="0" indent="0">
              <a:buNone/>
            </a:pPr>
            <a:r>
              <a:rPr lang="es-MX" sz="1800" dirty="0"/>
              <a:t>  </a:t>
            </a:r>
          </a:p>
          <a:p>
            <a:r>
              <a:rPr lang="es-MX" sz="1800" dirty="0"/>
              <a:t>El símbolo ‘&lt;&lt;’ se lo conoce como operador de inserción y toma sentido cuando se considera que este símbolo es utilizado para insertar una salida dentro de un flujo de salida de datos</a:t>
            </a:r>
            <a:endParaRPr lang="es-ES" sz="1800" dirty="0"/>
          </a:p>
        </p:txBody>
      </p:sp>
      <p:sp>
        <p:nvSpPr>
          <p:cNvPr id="3" name="2 Marcador de fecha"/>
          <p:cNvSpPr>
            <a:spLocks noGrp="1"/>
          </p:cNvSpPr>
          <p:nvPr>
            <p:ph type="dt" sz="half" idx="10"/>
          </p:nvPr>
        </p:nvSpPr>
        <p:spPr/>
        <p:txBody>
          <a:bodyPr/>
          <a:lstStyle/>
          <a:p>
            <a:fld id="{44C3288D-7DAC-4DD2-9022-6C6BA4238517}" type="datetime1">
              <a:rPr lang="es-EC" smtClean="0"/>
              <a:t>7/10/2025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5</a:t>
            </a:fld>
            <a:endParaRPr lang="es-EC"/>
          </a:p>
        </p:txBody>
      </p:sp>
      <p:sp>
        <p:nvSpPr>
          <p:cNvPr id="9" name="12 CuadroTexto"/>
          <p:cNvSpPr txBox="1"/>
          <p:nvPr/>
        </p:nvSpPr>
        <p:spPr>
          <a:xfrm>
            <a:off x="5885207" y="5031686"/>
            <a:ext cx="4355976" cy="646331"/>
          </a:xfrm>
          <a:prstGeom prst="rect">
            <a:avLst/>
          </a:prstGeom>
          <a:noFill/>
        </p:spPr>
        <p:txBody>
          <a:bodyPr wrap="square" rtlCol="0">
            <a:spAutoFit/>
          </a:bodyPr>
          <a:lstStyle/>
          <a:p>
            <a:r>
              <a:rPr lang="es-ES_tradnl" sz="1200" b="1" dirty="0">
                <a:solidFill>
                  <a:schemeClr val="tx1">
                    <a:lumMod val="50000"/>
                    <a:lumOff val="50000"/>
                  </a:schemeClr>
                </a:solidFill>
                <a:latin typeface="+mj-lt"/>
              </a:rPr>
              <a:t>Programa 1.1</a:t>
            </a:r>
            <a:r>
              <a:rPr lang="es-ES_tradnl" sz="1200" dirty="0">
                <a:solidFill>
                  <a:schemeClr val="tx1">
                    <a:lumMod val="50000"/>
                    <a:lumOff val="50000"/>
                  </a:schemeClr>
                </a:solidFill>
                <a:latin typeface="+mj-lt"/>
              </a:rPr>
              <a:t> Código del Programa . Fuente: Zambrano M., et al., 2025.</a:t>
            </a:r>
            <a:endParaRPr lang="es-EC" sz="1200" dirty="0">
              <a:solidFill>
                <a:schemeClr val="tx1">
                  <a:lumMod val="50000"/>
                  <a:lumOff val="50000"/>
                </a:schemeClr>
              </a:solidFill>
              <a:latin typeface="+mj-lt"/>
            </a:endParaRPr>
          </a:p>
          <a:p>
            <a:endParaRPr lang="es-ES_tradnl" sz="1200" dirty="0">
              <a:solidFill>
                <a:schemeClr val="tx1">
                  <a:lumMod val="50000"/>
                  <a:lumOff val="50000"/>
                </a:schemeClr>
              </a:solidFill>
              <a:latin typeface="+mj-lt"/>
            </a:endParaRPr>
          </a:p>
        </p:txBody>
      </p:sp>
      <p:pic>
        <p:nvPicPr>
          <p:cNvPr id="10" name="Imagen 9">
            <a:extLst>
              <a:ext uri="{FF2B5EF4-FFF2-40B4-BE49-F238E27FC236}">
                <a16:creationId xmlns:a16="http://schemas.microsoft.com/office/drawing/2014/main" id="{4CF31EA3-83F1-4043-8445-EC31E92585E9}"/>
              </a:ext>
            </a:extLst>
          </p:cNvPr>
          <p:cNvPicPr>
            <a:picLocks noChangeAspect="1"/>
          </p:cNvPicPr>
          <p:nvPr/>
        </p:nvPicPr>
        <p:blipFill rotWithShape="1">
          <a:blip r:embed="rId3"/>
          <a:srcRect b="2064"/>
          <a:stretch/>
        </p:blipFill>
        <p:spPr>
          <a:xfrm>
            <a:off x="5885207" y="1674435"/>
            <a:ext cx="5150346" cy="3114595"/>
          </a:xfrm>
          <a:prstGeom prst="rect">
            <a:avLst/>
          </a:prstGeom>
        </p:spPr>
      </p:pic>
    </p:spTree>
    <p:extLst>
      <p:ext uri="{BB962C8B-B14F-4D97-AF65-F5344CB8AC3E}">
        <p14:creationId xmlns:p14="http://schemas.microsoft.com/office/powerpoint/2010/main" val="2028690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marL="342900" lvl="1" indent="-342900">
              <a:lnSpc>
                <a:spcPct val="80000"/>
              </a:lnSpc>
              <a:buFont typeface="Arial" pitchFamily="34" charset="0"/>
              <a:buChar char="•"/>
            </a:pPr>
            <a:r>
              <a:rPr lang="es-MX" sz="2100" b="1" dirty="0">
                <a:solidFill>
                  <a:schemeClr val="bg1">
                    <a:lumMod val="50000"/>
                  </a:schemeClr>
                </a:solidFill>
              </a:rPr>
              <a:t>Funciones de Entrada y Salida de Datos</a:t>
            </a:r>
            <a:endParaRPr lang="es-419" sz="2100" b="1" dirty="0">
              <a:solidFill>
                <a:schemeClr val="bg1">
                  <a:lumMod val="50000"/>
                </a:schemeClr>
              </a:solidFill>
            </a:endParaRPr>
          </a:p>
          <a:p>
            <a:pPr lvl="1"/>
            <a:r>
              <a:rPr lang="es-MX" sz="2000" dirty="0"/>
              <a:t>Función de Salida cout &lt;&lt; </a:t>
            </a:r>
          </a:p>
          <a:p>
            <a:pPr lvl="1"/>
            <a:r>
              <a:rPr lang="es-MX" sz="2000" b="1" dirty="0">
                <a:solidFill>
                  <a:srgbClr val="FF0000"/>
                </a:solidFill>
              </a:rPr>
              <a:t>Función de Entrada cin &gt;&gt; </a:t>
            </a:r>
          </a:p>
          <a:p>
            <a:pPr lvl="1"/>
            <a:r>
              <a:rPr lang="es-MX" sz="2000" dirty="0"/>
              <a:t>Problema 1.7. (Aplicación de las funciones cout y cin) </a:t>
            </a:r>
          </a:p>
          <a:p>
            <a:pPr lvl="1"/>
            <a:r>
              <a:rPr lang="es-MX" sz="2000" dirty="0"/>
              <a:t>Función de Salida printf() </a:t>
            </a:r>
          </a:p>
          <a:p>
            <a:pPr lvl="1"/>
            <a:r>
              <a:rPr lang="es-MX" sz="2000" dirty="0"/>
              <a:t>Especificadores de Formato </a:t>
            </a:r>
          </a:p>
          <a:p>
            <a:pPr lvl="1"/>
            <a:r>
              <a:rPr lang="es-MX" sz="2000" dirty="0"/>
              <a:t>Secuencias de Escape </a:t>
            </a:r>
          </a:p>
          <a:p>
            <a:pPr lvl="1"/>
            <a:r>
              <a:rPr lang="es-MX" sz="2000" dirty="0"/>
              <a:t>Problema 1.8. (Aplicación de las secuencias de escape) </a:t>
            </a:r>
          </a:p>
          <a:p>
            <a:pPr lvl="1"/>
            <a:r>
              <a:rPr lang="es-MX" sz="2000" dirty="0"/>
              <a:t>Función de Entrada scanf() </a:t>
            </a:r>
          </a:p>
          <a:p>
            <a:pPr lvl="1"/>
            <a:r>
              <a:rPr lang="es-MX" sz="2000" dirty="0"/>
              <a:t>Problema 1.9. (Aplicación de las funciones printf y scanf) </a:t>
            </a:r>
          </a:p>
          <a:p>
            <a:pPr lvl="1"/>
            <a:r>
              <a:rPr lang="es-MX" sz="2000" dirty="0"/>
              <a:t>Funciones de Utilidades Generales Estándar</a:t>
            </a:r>
            <a:endParaRPr lang="es-419" sz="1800" dirty="0"/>
          </a:p>
        </p:txBody>
      </p:sp>
      <p:sp>
        <p:nvSpPr>
          <p:cNvPr id="5" name="4 Marcador de fecha"/>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E4E129-A937-4BEE-8A17-D7969DFE55C2}" type="datetime1">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7/10/2025</a:t>
            </a:fld>
            <a:endParaRPr kumimoji="0" lang="es-EC" sz="1200" b="0" i="0" u="none" strike="noStrike" kern="1200" cap="none" spc="0" normalizeH="0" baseline="0" noProof="0" dirty="0">
              <a:ln>
                <a:noFill/>
              </a:ln>
              <a:solidFill>
                <a:prstClr val="black">
                  <a:lumMod val="65000"/>
                  <a:lumOff val="35000"/>
                </a:prstClr>
              </a:solidFill>
              <a:effectLst/>
              <a:uLnTx/>
              <a:uFillTx/>
              <a:latin typeface="Century Gothic" pitchFamily="34" charset="0"/>
              <a:ea typeface="+mn-ea"/>
              <a:cs typeface="+mn-cs"/>
            </a:endParaRPr>
          </a:p>
        </p:txBody>
      </p:sp>
      <p:sp>
        <p:nvSpPr>
          <p:cNvPr id="6" name="5 Marcador de número de diapositiva"/>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4B28EB2-3408-4757-A806-361BA67028B7}" type="slidenum">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endParaRPr>
          </a:p>
        </p:txBody>
      </p:sp>
    </p:spTree>
    <p:extLst>
      <p:ext uri="{BB962C8B-B14F-4D97-AF65-F5344CB8AC3E}">
        <p14:creationId xmlns:p14="http://schemas.microsoft.com/office/powerpoint/2010/main" val="29680999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063552" y="693707"/>
            <a:ext cx="8229600" cy="980728"/>
          </a:xfrm>
        </p:spPr>
        <p:txBody>
          <a:bodyPr/>
          <a:lstStyle/>
          <a:p>
            <a:r>
              <a:rPr lang="es-MX" sz="4800" b="1" dirty="0"/>
              <a:t>Función de Entrada cin &gt;&gt;</a:t>
            </a:r>
            <a:br>
              <a:rPr lang="es-MX" sz="4800" b="1" dirty="0">
                <a:solidFill>
                  <a:srgbClr val="FF0000"/>
                </a:solidFill>
              </a:rPr>
            </a:br>
            <a:endParaRPr lang="en-US" sz="4800" b="1" dirty="0"/>
          </a:p>
        </p:txBody>
      </p:sp>
      <p:sp>
        <p:nvSpPr>
          <p:cNvPr id="5" name="4 Marcador de contenido"/>
          <p:cNvSpPr>
            <a:spLocks noGrp="1"/>
          </p:cNvSpPr>
          <p:nvPr>
            <p:ph idx="1"/>
          </p:nvPr>
        </p:nvSpPr>
        <p:spPr>
          <a:xfrm>
            <a:off x="1350979" y="1465852"/>
            <a:ext cx="4413327" cy="4156572"/>
          </a:xfrm>
        </p:spPr>
        <p:txBody>
          <a:bodyPr>
            <a:normAutofit fontScale="92500" lnSpcReduction="10000"/>
          </a:bodyPr>
          <a:lstStyle/>
          <a:p>
            <a:r>
              <a:rPr lang="es-MX" sz="1800" dirty="0"/>
              <a:t>La función ‘</a:t>
            </a:r>
            <a:r>
              <a:rPr lang="es-MX" sz="1800" dirty="0" err="1"/>
              <a:t>cin</a:t>
            </a:r>
            <a:r>
              <a:rPr lang="es-MX" sz="1800" dirty="0"/>
              <a:t> &gt;&gt;’, es una función de entrada de datos por consola, que lee todos los tipos de datos definidos en C/C++, convirtiendo automáticamente al formato interno apropiado de acuerdo a los diferentes tipos de datos (Luna, F., 2004). </a:t>
            </a:r>
          </a:p>
          <a:p>
            <a:endParaRPr lang="es-MX" sz="1800" dirty="0"/>
          </a:p>
          <a:p>
            <a:endParaRPr lang="es-MX" sz="1800" dirty="0"/>
          </a:p>
          <a:p>
            <a:r>
              <a:rPr lang="es-MX" sz="1800" dirty="0"/>
              <a:t>El símbolo ‘&gt;&gt;’ se lo conoce como operador de extracción y toma sentido cuando se considera que este símbolo es utilizado para extraer una entrada dentro de un flujo de entrada de datos.</a:t>
            </a:r>
            <a:endParaRPr lang="es-ES" dirty="0"/>
          </a:p>
        </p:txBody>
      </p:sp>
      <p:sp>
        <p:nvSpPr>
          <p:cNvPr id="3" name="2 Marcador de fecha"/>
          <p:cNvSpPr>
            <a:spLocks noGrp="1"/>
          </p:cNvSpPr>
          <p:nvPr>
            <p:ph type="dt" sz="half" idx="10"/>
          </p:nvPr>
        </p:nvSpPr>
        <p:spPr/>
        <p:txBody>
          <a:bodyPr/>
          <a:lstStyle/>
          <a:p>
            <a:fld id="{44C3288D-7DAC-4DD2-9022-6C6BA4238517}" type="datetime1">
              <a:rPr lang="es-EC" smtClean="0"/>
              <a:t>7/10/2025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7</a:t>
            </a:fld>
            <a:endParaRPr lang="es-EC"/>
          </a:p>
        </p:txBody>
      </p:sp>
      <p:pic>
        <p:nvPicPr>
          <p:cNvPr id="7" name="Imagen 6">
            <a:extLst>
              <a:ext uri="{FF2B5EF4-FFF2-40B4-BE49-F238E27FC236}">
                <a16:creationId xmlns:a16="http://schemas.microsoft.com/office/drawing/2014/main" id="{645D7454-4A3F-4B35-8442-D8BAF4B9145A}"/>
              </a:ext>
            </a:extLst>
          </p:cNvPr>
          <p:cNvPicPr>
            <a:picLocks noChangeAspect="1"/>
          </p:cNvPicPr>
          <p:nvPr/>
        </p:nvPicPr>
        <p:blipFill>
          <a:blip r:embed="rId3"/>
          <a:stretch>
            <a:fillRect/>
          </a:stretch>
        </p:blipFill>
        <p:spPr>
          <a:xfrm>
            <a:off x="6096000" y="1788581"/>
            <a:ext cx="4975411" cy="2896004"/>
          </a:xfrm>
          <a:prstGeom prst="rect">
            <a:avLst/>
          </a:prstGeom>
        </p:spPr>
      </p:pic>
      <p:sp>
        <p:nvSpPr>
          <p:cNvPr id="12" name="CuadroTexto 11">
            <a:extLst>
              <a:ext uri="{FF2B5EF4-FFF2-40B4-BE49-F238E27FC236}">
                <a16:creationId xmlns:a16="http://schemas.microsoft.com/office/drawing/2014/main" id="{3C9CD81A-97F1-46D2-88DD-42CEDFF01851}"/>
              </a:ext>
            </a:extLst>
          </p:cNvPr>
          <p:cNvSpPr txBox="1"/>
          <p:nvPr/>
        </p:nvSpPr>
        <p:spPr>
          <a:xfrm>
            <a:off x="6178352" y="5197302"/>
            <a:ext cx="4246167" cy="646331"/>
          </a:xfrm>
          <a:prstGeom prst="rect">
            <a:avLst/>
          </a:prstGeom>
          <a:noFill/>
        </p:spPr>
        <p:txBody>
          <a:bodyPr wrap="square">
            <a:spAutoFit/>
          </a:bodyPr>
          <a:lstStyle/>
          <a:p>
            <a:r>
              <a:rPr lang="es-ES_tradnl" sz="1200" b="1" dirty="0">
                <a:solidFill>
                  <a:schemeClr val="tx1">
                    <a:lumMod val="50000"/>
                    <a:lumOff val="50000"/>
                  </a:schemeClr>
                </a:solidFill>
                <a:latin typeface="+mj-lt"/>
              </a:rPr>
              <a:t>Figura1.  </a:t>
            </a:r>
            <a:r>
              <a:rPr lang="es-MX" sz="1200" dirty="0">
                <a:solidFill>
                  <a:schemeClr val="tx1">
                    <a:lumMod val="50000"/>
                    <a:lumOff val="50000"/>
                  </a:schemeClr>
                </a:solidFill>
                <a:latin typeface="+mj-lt"/>
              </a:rPr>
              <a:t>Entrada cin .</a:t>
            </a:r>
            <a:r>
              <a:rPr lang="es-ES_tradnl" sz="1200" dirty="0">
                <a:solidFill>
                  <a:schemeClr val="tx1">
                    <a:lumMod val="50000"/>
                    <a:lumOff val="50000"/>
                  </a:schemeClr>
                </a:solidFill>
                <a:latin typeface="+mj-lt"/>
              </a:rPr>
              <a:t> Fuente: https://baulderasec.wordpress.com/programando-2/cc/entrada-de-cadenas-de-caracteres/</a:t>
            </a:r>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7063410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marL="342900" lvl="1" indent="-342900">
              <a:lnSpc>
                <a:spcPct val="80000"/>
              </a:lnSpc>
              <a:buFont typeface="Arial" pitchFamily="34" charset="0"/>
              <a:buChar char="•"/>
            </a:pPr>
            <a:r>
              <a:rPr lang="es-MX" sz="2100" b="1" dirty="0">
                <a:solidFill>
                  <a:schemeClr val="bg1">
                    <a:lumMod val="50000"/>
                  </a:schemeClr>
                </a:solidFill>
              </a:rPr>
              <a:t>Funciones de Entrada y Salida de Datos</a:t>
            </a:r>
            <a:endParaRPr lang="es-419" sz="2100" b="1" dirty="0">
              <a:solidFill>
                <a:schemeClr val="bg1">
                  <a:lumMod val="50000"/>
                </a:schemeClr>
              </a:solidFill>
            </a:endParaRPr>
          </a:p>
          <a:p>
            <a:pPr lvl="1"/>
            <a:r>
              <a:rPr lang="es-MX" sz="2000" dirty="0"/>
              <a:t>Función de Salida cout &lt;&lt; </a:t>
            </a:r>
          </a:p>
          <a:p>
            <a:pPr lvl="1"/>
            <a:r>
              <a:rPr lang="es-MX" sz="2000" dirty="0"/>
              <a:t>Función de Entrada cin &gt;&gt; </a:t>
            </a:r>
          </a:p>
          <a:p>
            <a:pPr lvl="1"/>
            <a:r>
              <a:rPr lang="es-MX" sz="2000" b="1" dirty="0">
                <a:solidFill>
                  <a:srgbClr val="FF0000"/>
                </a:solidFill>
              </a:rPr>
              <a:t>Problema 1.7. (Aplicación de las funciones cout y cin) </a:t>
            </a:r>
          </a:p>
          <a:p>
            <a:pPr lvl="1"/>
            <a:r>
              <a:rPr lang="es-MX" sz="2000" dirty="0"/>
              <a:t>Función de Salida printf() </a:t>
            </a:r>
          </a:p>
          <a:p>
            <a:pPr lvl="1"/>
            <a:r>
              <a:rPr lang="es-MX" sz="2000" dirty="0"/>
              <a:t>Especificadores de Formato </a:t>
            </a:r>
          </a:p>
          <a:p>
            <a:pPr lvl="1"/>
            <a:r>
              <a:rPr lang="es-MX" sz="2000" dirty="0"/>
              <a:t>Secuencias de Escape </a:t>
            </a:r>
          </a:p>
          <a:p>
            <a:pPr lvl="1"/>
            <a:r>
              <a:rPr lang="es-MX" sz="2000" dirty="0"/>
              <a:t>Problema 1.8. (Aplicación de las secuencias de escape) </a:t>
            </a:r>
          </a:p>
          <a:p>
            <a:pPr lvl="1"/>
            <a:r>
              <a:rPr lang="es-MX" sz="2000" dirty="0"/>
              <a:t>Función de Entrada scanf() </a:t>
            </a:r>
          </a:p>
          <a:p>
            <a:pPr lvl="1"/>
            <a:r>
              <a:rPr lang="es-MX" sz="2000" dirty="0"/>
              <a:t>Problema 1.9. (Aplicación de las funciones printf y scanf) </a:t>
            </a:r>
          </a:p>
          <a:p>
            <a:pPr lvl="1"/>
            <a:r>
              <a:rPr lang="es-MX" sz="2000" dirty="0"/>
              <a:t>Funciones de Utilidades Generales Estándar</a:t>
            </a:r>
            <a:endParaRPr lang="es-419" sz="1800" dirty="0"/>
          </a:p>
        </p:txBody>
      </p:sp>
      <p:sp>
        <p:nvSpPr>
          <p:cNvPr id="5" name="4 Marcador de fecha"/>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E4E129-A937-4BEE-8A17-D7969DFE55C2}" type="datetime1">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7/10/2025</a:t>
            </a:fld>
            <a:endParaRPr kumimoji="0" lang="es-EC" sz="1200" b="0" i="0" u="none" strike="noStrike" kern="1200" cap="none" spc="0" normalizeH="0" baseline="0" noProof="0" dirty="0">
              <a:ln>
                <a:noFill/>
              </a:ln>
              <a:solidFill>
                <a:prstClr val="black">
                  <a:lumMod val="65000"/>
                  <a:lumOff val="35000"/>
                </a:prstClr>
              </a:solidFill>
              <a:effectLst/>
              <a:uLnTx/>
              <a:uFillTx/>
              <a:latin typeface="Century Gothic" pitchFamily="34" charset="0"/>
              <a:ea typeface="+mn-ea"/>
              <a:cs typeface="+mn-cs"/>
            </a:endParaRPr>
          </a:p>
        </p:txBody>
      </p:sp>
      <p:sp>
        <p:nvSpPr>
          <p:cNvPr id="6" name="5 Marcador de número de diapositiva"/>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4B28EB2-3408-4757-A806-361BA67028B7}" type="slidenum">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endParaRPr>
          </a:p>
        </p:txBody>
      </p:sp>
    </p:spTree>
    <p:extLst>
      <p:ext uri="{BB962C8B-B14F-4D97-AF65-F5344CB8AC3E}">
        <p14:creationId xmlns:p14="http://schemas.microsoft.com/office/powerpoint/2010/main" val="41554177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949388" y="693707"/>
            <a:ext cx="7343763" cy="766538"/>
          </a:xfrm>
        </p:spPr>
        <p:txBody>
          <a:bodyPr/>
          <a:lstStyle/>
          <a:p>
            <a:br>
              <a:rPr lang="es-MX" sz="3600" b="1" dirty="0">
                <a:solidFill>
                  <a:srgbClr val="FF0000"/>
                </a:solidFill>
              </a:rPr>
            </a:br>
            <a:r>
              <a:rPr lang="es-MX" sz="4400" b="1" dirty="0"/>
              <a:t>Aplicación de las funciones cout y cin</a:t>
            </a:r>
            <a:endParaRPr lang="en-US" sz="3600" b="1" dirty="0"/>
          </a:p>
        </p:txBody>
      </p:sp>
      <p:sp>
        <p:nvSpPr>
          <p:cNvPr id="3" name="2 Marcador de fecha"/>
          <p:cNvSpPr>
            <a:spLocks noGrp="1"/>
          </p:cNvSpPr>
          <p:nvPr>
            <p:ph type="dt" sz="half" idx="10"/>
          </p:nvPr>
        </p:nvSpPr>
        <p:spPr/>
        <p:txBody>
          <a:bodyPr/>
          <a:lstStyle/>
          <a:p>
            <a:fld id="{44C3288D-7DAC-4DD2-9022-6C6BA4238517}" type="datetime1">
              <a:rPr lang="es-EC" smtClean="0"/>
              <a:t>7/10/2025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9</a:t>
            </a:fld>
            <a:endParaRPr lang="es-EC"/>
          </a:p>
        </p:txBody>
      </p:sp>
      <p:sp>
        <p:nvSpPr>
          <p:cNvPr id="9" name="12 CuadroTexto"/>
          <p:cNvSpPr txBox="1"/>
          <p:nvPr/>
        </p:nvSpPr>
        <p:spPr>
          <a:xfrm>
            <a:off x="1675075" y="5710020"/>
            <a:ext cx="4355976" cy="646331"/>
          </a:xfrm>
          <a:prstGeom prst="rect">
            <a:avLst/>
          </a:prstGeom>
          <a:noFill/>
        </p:spPr>
        <p:txBody>
          <a:bodyPr wrap="square" rtlCol="0">
            <a:spAutoFit/>
          </a:bodyPr>
          <a:lstStyle/>
          <a:p>
            <a:r>
              <a:rPr lang="es-ES_tradnl" sz="1200" b="1" dirty="0">
                <a:solidFill>
                  <a:schemeClr val="tx1">
                    <a:lumMod val="50000"/>
                    <a:lumOff val="50000"/>
                  </a:schemeClr>
                </a:solidFill>
                <a:latin typeface="+mj-lt"/>
              </a:rPr>
              <a:t>Programa 1.7</a:t>
            </a:r>
            <a:r>
              <a:rPr lang="es-ES_tradnl" sz="1200" dirty="0">
                <a:solidFill>
                  <a:schemeClr val="tx1">
                    <a:lumMod val="50000"/>
                    <a:lumOff val="50000"/>
                  </a:schemeClr>
                </a:solidFill>
                <a:latin typeface="+mj-lt"/>
              </a:rPr>
              <a:t> Código del Programa . Fuente: Zambrano M., et al., 2025.</a:t>
            </a:r>
            <a:endParaRPr lang="es-EC" sz="1200" dirty="0">
              <a:solidFill>
                <a:schemeClr val="tx1">
                  <a:lumMod val="50000"/>
                  <a:lumOff val="50000"/>
                </a:schemeClr>
              </a:solidFill>
              <a:latin typeface="+mj-lt"/>
            </a:endParaRPr>
          </a:p>
          <a:p>
            <a:endParaRPr lang="es-ES_tradnl" sz="1200" dirty="0">
              <a:solidFill>
                <a:schemeClr val="tx1">
                  <a:lumMod val="50000"/>
                  <a:lumOff val="50000"/>
                </a:schemeClr>
              </a:solidFill>
              <a:latin typeface="+mj-lt"/>
            </a:endParaRPr>
          </a:p>
        </p:txBody>
      </p:sp>
      <p:pic>
        <p:nvPicPr>
          <p:cNvPr id="11" name="Imagen 10">
            <a:extLst>
              <a:ext uri="{FF2B5EF4-FFF2-40B4-BE49-F238E27FC236}">
                <a16:creationId xmlns:a16="http://schemas.microsoft.com/office/drawing/2014/main" id="{FC87DE7B-E899-41AF-A721-1044051EBB0E}"/>
              </a:ext>
            </a:extLst>
          </p:cNvPr>
          <p:cNvPicPr>
            <a:picLocks noChangeAspect="1"/>
          </p:cNvPicPr>
          <p:nvPr/>
        </p:nvPicPr>
        <p:blipFill rotWithShape="1">
          <a:blip r:embed="rId3"/>
          <a:srcRect t="12162"/>
          <a:stretch/>
        </p:blipFill>
        <p:spPr>
          <a:xfrm>
            <a:off x="1675075" y="1676400"/>
            <a:ext cx="9366339" cy="3759570"/>
          </a:xfrm>
          <a:prstGeom prst="rect">
            <a:avLst/>
          </a:prstGeom>
        </p:spPr>
      </p:pic>
    </p:spTree>
    <p:extLst>
      <p:ext uri="{BB962C8B-B14F-4D97-AF65-F5344CB8AC3E}">
        <p14:creationId xmlns:p14="http://schemas.microsoft.com/office/powerpoint/2010/main" val="565294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949388" y="693707"/>
            <a:ext cx="7343763" cy="766538"/>
          </a:xfrm>
        </p:spPr>
        <p:txBody>
          <a:bodyPr/>
          <a:lstStyle/>
          <a:p>
            <a:br>
              <a:rPr lang="es-MX" sz="3600" b="1" dirty="0">
                <a:solidFill>
                  <a:srgbClr val="FF0000"/>
                </a:solidFill>
              </a:rPr>
            </a:br>
            <a:r>
              <a:rPr lang="es-MX" sz="4400" b="1" dirty="0"/>
              <a:t>Aplicación de las funciones cout y cin</a:t>
            </a:r>
            <a:endParaRPr lang="en-US" sz="3600" b="1" dirty="0"/>
          </a:p>
        </p:txBody>
      </p:sp>
      <p:sp>
        <p:nvSpPr>
          <p:cNvPr id="3" name="2 Marcador de fecha"/>
          <p:cNvSpPr>
            <a:spLocks noGrp="1"/>
          </p:cNvSpPr>
          <p:nvPr>
            <p:ph type="dt" sz="half" idx="10"/>
          </p:nvPr>
        </p:nvSpPr>
        <p:spPr/>
        <p:txBody>
          <a:bodyPr/>
          <a:lstStyle/>
          <a:p>
            <a:fld id="{44C3288D-7DAC-4DD2-9022-6C6BA4238517}" type="datetime1">
              <a:rPr lang="es-EC" smtClean="0"/>
              <a:t>7/10/2025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10</a:t>
            </a:fld>
            <a:endParaRPr lang="es-EC"/>
          </a:p>
        </p:txBody>
      </p:sp>
      <p:sp>
        <p:nvSpPr>
          <p:cNvPr id="9" name="12 CuadroTexto"/>
          <p:cNvSpPr txBox="1"/>
          <p:nvPr/>
        </p:nvSpPr>
        <p:spPr>
          <a:xfrm>
            <a:off x="1116480" y="2691975"/>
            <a:ext cx="4355976" cy="646331"/>
          </a:xfrm>
          <a:prstGeom prst="rect">
            <a:avLst/>
          </a:prstGeom>
          <a:noFill/>
        </p:spPr>
        <p:txBody>
          <a:bodyPr wrap="square" rtlCol="0">
            <a:spAutoFit/>
          </a:bodyPr>
          <a:lstStyle/>
          <a:p>
            <a:r>
              <a:rPr lang="es-ES_tradnl" sz="1200" b="1" dirty="0">
                <a:solidFill>
                  <a:schemeClr val="tx1">
                    <a:lumMod val="50000"/>
                    <a:lumOff val="50000"/>
                  </a:schemeClr>
                </a:solidFill>
                <a:latin typeface="+mj-lt"/>
              </a:rPr>
              <a:t>Salida 1.7</a:t>
            </a:r>
            <a:r>
              <a:rPr lang="es-ES_tradnl" sz="1200" dirty="0">
                <a:solidFill>
                  <a:schemeClr val="tx1">
                    <a:lumMod val="50000"/>
                    <a:lumOff val="50000"/>
                  </a:schemeClr>
                </a:solidFill>
                <a:latin typeface="+mj-lt"/>
              </a:rPr>
              <a:t> Salida del Programa . Fuente: Zambrano M., et al., 2025.</a:t>
            </a:r>
            <a:endParaRPr lang="es-EC" sz="1200" dirty="0">
              <a:solidFill>
                <a:schemeClr val="tx1">
                  <a:lumMod val="50000"/>
                  <a:lumOff val="50000"/>
                </a:schemeClr>
              </a:solidFill>
              <a:latin typeface="+mj-lt"/>
            </a:endParaRPr>
          </a:p>
          <a:p>
            <a:endParaRPr lang="es-ES_tradnl" sz="1200" dirty="0">
              <a:solidFill>
                <a:schemeClr val="tx1">
                  <a:lumMod val="50000"/>
                  <a:lumOff val="50000"/>
                </a:schemeClr>
              </a:solidFill>
              <a:latin typeface="+mj-lt"/>
            </a:endParaRPr>
          </a:p>
        </p:txBody>
      </p:sp>
      <p:pic>
        <p:nvPicPr>
          <p:cNvPr id="5" name="Imagen 4">
            <a:extLst>
              <a:ext uri="{FF2B5EF4-FFF2-40B4-BE49-F238E27FC236}">
                <a16:creationId xmlns:a16="http://schemas.microsoft.com/office/drawing/2014/main" id="{4B54B553-8483-4962-84F3-656EB6EA6AD6}"/>
              </a:ext>
            </a:extLst>
          </p:cNvPr>
          <p:cNvPicPr>
            <a:picLocks noChangeAspect="1"/>
          </p:cNvPicPr>
          <p:nvPr/>
        </p:nvPicPr>
        <p:blipFill>
          <a:blip r:embed="rId3"/>
          <a:stretch>
            <a:fillRect/>
          </a:stretch>
        </p:blipFill>
        <p:spPr>
          <a:xfrm>
            <a:off x="1224055" y="1717972"/>
            <a:ext cx="6677957" cy="933580"/>
          </a:xfrm>
          <a:prstGeom prst="rect">
            <a:avLst/>
          </a:prstGeom>
        </p:spPr>
      </p:pic>
      <p:sp>
        <p:nvSpPr>
          <p:cNvPr id="13" name="4 Marcador de contenido">
            <a:extLst>
              <a:ext uri="{FF2B5EF4-FFF2-40B4-BE49-F238E27FC236}">
                <a16:creationId xmlns:a16="http://schemas.microsoft.com/office/drawing/2014/main" id="{8B8D250F-C5C3-42D5-9DBF-0FBBBA84C01B}"/>
              </a:ext>
            </a:extLst>
          </p:cNvPr>
          <p:cNvSpPr>
            <a:spLocks noGrp="1"/>
          </p:cNvSpPr>
          <p:nvPr>
            <p:ph idx="1"/>
          </p:nvPr>
        </p:nvSpPr>
        <p:spPr>
          <a:xfrm>
            <a:off x="1224055" y="3338306"/>
            <a:ext cx="9069096" cy="3295576"/>
          </a:xfrm>
        </p:spPr>
        <p:txBody>
          <a:bodyPr>
            <a:normAutofit/>
          </a:bodyPr>
          <a:lstStyle/>
          <a:p>
            <a:r>
              <a:rPr lang="es-MX" sz="1400" dirty="0"/>
              <a:t>Como se puede ver en este programa, nosotros desplegamos el texto: “Ingrese su primer nombre y presione INTRO: ” en la consola con la siguiente instrucción: </a:t>
            </a:r>
          </a:p>
          <a:p>
            <a:pPr marL="0" indent="0">
              <a:buNone/>
            </a:pPr>
            <a:endParaRPr lang="es-MX" sz="1400" dirty="0"/>
          </a:p>
          <a:p>
            <a:pPr marL="0" indent="0">
              <a:buNone/>
            </a:pPr>
            <a:r>
              <a:rPr lang="es-MX" sz="1400" dirty="0"/>
              <a:t>       </a:t>
            </a:r>
            <a:r>
              <a:rPr lang="es-MX" sz="1400" b="1" dirty="0"/>
              <a:t>cout &lt;&lt; "Ingrese su primer nombre y presione INTRO: ";</a:t>
            </a:r>
          </a:p>
          <a:p>
            <a:pPr marL="0" indent="0">
              <a:buNone/>
            </a:pPr>
            <a:endParaRPr lang="es-MX" sz="1400" b="1" dirty="0"/>
          </a:p>
          <a:p>
            <a:r>
              <a:rPr lang="es-MX" sz="1400" dirty="0"/>
              <a:t> Luego nosotros le pedimos al usuario que ingrese su primer nombre con la siguiente instrucción:</a:t>
            </a:r>
          </a:p>
          <a:p>
            <a:pPr marL="0" indent="0">
              <a:buNone/>
            </a:pPr>
            <a:r>
              <a:rPr lang="es-MX" sz="1400" b="1" dirty="0"/>
              <a:t>       </a:t>
            </a:r>
          </a:p>
          <a:p>
            <a:pPr marL="0" indent="0">
              <a:buNone/>
            </a:pPr>
            <a:r>
              <a:rPr lang="es-MX" sz="1400" b="1" dirty="0"/>
              <a:t>       cin &gt;&gt; primerNombre</a:t>
            </a:r>
            <a:r>
              <a:rPr lang="es-MX" sz="1400" dirty="0"/>
              <a:t>;</a:t>
            </a:r>
          </a:p>
          <a:p>
            <a:pPr marL="0" indent="0">
              <a:buNone/>
            </a:pPr>
            <a:endParaRPr lang="es-MX" sz="1400" dirty="0"/>
          </a:p>
          <a:p>
            <a:r>
              <a:rPr lang="es-MX" sz="1400" dirty="0"/>
              <a:t> Finalmente nosotros desplegamos el mensaje “Hola, ” seguido de un valor string almacenado en la variable primerNombre y seguido de un salto de línea “endl”, con la siguiente instrucción:</a:t>
            </a:r>
          </a:p>
          <a:p>
            <a:pPr marL="0" indent="0">
              <a:buNone/>
            </a:pPr>
            <a:r>
              <a:rPr lang="es-MX" sz="1400" dirty="0"/>
              <a:t>        </a:t>
            </a:r>
          </a:p>
          <a:p>
            <a:pPr marL="0" indent="0">
              <a:buNone/>
            </a:pPr>
            <a:r>
              <a:rPr lang="es-MX" sz="1400" dirty="0"/>
              <a:t>       </a:t>
            </a:r>
            <a:r>
              <a:rPr lang="es-MX" sz="1400" b="1" dirty="0"/>
              <a:t>cout &lt;&lt; "Hola, " &lt;&lt; primerNombre &lt;&lt; endl</a:t>
            </a:r>
            <a:r>
              <a:rPr lang="es-MX" sz="1400" dirty="0"/>
              <a:t>;</a:t>
            </a:r>
            <a:endParaRPr lang="es-ES" sz="1800" dirty="0"/>
          </a:p>
        </p:txBody>
      </p:sp>
    </p:spTree>
    <p:extLst>
      <p:ext uri="{BB962C8B-B14F-4D97-AF65-F5344CB8AC3E}">
        <p14:creationId xmlns:p14="http://schemas.microsoft.com/office/powerpoint/2010/main" val="12956687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marL="342900" lvl="1" indent="-342900">
              <a:lnSpc>
                <a:spcPct val="80000"/>
              </a:lnSpc>
              <a:buFont typeface="Arial" pitchFamily="34" charset="0"/>
              <a:buChar char="•"/>
            </a:pPr>
            <a:r>
              <a:rPr lang="es-MX" sz="2100" b="1" dirty="0">
                <a:solidFill>
                  <a:schemeClr val="bg1">
                    <a:lumMod val="50000"/>
                  </a:schemeClr>
                </a:solidFill>
              </a:rPr>
              <a:t>Funciones de Entrada y Salida de Datos</a:t>
            </a:r>
            <a:endParaRPr lang="es-419" sz="2100" b="1" dirty="0">
              <a:solidFill>
                <a:schemeClr val="bg1">
                  <a:lumMod val="50000"/>
                </a:schemeClr>
              </a:solidFill>
            </a:endParaRPr>
          </a:p>
          <a:p>
            <a:pPr lvl="1"/>
            <a:r>
              <a:rPr lang="es-MX" sz="2000" dirty="0"/>
              <a:t>Función de Salida cout &lt;&lt; </a:t>
            </a:r>
          </a:p>
          <a:p>
            <a:pPr lvl="1"/>
            <a:r>
              <a:rPr lang="es-MX" sz="2000" dirty="0"/>
              <a:t>Función de Entrada cin &gt;&gt; </a:t>
            </a:r>
          </a:p>
          <a:p>
            <a:pPr lvl="1"/>
            <a:r>
              <a:rPr lang="es-MX" sz="2000" dirty="0"/>
              <a:t>Problema 1.7. (Aplicación de las funciones cout y cin) </a:t>
            </a:r>
          </a:p>
          <a:p>
            <a:pPr lvl="1"/>
            <a:r>
              <a:rPr lang="es-MX" sz="2000" b="1" dirty="0">
                <a:solidFill>
                  <a:srgbClr val="FF0000"/>
                </a:solidFill>
              </a:rPr>
              <a:t>Función de Salida printf() </a:t>
            </a:r>
          </a:p>
          <a:p>
            <a:pPr lvl="1"/>
            <a:r>
              <a:rPr lang="es-MX" sz="2000" dirty="0"/>
              <a:t>Especificadores de Formato </a:t>
            </a:r>
          </a:p>
          <a:p>
            <a:pPr lvl="1"/>
            <a:r>
              <a:rPr lang="es-MX" sz="2000" dirty="0"/>
              <a:t>Secuencias de Escape </a:t>
            </a:r>
          </a:p>
          <a:p>
            <a:pPr lvl="1"/>
            <a:r>
              <a:rPr lang="es-MX" sz="2000" dirty="0"/>
              <a:t>Problema 1.8. (Aplicación de las secuencias de escape) </a:t>
            </a:r>
          </a:p>
          <a:p>
            <a:pPr lvl="1"/>
            <a:r>
              <a:rPr lang="es-MX" sz="2000" dirty="0"/>
              <a:t>Función de Entrada scanf() </a:t>
            </a:r>
          </a:p>
          <a:p>
            <a:pPr lvl="1"/>
            <a:r>
              <a:rPr lang="es-MX" sz="2000" dirty="0"/>
              <a:t>Problema 1.9. (Aplicación de las funciones printf y scanf) </a:t>
            </a:r>
          </a:p>
          <a:p>
            <a:pPr lvl="1"/>
            <a:r>
              <a:rPr lang="es-MX" sz="2000" dirty="0"/>
              <a:t>Funciones de Utilidades Generales Estándar</a:t>
            </a:r>
            <a:endParaRPr lang="es-419" sz="1800" dirty="0"/>
          </a:p>
        </p:txBody>
      </p:sp>
      <p:sp>
        <p:nvSpPr>
          <p:cNvPr id="5" name="4 Marcador de fecha"/>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E4E129-A937-4BEE-8A17-D7969DFE55C2}" type="datetime1">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7/10/2025</a:t>
            </a:fld>
            <a:endParaRPr kumimoji="0" lang="es-EC" sz="1200" b="0" i="0" u="none" strike="noStrike" kern="1200" cap="none" spc="0" normalizeH="0" baseline="0" noProof="0" dirty="0">
              <a:ln>
                <a:noFill/>
              </a:ln>
              <a:solidFill>
                <a:prstClr val="black">
                  <a:lumMod val="65000"/>
                  <a:lumOff val="35000"/>
                </a:prstClr>
              </a:solidFill>
              <a:effectLst/>
              <a:uLnTx/>
              <a:uFillTx/>
              <a:latin typeface="Century Gothic" pitchFamily="34" charset="0"/>
              <a:ea typeface="+mn-ea"/>
              <a:cs typeface="+mn-cs"/>
            </a:endParaRPr>
          </a:p>
        </p:txBody>
      </p:sp>
      <p:sp>
        <p:nvSpPr>
          <p:cNvPr id="6" name="5 Marcador de número de diapositiva"/>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4B28EB2-3408-4757-A806-361BA67028B7}" type="slidenum">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endParaRPr>
          </a:p>
        </p:txBody>
      </p:sp>
    </p:spTree>
    <p:extLst>
      <p:ext uri="{BB962C8B-B14F-4D97-AF65-F5344CB8AC3E}">
        <p14:creationId xmlns:p14="http://schemas.microsoft.com/office/powerpoint/2010/main" val="41187185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063552" y="693707"/>
            <a:ext cx="8229600" cy="980728"/>
          </a:xfrm>
        </p:spPr>
        <p:txBody>
          <a:bodyPr/>
          <a:lstStyle/>
          <a:p>
            <a:br>
              <a:rPr lang="es-MX" sz="4800" b="1" dirty="0">
                <a:solidFill>
                  <a:srgbClr val="FF0000"/>
                </a:solidFill>
              </a:rPr>
            </a:br>
            <a:r>
              <a:rPr lang="es-MX" sz="4800" b="1" dirty="0"/>
              <a:t>Función de Salida printf() </a:t>
            </a:r>
            <a:br>
              <a:rPr lang="es-MX" sz="4800" b="1" dirty="0">
                <a:solidFill>
                  <a:srgbClr val="FF0000"/>
                </a:solidFill>
              </a:rPr>
            </a:br>
            <a:endParaRPr lang="en-US" sz="4800" b="1" dirty="0"/>
          </a:p>
        </p:txBody>
      </p:sp>
      <p:sp>
        <p:nvSpPr>
          <p:cNvPr id="5" name="4 Marcador de contenido"/>
          <p:cNvSpPr>
            <a:spLocks noGrp="1"/>
          </p:cNvSpPr>
          <p:nvPr>
            <p:ph idx="1"/>
          </p:nvPr>
        </p:nvSpPr>
        <p:spPr>
          <a:xfrm>
            <a:off x="321064" y="1429994"/>
            <a:ext cx="5692585" cy="4156572"/>
          </a:xfrm>
        </p:spPr>
        <p:txBody>
          <a:bodyPr>
            <a:normAutofit lnSpcReduction="10000"/>
          </a:bodyPr>
          <a:lstStyle/>
          <a:p>
            <a:r>
              <a:rPr lang="es-MX" sz="1600" dirty="0"/>
              <a:t>El programa 1.2 es capaz de desplegar datos desde la ventana de la consola. Al examinar el código del programa 1.2 se observa que se invoca dos veces a la función ‘</a:t>
            </a:r>
            <a:r>
              <a:rPr lang="es-MX" sz="1600" dirty="0" err="1"/>
              <a:t>printf</a:t>
            </a:r>
            <a:r>
              <a:rPr lang="es-MX" sz="1600" dirty="0"/>
              <a:t>()’ para imprimir mensajes de texto. Entonces, la función ‘</a:t>
            </a:r>
            <a:r>
              <a:rPr lang="es-MX" sz="1600" dirty="0" err="1"/>
              <a:t>printf</a:t>
            </a:r>
            <a:r>
              <a:rPr lang="es-MX" sz="1600" dirty="0"/>
              <a:t>()’ permite imprimir cadenas de caracteres o texto. El prototipo o la declaración de la función ‘</a:t>
            </a:r>
            <a:r>
              <a:rPr lang="es-MX" sz="1600" dirty="0" err="1"/>
              <a:t>printf</a:t>
            </a:r>
            <a:r>
              <a:rPr lang="es-MX" sz="1600" dirty="0"/>
              <a:t>()’ es el siguiente: </a:t>
            </a:r>
          </a:p>
          <a:p>
            <a:pPr marL="0" indent="0">
              <a:buNone/>
            </a:pPr>
            <a:r>
              <a:rPr lang="es-MX" sz="1600" b="1" dirty="0"/>
              <a:t>      </a:t>
            </a:r>
          </a:p>
          <a:p>
            <a:pPr marL="0" indent="0">
              <a:buNone/>
            </a:pPr>
            <a:r>
              <a:rPr lang="es-MX" sz="1600" b="1" dirty="0"/>
              <a:t>      </a:t>
            </a:r>
            <a:r>
              <a:rPr lang="es-MX" sz="1600" b="1" dirty="0" err="1"/>
              <a:t>int</a:t>
            </a:r>
            <a:r>
              <a:rPr lang="es-MX" sz="1600" b="1" dirty="0"/>
              <a:t> printf(</a:t>
            </a:r>
            <a:r>
              <a:rPr lang="es-MX" sz="1600" b="1" dirty="0" err="1"/>
              <a:t>const</a:t>
            </a:r>
            <a:r>
              <a:rPr lang="es-MX" sz="1600" b="1" dirty="0"/>
              <a:t> </a:t>
            </a:r>
            <a:r>
              <a:rPr lang="es-MX" sz="1600" b="1" dirty="0" err="1"/>
              <a:t>char</a:t>
            </a:r>
            <a:r>
              <a:rPr lang="es-MX" sz="1600" b="1" dirty="0"/>
              <a:t> *formato [, argumentos, …]); </a:t>
            </a:r>
          </a:p>
          <a:p>
            <a:pPr marL="0" indent="0">
              <a:buNone/>
            </a:pPr>
            <a:endParaRPr lang="es-MX" sz="1600" dirty="0"/>
          </a:p>
          <a:p>
            <a:r>
              <a:rPr lang="es-MX" sz="1600" dirty="0"/>
              <a:t>La función ‘</a:t>
            </a:r>
            <a:r>
              <a:rPr lang="es-MX" sz="1600" dirty="0" err="1"/>
              <a:t>printf</a:t>
            </a:r>
            <a:r>
              <a:rPr lang="es-MX" sz="1600" dirty="0"/>
              <a:t>()’, como se puede ver en la declaración tiene dos tipos de elementos, el primero es la cadena de caracteres o texto (</a:t>
            </a:r>
            <a:r>
              <a:rPr lang="es-MX" sz="1600" dirty="0" err="1"/>
              <a:t>char</a:t>
            </a:r>
            <a:r>
              <a:rPr lang="es-MX" sz="1600" dirty="0"/>
              <a:t> *formato) que se va a imprimir por pantalla; y el segundo elemento contiene especificadores de forma</a:t>
            </a:r>
            <a:endParaRPr lang="es-ES" sz="1600" dirty="0"/>
          </a:p>
        </p:txBody>
      </p:sp>
      <p:sp>
        <p:nvSpPr>
          <p:cNvPr id="3" name="2 Marcador de fecha"/>
          <p:cNvSpPr>
            <a:spLocks noGrp="1"/>
          </p:cNvSpPr>
          <p:nvPr>
            <p:ph type="dt" sz="half" idx="10"/>
          </p:nvPr>
        </p:nvSpPr>
        <p:spPr/>
        <p:txBody>
          <a:bodyPr/>
          <a:lstStyle/>
          <a:p>
            <a:fld id="{44C3288D-7DAC-4DD2-9022-6C6BA4238517}" type="datetime1">
              <a:rPr lang="es-EC" smtClean="0"/>
              <a:t>7/10/2025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12</a:t>
            </a:fld>
            <a:endParaRPr lang="es-EC"/>
          </a:p>
        </p:txBody>
      </p:sp>
      <p:pic>
        <p:nvPicPr>
          <p:cNvPr id="8" name="Imagen 7">
            <a:extLst>
              <a:ext uri="{FF2B5EF4-FFF2-40B4-BE49-F238E27FC236}">
                <a16:creationId xmlns:a16="http://schemas.microsoft.com/office/drawing/2014/main" id="{F5A43161-3302-47CE-A7CB-A1DE6406D2A1}"/>
              </a:ext>
            </a:extLst>
          </p:cNvPr>
          <p:cNvPicPr>
            <a:picLocks noChangeAspect="1"/>
          </p:cNvPicPr>
          <p:nvPr/>
        </p:nvPicPr>
        <p:blipFill>
          <a:blip r:embed="rId3"/>
          <a:stretch>
            <a:fillRect/>
          </a:stretch>
        </p:blipFill>
        <p:spPr>
          <a:xfrm>
            <a:off x="6030750" y="1497105"/>
            <a:ext cx="4907426" cy="3187479"/>
          </a:xfrm>
          <a:prstGeom prst="rect">
            <a:avLst/>
          </a:prstGeom>
        </p:spPr>
      </p:pic>
      <p:sp>
        <p:nvSpPr>
          <p:cNvPr id="10" name="12 CuadroTexto">
            <a:extLst>
              <a:ext uri="{FF2B5EF4-FFF2-40B4-BE49-F238E27FC236}">
                <a16:creationId xmlns:a16="http://schemas.microsoft.com/office/drawing/2014/main" id="{B88E4CEC-7F5F-46B9-A5FB-7446F55C65BF}"/>
              </a:ext>
            </a:extLst>
          </p:cNvPr>
          <p:cNvSpPr txBox="1"/>
          <p:nvPr/>
        </p:nvSpPr>
        <p:spPr>
          <a:xfrm>
            <a:off x="6096000" y="5037729"/>
            <a:ext cx="4355976" cy="646331"/>
          </a:xfrm>
          <a:prstGeom prst="rect">
            <a:avLst/>
          </a:prstGeom>
          <a:noFill/>
        </p:spPr>
        <p:txBody>
          <a:bodyPr wrap="square" rtlCol="0">
            <a:spAutoFit/>
          </a:bodyPr>
          <a:lstStyle/>
          <a:p>
            <a:r>
              <a:rPr lang="es-ES_tradnl" sz="1200" b="1" dirty="0">
                <a:solidFill>
                  <a:schemeClr val="tx1">
                    <a:lumMod val="50000"/>
                    <a:lumOff val="50000"/>
                  </a:schemeClr>
                </a:solidFill>
                <a:latin typeface="+mj-lt"/>
              </a:rPr>
              <a:t>Programa 1.2. </a:t>
            </a:r>
            <a:r>
              <a:rPr lang="es-ES_tradnl" sz="1200" dirty="0">
                <a:solidFill>
                  <a:schemeClr val="tx1">
                    <a:lumMod val="50000"/>
                    <a:lumOff val="50000"/>
                  </a:schemeClr>
                </a:solidFill>
                <a:latin typeface="+mj-lt"/>
              </a:rPr>
              <a:t>Código del Programa . Fuente: Zambrano M., et al., 2025.</a:t>
            </a:r>
            <a:endParaRPr lang="es-EC" sz="1200" dirty="0">
              <a:solidFill>
                <a:schemeClr val="tx1">
                  <a:lumMod val="50000"/>
                  <a:lumOff val="50000"/>
                </a:schemeClr>
              </a:solidFill>
              <a:latin typeface="+mj-lt"/>
            </a:endParaRPr>
          </a:p>
          <a:p>
            <a:endParaRPr lang="es-ES_tradnl" sz="1200" dirty="0">
              <a:solidFill>
                <a:schemeClr val="tx1">
                  <a:lumMod val="50000"/>
                  <a:lumOff val="50000"/>
                </a:schemeClr>
              </a:solidFill>
              <a:latin typeface="+mj-lt"/>
            </a:endParaRPr>
          </a:p>
        </p:txBody>
      </p:sp>
    </p:spTree>
    <p:extLst>
      <p:ext uri="{BB962C8B-B14F-4D97-AF65-F5344CB8AC3E}">
        <p14:creationId xmlns:p14="http://schemas.microsoft.com/office/powerpoint/2010/main" val="2869116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marL="342900" lvl="1" indent="-342900">
              <a:lnSpc>
                <a:spcPct val="80000"/>
              </a:lnSpc>
              <a:buFont typeface="Arial" pitchFamily="34" charset="0"/>
              <a:buChar char="•"/>
            </a:pPr>
            <a:r>
              <a:rPr lang="es-MX" sz="2100" b="1" dirty="0">
                <a:solidFill>
                  <a:schemeClr val="bg1">
                    <a:lumMod val="50000"/>
                  </a:schemeClr>
                </a:solidFill>
              </a:rPr>
              <a:t>Funciones de Entrada y Salida de Datos</a:t>
            </a:r>
            <a:endParaRPr lang="es-419" sz="2100" b="1" dirty="0">
              <a:solidFill>
                <a:schemeClr val="bg1">
                  <a:lumMod val="50000"/>
                </a:schemeClr>
              </a:solidFill>
            </a:endParaRPr>
          </a:p>
          <a:p>
            <a:pPr lvl="1"/>
            <a:r>
              <a:rPr lang="es-MX" sz="2000" dirty="0"/>
              <a:t>Función de Salida cout &lt;&lt; </a:t>
            </a:r>
          </a:p>
          <a:p>
            <a:pPr lvl="1"/>
            <a:r>
              <a:rPr lang="es-MX" sz="2000" dirty="0"/>
              <a:t>Función de Entrada cin &gt;&gt; </a:t>
            </a:r>
          </a:p>
          <a:p>
            <a:pPr lvl="1"/>
            <a:r>
              <a:rPr lang="es-MX" sz="2000" dirty="0"/>
              <a:t>Problema 1.7. (Aplicación de las funciones cout y cin) </a:t>
            </a:r>
          </a:p>
          <a:p>
            <a:pPr lvl="1"/>
            <a:r>
              <a:rPr lang="es-MX" sz="2000" dirty="0"/>
              <a:t>Función de Salida printf() </a:t>
            </a:r>
          </a:p>
          <a:p>
            <a:pPr lvl="1"/>
            <a:r>
              <a:rPr lang="es-MX" sz="2000" b="1" dirty="0">
                <a:solidFill>
                  <a:srgbClr val="FF0000"/>
                </a:solidFill>
              </a:rPr>
              <a:t>Especificadores de Formato</a:t>
            </a:r>
            <a:r>
              <a:rPr lang="es-MX" sz="2000" dirty="0"/>
              <a:t> </a:t>
            </a:r>
          </a:p>
          <a:p>
            <a:pPr lvl="1"/>
            <a:r>
              <a:rPr lang="es-MX" sz="2000" dirty="0"/>
              <a:t>Secuencias de Escape </a:t>
            </a:r>
          </a:p>
          <a:p>
            <a:pPr lvl="1"/>
            <a:r>
              <a:rPr lang="es-MX" sz="2000" dirty="0"/>
              <a:t>Problema 1.8. (Aplicación de las secuencias de escape) </a:t>
            </a:r>
          </a:p>
          <a:p>
            <a:pPr lvl="1"/>
            <a:r>
              <a:rPr lang="es-MX" sz="2000" dirty="0"/>
              <a:t>Función de Entrada scanf() </a:t>
            </a:r>
          </a:p>
          <a:p>
            <a:pPr lvl="1"/>
            <a:r>
              <a:rPr lang="es-MX" sz="2000" dirty="0"/>
              <a:t>Problema 1.9. (Aplicación de las funciones printf y scanf) </a:t>
            </a:r>
          </a:p>
          <a:p>
            <a:pPr lvl="1"/>
            <a:r>
              <a:rPr lang="es-MX" sz="2000" dirty="0"/>
              <a:t>Funciones de Utilidades Generales Estándar</a:t>
            </a:r>
            <a:endParaRPr lang="es-419" sz="1800" dirty="0"/>
          </a:p>
        </p:txBody>
      </p:sp>
      <p:sp>
        <p:nvSpPr>
          <p:cNvPr id="5" name="4 Marcador de fecha"/>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E4E129-A937-4BEE-8A17-D7969DFE55C2}" type="datetime1">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7/10/2025</a:t>
            </a:fld>
            <a:endParaRPr kumimoji="0" lang="es-EC" sz="1200" b="0" i="0" u="none" strike="noStrike" kern="1200" cap="none" spc="0" normalizeH="0" baseline="0" noProof="0" dirty="0">
              <a:ln>
                <a:noFill/>
              </a:ln>
              <a:solidFill>
                <a:prstClr val="black">
                  <a:lumMod val="65000"/>
                  <a:lumOff val="35000"/>
                </a:prstClr>
              </a:solidFill>
              <a:effectLst/>
              <a:uLnTx/>
              <a:uFillTx/>
              <a:latin typeface="Century Gothic" pitchFamily="34" charset="0"/>
              <a:ea typeface="+mn-ea"/>
              <a:cs typeface="+mn-cs"/>
            </a:endParaRPr>
          </a:p>
        </p:txBody>
      </p:sp>
      <p:sp>
        <p:nvSpPr>
          <p:cNvPr id="6" name="5 Marcador de número de diapositiva"/>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4B28EB2-3408-4757-A806-361BA67028B7}" type="slidenum">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endParaRPr>
          </a:p>
        </p:txBody>
      </p:sp>
    </p:spTree>
    <p:extLst>
      <p:ext uri="{BB962C8B-B14F-4D97-AF65-F5344CB8AC3E}">
        <p14:creationId xmlns:p14="http://schemas.microsoft.com/office/powerpoint/2010/main" val="19472546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063552" y="693707"/>
            <a:ext cx="8229600" cy="980728"/>
          </a:xfrm>
        </p:spPr>
        <p:txBody>
          <a:bodyPr/>
          <a:lstStyle/>
          <a:p>
            <a:br>
              <a:rPr lang="es-MX" sz="4800" b="1" dirty="0">
                <a:solidFill>
                  <a:srgbClr val="FF0000"/>
                </a:solidFill>
              </a:rPr>
            </a:br>
            <a:br>
              <a:rPr lang="es-MX" sz="4800" b="1" dirty="0">
                <a:solidFill>
                  <a:srgbClr val="FF0000"/>
                </a:solidFill>
              </a:rPr>
            </a:br>
            <a:r>
              <a:rPr lang="es-MX" sz="4800" b="1" dirty="0"/>
              <a:t>Especificadores de Formato </a:t>
            </a:r>
            <a:br>
              <a:rPr lang="es-MX" sz="4800" b="1" dirty="0"/>
            </a:br>
            <a:endParaRPr lang="en-US" sz="4800" b="1" dirty="0"/>
          </a:p>
        </p:txBody>
      </p:sp>
      <p:sp>
        <p:nvSpPr>
          <p:cNvPr id="5" name="4 Marcador de contenido"/>
          <p:cNvSpPr>
            <a:spLocks noGrp="1"/>
          </p:cNvSpPr>
          <p:nvPr>
            <p:ph idx="1"/>
          </p:nvPr>
        </p:nvSpPr>
        <p:spPr>
          <a:xfrm>
            <a:off x="1352006" y="1439848"/>
            <a:ext cx="5774936" cy="2263465"/>
          </a:xfrm>
        </p:spPr>
        <p:txBody>
          <a:bodyPr>
            <a:normAutofit fontScale="92500" lnSpcReduction="10000"/>
          </a:bodyPr>
          <a:lstStyle/>
          <a:p>
            <a:r>
              <a:rPr lang="es-MX" sz="2000" dirty="0"/>
              <a:t>El formato de las cadenas de texto contiene símbolos de formateo de distintos tipos de datos. Estos símbolos son reemplazados por valores almacenados en variables, como se muestra en el programa 1.13. Los principales especificadores de formato que maneja el lenguaje C/C++ son los que se muestran en la Tabla 2.1. </a:t>
            </a:r>
            <a:endParaRPr lang="es-ES" sz="2800" dirty="0"/>
          </a:p>
        </p:txBody>
      </p:sp>
      <p:sp>
        <p:nvSpPr>
          <p:cNvPr id="3" name="2 Marcador de fecha"/>
          <p:cNvSpPr>
            <a:spLocks noGrp="1"/>
          </p:cNvSpPr>
          <p:nvPr>
            <p:ph type="dt" sz="half" idx="10"/>
          </p:nvPr>
        </p:nvSpPr>
        <p:spPr/>
        <p:txBody>
          <a:bodyPr/>
          <a:lstStyle/>
          <a:p>
            <a:fld id="{44C3288D-7DAC-4DD2-9022-6C6BA4238517}" type="datetime1">
              <a:rPr lang="es-EC" smtClean="0"/>
              <a:t>7/10/2025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14</a:t>
            </a:fld>
            <a:endParaRPr lang="es-EC"/>
          </a:p>
        </p:txBody>
      </p:sp>
      <p:pic>
        <p:nvPicPr>
          <p:cNvPr id="7" name="Imagen 6">
            <a:extLst>
              <a:ext uri="{FF2B5EF4-FFF2-40B4-BE49-F238E27FC236}">
                <a16:creationId xmlns:a16="http://schemas.microsoft.com/office/drawing/2014/main" id="{0A334379-457B-4C84-B12D-5C3D078BC4F3}"/>
              </a:ext>
            </a:extLst>
          </p:cNvPr>
          <p:cNvPicPr>
            <a:picLocks noChangeAspect="1"/>
          </p:cNvPicPr>
          <p:nvPr/>
        </p:nvPicPr>
        <p:blipFill>
          <a:blip r:embed="rId3"/>
          <a:stretch>
            <a:fillRect/>
          </a:stretch>
        </p:blipFill>
        <p:spPr>
          <a:xfrm>
            <a:off x="1740024" y="3620663"/>
            <a:ext cx="7001852" cy="1657581"/>
          </a:xfrm>
          <a:prstGeom prst="rect">
            <a:avLst/>
          </a:prstGeom>
        </p:spPr>
      </p:pic>
      <p:sp>
        <p:nvSpPr>
          <p:cNvPr id="11" name="12 CuadroTexto">
            <a:extLst>
              <a:ext uri="{FF2B5EF4-FFF2-40B4-BE49-F238E27FC236}">
                <a16:creationId xmlns:a16="http://schemas.microsoft.com/office/drawing/2014/main" id="{7D0A7E01-BB13-4312-B86B-4A9873A6910D}"/>
              </a:ext>
            </a:extLst>
          </p:cNvPr>
          <p:cNvSpPr txBox="1"/>
          <p:nvPr/>
        </p:nvSpPr>
        <p:spPr>
          <a:xfrm>
            <a:off x="1740024" y="5487153"/>
            <a:ext cx="4912681" cy="461665"/>
          </a:xfrm>
          <a:prstGeom prst="rect">
            <a:avLst/>
          </a:prstGeom>
          <a:noFill/>
        </p:spPr>
        <p:txBody>
          <a:bodyPr wrap="square" rtlCol="0">
            <a:spAutoFit/>
          </a:bodyPr>
          <a:lstStyle/>
          <a:p>
            <a:pPr algn="just"/>
            <a:r>
              <a:rPr lang="es-ES" sz="1200" b="1" dirty="0">
                <a:solidFill>
                  <a:schemeClr val="tx1">
                    <a:lumMod val="50000"/>
                    <a:lumOff val="50000"/>
                  </a:schemeClr>
                </a:solidFill>
                <a:latin typeface="+mj-lt"/>
              </a:rPr>
              <a:t>Tabla 2.1</a:t>
            </a:r>
            <a:r>
              <a:rPr lang="es-ES" sz="1200" dirty="0">
                <a:solidFill>
                  <a:schemeClr val="tx1">
                    <a:lumMod val="50000"/>
                    <a:lumOff val="50000"/>
                  </a:schemeClr>
                </a:solidFill>
                <a:latin typeface="+mj-lt"/>
              </a:rPr>
              <a:t>. Especificadores de Formato . </a:t>
            </a:r>
            <a:r>
              <a:rPr lang="es-ES_tradnl" sz="1200" dirty="0">
                <a:solidFill>
                  <a:schemeClr val="tx1">
                    <a:lumMod val="50000"/>
                    <a:lumOff val="50000"/>
                  </a:schemeClr>
                </a:solidFill>
                <a:latin typeface="+mj-lt"/>
              </a:rPr>
              <a:t>Fuente: Zambrano M., et al., 2025</a:t>
            </a:r>
            <a:r>
              <a:rPr lang="es-ES" sz="1200" dirty="0">
                <a:solidFill>
                  <a:schemeClr val="tx1">
                    <a:lumMod val="50000"/>
                    <a:lumOff val="50000"/>
                  </a:schemeClr>
                </a:solidFill>
                <a:latin typeface="+mj-lt"/>
              </a:rPr>
              <a:t>. </a:t>
            </a:r>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6734302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marL="342900" lvl="1" indent="-342900">
              <a:lnSpc>
                <a:spcPct val="80000"/>
              </a:lnSpc>
              <a:buFont typeface="Arial" pitchFamily="34" charset="0"/>
              <a:buChar char="•"/>
            </a:pPr>
            <a:r>
              <a:rPr lang="es-MX" sz="2100" b="1" dirty="0">
                <a:solidFill>
                  <a:schemeClr val="bg1">
                    <a:lumMod val="50000"/>
                  </a:schemeClr>
                </a:solidFill>
              </a:rPr>
              <a:t>Funciones de Entrada y Salida de Datos</a:t>
            </a:r>
            <a:endParaRPr lang="es-419" sz="2100" b="1" dirty="0">
              <a:solidFill>
                <a:schemeClr val="bg1">
                  <a:lumMod val="50000"/>
                </a:schemeClr>
              </a:solidFill>
            </a:endParaRPr>
          </a:p>
          <a:p>
            <a:pPr lvl="1"/>
            <a:r>
              <a:rPr lang="es-MX" sz="2000" dirty="0"/>
              <a:t>Función de Salida cout &lt;&lt; </a:t>
            </a:r>
          </a:p>
          <a:p>
            <a:pPr lvl="1"/>
            <a:r>
              <a:rPr lang="es-MX" sz="2000" dirty="0"/>
              <a:t>Función de Entrada cin &gt;&gt; </a:t>
            </a:r>
          </a:p>
          <a:p>
            <a:pPr lvl="1"/>
            <a:r>
              <a:rPr lang="es-MX" sz="2000" dirty="0"/>
              <a:t>Problema 1.7. (Aplicación de las funciones cout y cin) </a:t>
            </a:r>
          </a:p>
          <a:p>
            <a:pPr lvl="1"/>
            <a:r>
              <a:rPr lang="es-MX" sz="2000" dirty="0"/>
              <a:t>Función de Salida printf() </a:t>
            </a:r>
          </a:p>
          <a:p>
            <a:pPr lvl="1"/>
            <a:r>
              <a:rPr lang="es-MX" sz="2000" dirty="0"/>
              <a:t>Especificadores de Formato </a:t>
            </a:r>
          </a:p>
          <a:p>
            <a:pPr lvl="1"/>
            <a:r>
              <a:rPr lang="es-MX" sz="2000" b="1" dirty="0">
                <a:solidFill>
                  <a:srgbClr val="FF0000"/>
                </a:solidFill>
              </a:rPr>
              <a:t>Secuencias de Escape </a:t>
            </a:r>
          </a:p>
          <a:p>
            <a:pPr lvl="1"/>
            <a:r>
              <a:rPr lang="es-MX" sz="2000" dirty="0"/>
              <a:t>Problema 1.8. (Aplicación de las secuencias de escape) </a:t>
            </a:r>
          </a:p>
          <a:p>
            <a:pPr lvl="1"/>
            <a:r>
              <a:rPr lang="es-MX" sz="2000" dirty="0"/>
              <a:t>Función de Entrada scanf() </a:t>
            </a:r>
          </a:p>
          <a:p>
            <a:pPr lvl="1"/>
            <a:r>
              <a:rPr lang="es-MX" sz="2000" dirty="0"/>
              <a:t>Problema 1.9. (Aplicación de las funciones printf y scanf) </a:t>
            </a:r>
          </a:p>
          <a:p>
            <a:pPr lvl="1"/>
            <a:r>
              <a:rPr lang="es-MX" sz="2000" dirty="0"/>
              <a:t>Funciones de Utilidades Generales Estándar</a:t>
            </a:r>
            <a:endParaRPr lang="es-419" sz="1800" dirty="0"/>
          </a:p>
        </p:txBody>
      </p:sp>
      <p:sp>
        <p:nvSpPr>
          <p:cNvPr id="5" name="4 Marcador de fecha"/>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E4E129-A937-4BEE-8A17-D7969DFE55C2}" type="datetime1">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7/10/2025</a:t>
            </a:fld>
            <a:endParaRPr kumimoji="0" lang="es-EC" sz="1200" b="0" i="0" u="none" strike="noStrike" kern="1200" cap="none" spc="0" normalizeH="0" baseline="0" noProof="0" dirty="0">
              <a:ln>
                <a:noFill/>
              </a:ln>
              <a:solidFill>
                <a:prstClr val="black">
                  <a:lumMod val="65000"/>
                  <a:lumOff val="35000"/>
                </a:prstClr>
              </a:solidFill>
              <a:effectLst/>
              <a:uLnTx/>
              <a:uFillTx/>
              <a:latin typeface="Century Gothic" pitchFamily="34" charset="0"/>
              <a:ea typeface="+mn-ea"/>
              <a:cs typeface="+mn-cs"/>
            </a:endParaRPr>
          </a:p>
        </p:txBody>
      </p:sp>
      <p:sp>
        <p:nvSpPr>
          <p:cNvPr id="6" name="5 Marcador de número de diapositiva"/>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4B28EB2-3408-4757-A806-361BA67028B7}" type="slidenum">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endParaRPr>
          </a:p>
        </p:txBody>
      </p:sp>
    </p:spTree>
    <p:extLst>
      <p:ext uri="{BB962C8B-B14F-4D97-AF65-F5344CB8AC3E}">
        <p14:creationId xmlns:p14="http://schemas.microsoft.com/office/powerpoint/2010/main" val="12173492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072517" y="1439848"/>
            <a:ext cx="8229600" cy="980728"/>
          </a:xfrm>
        </p:spPr>
        <p:txBody>
          <a:bodyPr/>
          <a:lstStyle/>
          <a:p>
            <a:br>
              <a:rPr lang="es-MX" sz="4800" b="1" dirty="0">
                <a:solidFill>
                  <a:srgbClr val="FF0000"/>
                </a:solidFill>
              </a:rPr>
            </a:br>
            <a:br>
              <a:rPr lang="es-MX" sz="4800" b="1" dirty="0">
                <a:solidFill>
                  <a:srgbClr val="FF0000"/>
                </a:solidFill>
              </a:rPr>
            </a:br>
            <a:br>
              <a:rPr lang="es-MX" sz="4800" b="1" dirty="0">
                <a:solidFill>
                  <a:srgbClr val="FF0000"/>
                </a:solidFill>
              </a:rPr>
            </a:br>
            <a:br>
              <a:rPr lang="es-MX" sz="4800" b="1" dirty="0">
                <a:solidFill>
                  <a:srgbClr val="FF0000"/>
                </a:solidFill>
              </a:rPr>
            </a:br>
            <a:br>
              <a:rPr lang="es-MX" sz="4800" b="1" dirty="0">
                <a:solidFill>
                  <a:srgbClr val="FF0000"/>
                </a:solidFill>
              </a:rPr>
            </a:br>
            <a:br>
              <a:rPr lang="es-MX" sz="4800" b="1" dirty="0">
                <a:solidFill>
                  <a:srgbClr val="FF0000"/>
                </a:solidFill>
              </a:rPr>
            </a:br>
            <a:br>
              <a:rPr lang="es-MX" sz="4800" b="1" dirty="0">
                <a:solidFill>
                  <a:srgbClr val="FF0000"/>
                </a:solidFill>
              </a:rPr>
            </a:br>
            <a:r>
              <a:rPr lang="es-MX" b="1" dirty="0"/>
              <a:t>Secuencias de Escape </a:t>
            </a:r>
            <a:br>
              <a:rPr lang="es-MX" sz="4800" b="1" dirty="0">
                <a:solidFill>
                  <a:srgbClr val="FF0000"/>
                </a:solidFill>
              </a:rPr>
            </a:br>
            <a:br>
              <a:rPr lang="es-MX" sz="4800" b="1" dirty="0"/>
            </a:br>
            <a:endParaRPr lang="en-US" sz="4800" b="1" dirty="0"/>
          </a:p>
        </p:txBody>
      </p:sp>
      <p:sp>
        <p:nvSpPr>
          <p:cNvPr id="5" name="4 Marcador de contenido"/>
          <p:cNvSpPr>
            <a:spLocks noGrp="1"/>
          </p:cNvSpPr>
          <p:nvPr>
            <p:ph idx="1"/>
          </p:nvPr>
        </p:nvSpPr>
        <p:spPr>
          <a:xfrm>
            <a:off x="1352005" y="1439848"/>
            <a:ext cx="5981123" cy="2263465"/>
          </a:xfrm>
        </p:spPr>
        <p:txBody>
          <a:bodyPr>
            <a:normAutofit fontScale="92500" lnSpcReduction="10000"/>
          </a:bodyPr>
          <a:lstStyle/>
          <a:p>
            <a:r>
              <a:rPr lang="es-MX" sz="2000" dirty="0"/>
              <a:t>Existen caracteres especiales, llamados secuencias de escape o caracteres de escape. Una secuencia de escape está simbolizada con un </a:t>
            </a:r>
            <a:r>
              <a:rPr lang="es-MX" sz="2000" dirty="0" err="1"/>
              <a:t>backslash</a:t>
            </a:r>
            <a:r>
              <a:rPr lang="es-MX" sz="2000" dirty="0"/>
              <a:t> ‘\’ seguido por un </a:t>
            </a:r>
            <a:r>
              <a:rPr lang="es-MX" sz="2000" dirty="0" err="1"/>
              <a:t>caracter</a:t>
            </a:r>
            <a:r>
              <a:rPr lang="es-MX" sz="2000" dirty="0"/>
              <a:t>(es) común. Por lo tanto, en el programa 1.8, el </a:t>
            </a:r>
            <a:r>
              <a:rPr lang="es-MX" sz="2000" dirty="0" err="1"/>
              <a:t>caracter</a:t>
            </a:r>
            <a:r>
              <a:rPr lang="es-MX" sz="2000" dirty="0"/>
              <a:t> de nueva línea está simbolizado por ‘\n’. La Tabla 2.2 muestra las secuencias de escape más utilizadas: </a:t>
            </a:r>
            <a:endParaRPr lang="es-ES" sz="2800" dirty="0"/>
          </a:p>
        </p:txBody>
      </p:sp>
      <p:sp>
        <p:nvSpPr>
          <p:cNvPr id="3" name="2 Marcador de fecha"/>
          <p:cNvSpPr>
            <a:spLocks noGrp="1"/>
          </p:cNvSpPr>
          <p:nvPr>
            <p:ph type="dt" sz="half" idx="10"/>
          </p:nvPr>
        </p:nvSpPr>
        <p:spPr/>
        <p:txBody>
          <a:bodyPr/>
          <a:lstStyle/>
          <a:p>
            <a:fld id="{44C3288D-7DAC-4DD2-9022-6C6BA4238517}" type="datetime1">
              <a:rPr lang="es-EC" smtClean="0"/>
              <a:t>7/10/2025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16</a:t>
            </a:fld>
            <a:endParaRPr lang="es-EC"/>
          </a:p>
        </p:txBody>
      </p:sp>
      <p:sp>
        <p:nvSpPr>
          <p:cNvPr id="11" name="12 CuadroTexto">
            <a:extLst>
              <a:ext uri="{FF2B5EF4-FFF2-40B4-BE49-F238E27FC236}">
                <a16:creationId xmlns:a16="http://schemas.microsoft.com/office/drawing/2014/main" id="{7D0A7E01-BB13-4312-B86B-4A9873A6910D}"/>
              </a:ext>
            </a:extLst>
          </p:cNvPr>
          <p:cNvSpPr txBox="1"/>
          <p:nvPr/>
        </p:nvSpPr>
        <p:spPr>
          <a:xfrm>
            <a:off x="1645376" y="5306457"/>
            <a:ext cx="4912681" cy="461665"/>
          </a:xfrm>
          <a:prstGeom prst="rect">
            <a:avLst/>
          </a:prstGeom>
          <a:noFill/>
        </p:spPr>
        <p:txBody>
          <a:bodyPr wrap="square" rtlCol="0">
            <a:spAutoFit/>
          </a:bodyPr>
          <a:lstStyle/>
          <a:p>
            <a:pPr algn="just"/>
            <a:r>
              <a:rPr lang="es-ES" sz="1200" b="1" dirty="0">
                <a:solidFill>
                  <a:schemeClr val="tx1">
                    <a:lumMod val="50000"/>
                    <a:lumOff val="50000"/>
                  </a:schemeClr>
                </a:solidFill>
                <a:latin typeface="+mj-lt"/>
              </a:rPr>
              <a:t>Tabla 2.1</a:t>
            </a:r>
            <a:r>
              <a:rPr lang="es-ES" sz="1200" dirty="0">
                <a:solidFill>
                  <a:schemeClr val="tx1">
                    <a:lumMod val="50000"/>
                    <a:lumOff val="50000"/>
                  </a:schemeClr>
                </a:solidFill>
                <a:latin typeface="+mj-lt"/>
              </a:rPr>
              <a:t>. Secuencias de Escape.  </a:t>
            </a:r>
            <a:r>
              <a:rPr lang="es-ES_tradnl" sz="1200" dirty="0">
                <a:solidFill>
                  <a:schemeClr val="tx1">
                    <a:lumMod val="50000"/>
                    <a:lumOff val="50000"/>
                  </a:schemeClr>
                </a:solidFill>
                <a:latin typeface="+mj-lt"/>
              </a:rPr>
              <a:t>Fuente: Zambrano M., et al., 2025</a:t>
            </a:r>
            <a:r>
              <a:rPr lang="es-ES" sz="1200" dirty="0">
                <a:solidFill>
                  <a:schemeClr val="tx1">
                    <a:lumMod val="50000"/>
                    <a:lumOff val="50000"/>
                  </a:schemeClr>
                </a:solidFill>
                <a:latin typeface="+mj-lt"/>
              </a:rPr>
              <a:t>. </a:t>
            </a:r>
            <a:endParaRPr lang="es-EC" sz="1200" dirty="0">
              <a:solidFill>
                <a:schemeClr val="tx1">
                  <a:lumMod val="50000"/>
                  <a:lumOff val="50000"/>
                </a:schemeClr>
              </a:solidFill>
              <a:latin typeface="+mj-lt"/>
            </a:endParaRPr>
          </a:p>
        </p:txBody>
      </p:sp>
      <p:pic>
        <p:nvPicPr>
          <p:cNvPr id="8" name="Imagen 7">
            <a:extLst>
              <a:ext uri="{FF2B5EF4-FFF2-40B4-BE49-F238E27FC236}">
                <a16:creationId xmlns:a16="http://schemas.microsoft.com/office/drawing/2014/main" id="{59F4B951-DC35-4560-8812-5814BC6B4365}"/>
              </a:ext>
            </a:extLst>
          </p:cNvPr>
          <p:cNvPicPr>
            <a:picLocks noChangeAspect="1"/>
          </p:cNvPicPr>
          <p:nvPr/>
        </p:nvPicPr>
        <p:blipFill>
          <a:blip r:embed="rId3"/>
          <a:stretch>
            <a:fillRect/>
          </a:stretch>
        </p:blipFill>
        <p:spPr>
          <a:xfrm>
            <a:off x="1645376" y="3703313"/>
            <a:ext cx="6982799" cy="1476581"/>
          </a:xfrm>
          <a:prstGeom prst="rect">
            <a:avLst/>
          </a:prstGeom>
        </p:spPr>
      </p:pic>
    </p:spTree>
    <p:extLst>
      <p:ext uri="{BB962C8B-B14F-4D97-AF65-F5344CB8AC3E}">
        <p14:creationId xmlns:p14="http://schemas.microsoft.com/office/powerpoint/2010/main" val="20376906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marL="342900" lvl="1" indent="-342900">
              <a:lnSpc>
                <a:spcPct val="80000"/>
              </a:lnSpc>
              <a:buFont typeface="Arial" pitchFamily="34" charset="0"/>
              <a:buChar char="•"/>
            </a:pPr>
            <a:r>
              <a:rPr lang="es-MX" sz="2100" b="1" dirty="0">
                <a:solidFill>
                  <a:schemeClr val="bg1">
                    <a:lumMod val="50000"/>
                  </a:schemeClr>
                </a:solidFill>
              </a:rPr>
              <a:t>Funciones de Entrada y Salida de Datos</a:t>
            </a:r>
            <a:endParaRPr lang="es-419" sz="2100" b="1" dirty="0">
              <a:solidFill>
                <a:schemeClr val="bg1">
                  <a:lumMod val="50000"/>
                </a:schemeClr>
              </a:solidFill>
            </a:endParaRPr>
          </a:p>
          <a:p>
            <a:pPr lvl="1"/>
            <a:r>
              <a:rPr lang="es-MX" sz="2000" dirty="0"/>
              <a:t>Función de Salida cout &lt;&lt; </a:t>
            </a:r>
          </a:p>
          <a:p>
            <a:pPr lvl="1"/>
            <a:r>
              <a:rPr lang="es-MX" sz="2000" dirty="0"/>
              <a:t>Función de Entrada cin &gt;&gt; </a:t>
            </a:r>
          </a:p>
          <a:p>
            <a:pPr lvl="1"/>
            <a:r>
              <a:rPr lang="es-MX" sz="2000" dirty="0"/>
              <a:t>Problema 1.7. (Aplicación de las funciones cout y cin) </a:t>
            </a:r>
          </a:p>
          <a:p>
            <a:pPr lvl="1"/>
            <a:r>
              <a:rPr lang="es-MX" sz="2000" dirty="0"/>
              <a:t>Función de Salida printf() </a:t>
            </a:r>
          </a:p>
          <a:p>
            <a:pPr lvl="1"/>
            <a:r>
              <a:rPr lang="es-MX" sz="2000" dirty="0"/>
              <a:t>Especificadores de Formato </a:t>
            </a:r>
          </a:p>
          <a:p>
            <a:pPr lvl="1"/>
            <a:r>
              <a:rPr lang="es-MX" sz="2000" dirty="0"/>
              <a:t>Secuencias de Escape </a:t>
            </a:r>
          </a:p>
          <a:p>
            <a:pPr lvl="1"/>
            <a:r>
              <a:rPr lang="es-MX" sz="2000" b="1" dirty="0">
                <a:solidFill>
                  <a:srgbClr val="FF0000"/>
                </a:solidFill>
              </a:rPr>
              <a:t>Problema 1.8. (Aplicación de las secuencias de escape) </a:t>
            </a:r>
          </a:p>
          <a:p>
            <a:pPr lvl="1"/>
            <a:r>
              <a:rPr lang="es-MX" sz="2000" dirty="0"/>
              <a:t>Función de Entrada scanf() </a:t>
            </a:r>
          </a:p>
          <a:p>
            <a:pPr lvl="1"/>
            <a:r>
              <a:rPr lang="es-MX" sz="2000" dirty="0"/>
              <a:t>Problema 1.9. (Aplicación de las funciones printf y scanf) </a:t>
            </a:r>
          </a:p>
          <a:p>
            <a:pPr lvl="1"/>
            <a:r>
              <a:rPr lang="es-MX" sz="2000" dirty="0"/>
              <a:t>Funciones de Utilidades Generales Estándar</a:t>
            </a:r>
            <a:endParaRPr lang="es-419" sz="1800" dirty="0"/>
          </a:p>
        </p:txBody>
      </p:sp>
      <p:sp>
        <p:nvSpPr>
          <p:cNvPr id="5" name="4 Marcador de fecha"/>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E4E129-A937-4BEE-8A17-D7969DFE55C2}" type="datetime1">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7/10/2025</a:t>
            </a:fld>
            <a:endParaRPr kumimoji="0" lang="es-EC" sz="1200" b="0" i="0" u="none" strike="noStrike" kern="1200" cap="none" spc="0" normalizeH="0" baseline="0" noProof="0" dirty="0">
              <a:ln>
                <a:noFill/>
              </a:ln>
              <a:solidFill>
                <a:prstClr val="black">
                  <a:lumMod val="65000"/>
                  <a:lumOff val="35000"/>
                </a:prstClr>
              </a:solidFill>
              <a:effectLst/>
              <a:uLnTx/>
              <a:uFillTx/>
              <a:latin typeface="Century Gothic" pitchFamily="34" charset="0"/>
              <a:ea typeface="+mn-ea"/>
              <a:cs typeface="+mn-cs"/>
            </a:endParaRPr>
          </a:p>
        </p:txBody>
      </p:sp>
      <p:sp>
        <p:nvSpPr>
          <p:cNvPr id="6" name="5 Marcador de número de diapositiva"/>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4B28EB2-3408-4757-A806-361BA67028B7}" type="slidenum">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endParaRPr>
          </a:p>
        </p:txBody>
      </p:sp>
    </p:spTree>
    <p:extLst>
      <p:ext uri="{BB962C8B-B14F-4D97-AF65-F5344CB8AC3E}">
        <p14:creationId xmlns:p14="http://schemas.microsoft.com/office/powerpoint/2010/main" val="38803280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976282" y="1521952"/>
            <a:ext cx="7343763" cy="766538"/>
          </a:xfrm>
        </p:spPr>
        <p:txBody>
          <a:bodyPr/>
          <a:lstStyle/>
          <a:p>
            <a:br>
              <a:rPr lang="es-MX" sz="4400" b="1" dirty="0"/>
            </a:br>
            <a:r>
              <a:rPr lang="es-MX" sz="4400" b="1" dirty="0"/>
              <a:t>Aplicación de las secuencias de escape </a:t>
            </a:r>
            <a:br>
              <a:rPr lang="es-MX" sz="4400" b="1" dirty="0"/>
            </a:br>
            <a:endParaRPr lang="en-US" sz="4400" b="1" dirty="0"/>
          </a:p>
        </p:txBody>
      </p:sp>
      <p:sp>
        <p:nvSpPr>
          <p:cNvPr id="3" name="2 Marcador de fecha"/>
          <p:cNvSpPr>
            <a:spLocks noGrp="1"/>
          </p:cNvSpPr>
          <p:nvPr>
            <p:ph type="dt" sz="half" idx="10"/>
          </p:nvPr>
        </p:nvSpPr>
        <p:spPr/>
        <p:txBody>
          <a:bodyPr/>
          <a:lstStyle/>
          <a:p>
            <a:fld id="{44C3288D-7DAC-4DD2-9022-6C6BA4238517}" type="datetime1">
              <a:rPr lang="es-EC" smtClean="0"/>
              <a:t>7/10/2025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18</a:t>
            </a:fld>
            <a:endParaRPr lang="es-EC"/>
          </a:p>
        </p:txBody>
      </p:sp>
      <p:sp>
        <p:nvSpPr>
          <p:cNvPr id="9" name="12 CuadroTexto"/>
          <p:cNvSpPr txBox="1"/>
          <p:nvPr/>
        </p:nvSpPr>
        <p:spPr>
          <a:xfrm>
            <a:off x="1094348" y="6033185"/>
            <a:ext cx="4355976" cy="646331"/>
          </a:xfrm>
          <a:prstGeom prst="rect">
            <a:avLst/>
          </a:prstGeom>
          <a:noFill/>
        </p:spPr>
        <p:txBody>
          <a:bodyPr wrap="square" rtlCol="0">
            <a:spAutoFit/>
          </a:bodyPr>
          <a:lstStyle/>
          <a:p>
            <a:r>
              <a:rPr lang="es-ES_tradnl" sz="1200" b="1" dirty="0">
                <a:solidFill>
                  <a:schemeClr val="tx1">
                    <a:lumMod val="50000"/>
                    <a:lumOff val="50000"/>
                  </a:schemeClr>
                </a:solidFill>
                <a:latin typeface="+mj-lt"/>
              </a:rPr>
              <a:t>Programa 1.8</a:t>
            </a:r>
            <a:r>
              <a:rPr lang="es-ES_tradnl" sz="1200" dirty="0">
                <a:solidFill>
                  <a:schemeClr val="tx1">
                    <a:lumMod val="50000"/>
                    <a:lumOff val="50000"/>
                  </a:schemeClr>
                </a:solidFill>
                <a:latin typeface="+mj-lt"/>
              </a:rPr>
              <a:t> Código del Programa . Fuente: Zambrano M., et al., 2025.</a:t>
            </a:r>
            <a:endParaRPr lang="es-EC" sz="1200" dirty="0">
              <a:solidFill>
                <a:schemeClr val="tx1">
                  <a:lumMod val="50000"/>
                  <a:lumOff val="50000"/>
                </a:schemeClr>
              </a:solidFill>
              <a:latin typeface="+mj-lt"/>
            </a:endParaRPr>
          </a:p>
          <a:p>
            <a:endParaRPr lang="es-ES_tradnl" sz="1200" dirty="0">
              <a:solidFill>
                <a:schemeClr val="tx1">
                  <a:lumMod val="50000"/>
                  <a:lumOff val="50000"/>
                </a:schemeClr>
              </a:solidFill>
              <a:latin typeface="+mj-lt"/>
            </a:endParaRPr>
          </a:p>
        </p:txBody>
      </p:sp>
      <p:pic>
        <p:nvPicPr>
          <p:cNvPr id="5" name="Imagen 4">
            <a:extLst>
              <a:ext uri="{FF2B5EF4-FFF2-40B4-BE49-F238E27FC236}">
                <a16:creationId xmlns:a16="http://schemas.microsoft.com/office/drawing/2014/main" id="{326BE2AF-8EA0-473E-879E-BEF093B1EB7E}"/>
              </a:ext>
            </a:extLst>
          </p:cNvPr>
          <p:cNvPicPr>
            <a:picLocks noChangeAspect="1"/>
          </p:cNvPicPr>
          <p:nvPr/>
        </p:nvPicPr>
        <p:blipFill>
          <a:blip r:embed="rId3"/>
          <a:stretch>
            <a:fillRect/>
          </a:stretch>
        </p:blipFill>
        <p:spPr>
          <a:xfrm>
            <a:off x="1131892" y="1765098"/>
            <a:ext cx="7052884" cy="1552792"/>
          </a:xfrm>
          <a:prstGeom prst="rect">
            <a:avLst/>
          </a:prstGeom>
        </p:spPr>
      </p:pic>
      <p:pic>
        <p:nvPicPr>
          <p:cNvPr id="8" name="Imagen 7">
            <a:extLst>
              <a:ext uri="{FF2B5EF4-FFF2-40B4-BE49-F238E27FC236}">
                <a16:creationId xmlns:a16="http://schemas.microsoft.com/office/drawing/2014/main" id="{2A87814B-D197-4883-8E03-16F413A42926}"/>
              </a:ext>
            </a:extLst>
          </p:cNvPr>
          <p:cNvPicPr>
            <a:picLocks noChangeAspect="1"/>
          </p:cNvPicPr>
          <p:nvPr/>
        </p:nvPicPr>
        <p:blipFill>
          <a:blip r:embed="rId4"/>
          <a:stretch>
            <a:fillRect/>
          </a:stretch>
        </p:blipFill>
        <p:spPr>
          <a:xfrm>
            <a:off x="1094348" y="3429000"/>
            <a:ext cx="6049031" cy="2410161"/>
          </a:xfrm>
          <a:prstGeom prst="rect">
            <a:avLst/>
          </a:prstGeom>
        </p:spPr>
      </p:pic>
      <p:pic>
        <p:nvPicPr>
          <p:cNvPr id="12" name="Imagen 11">
            <a:extLst>
              <a:ext uri="{FF2B5EF4-FFF2-40B4-BE49-F238E27FC236}">
                <a16:creationId xmlns:a16="http://schemas.microsoft.com/office/drawing/2014/main" id="{289B00B5-454A-4604-975C-E08B6B517D4D}"/>
              </a:ext>
            </a:extLst>
          </p:cNvPr>
          <p:cNvPicPr>
            <a:picLocks noChangeAspect="1"/>
          </p:cNvPicPr>
          <p:nvPr/>
        </p:nvPicPr>
        <p:blipFill>
          <a:blip r:embed="rId5"/>
          <a:stretch>
            <a:fillRect/>
          </a:stretch>
        </p:blipFill>
        <p:spPr>
          <a:xfrm>
            <a:off x="6642847" y="3885042"/>
            <a:ext cx="5122841" cy="1876639"/>
          </a:xfrm>
          <a:prstGeom prst="rect">
            <a:avLst/>
          </a:prstGeom>
        </p:spPr>
      </p:pic>
      <p:sp>
        <p:nvSpPr>
          <p:cNvPr id="13" name="12 CuadroTexto">
            <a:extLst>
              <a:ext uri="{FF2B5EF4-FFF2-40B4-BE49-F238E27FC236}">
                <a16:creationId xmlns:a16="http://schemas.microsoft.com/office/drawing/2014/main" id="{EB2B8EEE-0CC2-47CF-85B7-E3B472C55151}"/>
              </a:ext>
            </a:extLst>
          </p:cNvPr>
          <p:cNvSpPr txBox="1"/>
          <p:nvPr/>
        </p:nvSpPr>
        <p:spPr>
          <a:xfrm>
            <a:off x="6642847" y="6032194"/>
            <a:ext cx="4355976" cy="646331"/>
          </a:xfrm>
          <a:prstGeom prst="rect">
            <a:avLst/>
          </a:prstGeom>
          <a:noFill/>
        </p:spPr>
        <p:txBody>
          <a:bodyPr wrap="square" rtlCol="0">
            <a:spAutoFit/>
          </a:bodyPr>
          <a:lstStyle/>
          <a:p>
            <a:r>
              <a:rPr lang="es-ES_tradnl" sz="1200" b="1" dirty="0">
                <a:solidFill>
                  <a:schemeClr val="tx1">
                    <a:lumMod val="50000"/>
                    <a:lumOff val="50000"/>
                  </a:schemeClr>
                </a:solidFill>
                <a:latin typeface="+mj-lt"/>
              </a:rPr>
              <a:t>Salida 1.8</a:t>
            </a:r>
            <a:r>
              <a:rPr lang="es-ES_tradnl" sz="1200" dirty="0">
                <a:solidFill>
                  <a:schemeClr val="tx1">
                    <a:lumMod val="50000"/>
                    <a:lumOff val="50000"/>
                  </a:schemeClr>
                </a:solidFill>
                <a:latin typeface="+mj-lt"/>
              </a:rPr>
              <a:t> Salida del Programa . Fuente: Zambrano M., et al., 2025.</a:t>
            </a:r>
            <a:endParaRPr lang="es-EC" sz="1200" dirty="0">
              <a:solidFill>
                <a:schemeClr val="tx1">
                  <a:lumMod val="50000"/>
                  <a:lumOff val="50000"/>
                </a:schemeClr>
              </a:solidFill>
              <a:latin typeface="+mj-lt"/>
            </a:endParaRPr>
          </a:p>
          <a:p>
            <a:endParaRPr lang="es-ES_tradnl" sz="1200" dirty="0">
              <a:solidFill>
                <a:schemeClr val="tx1">
                  <a:lumMod val="50000"/>
                  <a:lumOff val="50000"/>
                </a:schemeClr>
              </a:solidFill>
              <a:latin typeface="+mj-lt"/>
            </a:endParaRPr>
          </a:p>
        </p:txBody>
      </p:sp>
    </p:spTree>
    <p:extLst>
      <p:ext uri="{BB962C8B-B14F-4D97-AF65-F5344CB8AC3E}">
        <p14:creationId xmlns:p14="http://schemas.microsoft.com/office/powerpoint/2010/main" val="10327725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marL="342900" lvl="1" indent="-342900">
              <a:lnSpc>
                <a:spcPct val="80000"/>
              </a:lnSpc>
              <a:buFont typeface="Arial" pitchFamily="34" charset="0"/>
              <a:buChar char="•"/>
            </a:pPr>
            <a:r>
              <a:rPr lang="es-MX" sz="2100" b="1" dirty="0">
                <a:solidFill>
                  <a:schemeClr val="bg1">
                    <a:lumMod val="50000"/>
                  </a:schemeClr>
                </a:solidFill>
              </a:rPr>
              <a:t>Funciones de Entrada y Salida de Datos</a:t>
            </a:r>
            <a:endParaRPr lang="es-419" sz="2100" b="1" dirty="0">
              <a:solidFill>
                <a:schemeClr val="bg1">
                  <a:lumMod val="50000"/>
                </a:schemeClr>
              </a:solidFill>
            </a:endParaRPr>
          </a:p>
          <a:p>
            <a:pPr lvl="1"/>
            <a:r>
              <a:rPr lang="es-MX" sz="2000" dirty="0"/>
              <a:t>Función de Salida cout &lt;&lt; </a:t>
            </a:r>
          </a:p>
          <a:p>
            <a:pPr lvl="1"/>
            <a:r>
              <a:rPr lang="es-MX" sz="2000" dirty="0"/>
              <a:t>Función de Entrada cin &gt;&gt; </a:t>
            </a:r>
          </a:p>
          <a:p>
            <a:pPr lvl="1"/>
            <a:r>
              <a:rPr lang="es-MX" sz="2000" dirty="0"/>
              <a:t>Problema 1.7. (Aplicación de las funciones cout y cin) </a:t>
            </a:r>
          </a:p>
          <a:p>
            <a:pPr lvl="1"/>
            <a:r>
              <a:rPr lang="es-MX" sz="2000" dirty="0"/>
              <a:t>Función de Salida printf() </a:t>
            </a:r>
          </a:p>
          <a:p>
            <a:pPr lvl="1"/>
            <a:r>
              <a:rPr lang="es-MX" sz="2000" dirty="0"/>
              <a:t>Especificadores de Formato </a:t>
            </a:r>
          </a:p>
          <a:p>
            <a:pPr lvl="1"/>
            <a:r>
              <a:rPr lang="es-MX" sz="2000" dirty="0"/>
              <a:t>Secuencias de Escape </a:t>
            </a:r>
          </a:p>
          <a:p>
            <a:pPr lvl="1"/>
            <a:r>
              <a:rPr lang="es-MX" sz="2000" dirty="0"/>
              <a:t>Problema 1.8. (Aplicación de las secuencias de escape) </a:t>
            </a:r>
          </a:p>
          <a:p>
            <a:pPr lvl="1"/>
            <a:r>
              <a:rPr lang="es-MX" sz="2000" b="1" dirty="0">
                <a:solidFill>
                  <a:srgbClr val="FF0000"/>
                </a:solidFill>
              </a:rPr>
              <a:t>Función de Entrada scanf() </a:t>
            </a:r>
          </a:p>
          <a:p>
            <a:pPr lvl="1"/>
            <a:r>
              <a:rPr lang="es-MX" sz="2000" dirty="0"/>
              <a:t>Problema 1.9. (Aplicación de las funciones printf y scanf) </a:t>
            </a:r>
          </a:p>
          <a:p>
            <a:pPr lvl="1"/>
            <a:r>
              <a:rPr lang="es-MX" sz="2000" dirty="0"/>
              <a:t>Funciones de Utilidades Generales Estándar</a:t>
            </a:r>
            <a:endParaRPr lang="es-419" sz="1800" dirty="0"/>
          </a:p>
        </p:txBody>
      </p:sp>
      <p:sp>
        <p:nvSpPr>
          <p:cNvPr id="5" name="4 Marcador de fecha"/>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E4E129-A937-4BEE-8A17-D7969DFE55C2}" type="datetime1">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7/10/2025</a:t>
            </a:fld>
            <a:endParaRPr kumimoji="0" lang="es-EC" sz="1200" b="0" i="0" u="none" strike="noStrike" kern="1200" cap="none" spc="0" normalizeH="0" baseline="0" noProof="0" dirty="0">
              <a:ln>
                <a:noFill/>
              </a:ln>
              <a:solidFill>
                <a:prstClr val="black">
                  <a:lumMod val="65000"/>
                  <a:lumOff val="35000"/>
                </a:prstClr>
              </a:solidFill>
              <a:effectLst/>
              <a:uLnTx/>
              <a:uFillTx/>
              <a:latin typeface="Century Gothic" pitchFamily="34" charset="0"/>
              <a:ea typeface="+mn-ea"/>
              <a:cs typeface="+mn-cs"/>
            </a:endParaRPr>
          </a:p>
        </p:txBody>
      </p:sp>
      <p:sp>
        <p:nvSpPr>
          <p:cNvPr id="6" name="5 Marcador de número de diapositiva"/>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4B28EB2-3408-4757-A806-361BA67028B7}" type="slidenum">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endParaRPr>
          </a:p>
        </p:txBody>
      </p:sp>
    </p:spTree>
    <p:extLst>
      <p:ext uri="{BB962C8B-B14F-4D97-AF65-F5344CB8AC3E}">
        <p14:creationId xmlns:p14="http://schemas.microsoft.com/office/powerpoint/2010/main" val="5184459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063552" y="1298217"/>
            <a:ext cx="8229600" cy="980728"/>
          </a:xfrm>
        </p:spPr>
        <p:txBody>
          <a:bodyPr/>
          <a:lstStyle/>
          <a:p>
            <a:r>
              <a:rPr lang="es-MX" sz="4800" b="1" dirty="0"/>
              <a:t>Función de Entrada scanf() </a:t>
            </a:r>
            <a:br>
              <a:rPr lang="es-MX" sz="4800" b="1" dirty="0">
                <a:solidFill>
                  <a:srgbClr val="FF0000"/>
                </a:solidFill>
              </a:rPr>
            </a:br>
            <a:br>
              <a:rPr lang="es-MX" sz="4800" b="1" dirty="0">
                <a:solidFill>
                  <a:srgbClr val="FF0000"/>
                </a:solidFill>
              </a:rPr>
            </a:br>
            <a:endParaRPr lang="en-US" sz="4800" b="1" dirty="0"/>
          </a:p>
        </p:txBody>
      </p:sp>
      <p:sp>
        <p:nvSpPr>
          <p:cNvPr id="5" name="4 Marcador de contenido"/>
          <p:cNvSpPr>
            <a:spLocks noGrp="1"/>
          </p:cNvSpPr>
          <p:nvPr>
            <p:ph idx="1"/>
          </p:nvPr>
        </p:nvSpPr>
        <p:spPr>
          <a:xfrm>
            <a:off x="1350979" y="1465852"/>
            <a:ext cx="8942173" cy="4156572"/>
          </a:xfrm>
        </p:spPr>
        <p:txBody>
          <a:bodyPr>
            <a:normAutofit fontScale="85000" lnSpcReduction="20000"/>
          </a:bodyPr>
          <a:lstStyle/>
          <a:p>
            <a:r>
              <a:rPr lang="es-MX" dirty="0"/>
              <a:t>La función scanf(), es una función de entrada de datos por consola, que lee todos los tipos de datos definidos en C/C++, convirtiendo automáticamente al formato interno apropiado de acuerdo a los especificadores de formato. El prototipo o la declaración de la función ‘</a:t>
            </a:r>
            <a:r>
              <a:rPr lang="es-MX" dirty="0" err="1"/>
              <a:t>scanf</a:t>
            </a:r>
            <a:r>
              <a:rPr lang="es-MX" dirty="0"/>
              <a:t>()’ es el siguiente:</a:t>
            </a:r>
          </a:p>
          <a:p>
            <a:pPr marL="0" indent="0">
              <a:buNone/>
            </a:pPr>
            <a:r>
              <a:rPr lang="es-MX" dirty="0"/>
              <a:t>    </a:t>
            </a:r>
          </a:p>
          <a:p>
            <a:pPr marL="0" indent="0">
              <a:buNone/>
            </a:pPr>
            <a:endParaRPr lang="es-MX" dirty="0"/>
          </a:p>
          <a:p>
            <a:pPr marL="0" indent="0">
              <a:buNone/>
            </a:pPr>
            <a:r>
              <a:rPr lang="es-MX" b="1" dirty="0"/>
              <a:t>     </a:t>
            </a:r>
            <a:r>
              <a:rPr lang="es-MX" b="1" dirty="0" err="1"/>
              <a:t>int</a:t>
            </a:r>
            <a:r>
              <a:rPr lang="es-MX" b="1" dirty="0"/>
              <a:t> scanf(</a:t>
            </a:r>
            <a:r>
              <a:rPr lang="es-MX" b="1" dirty="0" err="1"/>
              <a:t>const</a:t>
            </a:r>
            <a:r>
              <a:rPr lang="es-MX" b="1" dirty="0"/>
              <a:t> </a:t>
            </a:r>
            <a:r>
              <a:rPr lang="es-MX" b="1" dirty="0" err="1"/>
              <a:t>char</a:t>
            </a:r>
            <a:r>
              <a:rPr lang="es-MX" b="1" dirty="0"/>
              <a:t> *formato [, direcciones, …]);</a:t>
            </a:r>
          </a:p>
          <a:p>
            <a:pPr marL="0" indent="0">
              <a:buNone/>
            </a:pPr>
            <a:endParaRPr lang="es-MX" dirty="0"/>
          </a:p>
          <a:p>
            <a:r>
              <a:rPr lang="es-MX" dirty="0"/>
              <a:t> La función ‘</a:t>
            </a:r>
            <a:r>
              <a:rPr lang="es-MX" dirty="0" err="1"/>
              <a:t>scanf</a:t>
            </a:r>
            <a:r>
              <a:rPr lang="es-MX" dirty="0"/>
              <a:t>()’, como se puede ver en la declaración tiene dos tipos de elementos, el primero es la cadena de caracteres o texto (</a:t>
            </a:r>
            <a:r>
              <a:rPr lang="es-MX" dirty="0" err="1"/>
              <a:t>char</a:t>
            </a:r>
            <a:r>
              <a:rPr lang="es-MX" dirty="0"/>
              <a:t> *formato) que se va a leer por pantalla con su respectivo especificador de formato; y el segundo elemento contiene las direcciones de memoria de las variables que se van a leer.</a:t>
            </a:r>
            <a:endParaRPr lang="es-ES" dirty="0"/>
          </a:p>
        </p:txBody>
      </p:sp>
      <p:sp>
        <p:nvSpPr>
          <p:cNvPr id="3" name="2 Marcador de fecha"/>
          <p:cNvSpPr>
            <a:spLocks noGrp="1"/>
          </p:cNvSpPr>
          <p:nvPr>
            <p:ph type="dt" sz="half" idx="10"/>
          </p:nvPr>
        </p:nvSpPr>
        <p:spPr/>
        <p:txBody>
          <a:bodyPr/>
          <a:lstStyle/>
          <a:p>
            <a:fld id="{44C3288D-7DAC-4DD2-9022-6C6BA4238517}" type="datetime1">
              <a:rPr lang="es-EC" smtClean="0"/>
              <a:t>7/10/2025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20</a:t>
            </a:fld>
            <a:endParaRPr lang="es-EC"/>
          </a:p>
        </p:txBody>
      </p:sp>
    </p:spTree>
    <p:extLst>
      <p:ext uri="{BB962C8B-B14F-4D97-AF65-F5344CB8AC3E}">
        <p14:creationId xmlns:p14="http://schemas.microsoft.com/office/powerpoint/2010/main" val="1771575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marL="342900" lvl="1" indent="-342900">
              <a:lnSpc>
                <a:spcPct val="80000"/>
              </a:lnSpc>
              <a:buFont typeface="Arial" pitchFamily="34" charset="0"/>
              <a:buChar char="•"/>
            </a:pPr>
            <a:r>
              <a:rPr lang="es-MX" sz="2100" b="1" dirty="0">
                <a:solidFill>
                  <a:schemeClr val="bg1">
                    <a:lumMod val="50000"/>
                  </a:schemeClr>
                </a:solidFill>
              </a:rPr>
              <a:t>Funciones de Entrada y Salida de Datos</a:t>
            </a:r>
            <a:endParaRPr lang="es-419" sz="2100" b="1" dirty="0">
              <a:solidFill>
                <a:schemeClr val="bg1">
                  <a:lumMod val="50000"/>
                </a:schemeClr>
              </a:solidFill>
            </a:endParaRPr>
          </a:p>
          <a:p>
            <a:pPr lvl="1"/>
            <a:r>
              <a:rPr lang="es-MX" sz="2000" dirty="0"/>
              <a:t>Función de Salida cout &lt;&lt; </a:t>
            </a:r>
          </a:p>
          <a:p>
            <a:pPr lvl="1"/>
            <a:r>
              <a:rPr lang="es-MX" sz="2000" dirty="0"/>
              <a:t>Función de Entrada cin &gt;&gt; </a:t>
            </a:r>
          </a:p>
          <a:p>
            <a:pPr lvl="1"/>
            <a:r>
              <a:rPr lang="es-MX" sz="2000" dirty="0"/>
              <a:t>Problema 1.7. (Aplicación de las funciones cout y cin) </a:t>
            </a:r>
          </a:p>
          <a:p>
            <a:pPr lvl="1"/>
            <a:r>
              <a:rPr lang="es-MX" sz="2000" dirty="0"/>
              <a:t>Función de Salida printf() </a:t>
            </a:r>
          </a:p>
          <a:p>
            <a:pPr lvl="1"/>
            <a:r>
              <a:rPr lang="es-MX" sz="2000" dirty="0"/>
              <a:t>Especificadores de Formato </a:t>
            </a:r>
          </a:p>
          <a:p>
            <a:pPr lvl="1"/>
            <a:r>
              <a:rPr lang="es-MX" sz="2000" dirty="0"/>
              <a:t>Secuencias de Escape </a:t>
            </a:r>
          </a:p>
          <a:p>
            <a:pPr lvl="1"/>
            <a:r>
              <a:rPr lang="es-MX" sz="2000" dirty="0"/>
              <a:t>Problema 1.8. (Aplicación de las secuencias de escape) </a:t>
            </a:r>
          </a:p>
          <a:p>
            <a:pPr lvl="1"/>
            <a:r>
              <a:rPr lang="es-MX" sz="2000" dirty="0"/>
              <a:t>Función de Entrada scanf() </a:t>
            </a:r>
          </a:p>
          <a:p>
            <a:pPr lvl="1"/>
            <a:r>
              <a:rPr lang="es-MX" sz="2000" b="1" dirty="0">
                <a:solidFill>
                  <a:srgbClr val="FF0000"/>
                </a:solidFill>
              </a:rPr>
              <a:t>Problema 1.9. (Aplicación de las funciones printf y scanf) </a:t>
            </a:r>
          </a:p>
          <a:p>
            <a:pPr lvl="1"/>
            <a:r>
              <a:rPr lang="es-MX" sz="2000" dirty="0"/>
              <a:t>Funciones de Utilidades Generales Estándar</a:t>
            </a:r>
            <a:endParaRPr lang="es-419" sz="1800" dirty="0"/>
          </a:p>
        </p:txBody>
      </p:sp>
      <p:sp>
        <p:nvSpPr>
          <p:cNvPr id="5" name="4 Marcador de fecha"/>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E4E129-A937-4BEE-8A17-D7969DFE55C2}" type="datetime1">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7/10/2025</a:t>
            </a:fld>
            <a:endParaRPr kumimoji="0" lang="es-EC" sz="1200" b="0" i="0" u="none" strike="noStrike" kern="1200" cap="none" spc="0" normalizeH="0" baseline="0" noProof="0" dirty="0">
              <a:ln>
                <a:noFill/>
              </a:ln>
              <a:solidFill>
                <a:prstClr val="black">
                  <a:lumMod val="65000"/>
                  <a:lumOff val="35000"/>
                </a:prstClr>
              </a:solidFill>
              <a:effectLst/>
              <a:uLnTx/>
              <a:uFillTx/>
              <a:latin typeface="Century Gothic" pitchFamily="34" charset="0"/>
              <a:ea typeface="+mn-ea"/>
              <a:cs typeface="+mn-cs"/>
            </a:endParaRPr>
          </a:p>
        </p:txBody>
      </p:sp>
      <p:sp>
        <p:nvSpPr>
          <p:cNvPr id="6" name="5 Marcador de número de diapositiva"/>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4B28EB2-3408-4757-A806-361BA67028B7}" type="slidenum">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endParaRPr>
          </a:p>
        </p:txBody>
      </p:sp>
    </p:spTree>
    <p:extLst>
      <p:ext uri="{BB962C8B-B14F-4D97-AF65-F5344CB8AC3E}">
        <p14:creationId xmlns:p14="http://schemas.microsoft.com/office/powerpoint/2010/main" val="29606508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50615" y="1368152"/>
            <a:ext cx="8229600" cy="980728"/>
          </a:xfrm>
        </p:spPr>
        <p:txBody>
          <a:bodyPr/>
          <a:lstStyle/>
          <a:p>
            <a:br>
              <a:rPr lang="es-MX" b="1" dirty="0"/>
            </a:br>
            <a:r>
              <a:rPr lang="es-MX" b="1" dirty="0"/>
              <a:t>Aplicación de las funciones printf y scanf </a:t>
            </a:r>
            <a:br>
              <a:rPr lang="es-MX" b="1" dirty="0"/>
            </a:br>
            <a:endParaRPr lang="en-US" b="1" dirty="0"/>
          </a:p>
        </p:txBody>
      </p:sp>
      <p:sp>
        <p:nvSpPr>
          <p:cNvPr id="5" name="4 Marcador de contenido"/>
          <p:cNvSpPr>
            <a:spLocks noGrp="1"/>
          </p:cNvSpPr>
          <p:nvPr>
            <p:ph idx="1"/>
          </p:nvPr>
        </p:nvSpPr>
        <p:spPr>
          <a:xfrm>
            <a:off x="1085529" y="2035117"/>
            <a:ext cx="2993412" cy="1747990"/>
          </a:xfrm>
        </p:spPr>
        <p:txBody>
          <a:bodyPr>
            <a:normAutofit lnSpcReduction="10000"/>
          </a:bodyPr>
          <a:lstStyle/>
          <a:p>
            <a:r>
              <a:rPr lang="es-MX" sz="1600" dirty="0"/>
              <a:t>Escribir un programa que permita preguntarle al usuario su primer nombre y donde luego la computadora responda Hola usuario XYZ. </a:t>
            </a:r>
            <a:endParaRPr lang="es-ES" sz="1600" dirty="0"/>
          </a:p>
        </p:txBody>
      </p:sp>
      <p:sp>
        <p:nvSpPr>
          <p:cNvPr id="3" name="2 Marcador de fecha"/>
          <p:cNvSpPr>
            <a:spLocks noGrp="1"/>
          </p:cNvSpPr>
          <p:nvPr>
            <p:ph type="dt" sz="half" idx="10"/>
          </p:nvPr>
        </p:nvSpPr>
        <p:spPr/>
        <p:txBody>
          <a:bodyPr/>
          <a:lstStyle/>
          <a:p>
            <a:fld id="{44C3288D-7DAC-4DD2-9022-6C6BA4238517}" type="datetime1">
              <a:rPr lang="es-EC" smtClean="0"/>
              <a:t>7/10/2025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22</a:t>
            </a:fld>
            <a:endParaRPr lang="es-EC"/>
          </a:p>
        </p:txBody>
      </p:sp>
      <p:pic>
        <p:nvPicPr>
          <p:cNvPr id="10" name="Imagen 9">
            <a:extLst>
              <a:ext uri="{FF2B5EF4-FFF2-40B4-BE49-F238E27FC236}">
                <a16:creationId xmlns:a16="http://schemas.microsoft.com/office/drawing/2014/main" id="{2664AA88-1D05-444C-94F8-85EC0ED45DEA}"/>
              </a:ext>
            </a:extLst>
          </p:cNvPr>
          <p:cNvPicPr>
            <a:picLocks noChangeAspect="1"/>
          </p:cNvPicPr>
          <p:nvPr/>
        </p:nvPicPr>
        <p:blipFill>
          <a:blip r:embed="rId3"/>
          <a:stretch>
            <a:fillRect/>
          </a:stretch>
        </p:blipFill>
        <p:spPr>
          <a:xfrm>
            <a:off x="4232923" y="2035118"/>
            <a:ext cx="6812378" cy="1876687"/>
          </a:xfrm>
          <a:prstGeom prst="rect">
            <a:avLst/>
          </a:prstGeom>
        </p:spPr>
      </p:pic>
      <p:pic>
        <p:nvPicPr>
          <p:cNvPr id="15" name="Imagen 14">
            <a:extLst>
              <a:ext uri="{FF2B5EF4-FFF2-40B4-BE49-F238E27FC236}">
                <a16:creationId xmlns:a16="http://schemas.microsoft.com/office/drawing/2014/main" id="{6E0891CC-361E-4140-B28A-D5FB429FADBC}"/>
              </a:ext>
            </a:extLst>
          </p:cNvPr>
          <p:cNvPicPr>
            <a:picLocks noChangeAspect="1"/>
          </p:cNvPicPr>
          <p:nvPr/>
        </p:nvPicPr>
        <p:blipFill>
          <a:blip r:embed="rId4"/>
          <a:stretch>
            <a:fillRect/>
          </a:stretch>
        </p:blipFill>
        <p:spPr>
          <a:xfrm>
            <a:off x="3534207" y="4124268"/>
            <a:ext cx="7520059" cy="1631073"/>
          </a:xfrm>
          <a:prstGeom prst="rect">
            <a:avLst/>
          </a:prstGeom>
        </p:spPr>
      </p:pic>
      <p:sp>
        <p:nvSpPr>
          <p:cNvPr id="8" name="12 CuadroTexto">
            <a:extLst>
              <a:ext uri="{FF2B5EF4-FFF2-40B4-BE49-F238E27FC236}">
                <a16:creationId xmlns:a16="http://schemas.microsoft.com/office/drawing/2014/main" id="{9A99A026-D7F2-4F08-B98A-7EAB394AF557}"/>
              </a:ext>
            </a:extLst>
          </p:cNvPr>
          <p:cNvSpPr txBox="1"/>
          <p:nvPr/>
        </p:nvSpPr>
        <p:spPr>
          <a:xfrm>
            <a:off x="4078941" y="5892582"/>
            <a:ext cx="4355976" cy="646331"/>
          </a:xfrm>
          <a:prstGeom prst="rect">
            <a:avLst/>
          </a:prstGeom>
          <a:noFill/>
        </p:spPr>
        <p:txBody>
          <a:bodyPr wrap="square" rtlCol="0">
            <a:spAutoFit/>
          </a:bodyPr>
          <a:lstStyle/>
          <a:p>
            <a:r>
              <a:rPr lang="es-ES_tradnl" sz="1200" b="1" dirty="0">
                <a:solidFill>
                  <a:schemeClr val="tx1">
                    <a:lumMod val="50000"/>
                    <a:lumOff val="50000"/>
                  </a:schemeClr>
                </a:solidFill>
                <a:latin typeface="+mj-lt"/>
              </a:rPr>
              <a:t>Programa 1.9. </a:t>
            </a:r>
            <a:r>
              <a:rPr lang="es-ES_tradnl" sz="1200" dirty="0">
                <a:solidFill>
                  <a:schemeClr val="tx1">
                    <a:lumMod val="50000"/>
                    <a:lumOff val="50000"/>
                  </a:schemeClr>
                </a:solidFill>
                <a:latin typeface="+mj-lt"/>
              </a:rPr>
              <a:t>Código del Programa . Fuente: Zambrano M., et al., 2025.</a:t>
            </a:r>
            <a:endParaRPr lang="es-EC" sz="1200" dirty="0">
              <a:solidFill>
                <a:schemeClr val="tx1">
                  <a:lumMod val="50000"/>
                  <a:lumOff val="50000"/>
                </a:schemeClr>
              </a:solidFill>
              <a:latin typeface="+mj-lt"/>
            </a:endParaRPr>
          </a:p>
          <a:p>
            <a:endParaRPr lang="es-ES_tradnl" sz="1200" dirty="0">
              <a:solidFill>
                <a:schemeClr val="tx1">
                  <a:lumMod val="50000"/>
                  <a:lumOff val="50000"/>
                </a:schemeClr>
              </a:solidFill>
              <a:latin typeface="+mj-lt"/>
            </a:endParaRPr>
          </a:p>
        </p:txBody>
      </p:sp>
    </p:spTree>
    <p:extLst>
      <p:ext uri="{BB962C8B-B14F-4D97-AF65-F5344CB8AC3E}">
        <p14:creationId xmlns:p14="http://schemas.microsoft.com/office/powerpoint/2010/main" val="3779973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50615" y="1368152"/>
            <a:ext cx="8229600" cy="980728"/>
          </a:xfrm>
        </p:spPr>
        <p:txBody>
          <a:bodyPr/>
          <a:lstStyle/>
          <a:p>
            <a:br>
              <a:rPr lang="es-MX" b="1" dirty="0"/>
            </a:br>
            <a:r>
              <a:rPr lang="es-MX" b="1" dirty="0"/>
              <a:t>Aplicación de las funciones printf y scanf </a:t>
            </a:r>
            <a:br>
              <a:rPr lang="es-MX" b="1" dirty="0"/>
            </a:br>
            <a:endParaRPr lang="en-US" b="1" dirty="0"/>
          </a:p>
        </p:txBody>
      </p:sp>
      <p:sp>
        <p:nvSpPr>
          <p:cNvPr id="5" name="4 Marcador de contenido"/>
          <p:cNvSpPr>
            <a:spLocks noGrp="1"/>
          </p:cNvSpPr>
          <p:nvPr>
            <p:ph idx="1"/>
          </p:nvPr>
        </p:nvSpPr>
        <p:spPr>
          <a:xfrm>
            <a:off x="1233021" y="3618237"/>
            <a:ext cx="9040532" cy="2809457"/>
          </a:xfrm>
        </p:spPr>
        <p:txBody>
          <a:bodyPr>
            <a:normAutofit lnSpcReduction="10000"/>
          </a:bodyPr>
          <a:lstStyle/>
          <a:p>
            <a:r>
              <a:rPr lang="es-MX" sz="1600" dirty="0"/>
              <a:t>Como se puede ver en este programa, nosotros desplegamos el texto: “Ingrese una letra: ” en la consola con la siguiente instrucción:</a:t>
            </a:r>
          </a:p>
          <a:p>
            <a:pPr marL="0" indent="0">
              <a:buNone/>
            </a:pPr>
            <a:r>
              <a:rPr lang="es-MX" sz="1600" b="1" dirty="0"/>
              <a:t>      printf("Ingrese una letra: "); </a:t>
            </a:r>
            <a:endParaRPr lang="es-MX" sz="1600" dirty="0"/>
          </a:p>
          <a:p>
            <a:r>
              <a:rPr lang="es-MX" sz="1600" dirty="0"/>
              <a:t>Luego nosotros le pedimos al usuario que ingrese una letra con la siguiente instrucción: </a:t>
            </a:r>
          </a:p>
          <a:p>
            <a:pPr marL="0" indent="0">
              <a:buNone/>
            </a:pPr>
            <a:r>
              <a:rPr lang="es-MX" sz="1600" dirty="0"/>
              <a:t>      </a:t>
            </a:r>
            <a:r>
              <a:rPr lang="es-MX" sz="1600" b="1" dirty="0" err="1"/>
              <a:t>scanf_s</a:t>
            </a:r>
            <a:r>
              <a:rPr lang="es-MX" sz="1600" b="1" dirty="0"/>
              <a:t>("%c", &amp;letra);</a:t>
            </a:r>
          </a:p>
          <a:p>
            <a:r>
              <a:rPr lang="es-MX" sz="1600" dirty="0"/>
              <a:t> Finalmente nosotros desplegamos el mensaje “La letra ingresada fue: ” seguido por el especificador de formato “%c” para imprimir el valor de una variable de tipo </a:t>
            </a:r>
            <a:r>
              <a:rPr lang="es-MX" sz="1600" dirty="0" err="1"/>
              <a:t>char</a:t>
            </a:r>
            <a:r>
              <a:rPr lang="es-MX" sz="1600" dirty="0"/>
              <a:t> (carácter) y luego se imprime un salto de línea con la secuencia de escape “\n”, con la siguiente instrucción:</a:t>
            </a:r>
          </a:p>
          <a:p>
            <a:pPr marL="0" indent="0">
              <a:buNone/>
            </a:pPr>
            <a:r>
              <a:rPr lang="es-MX" sz="1600" b="1" dirty="0"/>
              <a:t>      printf("La letra ingresada fue: %c\n", letra); </a:t>
            </a:r>
            <a:endParaRPr lang="es-ES" sz="2000" b="1" dirty="0"/>
          </a:p>
        </p:txBody>
      </p:sp>
      <p:sp>
        <p:nvSpPr>
          <p:cNvPr id="3" name="2 Marcador de fecha"/>
          <p:cNvSpPr>
            <a:spLocks noGrp="1"/>
          </p:cNvSpPr>
          <p:nvPr>
            <p:ph type="dt" sz="half" idx="10"/>
          </p:nvPr>
        </p:nvSpPr>
        <p:spPr/>
        <p:txBody>
          <a:bodyPr/>
          <a:lstStyle/>
          <a:p>
            <a:fld id="{44C3288D-7DAC-4DD2-9022-6C6BA4238517}" type="datetime1">
              <a:rPr lang="es-EC" smtClean="0"/>
              <a:t>7/10/2025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23</a:t>
            </a:fld>
            <a:endParaRPr lang="es-EC"/>
          </a:p>
        </p:txBody>
      </p:sp>
      <p:pic>
        <p:nvPicPr>
          <p:cNvPr id="7" name="Imagen 6">
            <a:extLst>
              <a:ext uri="{FF2B5EF4-FFF2-40B4-BE49-F238E27FC236}">
                <a16:creationId xmlns:a16="http://schemas.microsoft.com/office/drawing/2014/main" id="{6F0DF204-89C4-495C-AAE0-8A763135C7B3}"/>
              </a:ext>
            </a:extLst>
          </p:cNvPr>
          <p:cNvPicPr>
            <a:picLocks noChangeAspect="1"/>
          </p:cNvPicPr>
          <p:nvPr/>
        </p:nvPicPr>
        <p:blipFill>
          <a:blip r:embed="rId3"/>
          <a:stretch>
            <a:fillRect/>
          </a:stretch>
        </p:blipFill>
        <p:spPr>
          <a:xfrm>
            <a:off x="1677054" y="1701319"/>
            <a:ext cx="6668431" cy="1164496"/>
          </a:xfrm>
          <a:prstGeom prst="rect">
            <a:avLst/>
          </a:prstGeom>
        </p:spPr>
      </p:pic>
      <p:sp>
        <p:nvSpPr>
          <p:cNvPr id="13" name="12 CuadroTexto">
            <a:extLst>
              <a:ext uri="{FF2B5EF4-FFF2-40B4-BE49-F238E27FC236}">
                <a16:creationId xmlns:a16="http://schemas.microsoft.com/office/drawing/2014/main" id="{65A0732B-60E8-477C-9810-AC3A315F9AB5}"/>
              </a:ext>
            </a:extLst>
          </p:cNvPr>
          <p:cNvSpPr txBox="1"/>
          <p:nvPr/>
        </p:nvSpPr>
        <p:spPr>
          <a:xfrm>
            <a:off x="1555751" y="2971906"/>
            <a:ext cx="4355976" cy="646331"/>
          </a:xfrm>
          <a:prstGeom prst="rect">
            <a:avLst/>
          </a:prstGeom>
          <a:noFill/>
        </p:spPr>
        <p:txBody>
          <a:bodyPr wrap="square" rtlCol="0">
            <a:spAutoFit/>
          </a:bodyPr>
          <a:lstStyle/>
          <a:p>
            <a:r>
              <a:rPr lang="es-ES_tradnl" sz="1200" b="1" dirty="0">
                <a:solidFill>
                  <a:schemeClr val="tx1">
                    <a:lumMod val="50000"/>
                    <a:lumOff val="50000"/>
                  </a:schemeClr>
                </a:solidFill>
                <a:latin typeface="+mj-lt"/>
              </a:rPr>
              <a:t>Salida 1.9</a:t>
            </a:r>
            <a:r>
              <a:rPr lang="es-ES_tradnl" sz="1200" dirty="0">
                <a:solidFill>
                  <a:schemeClr val="tx1">
                    <a:lumMod val="50000"/>
                    <a:lumOff val="50000"/>
                  </a:schemeClr>
                </a:solidFill>
                <a:latin typeface="+mj-lt"/>
              </a:rPr>
              <a:t> Salida del Programa . Fuente: Zambrano M., et al., 2025.</a:t>
            </a:r>
            <a:endParaRPr lang="es-EC" sz="1200" dirty="0">
              <a:solidFill>
                <a:schemeClr val="tx1">
                  <a:lumMod val="50000"/>
                  <a:lumOff val="50000"/>
                </a:schemeClr>
              </a:solidFill>
              <a:latin typeface="+mj-lt"/>
            </a:endParaRPr>
          </a:p>
          <a:p>
            <a:endParaRPr lang="es-ES_tradnl" sz="1200" dirty="0">
              <a:solidFill>
                <a:schemeClr val="tx1">
                  <a:lumMod val="50000"/>
                  <a:lumOff val="50000"/>
                </a:schemeClr>
              </a:solidFill>
              <a:latin typeface="+mj-lt"/>
            </a:endParaRPr>
          </a:p>
        </p:txBody>
      </p:sp>
    </p:spTree>
    <p:extLst>
      <p:ext uri="{BB962C8B-B14F-4D97-AF65-F5344CB8AC3E}">
        <p14:creationId xmlns:p14="http://schemas.microsoft.com/office/powerpoint/2010/main" val="29910924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50615" y="1368152"/>
            <a:ext cx="8229600" cy="980728"/>
          </a:xfrm>
        </p:spPr>
        <p:txBody>
          <a:bodyPr/>
          <a:lstStyle/>
          <a:p>
            <a:br>
              <a:rPr lang="es-MX" b="1" dirty="0"/>
            </a:br>
            <a:r>
              <a:rPr lang="es-MX" b="1" dirty="0"/>
              <a:t>Aplicación de las funciones printf y scanf </a:t>
            </a:r>
            <a:br>
              <a:rPr lang="es-MX" b="1" dirty="0"/>
            </a:br>
            <a:endParaRPr lang="en-US" b="1" dirty="0"/>
          </a:p>
        </p:txBody>
      </p:sp>
      <p:sp>
        <p:nvSpPr>
          <p:cNvPr id="5" name="4 Marcador de contenido"/>
          <p:cNvSpPr>
            <a:spLocks noGrp="1"/>
          </p:cNvSpPr>
          <p:nvPr>
            <p:ph idx="1"/>
          </p:nvPr>
        </p:nvSpPr>
        <p:spPr>
          <a:xfrm>
            <a:off x="1184140" y="2841939"/>
            <a:ext cx="4418800" cy="2761002"/>
          </a:xfrm>
        </p:spPr>
        <p:txBody>
          <a:bodyPr>
            <a:normAutofit/>
          </a:bodyPr>
          <a:lstStyle/>
          <a:p>
            <a:r>
              <a:rPr lang="es-MX" sz="1600" dirty="0"/>
              <a:t>Tip de Programación: Solo en la herramienta de programación Visual C++ de Microsoft se utiliza la función </a:t>
            </a:r>
            <a:r>
              <a:rPr lang="es-MX" sz="1600" dirty="0" err="1"/>
              <a:t>scanf_s</a:t>
            </a:r>
            <a:r>
              <a:rPr lang="es-MX" sz="1600" dirty="0"/>
              <a:t>(), mientras que en otras herramientas de programación como DEV C++, </a:t>
            </a:r>
            <a:r>
              <a:rPr lang="es-MX" sz="1600" dirty="0" err="1"/>
              <a:t>Code</a:t>
            </a:r>
            <a:r>
              <a:rPr lang="es-MX" sz="1600" dirty="0"/>
              <a:t>::Blocks, GDB online </a:t>
            </a:r>
            <a:r>
              <a:rPr lang="es-MX" sz="1600" dirty="0" err="1"/>
              <a:t>Debugger</a:t>
            </a:r>
            <a:r>
              <a:rPr lang="es-MX" sz="1600" dirty="0"/>
              <a:t>, entre otras, se utiliza directamente la función scanf().</a:t>
            </a:r>
            <a:endParaRPr lang="es-ES" sz="2000" dirty="0"/>
          </a:p>
        </p:txBody>
      </p:sp>
      <p:sp>
        <p:nvSpPr>
          <p:cNvPr id="3" name="2 Marcador de fecha"/>
          <p:cNvSpPr>
            <a:spLocks noGrp="1"/>
          </p:cNvSpPr>
          <p:nvPr>
            <p:ph type="dt" sz="half" idx="10"/>
          </p:nvPr>
        </p:nvSpPr>
        <p:spPr/>
        <p:txBody>
          <a:bodyPr/>
          <a:lstStyle/>
          <a:p>
            <a:fld id="{44C3288D-7DAC-4DD2-9022-6C6BA4238517}" type="datetime1">
              <a:rPr lang="es-EC" smtClean="0"/>
              <a:t>7/10/2025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24</a:t>
            </a:fld>
            <a:endParaRPr lang="es-EC"/>
          </a:p>
        </p:txBody>
      </p:sp>
      <p:sp>
        <p:nvSpPr>
          <p:cNvPr id="9" name="7 CuadroTexto">
            <a:extLst>
              <a:ext uri="{FF2B5EF4-FFF2-40B4-BE49-F238E27FC236}">
                <a16:creationId xmlns:a16="http://schemas.microsoft.com/office/drawing/2014/main" id="{458324AC-352E-4DC2-B159-EFDF9A4CA7E9}"/>
              </a:ext>
            </a:extLst>
          </p:cNvPr>
          <p:cNvSpPr txBox="1"/>
          <p:nvPr/>
        </p:nvSpPr>
        <p:spPr>
          <a:xfrm>
            <a:off x="1489811" y="1870303"/>
            <a:ext cx="8003726" cy="523220"/>
          </a:xfrm>
          <a:prstGeom prst="rect">
            <a:avLst/>
          </a:prstGeom>
          <a:noFill/>
        </p:spPr>
        <p:txBody>
          <a:bodyPr wrap="square" rtlCol="0">
            <a:spAutoFit/>
          </a:bodyPr>
          <a:lstStyle/>
          <a:p>
            <a:r>
              <a:rPr lang="es-ES" sz="2800" dirty="0">
                <a:solidFill>
                  <a:schemeClr val="bg1">
                    <a:lumMod val="50000"/>
                  </a:schemeClr>
                </a:solidFill>
              </a:rPr>
              <a:t>Importancia</a:t>
            </a:r>
            <a:endParaRPr lang="es-EC" sz="2800" dirty="0">
              <a:solidFill>
                <a:schemeClr val="bg1">
                  <a:lumMod val="50000"/>
                </a:schemeClr>
              </a:solidFill>
            </a:endParaRPr>
          </a:p>
        </p:txBody>
      </p:sp>
      <p:pic>
        <p:nvPicPr>
          <p:cNvPr id="11" name="Imagen 10">
            <a:extLst>
              <a:ext uri="{FF2B5EF4-FFF2-40B4-BE49-F238E27FC236}">
                <a16:creationId xmlns:a16="http://schemas.microsoft.com/office/drawing/2014/main" id="{588AE351-47DC-4201-B8BB-33DFA7DB4280}"/>
              </a:ext>
            </a:extLst>
          </p:cNvPr>
          <p:cNvPicPr>
            <a:picLocks noChangeAspect="1"/>
          </p:cNvPicPr>
          <p:nvPr/>
        </p:nvPicPr>
        <p:blipFill>
          <a:blip r:embed="rId3"/>
          <a:stretch>
            <a:fillRect/>
          </a:stretch>
        </p:blipFill>
        <p:spPr>
          <a:xfrm>
            <a:off x="6537539" y="2428681"/>
            <a:ext cx="3642676" cy="2080440"/>
          </a:xfrm>
          <a:prstGeom prst="rect">
            <a:avLst/>
          </a:prstGeom>
        </p:spPr>
      </p:pic>
      <p:sp>
        <p:nvSpPr>
          <p:cNvPr id="12" name="12 CuadroTexto">
            <a:extLst>
              <a:ext uri="{FF2B5EF4-FFF2-40B4-BE49-F238E27FC236}">
                <a16:creationId xmlns:a16="http://schemas.microsoft.com/office/drawing/2014/main" id="{E85DB641-CFFB-4A65-BFA3-C3CD5AC8605B}"/>
              </a:ext>
            </a:extLst>
          </p:cNvPr>
          <p:cNvSpPr txBox="1"/>
          <p:nvPr/>
        </p:nvSpPr>
        <p:spPr>
          <a:xfrm>
            <a:off x="6306475" y="4740238"/>
            <a:ext cx="4355976" cy="461665"/>
          </a:xfrm>
          <a:prstGeom prst="rect">
            <a:avLst/>
          </a:prstGeom>
          <a:noFill/>
        </p:spPr>
        <p:txBody>
          <a:bodyPr wrap="square" rtlCol="0">
            <a:spAutoFit/>
          </a:bodyPr>
          <a:lstStyle/>
          <a:p>
            <a:r>
              <a:rPr lang="es-ES_tradnl" sz="1200" dirty="0">
                <a:solidFill>
                  <a:schemeClr val="tx1">
                    <a:lumMod val="50000"/>
                    <a:lumOff val="50000"/>
                  </a:schemeClr>
                </a:solidFill>
                <a:latin typeface="+mj-lt"/>
              </a:rPr>
              <a:t>Figura 1. Objetivos del Capítulo 1. </a:t>
            </a:r>
          </a:p>
          <a:p>
            <a:r>
              <a:rPr lang="es-ES_tradnl" sz="1200" dirty="0">
                <a:solidFill>
                  <a:schemeClr val="tx1">
                    <a:lumMod val="50000"/>
                    <a:lumOff val="50000"/>
                  </a:schemeClr>
                </a:solidFill>
                <a:latin typeface="+mj-lt"/>
              </a:rPr>
              <a:t>Fuente: https://www.pngegg.com/es/png-ecixe</a:t>
            </a:r>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5627606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marL="342900" lvl="1" indent="-342900">
              <a:lnSpc>
                <a:spcPct val="80000"/>
              </a:lnSpc>
              <a:buFont typeface="Arial" pitchFamily="34" charset="0"/>
              <a:buChar char="•"/>
            </a:pPr>
            <a:r>
              <a:rPr lang="es-MX" sz="2100" b="1" dirty="0">
                <a:solidFill>
                  <a:schemeClr val="bg1">
                    <a:lumMod val="50000"/>
                  </a:schemeClr>
                </a:solidFill>
              </a:rPr>
              <a:t>Funciones de Entrada y Salida de Datos</a:t>
            </a:r>
            <a:endParaRPr lang="es-419" sz="2100" b="1" dirty="0">
              <a:solidFill>
                <a:schemeClr val="bg1">
                  <a:lumMod val="50000"/>
                </a:schemeClr>
              </a:solidFill>
            </a:endParaRPr>
          </a:p>
          <a:p>
            <a:pPr lvl="1"/>
            <a:r>
              <a:rPr lang="es-MX" sz="2000" dirty="0"/>
              <a:t>Función de Salida cout &lt;&lt; </a:t>
            </a:r>
          </a:p>
          <a:p>
            <a:pPr lvl="1"/>
            <a:r>
              <a:rPr lang="es-MX" sz="2000" dirty="0"/>
              <a:t>Función de Entrada cin &gt;&gt; </a:t>
            </a:r>
          </a:p>
          <a:p>
            <a:pPr lvl="1"/>
            <a:r>
              <a:rPr lang="es-MX" sz="2000" dirty="0"/>
              <a:t>Problema 1.7. (Aplicación de las funciones cout y cin) </a:t>
            </a:r>
          </a:p>
          <a:p>
            <a:pPr lvl="1"/>
            <a:r>
              <a:rPr lang="es-MX" sz="2000" dirty="0"/>
              <a:t>Función de Salida printf() </a:t>
            </a:r>
          </a:p>
          <a:p>
            <a:pPr lvl="1"/>
            <a:r>
              <a:rPr lang="es-MX" sz="2000" dirty="0"/>
              <a:t>Especificadores de Formato </a:t>
            </a:r>
          </a:p>
          <a:p>
            <a:pPr lvl="1"/>
            <a:r>
              <a:rPr lang="es-MX" sz="2000" dirty="0"/>
              <a:t>Secuencias de Escape </a:t>
            </a:r>
          </a:p>
          <a:p>
            <a:pPr lvl="1"/>
            <a:r>
              <a:rPr lang="es-MX" sz="2000" dirty="0"/>
              <a:t>Problema 1.8. (Aplicación de las secuencias de escape) </a:t>
            </a:r>
          </a:p>
          <a:p>
            <a:pPr lvl="1"/>
            <a:r>
              <a:rPr lang="es-MX" sz="2000" dirty="0"/>
              <a:t>Función de Entrada scanf() </a:t>
            </a:r>
          </a:p>
          <a:p>
            <a:pPr lvl="1"/>
            <a:r>
              <a:rPr lang="es-MX" sz="2000" dirty="0"/>
              <a:t>Problema 1.9. (Aplicación de las funciones printf y scanf) </a:t>
            </a:r>
          </a:p>
          <a:p>
            <a:pPr lvl="1"/>
            <a:r>
              <a:rPr lang="es-MX" sz="2000" b="1" dirty="0">
                <a:solidFill>
                  <a:srgbClr val="FF0000"/>
                </a:solidFill>
              </a:rPr>
              <a:t>Funciones de Utilidades Generales Estándar</a:t>
            </a:r>
            <a:endParaRPr lang="es-419" sz="1800" b="1" dirty="0">
              <a:solidFill>
                <a:srgbClr val="FF0000"/>
              </a:solidFill>
            </a:endParaRPr>
          </a:p>
        </p:txBody>
      </p:sp>
      <p:sp>
        <p:nvSpPr>
          <p:cNvPr id="5" name="4 Marcador de fecha"/>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E4E129-A937-4BEE-8A17-D7969DFE55C2}" type="datetime1">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7/10/2025</a:t>
            </a:fld>
            <a:endParaRPr kumimoji="0" lang="es-EC" sz="1200" b="0" i="0" u="none" strike="noStrike" kern="1200" cap="none" spc="0" normalizeH="0" baseline="0" noProof="0" dirty="0">
              <a:ln>
                <a:noFill/>
              </a:ln>
              <a:solidFill>
                <a:prstClr val="black">
                  <a:lumMod val="65000"/>
                  <a:lumOff val="35000"/>
                </a:prstClr>
              </a:solidFill>
              <a:effectLst/>
              <a:uLnTx/>
              <a:uFillTx/>
              <a:latin typeface="Century Gothic" pitchFamily="34" charset="0"/>
              <a:ea typeface="+mn-ea"/>
              <a:cs typeface="+mn-cs"/>
            </a:endParaRPr>
          </a:p>
        </p:txBody>
      </p:sp>
      <p:sp>
        <p:nvSpPr>
          <p:cNvPr id="6" name="5 Marcador de número de diapositiva"/>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4B28EB2-3408-4757-A806-361BA67028B7}" type="slidenum">
              <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s-EC" sz="1200" b="0" i="0" u="none" strike="noStrike" kern="1200" cap="none" spc="0" normalizeH="0" baseline="0" noProof="0">
              <a:ln>
                <a:noFill/>
              </a:ln>
              <a:solidFill>
                <a:prstClr val="black">
                  <a:lumMod val="65000"/>
                  <a:lumOff val="35000"/>
                </a:prstClr>
              </a:solidFill>
              <a:effectLst/>
              <a:uLnTx/>
              <a:uFillTx/>
              <a:latin typeface="Century Gothic" pitchFamily="34" charset="0"/>
              <a:ea typeface="+mn-ea"/>
              <a:cs typeface="+mn-cs"/>
            </a:endParaRPr>
          </a:p>
        </p:txBody>
      </p:sp>
    </p:spTree>
    <p:extLst>
      <p:ext uri="{BB962C8B-B14F-4D97-AF65-F5344CB8AC3E}">
        <p14:creationId xmlns:p14="http://schemas.microsoft.com/office/powerpoint/2010/main" val="13392780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120944" y="2127367"/>
            <a:ext cx="8229600" cy="980728"/>
          </a:xfrm>
        </p:spPr>
        <p:txBody>
          <a:bodyPr/>
          <a:lstStyle/>
          <a:p>
            <a:br>
              <a:rPr lang="es-MX" b="1" dirty="0"/>
            </a:br>
            <a:r>
              <a:rPr lang="es-MX" b="1" dirty="0"/>
              <a:t>Funciones de Utilidades Generales Estándar</a:t>
            </a:r>
            <a:br>
              <a:rPr lang="es-419" sz="4800" b="1" dirty="0">
                <a:solidFill>
                  <a:srgbClr val="FF0000"/>
                </a:solidFill>
              </a:rPr>
            </a:br>
            <a:r>
              <a:rPr lang="es-MX" b="1" dirty="0"/>
              <a:t> </a:t>
            </a:r>
            <a:br>
              <a:rPr lang="es-MX" b="1" dirty="0"/>
            </a:br>
            <a:endParaRPr lang="en-US" b="1" dirty="0"/>
          </a:p>
        </p:txBody>
      </p:sp>
      <p:sp>
        <p:nvSpPr>
          <p:cNvPr id="5" name="4 Marcador de contenido"/>
          <p:cNvSpPr>
            <a:spLocks noGrp="1"/>
          </p:cNvSpPr>
          <p:nvPr>
            <p:ph idx="1"/>
          </p:nvPr>
        </p:nvSpPr>
        <p:spPr>
          <a:xfrm>
            <a:off x="1112422" y="2250268"/>
            <a:ext cx="5933836" cy="3325779"/>
          </a:xfrm>
        </p:spPr>
        <p:txBody>
          <a:bodyPr>
            <a:normAutofit/>
          </a:bodyPr>
          <a:lstStyle/>
          <a:p>
            <a:r>
              <a:rPr lang="es-MX" sz="1600" dirty="0"/>
              <a:t>El archivo de la librería de utilidades estándar “</a:t>
            </a:r>
            <a:r>
              <a:rPr lang="es-MX" sz="1600" dirty="0" err="1"/>
              <a:t>cstdlib</a:t>
            </a:r>
            <a:r>
              <a:rPr lang="es-MX" sz="1600" dirty="0"/>
              <a:t>” contiene un sinnúmero de funciones para gestionar la memoria dinámica, para la comunicación con el ambiente, entre otras. Una de las funciones más importantes de esta librería es la función </a:t>
            </a:r>
            <a:r>
              <a:rPr lang="es-MX" sz="1600" dirty="0" err="1"/>
              <a:t>system</a:t>
            </a:r>
            <a:r>
              <a:rPr lang="es-MX" sz="1600" dirty="0"/>
              <a:t> que permite invocar al procesador de comandos para ejecutar un comando y la función </a:t>
            </a:r>
            <a:r>
              <a:rPr lang="es-MX" sz="1600" dirty="0" err="1"/>
              <a:t>system</a:t>
            </a:r>
            <a:r>
              <a:rPr lang="es-MX" sz="1600" dirty="0"/>
              <a:t>(“pause”) permite incorporar una pausa en el programa. </a:t>
            </a:r>
            <a:endParaRPr lang="es-ES" sz="2000" dirty="0"/>
          </a:p>
        </p:txBody>
      </p:sp>
      <p:sp>
        <p:nvSpPr>
          <p:cNvPr id="3" name="2 Marcador de fecha"/>
          <p:cNvSpPr>
            <a:spLocks noGrp="1"/>
          </p:cNvSpPr>
          <p:nvPr>
            <p:ph type="dt" sz="half" idx="10"/>
          </p:nvPr>
        </p:nvSpPr>
        <p:spPr/>
        <p:txBody>
          <a:bodyPr/>
          <a:lstStyle/>
          <a:p>
            <a:fld id="{44C3288D-7DAC-4DD2-9022-6C6BA4238517}" type="datetime1">
              <a:rPr lang="es-EC" smtClean="0"/>
              <a:t>7/10/2025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26</a:t>
            </a:fld>
            <a:endParaRPr lang="es-EC"/>
          </a:p>
        </p:txBody>
      </p:sp>
      <p:pic>
        <p:nvPicPr>
          <p:cNvPr id="7" name="Imagen 6">
            <a:extLst>
              <a:ext uri="{FF2B5EF4-FFF2-40B4-BE49-F238E27FC236}">
                <a16:creationId xmlns:a16="http://schemas.microsoft.com/office/drawing/2014/main" id="{7B9CB48D-7688-4FA9-B3AE-A6B79F28D04C}"/>
              </a:ext>
            </a:extLst>
          </p:cNvPr>
          <p:cNvPicPr>
            <a:picLocks noChangeAspect="1"/>
          </p:cNvPicPr>
          <p:nvPr/>
        </p:nvPicPr>
        <p:blipFill>
          <a:blip r:embed="rId3"/>
          <a:stretch>
            <a:fillRect/>
          </a:stretch>
        </p:blipFill>
        <p:spPr>
          <a:xfrm>
            <a:off x="7756372" y="1904643"/>
            <a:ext cx="3323206" cy="3306337"/>
          </a:xfrm>
          <a:prstGeom prst="rect">
            <a:avLst/>
          </a:prstGeom>
        </p:spPr>
      </p:pic>
      <p:sp>
        <p:nvSpPr>
          <p:cNvPr id="8" name="12 CuadroTexto">
            <a:extLst>
              <a:ext uri="{FF2B5EF4-FFF2-40B4-BE49-F238E27FC236}">
                <a16:creationId xmlns:a16="http://schemas.microsoft.com/office/drawing/2014/main" id="{3125BC21-CD90-45FF-BA53-0CF99C85F72B}"/>
              </a:ext>
            </a:extLst>
          </p:cNvPr>
          <p:cNvSpPr txBox="1"/>
          <p:nvPr/>
        </p:nvSpPr>
        <p:spPr>
          <a:xfrm>
            <a:off x="6909787" y="5375782"/>
            <a:ext cx="4355976" cy="646331"/>
          </a:xfrm>
          <a:prstGeom prst="rect">
            <a:avLst/>
          </a:prstGeom>
          <a:noFill/>
        </p:spPr>
        <p:txBody>
          <a:bodyPr wrap="square" rtlCol="0">
            <a:spAutoFit/>
          </a:bodyPr>
          <a:lstStyle/>
          <a:p>
            <a:r>
              <a:rPr lang="es-ES_tradnl" sz="1200" dirty="0">
                <a:solidFill>
                  <a:schemeClr val="tx1">
                    <a:lumMod val="50000"/>
                    <a:lumOff val="50000"/>
                  </a:schemeClr>
                </a:solidFill>
                <a:latin typeface="+mj-lt"/>
              </a:rPr>
              <a:t>Figura 1. La importancia de enseñar Lenguaje C y C++. </a:t>
            </a:r>
          </a:p>
          <a:p>
            <a:r>
              <a:rPr lang="es-ES_tradnl" sz="1200" dirty="0">
                <a:solidFill>
                  <a:schemeClr val="tx1">
                    <a:lumMod val="50000"/>
                    <a:lumOff val="50000"/>
                  </a:schemeClr>
                </a:solidFill>
                <a:latin typeface="+mj-lt"/>
              </a:rPr>
              <a:t>Fuente: https://www.iberestudios.com/noticias/por-que-las-universidades-siguen-ensenando-c-y-c/</a:t>
            </a:r>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41612578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524001" y="-1"/>
            <a:ext cx="9105252" cy="954107"/>
          </a:xfrm>
        </p:spPr>
        <p:txBody>
          <a:bodyPr/>
          <a:lstStyle/>
          <a:p>
            <a:r>
              <a:rPr lang="es-ES" sz="4800" b="1" dirty="0"/>
              <a:t>Pensamiento</a:t>
            </a:r>
            <a:endParaRPr lang="en-US" sz="4800" b="1" dirty="0"/>
          </a:p>
        </p:txBody>
      </p:sp>
      <p:sp>
        <p:nvSpPr>
          <p:cNvPr id="5" name="4 Marcador de contenido"/>
          <p:cNvSpPr>
            <a:spLocks noGrp="1"/>
          </p:cNvSpPr>
          <p:nvPr>
            <p:ph idx="1"/>
          </p:nvPr>
        </p:nvSpPr>
        <p:spPr>
          <a:xfrm>
            <a:off x="1630385" y="3004126"/>
            <a:ext cx="4755908" cy="2459009"/>
          </a:xfrm>
        </p:spPr>
        <p:txBody>
          <a:bodyPr>
            <a:normAutofit/>
          </a:bodyPr>
          <a:lstStyle/>
          <a:p>
            <a:r>
              <a:rPr lang="es-EC" b="1" dirty="0"/>
              <a:t>“</a:t>
            </a:r>
            <a:r>
              <a:rPr lang="es-ES" b="1" dirty="0"/>
              <a:t>Todo el mundo debería saber programar”</a:t>
            </a:r>
            <a:endParaRPr lang="es-ES" dirty="0"/>
          </a:p>
        </p:txBody>
      </p:sp>
      <p:sp>
        <p:nvSpPr>
          <p:cNvPr id="3" name="2 Marcador de fecha"/>
          <p:cNvSpPr>
            <a:spLocks noGrp="1"/>
          </p:cNvSpPr>
          <p:nvPr>
            <p:ph type="dt" sz="half" idx="10"/>
          </p:nvPr>
        </p:nvSpPr>
        <p:spPr/>
        <p:txBody>
          <a:bodyPr/>
          <a:lstStyle/>
          <a:p>
            <a:fld id="{44C3288D-7DAC-4DD2-9022-6C6BA4238517}" type="datetime1">
              <a:rPr lang="es-EC" smtClean="0"/>
              <a:t>7/10/2025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27</a:t>
            </a:fld>
            <a:endParaRPr lang="es-EC"/>
          </a:p>
        </p:txBody>
      </p:sp>
      <p:sp>
        <p:nvSpPr>
          <p:cNvPr id="8" name="7 CuadroTexto"/>
          <p:cNvSpPr txBox="1"/>
          <p:nvPr/>
        </p:nvSpPr>
        <p:spPr>
          <a:xfrm>
            <a:off x="1630385" y="1587689"/>
            <a:ext cx="9241702" cy="523220"/>
          </a:xfrm>
          <a:prstGeom prst="rect">
            <a:avLst/>
          </a:prstGeom>
          <a:noFill/>
        </p:spPr>
        <p:txBody>
          <a:bodyPr wrap="square" rtlCol="0">
            <a:spAutoFit/>
          </a:bodyPr>
          <a:lstStyle/>
          <a:p>
            <a:r>
              <a:rPr lang="es-EC" sz="2800" dirty="0">
                <a:solidFill>
                  <a:schemeClr val="bg1">
                    <a:lumMod val="50000"/>
                  </a:schemeClr>
                </a:solidFill>
              </a:rPr>
              <a:t>Científico de la Computación</a:t>
            </a:r>
          </a:p>
        </p:txBody>
      </p:sp>
      <p:sp>
        <p:nvSpPr>
          <p:cNvPr id="9" name="12 CuadroTexto"/>
          <p:cNvSpPr txBox="1"/>
          <p:nvPr/>
        </p:nvSpPr>
        <p:spPr>
          <a:xfrm>
            <a:off x="6096000" y="5105588"/>
            <a:ext cx="4264624" cy="646331"/>
          </a:xfrm>
          <a:prstGeom prst="rect">
            <a:avLst/>
          </a:prstGeom>
          <a:noFill/>
        </p:spPr>
        <p:txBody>
          <a:bodyPr wrap="square" rtlCol="0">
            <a:spAutoFit/>
          </a:bodyPr>
          <a:lstStyle/>
          <a:p>
            <a:r>
              <a:rPr lang="es-ES_tradnl" sz="1200" dirty="0">
                <a:solidFill>
                  <a:schemeClr val="tx1">
                    <a:lumMod val="50000"/>
                    <a:lumOff val="50000"/>
                  </a:schemeClr>
                </a:solidFill>
                <a:latin typeface="+mj-lt"/>
              </a:rPr>
              <a:t>Figura 32. </a:t>
            </a:r>
            <a:r>
              <a:rPr lang="es-EC" sz="1200" dirty="0">
                <a:solidFill>
                  <a:schemeClr val="tx1">
                    <a:lumMod val="50000"/>
                    <a:lumOff val="50000"/>
                  </a:schemeClr>
                </a:solidFill>
                <a:latin typeface="+mj-lt"/>
              </a:rPr>
              <a:t>Universidad de las Fuerzas Armadas - ESPE</a:t>
            </a:r>
            <a:r>
              <a:rPr lang="es-ES_tradnl" sz="1200" dirty="0">
                <a:solidFill>
                  <a:schemeClr val="tx1">
                    <a:lumMod val="50000"/>
                    <a:lumOff val="50000"/>
                  </a:schemeClr>
                </a:solidFill>
                <a:latin typeface="+mj-lt"/>
              </a:rPr>
              <a:t>. </a:t>
            </a:r>
          </a:p>
          <a:p>
            <a:r>
              <a:rPr lang="es-ES_tradnl" sz="1200" dirty="0">
                <a:solidFill>
                  <a:schemeClr val="tx1">
                    <a:lumMod val="50000"/>
                    <a:lumOff val="50000"/>
                  </a:schemeClr>
                </a:solidFill>
                <a:latin typeface="+mj-lt"/>
              </a:rPr>
              <a:t>Fuente: https://economipedia.com/definiciones/steve-jobs.html</a:t>
            </a:r>
            <a:endParaRPr lang="es-EC" sz="1200" dirty="0">
              <a:solidFill>
                <a:schemeClr val="tx1">
                  <a:lumMod val="50000"/>
                  <a:lumOff val="50000"/>
                </a:schemeClr>
              </a:solidFill>
              <a:latin typeface="+mj-lt"/>
            </a:endParaRPr>
          </a:p>
        </p:txBody>
      </p:sp>
      <p:pic>
        <p:nvPicPr>
          <p:cNvPr id="10" name="Imagen 9">
            <a:extLst>
              <a:ext uri="{FF2B5EF4-FFF2-40B4-BE49-F238E27FC236}">
                <a16:creationId xmlns:a16="http://schemas.microsoft.com/office/drawing/2014/main" id="{F0B58358-E067-4062-8B4C-9A21F65546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0878" y="2222286"/>
            <a:ext cx="4232938" cy="2638134"/>
          </a:xfrm>
          <a:prstGeom prst="rect">
            <a:avLst/>
          </a:prstGeom>
        </p:spPr>
      </p:pic>
    </p:spTree>
    <p:extLst>
      <p:ext uri="{BB962C8B-B14F-4D97-AF65-F5344CB8AC3E}">
        <p14:creationId xmlns:p14="http://schemas.microsoft.com/office/powerpoint/2010/main" val="10817259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063552" y="2060848"/>
            <a:ext cx="8229600" cy="836712"/>
          </a:xfrm>
        </p:spPr>
        <p:txBody>
          <a:bodyPr/>
          <a:lstStyle/>
          <a:p>
            <a:r>
              <a:rPr lang="en-US" b="1" dirty="0"/>
              <a:t>¿Preguntas?</a:t>
            </a:r>
          </a:p>
        </p:txBody>
      </p:sp>
      <p:sp>
        <p:nvSpPr>
          <p:cNvPr id="5" name="4 Marcador de contenido"/>
          <p:cNvSpPr>
            <a:spLocks noGrp="1"/>
          </p:cNvSpPr>
          <p:nvPr>
            <p:ph idx="1"/>
          </p:nvPr>
        </p:nvSpPr>
        <p:spPr>
          <a:xfrm>
            <a:off x="4295800" y="3501008"/>
            <a:ext cx="5760640" cy="792088"/>
          </a:xfrm>
        </p:spPr>
        <p:txBody>
          <a:bodyPr>
            <a:normAutofit/>
          </a:bodyPr>
          <a:lstStyle/>
          <a:p>
            <a:pPr marL="0" indent="0">
              <a:buNone/>
            </a:pPr>
            <a:r>
              <a:rPr lang="es-EC" sz="4000" dirty="0"/>
              <a:t>!Gracias!</a:t>
            </a:r>
          </a:p>
        </p:txBody>
      </p:sp>
      <p:sp>
        <p:nvSpPr>
          <p:cNvPr id="3" name="2 Marcador de fecha"/>
          <p:cNvSpPr>
            <a:spLocks noGrp="1"/>
          </p:cNvSpPr>
          <p:nvPr>
            <p:ph type="dt" sz="half" idx="10"/>
          </p:nvPr>
        </p:nvSpPr>
        <p:spPr/>
        <p:txBody>
          <a:bodyPr/>
          <a:lstStyle/>
          <a:p>
            <a:fld id="{EA350481-F057-463F-9522-14A55A4D5C62}" type="datetime1">
              <a:rPr lang="es-EC" smtClean="0"/>
              <a:t>7/10/2025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28</a:t>
            </a:fld>
            <a:endParaRPr lang="es-EC"/>
          </a:p>
        </p:txBody>
      </p:sp>
    </p:spTree>
    <p:extLst>
      <p:ext uri="{BB962C8B-B14F-4D97-AF65-F5344CB8AC3E}">
        <p14:creationId xmlns:p14="http://schemas.microsoft.com/office/powerpoint/2010/main" val="1093471285"/>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jecutivo">
  <a:themeElements>
    <a:clrScheme name="Ejecutivo">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jecutivo">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jecutiv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TotalTime>
  <Words>2434</Words>
  <Application>Microsoft Office PowerPoint</Application>
  <PresentationFormat>Panorámica</PresentationFormat>
  <Paragraphs>292</Paragraphs>
  <Slides>28</Slides>
  <Notes>15</Notes>
  <HiddenSlides>0</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28</vt:i4>
      </vt:variant>
    </vt:vector>
  </HeadingPairs>
  <TitlesOfParts>
    <vt:vector size="36" baseType="lpstr">
      <vt:lpstr>Arial</vt:lpstr>
      <vt:lpstr>Calibri</vt:lpstr>
      <vt:lpstr>Calibri Light</vt:lpstr>
      <vt:lpstr>Century Gothic</vt:lpstr>
      <vt:lpstr>Courier New</vt:lpstr>
      <vt:lpstr>Palatino Linotype</vt:lpstr>
      <vt:lpstr>Tema de Office</vt:lpstr>
      <vt:lpstr>Ejecutivo</vt:lpstr>
      <vt:lpstr>Presentación de PowerPoint</vt:lpstr>
      <vt:lpstr>Contenido</vt:lpstr>
      <vt:lpstr>Introducción</vt:lpstr>
      <vt:lpstr>Contenido</vt:lpstr>
      <vt:lpstr>Función de Salida cout &lt;&lt;  </vt:lpstr>
      <vt:lpstr>Contenido</vt:lpstr>
      <vt:lpstr>Función de Entrada cin &gt;&gt; </vt:lpstr>
      <vt:lpstr>Contenido</vt:lpstr>
      <vt:lpstr> Aplicación de las funciones cout y cin</vt:lpstr>
      <vt:lpstr> Aplicación de las funciones cout y cin</vt:lpstr>
      <vt:lpstr>Contenido</vt:lpstr>
      <vt:lpstr> Función de Salida printf()  </vt:lpstr>
      <vt:lpstr>Contenido</vt:lpstr>
      <vt:lpstr>  Especificadores de Formato  </vt:lpstr>
      <vt:lpstr>Contenido</vt:lpstr>
      <vt:lpstr>       Secuencias de Escape   </vt:lpstr>
      <vt:lpstr>Contenido</vt:lpstr>
      <vt:lpstr> Aplicación de las secuencias de escape  </vt:lpstr>
      <vt:lpstr>Contenido</vt:lpstr>
      <vt:lpstr>Función de Entrada scanf()   </vt:lpstr>
      <vt:lpstr>Contenido</vt:lpstr>
      <vt:lpstr> Aplicación de las funciones printf y scanf  </vt:lpstr>
      <vt:lpstr> Aplicación de las funciones printf y scanf  </vt:lpstr>
      <vt:lpstr> Aplicación de las funciones printf y scanf  </vt:lpstr>
      <vt:lpstr>Contenido</vt:lpstr>
      <vt:lpstr> Funciones de Utilidades Generales Estándar   </vt:lpstr>
      <vt:lpstr>Pensamiento</vt:lpstr>
      <vt:lpstr>¿Preguntas?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HP</dc:creator>
  <cp:lastModifiedBy>HP</cp:lastModifiedBy>
  <cp:revision>1</cp:revision>
  <dcterms:created xsi:type="dcterms:W3CDTF">2025-10-08T02:25:29Z</dcterms:created>
  <dcterms:modified xsi:type="dcterms:W3CDTF">2025-10-08T04:23:26Z</dcterms:modified>
</cp:coreProperties>
</file>