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5"/>
  </p:notesMasterIdLst>
  <p:sldIdLst>
    <p:sldId id="311" r:id="rId3"/>
    <p:sldId id="257" r:id="rId4"/>
    <p:sldId id="278" r:id="rId5"/>
    <p:sldId id="312" r:id="rId6"/>
    <p:sldId id="415" r:id="rId7"/>
    <p:sldId id="416" r:id="rId8"/>
    <p:sldId id="417" r:id="rId9"/>
    <p:sldId id="418" r:id="rId10"/>
    <p:sldId id="420" r:id="rId11"/>
    <p:sldId id="421" r:id="rId12"/>
    <p:sldId id="422" r:id="rId13"/>
    <p:sldId id="423" r:id="rId14"/>
    <p:sldId id="424" r:id="rId15"/>
    <p:sldId id="425" r:id="rId16"/>
    <p:sldId id="427" r:id="rId17"/>
    <p:sldId id="428" r:id="rId18"/>
    <p:sldId id="429" r:id="rId19"/>
    <p:sldId id="431" r:id="rId20"/>
    <p:sldId id="433" r:id="rId21"/>
    <p:sldId id="434" r:id="rId22"/>
    <p:sldId id="393" r:id="rId23"/>
    <p:sldId id="275" r:id="rId24"/>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525" autoAdjust="0"/>
    <p:restoredTop sz="94660"/>
  </p:normalViewPr>
  <p:slideViewPr>
    <p:cSldViewPr snapToGrid="0">
      <p:cViewPr>
        <p:scale>
          <a:sx n="75" d="100"/>
          <a:sy n="75" d="100"/>
        </p:scale>
        <p:origin x="99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8CED94-31AE-4F5B-8709-9EE6847871F2}" type="datetimeFigureOut">
              <a:rPr lang="es-EC" smtClean="0"/>
              <a:t>7/10/2025</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0BA548-DDEF-4F9F-BFB7-376C64D66F29}" type="slidenum">
              <a:rPr lang="es-EC" smtClean="0"/>
              <a:t>‹Nº›</a:t>
            </a:fld>
            <a:endParaRPr lang="es-EC"/>
          </a:p>
        </p:txBody>
      </p:sp>
    </p:spTree>
    <p:extLst>
      <p:ext uri="{BB962C8B-B14F-4D97-AF65-F5344CB8AC3E}">
        <p14:creationId xmlns:p14="http://schemas.microsoft.com/office/powerpoint/2010/main" val="1909746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CC7BAC-9B27-4D41-86D4-17A64712F6C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C8696901-9D51-4ACB-9E52-138A646487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A47075C9-5BD9-48BE-81D8-A5DF89ABA9B8}"/>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5" name="Marcador de pie de página 4">
            <a:extLst>
              <a:ext uri="{FF2B5EF4-FFF2-40B4-BE49-F238E27FC236}">
                <a16:creationId xmlns:a16="http://schemas.microsoft.com/office/drawing/2014/main" id="{74ECE3FF-9B3C-41FF-83A3-DC301E164E3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098DD64-4C4C-4CF0-A1D8-548C6B219C9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404331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8EE04A-1464-495C-AB23-285481F202B3}"/>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6481BAA-B5E0-4A42-AF73-DB64610941EB}"/>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4173864D-1BB6-4970-9FB2-EB9CA1DBB023}"/>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5" name="Marcador de pie de página 4">
            <a:extLst>
              <a:ext uri="{FF2B5EF4-FFF2-40B4-BE49-F238E27FC236}">
                <a16:creationId xmlns:a16="http://schemas.microsoft.com/office/drawing/2014/main" id="{B16A309E-8B6C-45EC-B2E1-135D1A67880D}"/>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CD73BB0-43D6-4B2D-BD1C-5F0348B12AB0}"/>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5376532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F7563C-A255-4CD0-8382-6E01E1F46B6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C9AFCB1D-B223-406D-A214-6CD8AB31E7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76DDE4-9972-40A9-A47B-3D4CBAD965FD}"/>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5" name="Marcador de pie de página 4">
            <a:extLst>
              <a:ext uri="{FF2B5EF4-FFF2-40B4-BE49-F238E27FC236}">
                <a16:creationId xmlns:a16="http://schemas.microsoft.com/office/drawing/2014/main" id="{329A76B5-F295-4F9F-80F2-EC5028095DEE}"/>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B7B0CCA-DE77-47E7-A59A-1281E1CE2907}"/>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492325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26A1-7217-4B36-B0F6-288496E6BCE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4930F61E-D05E-4EBC-8B4B-561FDC242B1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CBA476B6-B707-426F-92C5-8F60BFE3E9F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DFA9A5C4-7E4F-4960-ADF2-B6951DA38CDA}"/>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6" name="Marcador de pie de página 5">
            <a:extLst>
              <a:ext uri="{FF2B5EF4-FFF2-40B4-BE49-F238E27FC236}">
                <a16:creationId xmlns:a16="http://schemas.microsoft.com/office/drawing/2014/main" id="{300DBC4A-7F24-4081-8A6F-9AE898709FA2}"/>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05C1AA0-F3EF-4089-BFCB-19B079F21DD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25583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B7D27-2A46-4305-8297-59313B85C53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1ED0EBF5-B590-4168-BED4-66F9256413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8D4FE9B-C326-4DC1-AB58-21F1EDC590E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912F17B3-3B22-4F98-8253-500EC862C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688F30-BBAE-45ED-B913-16C24B962EB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53A608A7-9040-40F4-B5EA-1D2D8CB7E429}"/>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8" name="Marcador de pie de página 7">
            <a:extLst>
              <a:ext uri="{FF2B5EF4-FFF2-40B4-BE49-F238E27FC236}">
                <a16:creationId xmlns:a16="http://schemas.microsoft.com/office/drawing/2014/main" id="{A7A38726-DB7C-44CF-B16C-2888FBD9D0FD}"/>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690B4177-927B-4311-A099-B44A80BD63BD}"/>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72383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C0FC75-39D0-4202-A6B1-79DF445FA74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2B9B2927-2C29-42B9-B6B7-532F994F994B}"/>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4" name="Marcador de pie de página 3">
            <a:extLst>
              <a:ext uri="{FF2B5EF4-FFF2-40B4-BE49-F238E27FC236}">
                <a16:creationId xmlns:a16="http://schemas.microsoft.com/office/drawing/2014/main" id="{D767A9B8-F1F2-48F4-8337-7213ADA9AC3E}"/>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75CAA39B-47A9-42F8-AF68-918C7624212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057490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35E7371-5007-49B8-BC47-82F085CFFA87}"/>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3" name="Marcador de pie de página 2">
            <a:extLst>
              <a:ext uri="{FF2B5EF4-FFF2-40B4-BE49-F238E27FC236}">
                <a16:creationId xmlns:a16="http://schemas.microsoft.com/office/drawing/2014/main" id="{EAC35D8D-0DAD-4CED-92DE-176A44D4EFEE}"/>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A79B3E97-5178-4E8E-B020-BEB305CEC7D8}"/>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35911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67FC53-94F8-46E4-BE28-1CCD91A0325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732BA8FA-B313-4758-B5BD-CFF2B223A6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8EECB238-ADE5-4692-B4CB-1954DD868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566E361-51AF-4218-B415-4DF9B992EC29}"/>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6" name="Marcador de pie de página 5">
            <a:extLst>
              <a:ext uri="{FF2B5EF4-FFF2-40B4-BE49-F238E27FC236}">
                <a16:creationId xmlns:a16="http://schemas.microsoft.com/office/drawing/2014/main" id="{A0920A1D-C77C-46B8-A93E-1A94C322D9E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CEB09875-3881-4056-A249-3703AD0D18B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806432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2669C0-7E62-4710-9299-9DAEA59855D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0789536F-D1A6-46F1-AAF0-27332E602B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9E2D8E19-F8EC-41F6-822A-E695A5664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1A9895B-A707-4856-84F8-F69C2A6AC65A}"/>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6" name="Marcador de pie de página 5">
            <a:extLst>
              <a:ext uri="{FF2B5EF4-FFF2-40B4-BE49-F238E27FC236}">
                <a16:creationId xmlns:a16="http://schemas.microsoft.com/office/drawing/2014/main" id="{B2480D8A-AF65-456F-A70D-211912A4733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A1C41D0-AA19-4C22-B342-F300AC925266}"/>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3648687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D7A592-EC17-498E-B4F1-021D1F61D61A}"/>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3A73E03F-3E04-4E93-9716-43891DFDD9E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BC9CF76E-E651-44FB-9C3E-080B77E5E504}"/>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5" name="Marcador de pie de página 4">
            <a:extLst>
              <a:ext uri="{FF2B5EF4-FFF2-40B4-BE49-F238E27FC236}">
                <a16:creationId xmlns:a16="http://schemas.microsoft.com/office/drawing/2014/main" id="{AD5F4A3C-030C-4F53-9297-A01107A128E7}"/>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107AF58D-F9FF-4406-84AD-DCDE23E7886E}"/>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2871106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D8E5DA3-0A5E-4689-8CFF-0CED113D3E4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E40C7386-FCE4-40EC-9309-6F13FC22507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7D68580-0F33-46AF-AA4D-41AD3A71C69A}"/>
              </a:ext>
            </a:extLst>
          </p:cNvPr>
          <p:cNvSpPr>
            <a:spLocks noGrp="1"/>
          </p:cNvSpPr>
          <p:nvPr>
            <p:ph type="dt" sz="half" idx="10"/>
          </p:nvPr>
        </p:nvSpPr>
        <p:spPr/>
        <p:txBody>
          <a:bodyPr/>
          <a:lstStyle/>
          <a:p>
            <a:fld id="{156F178F-13A3-4925-8B54-73919CC619DE}" type="datetimeFigureOut">
              <a:rPr lang="es-EC" smtClean="0"/>
              <a:t>7/10/2025</a:t>
            </a:fld>
            <a:endParaRPr lang="es-EC"/>
          </a:p>
        </p:txBody>
      </p:sp>
      <p:sp>
        <p:nvSpPr>
          <p:cNvPr id="5" name="Marcador de pie de página 4">
            <a:extLst>
              <a:ext uri="{FF2B5EF4-FFF2-40B4-BE49-F238E27FC236}">
                <a16:creationId xmlns:a16="http://schemas.microsoft.com/office/drawing/2014/main" id="{814F2A89-7C20-4F42-B541-94E08BC476D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AA7B955-7AEE-4F7E-8B16-8780283F6911}"/>
              </a:ext>
            </a:extLst>
          </p:cNvPr>
          <p:cNvSpPr>
            <a:spLocks noGrp="1"/>
          </p:cNvSpPr>
          <p:nvPr>
            <p:ph type="sldNum" sz="quarter" idx="12"/>
          </p:nvPr>
        </p:nvSpPr>
        <p:spPr/>
        <p:txBody>
          <a:bodyPr/>
          <a:lstStyle/>
          <a:p>
            <a:fld id="{B65A2F40-EC8C-41F3-BD8D-F3F005ABEE3D}" type="slidenum">
              <a:rPr lang="es-EC" smtClean="0"/>
              <a:t>‹Nº›</a:t>
            </a:fld>
            <a:endParaRPr lang="es-EC"/>
          </a:p>
        </p:txBody>
      </p:sp>
    </p:spTree>
    <p:extLst>
      <p:ext uri="{BB962C8B-B14F-4D97-AF65-F5344CB8AC3E}">
        <p14:creationId xmlns:p14="http://schemas.microsoft.com/office/powerpoint/2010/main" val="17679209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6/10/2025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extLst>
      <p:ext uri="{BB962C8B-B14F-4D97-AF65-F5344CB8AC3E}">
        <p14:creationId xmlns:p14="http://schemas.microsoft.com/office/powerpoint/2010/main" val="2345790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78036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963084" y="1371601"/>
            <a:ext cx="103632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63084" y="4068764"/>
            <a:ext cx="103632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59944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Oval 7"/>
          <p:cNvSpPr/>
          <p:nvPr/>
        </p:nvSpPr>
        <p:spPr>
          <a:xfrm>
            <a:off x="6261100"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Oval 8"/>
          <p:cNvSpPr/>
          <p:nvPr/>
        </p:nvSpPr>
        <p:spPr>
          <a:xfrm>
            <a:off x="5728971" y="3924300"/>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057881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487680" y="1600200"/>
            <a:ext cx="5388864"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97848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609600" y="1600200"/>
            <a:ext cx="5386917"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6197601" y="1600200"/>
            <a:ext cx="5389033"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6/10/2025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609600" y="2212848"/>
            <a:ext cx="5388864"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6230112" y="2212849"/>
            <a:ext cx="5388864"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907860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6/10/2025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8228857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6/10/2025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2044298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876117" y="266700"/>
            <a:ext cx="4011084"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8850" y="273051"/>
            <a:ext cx="66611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876117" y="2438401"/>
            <a:ext cx="4011084"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098081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239435" y="228600"/>
            <a:ext cx="7615765"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2010835" y="1143000"/>
            <a:ext cx="8072965"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239435" y="5810250"/>
            <a:ext cx="7615765"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6/10/2025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41423480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384095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6/10/2025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extLst>
      <p:ext uri="{BB962C8B-B14F-4D97-AF65-F5344CB8AC3E}">
        <p14:creationId xmlns:p14="http://schemas.microsoft.com/office/powerpoint/2010/main" val="1532420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EA5EB9-22C8-48CC-B673-E9C9F408D6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48272E61-B9B7-40DF-800F-CC8677E06E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1B85FAC1-C067-4AAB-8D19-E96E83F310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6F178F-13A3-4925-8B54-73919CC619DE}" type="datetimeFigureOut">
              <a:rPr lang="es-EC" smtClean="0"/>
              <a:t>7/10/2025</a:t>
            </a:fld>
            <a:endParaRPr lang="es-EC"/>
          </a:p>
        </p:txBody>
      </p:sp>
      <p:sp>
        <p:nvSpPr>
          <p:cNvPr id="5" name="Marcador de pie de página 4">
            <a:extLst>
              <a:ext uri="{FF2B5EF4-FFF2-40B4-BE49-F238E27FC236}">
                <a16:creationId xmlns:a16="http://schemas.microsoft.com/office/drawing/2014/main" id="{36B0AB3B-8269-400B-BFAF-4F88BCEB84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B1B75696-BDD5-4991-809C-CDE0AB2126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5A2F40-EC8C-41F3-BD8D-F3F005ABEE3D}" type="slidenum">
              <a:rPr lang="es-EC" smtClean="0"/>
              <a:t>‹Nº›</a:t>
            </a:fld>
            <a:endParaRPr lang="es-EC"/>
          </a:p>
        </p:txBody>
      </p:sp>
    </p:spTree>
    <p:extLst>
      <p:ext uri="{BB962C8B-B14F-4D97-AF65-F5344CB8AC3E}">
        <p14:creationId xmlns:p14="http://schemas.microsoft.com/office/powerpoint/2010/main" val="2127626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6/10/2025</a:t>
            </a:fld>
            <a:endParaRPr lang="es-EC"/>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2648205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1559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1: FUNDAMENTOS DEL LENGUAJE C/C++</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2065254" y="4149080"/>
            <a:ext cx="8280400" cy="2232248"/>
          </a:xfrm>
          <a:prstGeom prst="rect">
            <a:avLst/>
          </a:prstGeom>
        </p:spPr>
        <p:txBody>
          <a:bodyPr vert="horz" lIns="91440" tIns="45720" rIns="91440" bIns="45720" rtlCol="0">
            <a:normAutofit fontScale="850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Margarita Zambrano, César Villacís, David Alvarado, Luis García, Kevin Topón, Margarita Villacís, Sofía Bayona, Luis Pastor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r>
              <a:rPr lang="es-ES" sz="1800" dirty="0"/>
              <a:t>Universidad Politécnica Salesiana – UPS</a:t>
            </a:r>
          </a:p>
          <a:p>
            <a:r>
              <a:rPr lang="es-ES" sz="1800" dirty="0"/>
              <a:t>Quito, Ecuador</a:t>
            </a:r>
          </a:p>
          <a:p>
            <a:r>
              <a:rPr lang="es-ES" sz="1800" dirty="0"/>
              <a:t>Universidad Rey Juan Carlos – URJC</a:t>
            </a:r>
          </a:p>
          <a:p>
            <a:r>
              <a:rPr lang="es-ES" sz="1800" dirty="0"/>
              <a:t>Madrid, España </a:t>
            </a:r>
          </a:p>
          <a:p>
            <a:endParaRPr lang="es-EC" sz="1800" dirty="0"/>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7/10/2025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7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5375920" y="1178050"/>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r>
              <a:rPr lang="es-MX" sz="3400" b="1" dirty="0">
                <a:solidFill>
                  <a:srgbClr val="FF0000"/>
                </a:solidFill>
              </a:rPr>
              <a:t>Estructura Básica de un Programa en C/C++</a:t>
            </a:r>
            <a:endParaRPr lang="es-419" sz="3400" b="1" dirty="0">
              <a:solidFill>
                <a:srgbClr val="FF0000"/>
              </a:solidFill>
            </a:endParaRPr>
          </a:p>
          <a:p>
            <a:pPr lvl="1"/>
            <a:r>
              <a:rPr lang="es-MX" sz="1800" dirty="0"/>
              <a:t>Directivas include </a:t>
            </a:r>
          </a:p>
          <a:p>
            <a:pPr lvl="1"/>
            <a:r>
              <a:rPr lang="es-MX" sz="1800" dirty="0"/>
              <a:t>Espacios de nombre (Namespaces)  </a:t>
            </a:r>
          </a:p>
          <a:p>
            <a:pPr lvl="1"/>
            <a:r>
              <a:rPr lang="es-MX" sz="1800" dirty="0"/>
              <a:t>Directivas define o macros </a:t>
            </a:r>
          </a:p>
          <a:p>
            <a:pPr lvl="1"/>
            <a:r>
              <a:rPr lang="es-MX" sz="1800" dirty="0"/>
              <a:t>Problema 1.5. (Aplicación de las directivas define o macros)  </a:t>
            </a:r>
          </a:p>
          <a:p>
            <a:pPr lvl="1"/>
            <a:r>
              <a:rPr lang="es-MX" sz="1800" dirty="0"/>
              <a:t>Problema 1.6. (Aplicación de las directivas define o macros) </a:t>
            </a:r>
          </a:p>
          <a:p>
            <a:pPr lvl="1"/>
            <a:r>
              <a:rPr lang="es-MX" sz="1800" dirty="0"/>
              <a:t>La Función Principal </a:t>
            </a:r>
          </a:p>
          <a:p>
            <a:pPr lvl="1"/>
            <a:r>
              <a:rPr lang="es-MX" sz="1800" dirty="0"/>
              <a:t>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2</a:t>
            </a:fld>
            <a:endParaRPr lang="es-EC">
              <a:solidFill>
                <a:prstClr val="black">
                  <a:lumMod val="65000"/>
                  <a:lumOff val="35000"/>
                </a:prstClr>
              </a:solidFill>
            </a:endParaRPr>
          </a:p>
        </p:txBody>
      </p:sp>
    </p:spTree>
    <p:extLst>
      <p:ext uri="{BB962C8B-B14F-4D97-AF65-F5344CB8AC3E}">
        <p14:creationId xmlns:p14="http://schemas.microsoft.com/office/powerpoint/2010/main" val="3199492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0"/>
            <a:ext cx="8229600" cy="980728"/>
          </a:xfrm>
        </p:spPr>
        <p:txBody>
          <a:bodyPr/>
          <a:lstStyle/>
          <a:p>
            <a:r>
              <a:rPr lang="es-EC" b="1" dirty="0"/>
              <a:t>Introducción</a:t>
            </a:r>
            <a:endParaRPr lang="en-US" b="1" dirty="0"/>
          </a:p>
        </p:txBody>
      </p:sp>
      <p:sp>
        <p:nvSpPr>
          <p:cNvPr id="5" name="4 Marcador de contenido"/>
          <p:cNvSpPr>
            <a:spLocks noGrp="1"/>
          </p:cNvSpPr>
          <p:nvPr>
            <p:ph idx="1"/>
          </p:nvPr>
        </p:nvSpPr>
        <p:spPr>
          <a:xfrm>
            <a:off x="1838533" y="2770465"/>
            <a:ext cx="4298532" cy="3185776"/>
          </a:xfrm>
        </p:spPr>
        <p:txBody>
          <a:bodyPr>
            <a:normAutofit lnSpcReduction="10000"/>
          </a:bodyPr>
          <a:lstStyle/>
          <a:p>
            <a:r>
              <a:rPr lang="es-MX" sz="1400" dirty="0"/>
              <a:t>En general la estructura básica de un programa en C/C++ (Granizo, E., 2016), consta de las siguientes partes: </a:t>
            </a:r>
          </a:p>
          <a:p>
            <a:endParaRPr lang="es-MX" sz="1400" dirty="0"/>
          </a:p>
          <a:p>
            <a:pPr marL="0" indent="0">
              <a:buNone/>
            </a:pPr>
            <a:r>
              <a:rPr lang="es-MX" sz="1400" dirty="0"/>
              <a:t>       a) Directivas include. </a:t>
            </a:r>
          </a:p>
          <a:p>
            <a:pPr marL="0" indent="0">
              <a:buNone/>
            </a:pPr>
            <a:r>
              <a:rPr lang="es-MX" sz="1400" dirty="0"/>
              <a:t>       b) Directivas define o macros.</a:t>
            </a:r>
          </a:p>
          <a:p>
            <a:pPr marL="0" indent="0">
              <a:buNone/>
            </a:pPr>
            <a:r>
              <a:rPr lang="es-MX" sz="1400" dirty="0"/>
              <a:t>      c) La función principal. </a:t>
            </a:r>
          </a:p>
          <a:p>
            <a:pPr marL="0" indent="0">
              <a:buNone/>
            </a:pPr>
            <a:endParaRPr lang="es-MX" sz="1400" dirty="0"/>
          </a:p>
          <a:p>
            <a:r>
              <a:rPr lang="es-MX" sz="1400" dirty="0"/>
              <a:t>La Figura 1.1  muestra la estructura básica de un programa en lenguaje C/C++ donde constan las librerías de encabezado (directivas include, directivas define) y la función principal con la lógica del programa. </a:t>
            </a:r>
            <a:endParaRPr lang="es-ES" sz="14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sp>
        <p:nvSpPr>
          <p:cNvPr id="8" name="7 CuadroTexto"/>
          <p:cNvSpPr txBox="1"/>
          <p:nvPr/>
        </p:nvSpPr>
        <p:spPr>
          <a:xfrm>
            <a:off x="2063552" y="2036453"/>
            <a:ext cx="8003726" cy="523220"/>
          </a:xfrm>
          <a:prstGeom prst="rect">
            <a:avLst/>
          </a:prstGeom>
          <a:noFill/>
        </p:spPr>
        <p:txBody>
          <a:bodyPr wrap="square" rtlCol="0">
            <a:spAutoFit/>
          </a:bodyPr>
          <a:lstStyle>
            <a:defPPr>
              <a:defRPr lang="es-EC"/>
            </a:defPPr>
            <a:lvl1pPr>
              <a:defRPr sz="2800">
                <a:solidFill>
                  <a:schemeClr val="bg1">
                    <a:lumMod val="50000"/>
                  </a:schemeClr>
                </a:solidFill>
              </a:defRPr>
            </a:lvl1pPr>
            <a:lvl2pPr>
              <a:defRPr/>
            </a:lvl2pPr>
            <a:lvl3pPr>
              <a:defRPr/>
            </a:lvl3pPr>
            <a:lvl4pPr>
              <a:defRPr/>
            </a:lvl4pPr>
            <a:lvl5pPr>
              <a:defRPr/>
            </a:lvl5pPr>
            <a:lvl6pPr>
              <a:defRPr/>
            </a:lvl6pPr>
            <a:lvl7pPr>
              <a:defRPr/>
            </a:lvl7pPr>
            <a:lvl8pPr>
              <a:defRPr/>
            </a:lvl8pPr>
            <a:lvl9pPr>
              <a:defRPr/>
            </a:lvl9pPr>
          </a:lstStyle>
          <a:p>
            <a:r>
              <a:rPr lang="es-ES" dirty="0"/>
              <a:t>Importancia</a:t>
            </a:r>
            <a:endParaRPr lang="es-EC" dirty="0"/>
          </a:p>
        </p:txBody>
      </p:sp>
      <p:sp>
        <p:nvSpPr>
          <p:cNvPr id="9" name="12 CuadroTexto"/>
          <p:cNvSpPr txBox="1"/>
          <p:nvPr/>
        </p:nvSpPr>
        <p:spPr>
          <a:xfrm>
            <a:off x="6273277" y="4853702"/>
            <a:ext cx="4355976" cy="646331"/>
          </a:xfrm>
          <a:prstGeom prst="rect">
            <a:avLst/>
          </a:prstGeom>
          <a:noFill/>
        </p:spPr>
        <p:txBody>
          <a:bodyPr wrap="square" rtlCol="0">
            <a:spAutoFit/>
          </a:bodyPr>
          <a:lstStyle/>
          <a:p>
            <a:pPr algn="just"/>
            <a:r>
              <a:rPr lang="es-ES_tradnl" sz="1200" b="1" dirty="0">
                <a:solidFill>
                  <a:schemeClr val="tx1">
                    <a:lumMod val="50000"/>
                    <a:lumOff val="50000"/>
                  </a:schemeClr>
                </a:solidFill>
                <a:latin typeface="+mj-lt"/>
              </a:rPr>
              <a:t>Figura 1.13 </a:t>
            </a:r>
            <a:r>
              <a:rPr lang="es-ES_tradnl" sz="1200" dirty="0">
                <a:solidFill>
                  <a:schemeClr val="tx1">
                    <a:lumMod val="50000"/>
                    <a:lumOff val="50000"/>
                  </a:schemeClr>
                </a:solidFill>
                <a:latin typeface="+mj-lt"/>
              </a:rPr>
              <a:t>Estructura Básica de un  programa en  C y C++. Fuente: Zambrano M., et al., 2025.</a:t>
            </a:r>
            <a:endParaRPr lang="es-EC" sz="1200" dirty="0">
              <a:solidFill>
                <a:schemeClr val="tx1">
                  <a:lumMod val="50000"/>
                  <a:lumOff val="50000"/>
                </a:schemeClr>
              </a:solidFill>
              <a:latin typeface="+mj-lt"/>
            </a:endParaRPr>
          </a:p>
          <a:p>
            <a:pPr algn="ctr"/>
            <a:endParaRPr lang="es-EC" sz="1200" dirty="0">
              <a:solidFill>
                <a:schemeClr val="tx1">
                  <a:lumMod val="50000"/>
                  <a:lumOff val="50000"/>
                </a:schemeClr>
              </a:solidFill>
              <a:latin typeface="+mj-lt"/>
            </a:endParaRPr>
          </a:p>
        </p:txBody>
      </p:sp>
      <p:pic>
        <p:nvPicPr>
          <p:cNvPr id="7" name="Imagen 6">
            <a:extLst>
              <a:ext uri="{FF2B5EF4-FFF2-40B4-BE49-F238E27FC236}">
                <a16:creationId xmlns:a16="http://schemas.microsoft.com/office/drawing/2014/main" id="{84C4C174-BDD2-4853-B8EE-CA99C9E41A49}"/>
              </a:ext>
            </a:extLst>
          </p:cNvPr>
          <p:cNvPicPr>
            <a:picLocks noChangeAspect="1"/>
          </p:cNvPicPr>
          <p:nvPr/>
        </p:nvPicPr>
        <p:blipFill>
          <a:blip r:embed="rId2"/>
          <a:stretch>
            <a:fillRect/>
          </a:stretch>
        </p:blipFill>
        <p:spPr>
          <a:xfrm>
            <a:off x="6273277" y="2201604"/>
            <a:ext cx="4080190" cy="2442113"/>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792888" y="1720374"/>
            <a:ext cx="10972800" cy="4525963"/>
          </a:xfrm>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b="1" dirty="0">
                <a:solidFill>
                  <a:srgbClr val="FF0000"/>
                </a:solidFill>
              </a:rPr>
              <a:t>Directivas include </a:t>
            </a:r>
          </a:p>
          <a:p>
            <a:pPr lvl="1"/>
            <a:r>
              <a:rPr lang="es-MX" sz="1800" dirty="0"/>
              <a:t>Espacios de nombre (Namespaces)  </a:t>
            </a:r>
          </a:p>
          <a:p>
            <a:pPr lvl="1"/>
            <a:r>
              <a:rPr lang="es-MX" sz="1800" dirty="0"/>
              <a:t>Directivas define o macros </a:t>
            </a:r>
          </a:p>
          <a:p>
            <a:pPr lvl="1"/>
            <a:r>
              <a:rPr lang="es-MX" sz="1800" dirty="0"/>
              <a:t>Problema 1.5. (Aplicación de las directivas define o macros)  </a:t>
            </a:r>
          </a:p>
          <a:p>
            <a:pPr lvl="1"/>
            <a:r>
              <a:rPr lang="es-MX" sz="1800" dirty="0"/>
              <a:t>Problema 1.6. (Aplicación de las directivas define o macros) </a:t>
            </a:r>
          </a:p>
          <a:p>
            <a:pPr lvl="1"/>
            <a:r>
              <a:rPr lang="es-MX" sz="1800" dirty="0"/>
              <a:t>1.2.4. La Función Principal </a:t>
            </a:r>
          </a:p>
          <a:p>
            <a:pPr lvl="1"/>
            <a:r>
              <a:rPr lang="es-MX" sz="1800" dirty="0"/>
              <a:t>1.2.5. 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4</a:t>
            </a:fld>
            <a:endParaRPr lang="es-EC">
              <a:solidFill>
                <a:prstClr val="black">
                  <a:lumMod val="65000"/>
                  <a:lumOff val="35000"/>
                </a:prstClr>
              </a:solidFill>
            </a:endParaRPr>
          </a:p>
        </p:txBody>
      </p:sp>
    </p:spTree>
    <p:extLst>
      <p:ext uri="{BB962C8B-B14F-4D97-AF65-F5344CB8AC3E}">
        <p14:creationId xmlns:p14="http://schemas.microsoft.com/office/powerpoint/2010/main" val="2746441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548172"/>
            <a:ext cx="8229600" cy="980728"/>
          </a:xfrm>
        </p:spPr>
        <p:txBody>
          <a:bodyPr/>
          <a:lstStyle/>
          <a:p>
            <a:r>
              <a:rPr lang="es-EC" b="1" dirty="0"/>
              <a:t>Directivas include  </a:t>
            </a:r>
            <a:br>
              <a:rPr lang="es-EC" b="1" dirty="0"/>
            </a:br>
            <a:endParaRPr lang="en-US" b="1" dirty="0"/>
          </a:p>
        </p:txBody>
      </p:sp>
      <p:sp>
        <p:nvSpPr>
          <p:cNvPr id="5" name="4 Marcador de contenido"/>
          <p:cNvSpPr>
            <a:spLocks noGrp="1"/>
          </p:cNvSpPr>
          <p:nvPr>
            <p:ph idx="1"/>
          </p:nvPr>
        </p:nvSpPr>
        <p:spPr>
          <a:xfrm>
            <a:off x="1250479" y="2001521"/>
            <a:ext cx="4114001" cy="4537392"/>
          </a:xfrm>
        </p:spPr>
        <p:txBody>
          <a:bodyPr>
            <a:normAutofit/>
          </a:bodyPr>
          <a:lstStyle/>
          <a:p>
            <a:r>
              <a:rPr lang="es-MX" sz="1400" dirty="0"/>
              <a:t>En el programa 1.1 se necesitó utilizar algo de código que no fue escrito por nosotros mismos. En este curso, la mayor parte de este “código útil”, representado por funciones, lo encontraremos en las librerías de encabezado de C/C++ (Luna, F., 2004), que es un conjunto de código que se envía al compilador enlazado con el programa. </a:t>
            </a:r>
          </a:p>
          <a:p>
            <a:endParaRPr lang="es-MX" sz="1400" dirty="0"/>
          </a:p>
          <a:p>
            <a:pPr marL="0" indent="0">
              <a:buNone/>
            </a:pPr>
            <a:r>
              <a:rPr lang="es-MX" sz="1400" b="1" dirty="0"/>
              <a:t>      #include &lt;iostream&gt; </a:t>
            </a:r>
          </a:p>
          <a:p>
            <a:pPr marL="0" indent="0">
              <a:buNone/>
            </a:pPr>
            <a:r>
              <a:rPr lang="es-MX" sz="1400" b="1" dirty="0"/>
              <a:t>      #include &lt;</a:t>
            </a:r>
            <a:r>
              <a:rPr lang="es-MX" sz="1400" b="1" dirty="0" err="1"/>
              <a:t>cstdlib</a:t>
            </a:r>
            <a:r>
              <a:rPr lang="es-MX" sz="1400" b="1" dirty="0"/>
              <a:t>&gt; </a:t>
            </a:r>
          </a:p>
          <a:p>
            <a:pPr marL="0" indent="0">
              <a:buNone/>
            </a:pPr>
            <a:endParaRPr lang="es-MX" sz="1400" b="1" dirty="0"/>
          </a:p>
          <a:p>
            <a:r>
              <a:rPr lang="es-MX" sz="1400" dirty="0"/>
              <a:t>Cada una de estas directivas van encerradas entre los símbolos de “menor que” y “mayor que” y le informa al compilador que debe tomar estos códigos e incluirlos en nuestro archivo .CPP. </a:t>
            </a:r>
          </a:p>
          <a:p>
            <a:pPr marL="0" indent="0">
              <a:buNone/>
            </a:pPr>
            <a:endParaRPr lang="es-419" sz="1800" dirty="0">
              <a:solidFill>
                <a:srgbClr val="FF0000"/>
              </a:solidFill>
            </a:endParaRPr>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pic>
        <p:nvPicPr>
          <p:cNvPr id="15" name="Imagen 14">
            <a:extLst>
              <a:ext uri="{FF2B5EF4-FFF2-40B4-BE49-F238E27FC236}">
                <a16:creationId xmlns:a16="http://schemas.microsoft.com/office/drawing/2014/main" id="{9199A84D-8A30-4330-A1EE-AB6808EDB547}"/>
              </a:ext>
            </a:extLst>
          </p:cNvPr>
          <p:cNvPicPr>
            <a:picLocks noChangeAspect="1"/>
          </p:cNvPicPr>
          <p:nvPr/>
        </p:nvPicPr>
        <p:blipFill rotWithShape="1">
          <a:blip r:embed="rId2"/>
          <a:srcRect t="1633" r="26852" b="3427"/>
          <a:stretch/>
        </p:blipFill>
        <p:spPr>
          <a:xfrm>
            <a:off x="5849984" y="2346266"/>
            <a:ext cx="4553585" cy="3314431"/>
          </a:xfrm>
          <a:prstGeom prst="rect">
            <a:avLst/>
          </a:prstGeom>
        </p:spPr>
      </p:pic>
      <p:sp>
        <p:nvSpPr>
          <p:cNvPr id="16" name="CuadroTexto 15">
            <a:extLst>
              <a:ext uri="{FF2B5EF4-FFF2-40B4-BE49-F238E27FC236}">
                <a16:creationId xmlns:a16="http://schemas.microsoft.com/office/drawing/2014/main" id="{C155EDE3-A2B3-48AB-89F7-E1DEE7E64EE9}"/>
              </a:ext>
            </a:extLst>
          </p:cNvPr>
          <p:cNvSpPr txBox="1"/>
          <p:nvPr/>
        </p:nvSpPr>
        <p:spPr>
          <a:xfrm>
            <a:off x="5712161" y="5892582"/>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1.1</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9457248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548172"/>
            <a:ext cx="8229600" cy="980728"/>
          </a:xfrm>
        </p:spPr>
        <p:txBody>
          <a:bodyPr/>
          <a:lstStyle/>
          <a:p>
            <a:r>
              <a:rPr lang="es-EC" b="1" dirty="0"/>
              <a:t>Ejemplos Directivas include  </a:t>
            </a:r>
            <a:br>
              <a:rPr lang="es-EC" b="1" dirty="0"/>
            </a:br>
            <a:endParaRPr lang="en-US"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pic>
        <p:nvPicPr>
          <p:cNvPr id="10" name="Imagen 9">
            <a:extLst>
              <a:ext uri="{FF2B5EF4-FFF2-40B4-BE49-F238E27FC236}">
                <a16:creationId xmlns:a16="http://schemas.microsoft.com/office/drawing/2014/main" id="{3D7CEC12-3635-438E-B6A4-1C34919CDA76}"/>
              </a:ext>
            </a:extLst>
          </p:cNvPr>
          <p:cNvPicPr>
            <a:picLocks noChangeAspect="1"/>
          </p:cNvPicPr>
          <p:nvPr/>
        </p:nvPicPr>
        <p:blipFill>
          <a:blip r:embed="rId2"/>
          <a:stretch>
            <a:fillRect/>
          </a:stretch>
        </p:blipFill>
        <p:spPr>
          <a:xfrm>
            <a:off x="1676400" y="1602713"/>
            <a:ext cx="8991600" cy="4125734"/>
          </a:xfrm>
          <a:prstGeom prst="rect">
            <a:avLst/>
          </a:prstGeom>
        </p:spPr>
      </p:pic>
      <p:sp>
        <p:nvSpPr>
          <p:cNvPr id="14" name="12 CuadroTexto">
            <a:extLst>
              <a:ext uri="{FF2B5EF4-FFF2-40B4-BE49-F238E27FC236}">
                <a16:creationId xmlns:a16="http://schemas.microsoft.com/office/drawing/2014/main" id="{6C32FC5E-FAC2-4FCB-8B83-9ECBCC7174C2}"/>
              </a:ext>
            </a:extLst>
          </p:cNvPr>
          <p:cNvSpPr txBox="1"/>
          <p:nvPr/>
        </p:nvSpPr>
        <p:spPr>
          <a:xfrm>
            <a:off x="1676400" y="5782988"/>
            <a:ext cx="4912681" cy="461665"/>
          </a:xfrm>
          <a:prstGeom prst="rect">
            <a:avLst/>
          </a:prstGeom>
          <a:noFill/>
        </p:spPr>
        <p:txBody>
          <a:bodyPr wrap="square" rtlCol="0">
            <a:spAutoFit/>
          </a:bodyPr>
          <a:lstStyle/>
          <a:p>
            <a:pPr algn="just"/>
            <a:r>
              <a:rPr lang="es-ES" sz="1200" b="1" dirty="0">
                <a:solidFill>
                  <a:schemeClr val="tx1">
                    <a:lumMod val="50000"/>
                    <a:lumOff val="50000"/>
                  </a:schemeClr>
                </a:solidFill>
                <a:latin typeface="+mj-lt"/>
              </a:rPr>
              <a:t>Tabla 1.1</a:t>
            </a:r>
            <a:r>
              <a:rPr lang="es-ES" sz="1200" dirty="0">
                <a:solidFill>
                  <a:schemeClr val="tx1">
                    <a:lumMod val="50000"/>
                    <a:lumOff val="50000"/>
                  </a:schemeClr>
                </a:solidFill>
                <a:latin typeface="+mj-lt"/>
              </a:rPr>
              <a:t>. Ejemplo de Directivas Include en C/C++.  </a:t>
            </a:r>
            <a:r>
              <a:rPr lang="es-ES_tradnl" sz="1200" dirty="0">
                <a:solidFill>
                  <a:schemeClr val="tx1">
                    <a:lumMod val="50000"/>
                    <a:lumOff val="50000"/>
                  </a:schemeClr>
                </a:solidFill>
                <a:latin typeface="+mj-lt"/>
              </a:rPr>
              <a:t>Fuente: Zambrano M., et al., 2025</a:t>
            </a:r>
            <a:r>
              <a:rPr lang="es-ES" sz="1200" dirty="0">
                <a:solidFill>
                  <a:schemeClr val="tx1">
                    <a:lumMod val="50000"/>
                    <a:lumOff val="50000"/>
                  </a:schemeClr>
                </a:solidFill>
                <a:latin typeface="+mj-lt"/>
              </a:rPr>
              <a:t>. </a:t>
            </a:r>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96252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dirty="0"/>
              <a:t>Directivas include </a:t>
            </a:r>
          </a:p>
          <a:p>
            <a:pPr lvl="1"/>
            <a:r>
              <a:rPr lang="es-MX" sz="1800" b="1" dirty="0">
                <a:solidFill>
                  <a:srgbClr val="FF0000"/>
                </a:solidFill>
              </a:rPr>
              <a:t>Espacios de nombre (Namespaces)  </a:t>
            </a:r>
          </a:p>
          <a:p>
            <a:pPr lvl="1"/>
            <a:r>
              <a:rPr lang="es-MX" sz="1800" dirty="0"/>
              <a:t>Directivas define o macros </a:t>
            </a:r>
          </a:p>
          <a:p>
            <a:pPr lvl="1"/>
            <a:r>
              <a:rPr lang="es-MX" sz="1800" dirty="0"/>
              <a:t>Problema 1.5. (Aplicación de las directivas define o macros)  </a:t>
            </a:r>
          </a:p>
          <a:p>
            <a:pPr lvl="1"/>
            <a:r>
              <a:rPr lang="es-MX" sz="1800" dirty="0"/>
              <a:t>Problema 1.6. (Aplicación de las directivas define o macros) </a:t>
            </a:r>
          </a:p>
          <a:p>
            <a:pPr lvl="1"/>
            <a:r>
              <a:rPr lang="es-MX" sz="1800" dirty="0"/>
              <a:t>1.2.4. La Función Principal </a:t>
            </a:r>
          </a:p>
          <a:p>
            <a:pPr lvl="1"/>
            <a:r>
              <a:rPr lang="es-MX" sz="1800" dirty="0"/>
              <a:t>1.2.5. 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7</a:t>
            </a:fld>
            <a:endParaRPr lang="es-EC">
              <a:solidFill>
                <a:prstClr val="black">
                  <a:lumMod val="65000"/>
                  <a:lumOff val="35000"/>
                </a:prstClr>
              </a:solidFill>
            </a:endParaRPr>
          </a:p>
        </p:txBody>
      </p:sp>
    </p:spTree>
    <p:extLst>
      <p:ext uri="{BB962C8B-B14F-4D97-AF65-F5344CB8AC3E}">
        <p14:creationId xmlns:p14="http://schemas.microsoft.com/office/powerpoint/2010/main" val="4194629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548172"/>
            <a:ext cx="8229600" cy="980728"/>
          </a:xfrm>
        </p:spPr>
        <p:txBody>
          <a:bodyPr/>
          <a:lstStyle/>
          <a:p>
            <a:r>
              <a:rPr lang="es-EC" b="1" dirty="0"/>
              <a:t>Espacios de nombre (Namespaces</a:t>
            </a:r>
            <a:r>
              <a:rPr lang="es-EC" dirty="0"/>
              <a:t>) </a:t>
            </a:r>
            <a:r>
              <a:rPr lang="es-EC" b="1" dirty="0"/>
              <a:t>  </a:t>
            </a:r>
            <a:br>
              <a:rPr lang="es-EC" b="1" dirty="0"/>
            </a:br>
            <a:endParaRPr lang="en-US" b="1" dirty="0"/>
          </a:p>
        </p:txBody>
      </p:sp>
      <p:sp>
        <p:nvSpPr>
          <p:cNvPr id="5" name="4 Marcador de contenido"/>
          <p:cNvSpPr>
            <a:spLocks noGrp="1"/>
          </p:cNvSpPr>
          <p:nvPr>
            <p:ph idx="1"/>
          </p:nvPr>
        </p:nvSpPr>
        <p:spPr>
          <a:xfrm>
            <a:off x="1172552" y="2051502"/>
            <a:ext cx="5494466" cy="4200538"/>
          </a:xfrm>
        </p:spPr>
        <p:txBody>
          <a:bodyPr>
            <a:normAutofit/>
          </a:bodyPr>
          <a:lstStyle/>
          <a:p>
            <a:r>
              <a:rPr lang="es-MX" sz="1800" dirty="0"/>
              <a:t>Los espacios de nombre son al código como las carpetas son a los archivos (Luna, F., 2004). Así como las carpetas son utilizadas para organizar grupos de archivos relacionados y prevenir que el nombre de un archivo entre en conflicto, los espacios de nombre (namespaces) son utilizados para organizar grupos de código relacionado y prevenir que el nombre del código entre en conflicto. Por lo tanto, la librería completa estándar de C/C++ es organizada en el espacio de nombre ‘std’ y debido a esto se debe incluir la cláusula: </a:t>
            </a:r>
            <a:endParaRPr lang="es-419" dirty="0">
              <a:solidFill>
                <a:srgbClr val="FF0000"/>
              </a:solidFill>
            </a:endParaRPr>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pic>
        <p:nvPicPr>
          <p:cNvPr id="8" name="Imagen 7">
            <a:extLst>
              <a:ext uri="{FF2B5EF4-FFF2-40B4-BE49-F238E27FC236}">
                <a16:creationId xmlns:a16="http://schemas.microsoft.com/office/drawing/2014/main" id="{9F746B28-7AEA-4FA5-B1E2-CB49C42416C2}"/>
              </a:ext>
            </a:extLst>
          </p:cNvPr>
          <p:cNvPicPr>
            <a:picLocks noChangeAspect="1"/>
          </p:cNvPicPr>
          <p:nvPr/>
        </p:nvPicPr>
        <p:blipFill>
          <a:blip r:embed="rId2"/>
          <a:stretch>
            <a:fillRect/>
          </a:stretch>
        </p:blipFill>
        <p:spPr>
          <a:xfrm>
            <a:off x="7055714" y="3890973"/>
            <a:ext cx="2857498" cy="1193351"/>
          </a:xfrm>
          <a:prstGeom prst="rect">
            <a:avLst/>
          </a:prstGeom>
        </p:spPr>
      </p:pic>
    </p:spTree>
    <p:extLst>
      <p:ext uri="{BB962C8B-B14F-4D97-AF65-F5344CB8AC3E}">
        <p14:creationId xmlns:p14="http://schemas.microsoft.com/office/powerpoint/2010/main" val="2608902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dirty="0"/>
              <a:t>Directivas include </a:t>
            </a:r>
          </a:p>
          <a:p>
            <a:pPr lvl="1"/>
            <a:r>
              <a:rPr lang="es-MX" sz="1800" dirty="0"/>
              <a:t>Espacios de nombre (Namespaces)  </a:t>
            </a:r>
          </a:p>
          <a:p>
            <a:pPr lvl="1"/>
            <a:r>
              <a:rPr lang="es-MX" sz="1800" b="1" dirty="0">
                <a:solidFill>
                  <a:srgbClr val="FF0000"/>
                </a:solidFill>
              </a:rPr>
              <a:t>Directivas define o macros </a:t>
            </a:r>
          </a:p>
          <a:p>
            <a:pPr lvl="1"/>
            <a:r>
              <a:rPr lang="es-MX" sz="1800" dirty="0"/>
              <a:t>Problema 1.5. (Aplicación de las directivas define o macros)  </a:t>
            </a:r>
          </a:p>
          <a:p>
            <a:pPr lvl="1"/>
            <a:r>
              <a:rPr lang="es-MX" sz="1800" dirty="0"/>
              <a:t>Problema 1.6. (Aplicación de las directivas define o macros) </a:t>
            </a:r>
          </a:p>
          <a:p>
            <a:pPr lvl="1"/>
            <a:r>
              <a:rPr lang="es-MX" sz="1800" dirty="0"/>
              <a:t>1.2.4. La Función Principal </a:t>
            </a:r>
          </a:p>
          <a:p>
            <a:pPr lvl="1"/>
            <a:r>
              <a:rPr lang="es-MX" sz="1800" dirty="0"/>
              <a:t>1.2.5. 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9</a:t>
            </a:fld>
            <a:endParaRPr lang="es-EC">
              <a:solidFill>
                <a:prstClr val="black">
                  <a:lumMod val="65000"/>
                  <a:lumOff val="35000"/>
                </a:prstClr>
              </a:solidFill>
            </a:endParaRPr>
          </a:p>
        </p:txBody>
      </p:sp>
    </p:spTree>
    <p:extLst>
      <p:ext uri="{BB962C8B-B14F-4D97-AF65-F5344CB8AC3E}">
        <p14:creationId xmlns:p14="http://schemas.microsoft.com/office/powerpoint/2010/main" val="78956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548172"/>
            <a:ext cx="8229600" cy="980728"/>
          </a:xfrm>
        </p:spPr>
        <p:txBody>
          <a:bodyPr/>
          <a:lstStyle/>
          <a:p>
            <a:r>
              <a:rPr lang="es-EC" b="1" dirty="0"/>
              <a:t>Directivas define o macros  </a:t>
            </a:r>
            <a:br>
              <a:rPr lang="es-EC" b="1" dirty="0"/>
            </a:br>
            <a:endParaRPr lang="en-US" b="1" dirty="0"/>
          </a:p>
        </p:txBody>
      </p:sp>
      <p:sp>
        <p:nvSpPr>
          <p:cNvPr id="5" name="4 Marcador de contenido"/>
          <p:cNvSpPr>
            <a:spLocks noGrp="1"/>
          </p:cNvSpPr>
          <p:nvPr>
            <p:ph idx="1"/>
          </p:nvPr>
        </p:nvSpPr>
        <p:spPr>
          <a:xfrm>
            <a:off x="292881" y="1772318"/>
            <a:ext cx="5494466" cy="4200538"/>
          </a:xfrm>
        </p:spPr>
        <p:txBody>
          <a:bodyPr>
            <a:normAutofit fontScale="92500"/>
          </a:bodyPr>
          <a:lstStyle/>
          <a:p>
            <a:r>
              <a:rPr lang="es-MX" dirty="0"/>
              <a:t>Algunas veces se puede necesitar utilizar sentencias de preprocesador o macros que se crean con un nombre simbólico (identificador) y esta macro levanta algún conjunto de código (Luna, F., 2004). Por ejemplo, en el programa 1.1 se pudo haber definido una macro llamada IMPRIMIRMENSAJEHOLA, la cual ejecuta la sentencia: </a:t>
            </a:r>
            <a:r>
              <a:rPr lang="es-MX" dirty="0" err="1"/>
              <a:t>cout</a:t>
            </a:r>
            <a:r>
              <a:rPr lang="es-MX" dirty="0"/>
              <a:t> &lt;&lt; "Hola mundo" &lt;&lt; </a:t>
            </a:r>
            <a:r>
              <a:rPr lang="es-MX" dirty="0" err="1"/>
              <a:t>endl</a:t>
            </a:r>
            <a:r>
              <a:rPr lang="es-MX" dirty="0"/>
              <a:t>; como se muestra a continuación:</a:t>
            </a:r>
            <a:endParaRPr lang="es-419" dirty="0">
              <a:solidFill>
                <a:srgbClr val="FF0000"/>
              </a:solidFill>
            </a:endParaRPr>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pic>
        <p:nvPicPr>
          <p:cNvPr id="7" name="Imagen 6">
            <a:extLst>
              <a:ext uri="{FF2B5EF4-FFF2-40B4-BE49-F238E27FC236}">
                <a16:creationId xmlns:a16="http://schemas.microsoft.com/office/drawing/2014/main" id="{80BC510A-DA99-4256-B1D2-49DBB2B3B22F}"/>
              </a:ext>
            </a:extLst>
          </p:cNvPr>
          <p:cNvPicPr>
            <a:picLocks noChangeAspect="1"/>
          </p:cNvPicPr>
          <p:nvPr/>
        </p:nvPicPr>
        <p:blipFill rotWithShape="1">
          <a:blip r:embed="rId2"/>
          <a:srcRect t="20098" b="26110"/>
          <a:stretch/>
        </p:blipFill>
        <p:spPr>
          <a:xfrm>
            <a:off x="5521125" y="4336416"/>
            <a:ext cx="6096200" cy="648182"/>
          </a:xfrm>
          <a:prstGeom prst="rect">
            <a:avLst/>
          </a:prstGeom>
        </p:spPr>
      </p:pic>
    </p:spTree>
    <p:extLst>
      <p:ext uri="{BB962C8B-B14F-4D97-AF65-F5344CB8AC3E}">
        <p14:creationId xmlns:p14="http://schemas.microsoft.com/office/powerpoint/2010/main" val="7010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dirty="0"/>
              <a:t>Directivas include </a:t>
            </a:r>
          </a:p>
          <a:p>
            <a:pPr lvl="1"/>
            <a:r>
              <a:rPr lang="es-MX" sz="1800" dirty="0"/>
              <a:t>Espacios de nombre (Namespaces)  </a:t>
            </a:r>
          </a:p>
          <a:p>
            <a:pPr lvl="1"/>
            <a:r>
              <a:rPr lang="es-MX" sz="1800" dirty="0"/>
              <a:t>Directivas define o macros </a:t>
            </a:r>
          </a:p>
          <a:p>
            <a:pPr lvl="1"/>
            <a:r>
              <a:rPr lang="es-MX" sz="1800" b="1" dirty="0">
                <a:solidFill>
                  <a:srgbClr val="FF0000"/>
                </a:solidFill>
              </a:rPr>
              <a:t>Problema 1.5. (Aplicación de las directivas define o macros</a:t>
            </a:r>
            <a:r>
              <a:rPr lang="es-MX" sz="1800" dirty="0"/>
              <a:t>)  </a:t>
            </a:r>
          </a:p>
          <a:p>
            <a:pPr lvl="1"/>
            <a:r>
              <a:rPr lang="es-MX" sz="1800" dirty="0"/>
              <a:t>Problema 1.6. (Aplicación de las directivas define o macros) </a:t>
            </a:r>
          </a:p>
          <a:p>
            <a:pPr lvl="1"/>
            <a:r>
              <a:rPr lang="es-MX" sz="1800" dirty="0"/>
              <a:t>1.2.4. La Función Principal </a:t>
            </a:r>
          </a:p>
          <a:p>
            <a:pPr lvl="1"/>
            <a:r>
              <a:rPr lang="es-MX" sz="1800" dirty="0"/>
              <a:t>1.2.5. 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11</a:t>
            </a:fld>
            <a:endParaRPr lang="es-EC">
              <a:solidFill>
                <a:prstClr val="black">
                  <a:lumMod val="65000"/>
                  <a:lumOff val="35000"/>
                </a:prstClr>
              </a:solidFill>
            </a:endParaRPr>
          </a:p>
        </p:txBody>
      </p:sp>
    </p:spTree>
    <p:extLst>
      <p:ext uri="{BB962C8B-B14F-4D97-AF65-F5344CB8AC3E}">
        <p14:creationId xmlns:p14="http://schemas.microsoft.com/office/powerpoint/2010/main" val="3442059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06879" y="1420440"/>
            <a:ext cx="8922153" cy="980728"/>
          </a:xfrm>
        </p:spPr>
        <p:txBody>
          <a:bodyPr/>
          <a:lstStyle/>
          <a:p>
            <a:r>
              <a:rPr lang="es-MX" sz="2800" b="1" dirty="0"/>
              <a:t> </a:t>
            </a:r>
            <a:r>
              <a:rPr lang="es-MX" sz="3600" b="1" dirty="0"/>
              <a:t>Aplicación de las directivas define o macros</a:t>
            </a:r>
            <a:r>
              <a:rPr lang="es-EC" sz="3600" b="1" dirty="0"/>
              <a:t>  </a:t>
            </a:r>
            <a:br>
              <a:rPr lang="es-EC" sz="6600" b="1" dirty="0"/>
            </a:br>
            <a:endParaRPr lang="en-US" b="1" dirty="0"/>
          </a:p>
        </p:txBody>
      </p:sp>
      <p:sp>
        <p:nvSpPr>
          <p:cNvPr id="5" name="4 Marcador de contenido"/>
          <p:cNvSpPr>
            <a:spLocks noGrp="1"/>
          </p:cNvSpPr>
          <p:nvPr>
            <p:ph idx="1"/>
          </p:nvPr>
        </p:nvSpPr>
        <p:spPr>
          <a:xfrm>
            <a:off x="1172552" y="2051502"/>
            <a:ext cx="3226728" cy="980728"/>
          </a:xfrm>
        </p:spPr>
        <p:txBody>
          <a:bodyPr>
            <a:normAutofit fontScale="92500" lnSpcReduction="20000"/>
          </a:bodyPr>
          <a:lstStyle/>
          <a:p>
            <a:r>
              <a:rPr lang="es-EC" sz="1800" dirty="0"/>
              <a:t>Reescribir el programa 1.1 de tal manera que utilice directivas define o macros.</a:t>
            </a:r>
            <a:endParaRPr lang="es-419" sz="18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pic>
        <p:nvPicPr>
          <p:cNvPr id="7" name="Imagen 6">
            <a:extLst>
              <a:ext uri="{FF2B5EF4-FFF2-40B4-BE49-F238E27FC236}">
                <a16:creationId xmlns:a16="http://schemas.microsoft.com/office/drawing/2014/main" id="{88FFBA46-2527-48C4-AB7A-935101DFFE4A}"/>
              </a:ext>
            </a:extLst>
          </p:cNvPr>
          <p:cNvPicPr>
            <a:picLocks noChangeAspect="1"/>
          </p:cNvPicPr>
          <p:nvPr/>
        </p:nvPicPr>
        <p:blipFill rotWithShape="1">
          <a:blip r:embed="rId2"/>
          <a:srcRect t="33728" r="1555" b="13306"/>
          <a:stretch/>
        </p:blipFill>
        <p:spPr>
          <a:xfrm>
            <a:off x="4399280" y="1950721"/>
            <a:ext cx="6725920" cy="1478280"/>
          </a:xfrm>
          <a:prstGeom prst="rect">
            <a:avLst/>
          </a:prstGeom>
        </p:spPr>
      </p:pic>
      <p:pic>
        <p:nvPicPr>
          <p:cNvPr id="10" name="Imagen 9">
            <a:extLst>
              <a:ext uri="{FF2B5EF4-FFF2-40B4-BE49-F238E27FC236}">
                <a16:creationId xmlns:a16="http://schemas.microsoft.com/office/drawing/2014/main" id="{57437235-FA88-4FF1-93EE-25E0794EF241}"/>
              </a:ext>
            </a:extLst>
          </p:cNvPr>
          <p:cNvPicPr>
            <a:picLocks noChangeAspect="1"/>
          </p:cNvPicPr>
          <p:nvPr/>
        </p:nvPicPr>
        <p:blipFill>
          <a:blip r:embed="rId3"/>
          <a:stretch>
            <a:fillRect/>
          </a:stretch>
        </p:blipFill>
        <p:spPr>
          <a:xfrm>
            <a:off x="4290643" y="3508836"/>
            <a:ext cx="6834557" cy="2734057"/>
          </a:xfrm>
          <a:prstGeom prst="rect">
            <a:avLst/>
          </a:prstGeom>
        </p:spPr>
      </p:pic>
      <p:sp>
        <p:nvSpPr>
          <p:cNvPr id="14" name="CuadroTexto 13">
            <a:extLst>
              <a:ext uri="{FF2B5EF4-FFF2-40B4-BE49-F238E27FC236}">
                <a16:creationId xmlns:a16="http://schemas.microsoft.com/office/drawing/2014/main" id="{2D75DAFD-55D8-4F06-A146-156D528CE780}"/>
              </a:ext>
            </a:extLst>
          </p:cNvPr>
          <p:cNvSpPr txBox="1"/>
          <p:nvPr/>
        </p:nvSpPr>
        <p:spPr>
          <a:xfrm>
            <a:off x="4190072" y="6400413"/>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1.5</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848650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199" y="1548172"/>
            <a:ext cx="8922153" cy="980728"/>
          </a:xfrm>
        </p:spPr>
        <p:txBody>
          <a:bodyPr/>
          <a:lstStyle/>
          <a:p>
            <a:r>
              <a:rPr lang="es-MX" sz="3600" b="1" dirty="0"/>
              <a:t>Aplicación de las directivas define o macros</a:t>
            </a:r>
            <a:r>
              <a:rPr lang="es-EC" sz="3600" b="1" dirty="0"/>
              <a:t>  </a:t>
            </a:r>
            <a:br>
              <a:rPr lang="es-EC" sz="6600" b="1" dirty="0"/>
            </a:br>
            <a:endParaRPr lang="en-US" sz="6600"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
        <p:nvSpPr>
          <p:cNvPr id="12" name="CuadroTexto 11">
            <a:extLst>
              <a:ext uri="{FF2B5EF4-FFF2-40B4-BE49-F238E27FC236}">
                <a16:creationId xmlns:a16="http://schemas.microsoft.com/office/drawing/2014/main" id="{85E33AA5-25DD-4F83-A74C-1499819F6F2C}"/>
              </a:ext>
            </a:extLst>
          </p:cNvPr>
          <p:cNvSpPr txBox="1"/>
          <p:nvPr/>
        </p:nvSpPr>
        <p:spPr>
          <a:xfrm>
            <a:off x="1030312" y="556353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1.5. </a:t>
            </a:r>
            <a:r>
              <a:rPr lang="es-ES" sz="1200" dirty="0">
                <a:solidFill>
                  <a:schemeClr val="tx1">
                    <a:lumMod val="50000"/>
                    <a:lumOff val="50000"/>
                  </a:schemeClr>
                </a:solidFill>
                <a:latin typeface="+mj-lt"/>
              </a:rPr>
              <a:t>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0CD8D5AC-59DE-463C-BDBE-54F6B1132F59}"/>
              </a:ext>
            </a:extLst>
          </p:cNvPr>
          <p:cNvPicPr>
            <a:picLocks noChangeAspect="1"/>
          </p:cNvPicPr>
          <p:nvPr/>
        </p:nvPicPr>
        <p:blipFill>
          <a:blip r:embed="rId2"/>
          <a:stretch>
            <a:fillRect/>
          </a:stretch>
        </p:blipFill>
        <p:spPr>
          <a:xfrm>
            <a:off x="1030312" y="3879447"/>
            <a:ext cx="7144747" cy="1378351"/>
          </a:xfrm>
          <a:prstGeom prst="rect">
            <a:avLst/>
          </a:prstGeom>
        </p:spPr>
      </p:pic>
      <p:sp>
        <p:nvSpPr>
          <p:cNvPr id="11" name="Marcador de contenido 10">
            <a:extLst>
              <a:ext uri="{FF2B5EF4-FFF2-40B4-BE49-F238E27FC236}">
                <a16:creationId xmlns:a16="http://schemas.microsoft.com/office/drawing/2014/main" id="{EFE87C0F-4036-4DBC-A2B5-ADB6D349FE0B}"/>
              </a:ext>
            </a:extLst>
          </p:cNvPr>
          <p:cNvSpPr>
            <a:spLocks noGrp="1"/>
          </p:cNvSpPr>
          <p:nvPr>
            <p:ph idx="1"/>
          </p:nvPr>
        </p:nvSpPr>
        <p:spPr>
          <a:xfrm>
            <a:off x="609600" y="1600202"/>
            <a:ext cx="6177280" cy="2612790"/>
          </a:xfrm>
        </p:spPr>
        <p:txBody>
          <a:bodyPr/>
          <a:lstStyle/>
          <a:p>
            <a:r>
              <a:rPr lang="es-MX" sz="1800" dirty="0"/>
              <a:t>Nótese que el carácter punto y coma (;) ya está incluido en la definición de la macro, por lo que no es necesario colocar otro punto y como (;) en la llamada a la macro. Cuando el compilador compila el código fuente y encuentra una macro, internamente se reemplaza el símbolo de la macro con el código que fue definida</a:t>
            </a:r>
            <a:r>
              <a:rPr lang="es-MX" dirty="0"/>
              <a:t>. </a:t>
            </a:r>
            <a:endParaRPr lang="es-EC" dirty="0"/>
          </a:p>
        </p:txBody>
      </p:sp>
    </p:spTree>
    <p:extLst>
      <p:ext uri="{BB962C8B-B14F-4D97-AF65-F5344CB8AC3E}">
        <p14:creationId xmlns:p14="http://schemas.microsoft.com/office/powerpoint/2010/main" val="2351728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dirty="0"/>
              <a:t>Directivas include </a:t>
            </a:r>
          </a:p>
          <a:p>
            <a:pPr lvl="1"/>
            <a:r>
              <a:rPr lang="es-MX" sz="1800" dirty="0"/>
              <a:t>Espacios de nombre (Namespaces)  </a:t>
            </a:r>
          </a:p>
          <a:p>
            <a:pPr lvl="1"/>
            <a:r>
              <a:rPr lang="es-MX" sz="1800" dirty="0"/>
              <a:t>Directivas define o macros </a:t>
            </a:r>
          </a:p>
          <a:p>
            <a:pPr lvl="1"/>
            <a:r>
              <a:rPr lang="es-MX" sz="1800" dirty="0"/>
              <a:t>Problema 1.5. (Aplicación de las directivas define o macros)  </a:t>
            </a:r>
          </a:p>
          <a:p>
            <a:pPr lvl="1"/>
            <a:r>
              <a:rPr lang="es-MX" sz="1800" b="1" dirty="0">
                <a:solidFill>
                  <a:srgbClr val="FF0000"/>
                </a:solidFill>
              </a:rPr>
              <a:t>Problema 1.6. (Aplicación de las directivas define o macros) </a:t>
            </a:r>
          </a:p>
          <a:p>
            <a:pPr lvl="1"/>
            <a:r>
              <a:rPr lang="es-MX" sz="1800" dirty="0"/>
              <a:t>1.2.4. La Función Principal </a:t>
            </a:r>
          </a:p>
          <a:p>
            <a:pPr lvl="1"/>
            <a:r>
              <a:rPr lang="es-MX" sz="1800" dirty="0"/>
              <a:t>1.2.5. 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14</a:t>
            </a:fld>
            <a:endParaRPr lang="es-EC">
              <a:solidFill>
                <a:prstClr val="black">
                  <a:lumMod val="65000"/>
                  <a:lumOff val="35000"/>
                </a:prstClr>
              </a:solidFill>
            </a:endParaRPr>
          </a:p>
        </p:txBody>
      </p:sp>
    </p:spTree>
    <p:extLst>
      <p:ext uri="{BB962C8B-B14F-4D97-AF65-F5344CB8AC3E}">
        <p14:creationId xmlns:p14="http://schemas.microsoft.com/office/powerpoint/2010/main" val="661026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199" y="1548172"/>
            <a:ext cx="8922153" cy="980728"/>
          </a:xfrm>
        </p:spPr>
        <p:txBody>
          <a:bodyPr/>
          <a:lstStyle/>
          <a:p>
            <a:r>
              <a:rPr lang="es-MX" sz="3600" b="1" dirty="0"/>
              <a:t>Aplicación de las directivas define o macros)</a:t>
            </a:r>
            <a:r>
              <a:rPr lang="es-EC" sz="3600" b="1" dirty="0"/>
              <a:t>  </a:t>
            </a:r>
            <a:br>
              <a:rPr lang="es-EC" b="1" dirty="0"/>
            </a:br>
            <a:endParaRPr lang="en-US" b="1" dirty="0"/>
          </a:p>
        </p:txBody>
      </p:sp>
      <p:sp>
        <p:nvSpPr>
          <p:cNvPr id="5" name="4 Marcador de contenido"/>
          <p:cNvSpPr>
            <a:spLocks noGrp="1"/>
          </p:cNvSpPr>
          <p:nvPr>
            <p:ph idx="1"/>
          </p:nvPr>
        </p:nvSpPr>
        <p:spPr>
          <a:xfrm>
            <a:off x="674712" y="2038536"/>
            <a:ext cx="3118091" cy="980728"/>
          </a:xfrm>
        </p:spPr>
        <p:txBody>
          <a:bodyPr>
            <a:normAutofit fontScale="92500" lnSpcReduction="20000"/>
          </a:bodyPr>
          <a:lstStyle/>
          <a:p>
            <a:r>
              <a:rPr lang="es-EC" sz="1800" dirty="0"/>
              <a:t>Reescribir el programa 1.2 de tal manera que utilice directivas define o macros.</a:t>
            </a:r>
            <a:endParaRPr lang="es-419" sz="18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pic>
        <p:nvPicPr>
          <p:cNvPr id="8" name="Imagen 7">
            <a:extLst>
              <a:ext uri="{FF2B5EF4-FFF2-40B4-BE49-F238E27FC236}">
                <a16:creationId xmlns:a16="http://schemas.microsoft.com/office/drawing/2014/main" id="{7B68C0D1-34C4-4A9F-B0F3-B34D3D212011}"/>
              </a:ext>
            </a:extLst>
          </p:cNvPr>
          <p:cNvPicPr>
            <a:picLocks noChangeAspect="1"/>
          </p:cNvPicPr>
          <p:nvPr/>
        </p:nvPicPr>
        <p:blipFill>
          <a:blip r:embed="rId2"/>
          <a:stretch>
            <a:fillRect/>
          </a:stretch>
        </p:blipFill>
        <p:spPr>
          <a:xfrm>
            <a:off x="3792803" y="1873017"/>
            <a:ext cx="6956477" cy="4024066"/>
          </a:xfrm>
          <a:prstGeom prst="rect">
            <a:avLst/>
          </a:prstGeom>
        </p:spPr>
      </p:pic>
      <p:sp>
        <p:nvSpPr>
          <p:cNvPr id="11" name="CuadroTexto 10">
            <a:extLst>
              <a:ext uri="{FF2B5EF4-FFF2-40B4-BE49-F238E27FC236}">
                <a16:creationId xmlns:a16="http://schemas.microsoft.com/office/drawing/2014/main" id="{34FE4087-3D3B-4B19-BB74-273A09AAE34F}"/>
              </a:ext>
            </a:extLst>
          </p:cNvPr>
          <p:cNvSpPr txBox="1"/>
          <p:nvPr/>
        </p:nvSpPr>
        <p:spPr>
          <a:xfrm>
            <a:off x="3707538" y="6248947"/>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1.6. </a:t>
            </a:r>
            <a:r>
              <a:rPr lang="es-ES" sz="1200" dirty="0">
                <a:solidFill>
                  <a:schemeClr val="tx1">
                    <a:lumMod val="50000"/>
                    <a:lumOff val="50000"/>
                  </a:schemeClr>
                </a:solidFill>
                <a:latin typeface="+mj-lt"/>
              </a:rPr>
              <a:t>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139068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199" y="1548172"/>
            <a:ext cx="8922153" cy="980728"/>
          </a:xfrm>
        </p:spPr>
        <p:txBody>
          <a:bodyPr/>
          <a:lstStyle/>
          <a:p>
            <a:r>
              <a:rPr lang="es-MX" sz="3600" b="1" dirty="0"/>
              <a:t>Aplicación de las directivas define o macros</a:t>
            </a:r>
            <a:r>
              <a:rPr lang="es-EC" sz="3600" b="1" dirty="0"/>
              <a:t>  </a:t>
            </a:r>
            <a:br>
              <a:rPr lang="es-EC" sz="6600" b="1" dirty="0"/>
            </a:br>
            <a:endParaRPr lang="en-US" sz="6600" b="1"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sp>
        <p:nvSpPr>
          <p:cNvPr id="12" name="CuadroTexto 11">
            <a:extLst>
              <a:ext uri="{FF2B5EF4-FFF2-40B4-BE49-F238E27FC236}">
                <a16:creationId xmlns:a16="http://schemas.microsoft.com/office/drawing/2014/main" id="{85E33AA5-25DD-4F83-A74C-1499819F6F2C}"/>
              </a:ext>
            </a:extLst>
          </p:cNvPr>
          <p:cNvSpPr txBox="1"/>
          <p:nvPr/>
        </p:nvSpPr>
        <p:spPr>
          <a:xfrm>
            <a:off x="1030312" y="5563539"/>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1.6. </a:t>
            </a:r>
            <a:r>
              <a:rPr lang="es-ES" sz="1200" dirty="0">
                <a:solidFill>
                  <a:schemeClr val="tx1">
                    <a:lumMod val="50000"/>
                    <a:lumOff val="50000"/>
                  </a:schemeClr>
                </a:solidFill>
                <a:latin typeface="+mj-lt"/>
              </a:rPr>
              <a:t>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
        <p:nvSpPr>
          <p:cNvPr id="11" name="Marcador de contenido 10">
            <a:extLst>
              <a:ext uri="{FF2B5EF4-FFF2-40B4-BE49-F238E27FC236}">
                <a16:creationId xmlns:a16="http://schemas.microsoft.com/office/drawing/2014/main" id="{EFE87C0F-4036-4DBC-A2B5-ADB6D349FE0B}"/>
              </a:ext>
            </a:extLst>
          </p:cNvPr>
          <p:cNvSpPr>
            <a:spLocks noGrp="1"/>
          </p:cNvSpPr>
          <p:nvPr>
            <p:ph idx="1"/>
          </p:nvPr>
        </p:nvSpPr>
        <p:spPr>
          <a:xfrm>
            <a:off x="609600" y="1600202"/>
            <a:ext cx="6177280" cy="2612790"/>
          </a:xfrm>
        </p:spPr>
        <p:txBody>
          <a:bodyPr>
            <a:normAutofit/>
          </a:bodyPr>
          <a:lstStyle/>
          <a:p>
            <a:r>
              <a:rPr lang="es-MX" sz="1800" dirty="0"/>
              <a:t>Nótese que el carácter punto y coma (;) ya está incluido en la definición de la macro, por lo que no es necesario colocar otro punto y como (;) en la llamada a la macro. Cuando el compilador compila el código fuente y encuentra una macro, internamente se reemplaza el símbolo de la macro con el código que fue definida.</a:t>
            </a:r>
            <a:endParaRPr lang="es-EC" sz="1800" dirty="0"/>
          </a:p>
        </p:txBody>
      </p:sp>
      <p:pic>
        <p:nvPicPr>
          <p:cNvPr id="5" name="Imagen 4">
            <a:extLst>
              <a:ext uri="{FF2B5EF4-FFF2-40B4-BE49-F238E27FC236}">
                <a16:creationId xmlns:a16="http://schemas.microsoft.com/office/drawing/2014/main" id="{CB288181-C446-49D5-B306-FC2BF8C25F23}"/>
              </a:ext>
            </a:extLst>
          </p:cNvPr>
          <p:cNvPicPr>
            <a:picLocks noChangeAspect="1"/>
          </p:cNvPicPr>
          <p:nvPr/>
        </p:nvPicPr>
        <p:blipFill>
          <a:blip r:embed="rId2"/>
          <a:stretch>
            <a:fillRect/>
          </a:stretch>
        </p:blipFill>
        <p:spPr>
          <a:xfrm>
            <a:off x="1030312" y="3879447"/>
            <a:ext cx="7268589" cy="1466448"/>
          </a:xfrm>
          <a:prstGeom prst="rect">
            <a:avLst/>
          </a:prstGeom>
        </p:spPr>
      </p:pic>
    </p:spTree>
    <p:extLst>
      <p:ext uri="{BB962C8B-B14F-4D97-AF65-F5344CB8AC3E}">
        <p14:creationId xmlns:p14="http://schemas.microsoft.com/office/powerpoint/2010/main" val="2499266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dirty="0"/>
              <a:t>Directivas include </a:t>
            </a:r>
          </a:p>
          <a:p>
            <a:pPr lvl="1"/>
            <a:r>
              <a:rPr lang="es-MX" sz="1800" dirty="0"/>
              <a:t>Espacios de nombre (Namespaces)  </a:t>
            </a:r>
          </a:p>
          <a:p>
            <a:pPr lvl="1"/>
            <a:r>
              <a:rPr lang="es-MX" sz="1800" dirty="0"/>
              <a:t>Directivas define o macros </a:t>
            </a:r>
          </a:p>
          <a:p>
            <a:pPr lvl="1"/>
            <a:r>
              <a:rPr lang="es-MX" sz="1800" dirty="0"/>
              <a:t>Problema 1.5. (Aplicación de las directivas define o macros)  </a:t>
            </a:r>
          </a:p>
          <a:p>
            <a:pPr lvl="1"/>
            <a:r>
              <a:rPr lang="es-MX" sz="1800" dirty="0"/>
              <a:t>Problema 1.6. (Aplicación de las directivas define o macros) </a:t>
            </a:r>
          </a:p>
          <a:p>
            <a:pPr lvl="1"/>
            <a:r>
              <a:rPr lang="es-MX" sz="1800" b="1" dirty="0">
                <a:solidFill>
                  <a:srgbClr val="FF0000"/>
                </a:solidFill>
              </a:rPr>
              <a:t>La Función Principal </a:t>
            </a:r>
          </a:p>
          <a:p>
            <a:pPr lvl="1"/>
            <a:r>
              <a:rPr lang="es-MX" sz="1800" dirty="0"/>
              <a:t>1.2.5. Estructura Básica de un Problema de Programación en C/C++ </a:t>
            </a:r>
            <a:endParaRPr lang="es-419" sz="1800" dirty="0"/>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17</a:t>
            </a:fld>
            <a:endParaRPr lang="es-EC">
              <a:solidFill>
                <a:prstClr val="black">
                  <a:lumMod val="65000"/>
                  <a:lumOff val="35000"/>
                </a:prstClr>
              </a:solidFill>
            </a:endParaRPr>
          </a:p>
        </p:txBody>
      </p:sp>
    </p:spTree>
    <p:extLst>
      <p:ext uri="{BB962C8B-B14F-4D97-AF65-F5344CB8AC3E}">
        <p14:creationId xmlns:p14="http://schemas.microsoft.com/office/powerpoint/2010/main" val="1459332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981200" y="631533"/>
            <a:ext cx="8229600" cy="980728"/>
          </a:xfrm>
        </p:spPr>
        <p:txBody>
          <a:bodyPr/>
          <a:lstStyle/>
          <a:p>
            <a:br>
              <a:rPr lang="es-MX" sz="4000" b="1" dirty="0">
                <a:solidFill>
                  <a:srgbClr val="FF0000"/>
                </a:solidFill>
              </a:rPr>
            </a:br>
            <a:br>
              <a:rPr lang="es-MX" sz="4000" b="1" dirty="0">
                <a:solidFill>
                  <a:srgbClr val="FF0000"/>
                </a:solidFill>
              </a:rPr>
            </a:br>
            <a:r>
              <a:rPr lang="es-MX" b="1" dirty="0"/>
              <a:t>La Función Principal </a:t>
            </a:r>
            <a:br>
              <a:rPr lang="es-MX" sz="4000" b="1" dirty="0">
                <a:solidFill>
                  <a:srgbClr val="FF0000"/>
                </a:solidFill>
              </a:rPr>
            </a:br>
            <a:endParaRPr lang="en-US" sz="4000" b="1" dirty="0"/>
          </a:p>
        </p:txBody>
      </p:sp>
      <p:sp>
        <p:nvSpPr>
          <p:cNvPr id="5" name="4 Marcador de contenido"/>
          <p:cNvSpPr>
            <a:spLocks noGrp="1"/>
          </p:cNvSpPr>
          <p:nvPr>
            <p:ph idx="1"/>
          </p:nvPr>
        </p:nvSpPr>
        <p:spPr>
          <a:xfrm>
            <a:off x="1797892" y="1275080"/>
            <a:ext cx="8920907" cy="4307839"/>
          </a:xfrm>
        </p:spPr>
        <p:txBody>
          <a:bodyPr>
            <a:normAutofit lnSpcReduction="10000"/>
          </a:bodyPr>
          <a:lstStyle/>
          <a:p>
            <a:r>
              <a:rPr lang="es-MX" sz="1800" dirty="0"/>
              <a:t>La función </a:t>
            </a:r>
            <a:r>
              <a:rPr lang="es-MX" sz="1800" dirty="0" err="1"/>
              <a:t>main</a:t>
            </a:r>
            <a:r>
              <a:rPr lang="es-MX" sz="1800" dirty="0"/>
              <a:t>(…) es especial porque es el punto de entrada para cada programa en C/C++, es decir, cada programa en C/C++ comienza ejecutando su </a:t>
            </a:r>
            <a:r>
              <a:rPr lang="es-MX" sz="1800" dirty="0" err="1"/>
              <a:t>main</a:t>
            </a:r>
            <a:r>
              <a:rPr lang="es-MX" sz="1800" dirty="0"/>
              <a:t>. Consecuentemente, cada programa en C/C++ debe tener una función </a:t>
            </a:r>
            <a:r>
              <a:rPr lang="es-MX" sz="1800" dirty="0" err="1"/>
              <a:t>main</a:t>
            </a:r>
            <a:r>
              <a:rPr lang="es-MX" sz="1800" dirty="0"/>
              <a:t> (Joyanes, L., </a:t>
            </a:r>
            <a:r>
              <a:rPr lang="es-MX" sz="1800" dirty="0" err="1"/>
              <a:t>Zahonero</a:t>
            </a:r>
            <a:r>
              <a:rPr lang="es-MX" sz="1800" dirty="0"/>
              <a:t>, I., 2005). El código correspondiente a la función </a:t>
            </a:r>
            <a:r>
              <a:rPr lang="es-MX" sz="1800" dirty="0" err="1"/>
              <a:t>main</a:t>
            </a:r>
            <a:r>
              <a:rPr lang="es-MX" sz="1800" dirty="0"/>
              <a:t> va encerrado entre llaves y se lo conoce como el cuerpo de la función o la definición de la función. Estos conceptos y otros serán profundizados en el Capítulo 3, referente a Funciones. </a:t>
            </a:r>
          </a:p>
          <a:p>
            <a:endParaRPr lang="es-MX" sz="1800" dirty="0"/>
          </a:p>
          <a:p>
            <a:endParaRPr lang="es-MX" sz="1800" dirty="0"/>
          </a:p>
          <a:p>
            <a:r>
              <a:rPr lang="es-MX" sz="1800" dirty="0"/>
              <a:t>En C/C++, las llaves {} son utilizadas para definir el inicio y el fin de una unidad de código lógico. Por ejemplo, en el programa 1.1, la llave abierta ‘{’, denota el inicio de un código de bloque, y la llave cerrada ‘}’, denota el fin del código de bloque. Un par de llaves deben siempre ir juntas en la función principal. En la Figura 1.14 se muestra un logo de la función principal y lo que ella significa. </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Tree>
    <p:extLst>
      <p:ext uri="{BB962C8B-B14F-4D97-AF65-F5344CB8AC3E}">
        <p14:creationId xmlns:p14="http://schemas.microsoft.com/office/powerpoint/2010/main" val="385996753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p:txBody>
          <a:bodyPr>
            <a:normAutofit/>
          </a:bodyPr>
          <a:lstStyle/>
          <a:p>
            <a:pPr>
              <a:lnSpc>
                <a:spcPct val="80000"/>
              </a:lnSpc>
            </a:pPr>
            <a:r>
              <a:rPr lang="es-MX" sz="2100" b="1" dirty="0">
                <a:solidFill>
                  <a:schemeClr val="bg1">
                    <a:lumMod val="50000"/>
                  </a:schemeClr>
                </a:solidFill>
              </a:rPr>
              <a:t>Estructura Básica de un Programa en C/C++</a:t>
            </a:r>
            <a:endParaRPr lang="es-419" sz="2100" b="1" dirty="0">
              <a:solidFill>
                <a:schemeClr val="bg1">
                  <a:lumMod val="50000"/>
                </a:schemeClr>
              </a:solidFill>
            </a:endParaRPr>
          </a:p>
          <a:p>
            <a:pPr lvl="1"/>
            <a:r>
              <a:rPr lang="es-MX" sz="1800" dirty="0"/>
              <a:t>Directivas include </a:t>
            </a:r>
          </a:p>
          <a:p>
            <a:pPr lvl="1"/>
            <a:r>
              <a:rPr lang="es-MX" sz="1800" dirty="0"/>
              <a:t>Espacios de nombre (Namespaces)  </a:t>
            </a:r>
          </a:p>
          <a:p>
            <a:pPr lvl="1"/>
            <a:r>
              <a:rPr lang="es-MX" sz="1800" dirty="0"/>
              <a:t>Directivas define o macros </a:t>
            </a:r>
          </a:p>
          <a:p>
            <a:pPr lvl="1"/>
            <a:r>
              <a:rPr lang="es-MX" sz="1800" dirty="0"/>
              <a:t>Problema 1.5. (Aplicación de las directivas define o macros)  </a:t>
            </a:r>
          </a:p>
          <a:p>
            <a:pPr lvl="1"/>
            <a:r>
              <a:rPr lang="es-MX" sz="1800" dirty="0"/>
              <a:t>Problema 1.6. (Aplicación de las directivas define o macros) </a:t>
            </a:r>
          </a:p>
          <a:p>
            <a:pPr lvl="1"/>
            <a:r>
              <a:rPr lang="es-MX" sz="1800" dirty="0"/>
              <a:t>La Función Principal </a:t>
            </a:r>
          </a:p>
          <a:p>
            <a:pPr lvl="1"/>
            <a:r>
              <a:rPr lang="es-MX" sz="1800" b="1" dirty="0">
                <a:solidFill>
                  <a:srgbClr val="FF0000"/>
                </a:solidFill>
              </a:rPr>
              <a:t>Estructura Básica de un Problema de Programación en C/C++ </a:t>
            </a:r>
            <a:endParaRPr lang="es-419" sz="1800" b="1" dirty="0">
              <a:solidFill>
                <a:srgbClr val="FF0000"/>
              </a:solidFill>
            </a:endParaRPr>
          </a:p>
        </p:txBody>
      </p:sp>
      <p:sp>
        <p:nvSpPr>
          <p:cNvPr id="5" name="4 Marcador de fecha"/>
          <p:cNvSpPr>
            <a:spLocks noGrp="1"/>
          </p:cNvSpPr>
          <p:nvPr>
            <p:ph type="dt" sz="half" idx="10"/>
          </p:nvPr>
        </p:nvSpPr>
        <p:spPr/>
        <p:txBody>
          <a:bodyPr/>
          <a:lstStyle/>
          <a:p>
            <a:fld id="{85E4E129-A937-4BEE-8A17-D7969DFE55C2}" type="datetime1">
              <a:rPr lang="es-EC">
                <a:solidFill>
                  <a:prstClr val="black">
                    <a:lumMod val="65000"/>
                    <a:lumOff val="35000"/>
                  </a:prstClr>
                </a:solidFill>
              </a:rPr>
              <a:pPr/>
              <a:t>7/10/2025</a:t>
            </a:fld>
            <a:endParaRPr lang="es-EC" dirty="0">
              <a:solidFill>
                <a:prstClr val="black">
                  <a:lumMod val="65000"/>
                  <a:lumOff val="35000"/>
                </a:prstClr>
              </a:solidFill>
            </a:endParaRPr>
          </a:p>
        </p:txBody>
      </p:sp>
      <p:sp>
        <p:nvSpPr>
          <p:cNvPr id="6" name="5 Marcador de número de diapositiva"/>
          <p:cNvSpPr>
            <a:spLocks noGrp="1"/>
          </p:cNvSpPr>
          <p:nvPr>
            <p:ph type="sldNum" sz="quarter" idx="12"/>
          </p:nvPr>
        </p:nvSpPr>
        <p:spPr/>
        <p:txBody>
          <a:bodyPr/>
          <a:lstStyle/>
          <a:p>
            <a:fld id="{14B28EB2-3408-4757-A806-361BA67028B7}" type="slidenum">
              <a:rPr lang="es-EC">
                <a:solidFill>
                  <a:prstClr val="black">
                    <a:lumMod val="65000"/>
                    <a:lumOff val="35000"/>
                  </a:prstClr>
                </a:solidFill>
              </a:rPr>
              <a:pPr/>
              <a:t>19</a:t>
            </a:fld>
            <a:endParaRPr lang="es-EC">
              <a:solidFill>
                <a:prstClr val="black">
                  <a:lumMod val="65000"/>
                  <a:lumOff val="35000"/>
                </a:prstClr>
              </a:solidFill>
            </a:endParaRPr>
          </a:p>
        </p:txBody>
      </p:sp>
    </p:spTree>
    <p:extLst>
      <p:ext uri="{BB962C8B-B14F-4D97-AF65-F5344CB8AC3E}">
        <p14:creationId xmlns:p14="http://schemas.microsoft.com/office/powerpoint/2010/main" val="557123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81200" y="1203672"/>
            <a:ext cx="9164320" cy="980728"/>
          </a:xfrm>
        </p:spPr>
        <p:txBody>
          <a:bodyPr/>
          <a:lstStyle/>
          <a:p>
            <a:br>
              <a:rPr lang="es-MX" sz="4000" b="1" dirty="0">
                <a:solidFill>
                  <a:srgbClr val="FF0000"/>
                </a:solidFill>
              </a:rPr>
            </a:br>
            <a:br>
              <a:rPr lang="es-MX" sz="4000" b="1" dirty="0">
                <a:solidFill>
                  <a:srgbClr val="FF0000"/>
                </a:solidFill>
              </a:rPr>
            </a:br>
            <a:r>
              <a:rPr lang="es-MX" sz="2800" b="1" dirty="0"/>
              <a:t>Estructura Básica de un Problema de Programación en C/C++ </a:t>
            </a:r>
            <a:br>
              <a:rPr lang="es-419" sz="4400" b="1" dirty="0">
                <a:solidFill>
                  <a:srgbClr val="FF0000"/>
                </a:solidFill>
              </a:rPr>
            </a:br>
            <a:endParaRPr lang="en-US" sz="4000" b="1" dirty="0"/>
          </a:p>
        </p:txBody>
      </p:sp>
      <p:sp>
        <p:nvSpPr>
          <p:cNvPr id="5" name="4 Marcador de contenido"/>
          <p:cNvSpPr>
            <a:spLocks noGrp="1"/>
          </p:cNvSpPr>
          <p:nvPr>
            <p:ph idx="1"/>
          </p:nvPr>
        </p:nvSpPr>
        <p:spPr>
          <a:xfrm>
            <a:off x="926238" y="1554480"/>
            <a:ext cx="8786722" cy="4937759"/>
          </a:xfrm>
        </p:spPr>
        <p:txBody>
          <a:bodyPr>
            <a:normAutofit lnSpcReduction="10000"/>
          </a:bodyPr>
          <a:lstStyle/>
          <a:p>
            <a:r>
              <a:rPr lang="es-MX" sz="2000" dirty="0"/>
              <a:t>En este capítulo se van a aplicar tres fases en la resolución de problemas de programación, considerando los aspectos de la ingeniería y el método científico dentro de cada fase. </a:t>
            </a:r>
          </a:p>
          <a:p>
            <a:pPr marL="0" indent="0">
              <a:buNone/>
            </a:pPr>
            <a:endParaRPr lang="es-MX" sz="2000" dirty="0"/>
          </a:p>
          <a:p>
            <a:pPr marL="457200" indent="-457200">
              <a:buAutoNum type="arabicPeriod"/>
            </a:pPr>
            <a:r>
              <a:rPr lang="es-MX" sz="2000" b="1" dirty="0"/>
              <a:t>Planteamiento del Problema</a:t>
            </a:r>
            <a:r>
              <a:rPr lang="es-MX" sz="2000" dirty="0"/>
              <a:t>: En esta fase, se plantea claramente el enunciado del problema que se desea resolver. </a:t>
            </a:r>
          </a:p>
          <a:p>
            <a:pPr marL="457200" indent="-457200">
              <a:buAutoNum type="arabicPeriod"/>
            </a:pPr>
            <a:endParaRPr lang="es-MX" sz="2000" dirty="0"/>
          </a:p>
          <a:p>
            <a:pPr marL="457200" indent="-457200">
              <a:buAutoNum type="arabicPeriod"/>
            </a:pPr>
            <a:r>
              <a:rPr lang="es-MX" sz="2000" b="1" dirty="0"/>
              <a:t>Codificación del Programa</a:t>
            </a:r>
            <a:r>
              <a:rPr lang="es-MX" sz="2000" dirty="0"/>
              <a:t>: En esta fase, se escribe el código del programa que permite automatizar un problema lógico-matemático o de cualquier área de las ciencias básicas como la Física, la Química, la Biología y las Matemáticas. </a:t>
            </a:r>
          </a:p>
          <a:p>
            <a:pPr marL="457200" indent="-457200">
              <a:buAutoNum type="arabicPeriod"/>
            </a:pPr>
            <a:endParaRPr lang="es-MX" sz="2000" dirty="0"/>
          </a:p>
          <a:p>
            <a:pPr marL="457200" indent="-457200">
              <a:buAutoNum type="arabicPeriod"/>
            </a:pPr>
            <a:r>
              <a:rPr lang="es-MX" sz="2000" b="1" dirty="0"/>
              <a:t>Pruebas del Programa</a:t>
            </a:r>
            <a:r>
              <a:rPr lang="es-MX" sz="2000" dirty="0"/>
              <a:t>: En esta fase, se verifica la validez de la solución del problema mediante la ejecución correcta del programa.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Tree>
    <p:extLst>
      <p:ext uri="{BB962C8B-B14F-4D97-AF65-F5344CB8AC3E}">
        <p14:creationId xmlns:p14="http://schemas.microsoft.com/office/powerpoint/2010/main" val="2826564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2400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630385" y="3004126"/>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7/10/2025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
        <p:nvSpPr>
          <p:cNvPr id="8" name="7 CuadroTexto"/>
          <p:cNvSpPr txBox="1"/>
          <p:nvPr/>
        </p:nvSpPr>
        <p:spPr>
          <a:xfrm>
            <a:off x="1630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6096000" y="5105588"/>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0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063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4295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7/10/2025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340</TotalTime>
  <Words>1719</Words>
  <Application>Microsoft Office PowerPoint</Application>
  <PresentationFormat>Panorámica</PresentationFormat>
  <Paragraphs>184</Paragraphs>
  <Slides>22</Slides>
  <Notes>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22</vt:i4>
      </vt:variant>
    </vt:vector>
  </HeadingPairs>
  <TitlesOfParts>
    <vt:vector size="30" baseType="lpstr">
      <vt:lpstr>Arial</vt:lpstr>
      <vt:lpstr>Calibri</vt:lpstr>
      <vt:lpstr>Calibri Light</vt:lpstr>
      <vt:lpstr>Century Gothic</vt:lpstr>
      <vt:lpstr>Courier New</vt:lpstr>
      <vt:lpstr>Palatino Linotype</vt:lpstr>
      <vt:lpstr>Tema de Office</vt:lpstr>
      <vt:lpstr>Ejecutivo</vt:lpstr>
      <vt:lpstr>Presentación de PowerPoint</vt:lpstr>
      <vt:lpstr>Contenido</vt:lpstr>
      <vt:lpstr>Introducción</vt:lpstr>
      <vt:lpstr>Contenido</vt:lpstr>
      <vt:lpstr>Directivas include   </vt:lpstr>
      <vt:lpstr>Ejemplos Directivas include   </vt:lpstr>
      <vt:lpstr>Contenido</vt:lpstr>
      <vt:lpstr>Espacios de nombre (Namespaces)    </vt:lpstr>
      <vt:lpstr>Contenido</vt:lpstr>
      <vt:lpstr>Directivas define o macros   </vt:lpstr>
      <vt:lpstr>Contenido</vt:lpstr>
      <vt:lpstr> Aplicación de las directivas define o macros   </vt:lpstr>
      <vt:lpstr>Aplicación de las directivas define o macros   </vt:lpstr>
      <vt:lpstr>Contenido</vt:lpstr>
      <vt:lpstr>Aplicación de las directivas define o macros)   </vt:lpstr>
      <vt:lpstr>Aplicación de las directivas define o macros   </vt:lpstr>
      <vt:lpstr>Contenido</vt:lpstr>
      <vt:lpstr>  La Función Principal  </vt:lpstr>
      <vt:lpstr>Contenido</vt:lpstr>
      <vt:lpstr>  Estructura Básica de un Problema de Programación en C/C++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dc:creator>
  <cp:lastModifiedBy>HP</cp:lastModifiedBy>
  <cp:revision>3</cp:revision>
  <dcterms:created xsi:type="dcterms:W3CDTF">2025-10-07T22:49:11Z</dcterms:created>
  <dcterms:modified xsi:type="dcterms:W3CDTF">2025-10-08T04:29:20Z</dcterms:modified>
</cp:coreProperties>
</file>