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56"/>
  </p:notesMasterIdLst>
  <p:handoutMasterIdLst>
    <p:handoutMasterId r:id="rId57"/>
  </p:handoutMasterIdLst>
  <p:sldIdLst>
    <p:sldId id="311" r:id="rId2"/>
    <p:sldId id="489" r:id="rId3"/>
    <p:sldId id="278" r:id="rId4"/>
    <p:sldId id="488" r:id="rId5"/>
    <p:sldId id="452" r:id="rId6"/>
    <p:sldId id="453" r:id="rId7"/>
    <p:sldId id="487" r:id="rId8"/>
    <p:sldId id="433" r:id="rId9"/>
    <p:sldId id="456" r:id="rId10"/>
    <p:sldId id="460" r:id="rId11"/>
    <p:sldId id="484" r:id="rId12"/>
    <p:sldId id="458" r:id="rId13"/>
    <p:sldId id="459" r:id="rId14"/>
    <p:sldId id="434" r:id="rId15"/>
    <p:sldId id="485" r:id="rId16"/>
    <p:sldId id="486" r:id="rId17"/>
    <p:sldId id="483" r:id="rId18"/>
    <p:sldId id="462" r:id="rId19"/>
    <p:sldId id="465" r:id="rId20"/>
    <p:sldId id="466" r:id="rId21"/>
    <p:sldId id="482" r:id="rId22"/>
    <p:sldId id="468" r:id="rId23"/>
    <p:sldId id="469" r:id="rId24"/>
    <p:sldId id="470" r:id="rId25"/>
    <p:sldId id="481" r:id="rId26"/>
    <p:sldId id="472" r:id="rId27"/>
    <p:sldId id="473" r:id="rId28"/>
    <p:sldId id="474" r:id="rId29"/>
    <p:sldId id="480" r:id="rId30"/>
    <p:sldId id="476" r:id="rId31"/>
    <p:sldId id="477" r:id="rId32"/>
    <p:sldId id="478" r:id="rId33"/>
    <p:sldId id="479" r:id="rId34"/>
    <p:sldId id="490" r:id="rId35"/>
    <p:sldId id="491" r:id="rId36"/>
    <p:sldId id="492" r:id="rId37"/>
    <p:sldId id="493" r:id="rId38"/>
    <p:sldId id="494" r:id="rId39"/>
    <p:sldId id="495" r:id="rId40"/>
    <p:sldId id="496" r:id="rId41"/>
    <p:sldId id="497" r:id="rId42"/>
    <p:sldId id="498" r:id="rId43"/>
    <p:sldId id="499" r:id="rId44"/>
    <p:sldId id="500" r:id="rId45"/>
    <p:sldId id="501" r:id="rId46"/>
    <p:sldId id="502" r:id="rId47"/>
    <p:sldId id="503" r:id="rId48"/>
    <p:sldId id="504" r:id="rId49"/>
    <p:sldId id="505" r:id="rId50"/>
    <p:sldId id="506" r:id="rId51"/>
    <p:sldId id="508" r:id="rId52"/>
    <p:sldId id="507" r:id="rId53"/>
    <p:sldId id="393" r:id="rId54"/>
    <p:sldId id="451" r:id="rId55"/>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874" y="-51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26/9/2025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25/9/2025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23</a:t>
            </a:fld>
            <a:endParaRPr lang="es-EC"/>
          </a:p>
        </p:txBody>
      </p:sp>
    </p:spTree>
    <p:extLst>
      <p:ext uri="{BB962C8B-B14F-4D97-AF65-F5344CB8AC3E}">
        <p14:creationId xmlns:p14="http://schemas.microsoft.com/office/powerpoint/2010/main" val="1000336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31</a:t>
            </a:fld>
            <a:endParaRPr lang="es-EC"/>
          </a:p>
        </p:txBody>
      </p:sp>
    </p:spTree>
    <p:extLst>
      <p:ext uri="{BB962C8B-B14F-4D97-AF65-F5344CB8AC3E}">
        <p14:creationId xmlns:p14="http://schemas.microsoft.com/office/powerpoint/2010/main" val="3759778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39</a:t>
            </a:fld>
            <a:endParaRPr lang="es-EC"/>
          </a:p>
        </p:txBody>
      </p:sp>
    </p:spTree>
    <p:extLst>
      <p:ext uri="{BB962C8B-B14F-4D97-AF65-F5344CB8AC3E}">
        <p14:creationId xmlns:p14="http://schemas.microsoft.com/office/powerpoint/2010/main" val="2799225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47</a:t>
            </a:fld>
            <a:endParaRPr lang="es-EC"/>
          </a:p>
        </p:txBody>
      </p:sp>
    </p:spTree>
    <p:extLst>
      <p:ext uri="{BB962C8B-B14F-4D97-AF65-F5344CB8AC3E}">
        <p14:creationId xmlns:p14="http://schemas.microsoft.com/office/powerpoint/2010/main" val="2281620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50</a:t>
            </a:fld>
            <a:endParaRPr lang="es-EC"/>
          </a:p>
        </p:txBody>
      </p:sp>
    </p:spTree>
    <p:extLst>
      <p:ext uri="{BB962C8B-B14F-4D97-AF65-F5344CB8AC3E}">
        <p14:creationId xmlns:p14="http://schemas.microsoft.com/office/powerpoint/2010/main" val="3859816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52</a:t>
            </a:fld>
            <a:endParaRPr lang="es-EC"/>
          </a:p>
        </p:txBody>
      </p:sp>
    </p:spTree>
    <p:extLst>
      <p:ext uri="{BB962C8B-B14F-4D97-AF65-F5344CB8AC3E}">
        <p14:creationId xmlns:p14="http://schemas.microsoft.com/office/powerpoint/2010/main" val="2519933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25/9/2025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25/9/2025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25/9/2025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25/9/2025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25/9/2025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25/9/2025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25/9/2025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25/9/2025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25/9/2025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25/9/2025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25/9/2025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25/9/2025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41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25/9/2025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rgbClr val="FF0000"/>
                </a:solidFill>
              </a:rPr>
              <a:t>Fórmulas Matemáticas</a:t>
            </a:r>
            <a:endParaRPr lang="en-US" b="1" dirty="0">
              <a:solidFill>
                <a:srgbClr val="FF0000"/>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894163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Fórmulas Matemáticas</a:t>
            </a:r>
            <a:endParaRPr lang="en-US" b="1" dirty="0"/>
          </a:p>
        </p:txBody>
      </p:sp>
      <p:sp>
        <p:nvSpPr>
          <p:cNvPr id="5" name="4 Marcador de contenido"/>
          <p:cNvSpPr>
            <a:spLocks noGrp="1"/>
          </p:cNvSpPr>
          <p:nvPr>
            <p:ph idx="1"/>
          </p:nvPr>
        </p:nvSpPr>
        <p:spPr>
          <a:xfrm>
            <a:off x="179512" y="2348880"/>
            <a:ext cx="4355976" cy="4156572"/>
          </a:xfrm>
        </p:spPr>
        <p:txBody>
          <a:bodyPr>
            <a:normAutofit fontScale="70000" lnSpcReduction="20000"/>
          </a:bodyPr>
          <a:lstStyle/>
          <a:p>
            <a:r>
              <a:rPr lang="es-ES" dirty="0"/>
              <a:t>Adicionalmente al uso de expresiones aritméticas, </a:t>
            </a:r>
            <a:r>
              <a:rPr lang="es-ES" dirty="0">
                <a:solidFill>
                  <a:srgbClr val="FF0000"/>
                </a:solidFill>
              </a:rPr>
              <a:t>el C/C++ permite estructurar fórmulas matemáticas para diferentes propósitos</a:t>
            </a:r>
            <a:r>
              <a:rPr lang="es-ES" dirty="0"/>
              <a:t> como: calcular el área de un círculo, calcular el volumen de un cilindro, calcular el tiempo de vuelo de un proyectil que sigue una trayectoria parabólica, etc. Todos estos problemas y más, se resuelven utilizando fórmulas matemáticas (Granizo, E., 2016). </a:t>
            </a:r>
            <a:r>
              <a:rPr lang="es-ES" dirty="0">
                <a:solidFill>
                  <a:srgbClr val="FF0000"/>
                </a:solidFill>
              </a:rPr>
              <a:t>El C/C++ para esto tiene una librería de funciones matemáticas que pertenecen al archivo de cabecera “</a:t>
            </a:r>
            <a:r>
              <a:rPr lang="es-ES" dirty="0" err="1">
                <a:solidFill>
                  <a:srgbClr val="FF0000"/>
                </a:solidFill>
              </a:rPr>
              <a:t>cmath</a:t>
            </a:r>
            <a:r>
              <a:rPr lang="es-ES" dirty="0">
                <a:solidFill>
                  <a:srgbClr val="FF0000"/>
                </a:solidFill>
              </a:rPr>
              <a:t>”</a:t>
            </a:r>
            <a:r>
              <a:rPr lang="es-ES" dirty="0"/>
              <a:t>. La Figura 1.25.1 muestra 5 de las ecuaciones consideradas que cambiaron el mundo (Guillen, M., 2000).</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539552" y="1700808"/>
            <a:ext cx="8003726" cy="523220"/>
          </a:xfrm>
          <a:prstGeom prst="rect">
            <a:avLst/>
          </a:prstGeom>
          <a:noFill/>
        </p:spPr>
        <p:txBody>
          <a:bodyPr wrap="square" rtlCol="0">
            <a:spAutoFit/>
          </a:bodyPr>
          <a:lstStyle/>
          <a:p>
            <a:r>
              <a:rPr lang="es-ES" sz="2800" dirty="0">
                <a:solidFill>
                  <a:schemeClr val="bg1">
                    <a:lumMod val="50000"/>
                  </a:schemeClr>
                </a:solidFill>
              </a:rPr>
              <a:t>Archivo de Cabecera </a:t>
            </a:r>
            <a:r>
              <a:rPr lang="es-ES" sz="2800" dirty="0" err="1">
                <a:solidFill>
                  <a:schemeClr val="bg1">
                    <a:lumMod val="50000"/>
                  </a:schemeClr>
                </a:solidFill>
              </a:rPr>
              <a:t>cmath</a:t>
            </a:r>
            <a:endParaRPr lang="es-EC" sz="2800" dirty="0">
              <a:solidFill>
                <a:schemeClr val="bg1">
                  <a:lumMod val="50000"/>
                </a:schemeClr>
              </a:solidFill>
            </a:endParaRPr>
          </a:p>
        </p:txBody>
      </p:sp>
      <p:sp>
        <p:nvSpPr>
          <p:cNvPr id="9" name="12 CuadroTexto"/>
          <p:cNvSpPr txBox="1"/>
          <p:nvPr/>
        </p:nvSpPr>
        <p:spPr>
          <a:xfrm>
            <a:off x="4749277" y="4926717"/>
            <a:ext cx="4355976"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Figura 1.25.1. </a:t>
            </a:r>
            <a:r>
              <a:rPr lang="es-ES" sz="1200" dirty="0">
                <a:solidFill>
                  <a:schemeClr val="tx1">
                    <a:lumMod val="50000"/>
                    <a:lumOff val="50000"/>
                  </a:schemeClr>
                </a:solidFill>
                <a:latin typeface="+mj-lt"/>
              </a:rPr>
              <a:t>Cinco ecuaciones que cambiaron el mundo (Guillen, M., 2000).</a:t>
            </a:r>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998E8582-B340-BFEA-E77C-C946D844C315}"/>
              </a:ext>
            </a:extLst>
          </p:cNvPr>
          <p:cNvPicPr>
            <a:picLocks noChangeAspect="1"/>
          </p:cNvPicPr>
          <p:nvPr/>
        </p:nvPicPr>
        <p:blipFill>
          <a:blip r:embed="rId2"/>
          <a:stretch>
            <a:fillRect/>
          </a:stretch>
        </p:blipFill>
        <p:spPr>
          <a:xfrm>
            <a:off x="4546012" y="2635754"/>
            <a:ext cx="4571999" cy="2153994"/>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rgbClr val="FF0000"/>
                </a:solidFill>
              </a:rPr>
              <a:t>Funciones de la Librería “</a:t>
            </a:r>
            <a:r>
              <a:rPr lang="es-ES" b="1" dirty="0" err="1">
                <a:solidFill>
                  <a:srgbClr val="FF0000"/>
                </a:solidFill>
              </a:rPr>
              <a:t>cmath</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spTree>
    <p:extLst>
      <p:ext uri="{BB962C8B-B14F-4D97-AF65-F5344CB8AC3E}">
        <p14:creationId xmlns:p14="http://schemas.microsoft.com/office/powerpoint/2010/main" val="335715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Fórmulas Matemáticas</a:t>
            </a:r>
            <a:endParaRPr lang="en-US" b="1" dirty="0"/>
          </a:p>
        </p:txBody>
      </p:sp>
      <p:sp>
        <p:nvSpPr>
          <p:cNvPr id="5" name="4 Marcador de contenido"/>
          <p:cNvSpPr>
            <a:spLocks noGrp="1"/>
          </p:cNvSpPr>
          <p:nvPr>
            <p:ph idx="1"/>
          </p:nvPr>
        </p:nvSpPr>
        <p:spPr>
          <a:xfrm>
            <a:off x="179512" y="2348879"/>
            <a:ext cx="3985910" cy="4372595"/>
          </a:xfrm>
        </p:spPr>
        <p:txBody>
          <a:bodyPr>
            <a:normAutofit fontScale="70000" lnSpcReduction="20000"/>
          </a:bodyPr>
          <a:lstStyle/>
          <a:p>
            <a:r>
              <a:rPr lang="es-ES" dirty="0"/>
              <a:t>Como se mencionó en la sección 1.2.1, </a:t>
            </a:r>
            <a:r>
              <a:rPr lang="es-ES" dirty="0">
                <a:solidFill>
                  <a:srgbClr val="FF0000"/>
                </a:solidFill>
              </a:rPr>
              <a:t>la librería “</a:t>
            </a:r>
            <a:r>
              <a:rPr lang="es-ES" dirty="0" err="1">
                <a:solidFill>
                  <a:srgbClr val="FF0000"/>
                </a:solidFill>
              </a:rPr>
              <a:t>cmath</a:t>
            </a:r>
            <a:r>
              <a:rPr lang="es-ES" dirty="0">
                <a:solidFill>
                  <a:srgbClr val="FF0000"/>
                </a:solidFill>
              </a:rPr>
              <a:t>” es un alias de “</a:t>
            </a:r>
            <a:r>
              <a:rPr lang="es-ES" dirty="0" err="1">
                <a:solidFill>
                  <a:srgbClr val="FF0000"/>
                </a:solidFill>
              </a:rPr>
              <a:t>math.h</a:t>
            </a:r>
            <a:r>
              <a:rPr lang="es-ES" dirty="0">
                <a:solidFill>
                  <a:srgbClr val="FF0000"/>
                </a:solidFill>
              </a:rPr>
              <a:t>”</a:t>
            </a:r>
            <a:r>
              <a:rPr lang="es-ES" dirty="0"/>
              <a:t> o la Librería de Encabezado de Funciones Matemáticas (</a:t>
            </a:r>
            <a:r>
              <a:rPr lang="es-ES" dirty="0" err="1"/>
              <a:t>Math</a:t>
            </a:r>
            <a:r>
              <a:rPr lang="es-ES" dirty="0"/>
              <a:t> Library </a:t>
            </a:r>
            <a:r>
              <a:rPr lang="es-ES" dirty="0" err="1"/>
              <a:t>Header</a:t>
            </a:r>
            <a:r>
              <a:rPr lang="es-ES" dirty="0"/>
              <a:t>), que es una </a:t>
            </a:r>
            <a:r>
              <a:rPr lang="es-ES" dirty="0">
                <a:solidFill>
                  <a:srgbClr val="FF0000"/>
                </a:solidFill>
              </a:rPr>
              <a:t>librería que tiene funciones para realizar operaciones matemáticas básicas</a:t>
            </a:r>
            <a:r>
              <a:rPr lang="es-ES" dirty="0"/>
              <a:t>, tales como: funciones trigonométricas, funciones exponenciales, funciones logarítmicas, funciones para calcular la raíz cuadrada, funciones para calcular el valor absoluto de un número, etc., (Luna, F., 2004). La Tabla 1.10 resume algunas de las funciones matemáticas más comúnmente utilizadas:</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
        <p:nvSpPr>
          <p:cNvPr id="8" name="7 CuadroTexto"/>
          <p:cNvSpPr txBox="1"/>
          <p:nvPr/>
        </p:nvSpPr>
        <p:spPr>
          <a:xfrm>
            <a:off x="539552" y="1700808"/>
            <a:ext cx="8003726" cy="523220"/>
          </a:xfrm>
          <a:prstGeom prst="rect">
            <a:avLst/>
          </a:prstGeom>
          <a:noFill/>
        </p:spPr>
        <p:txBody>
          <a:bodyPr wrap="square" rtlCol="0">
            <a:spAutoFit/>
          </a:bodyPr>
          <a:lstStyle/>
          <a:p>
            <a:r>
              <a:rPr lang="es-ES" sz="2800" dirty="0">
                <a:solidFill>
                  <a:schemeClr val="bg1">
                    <a:lumMod val="50000"/>
                  </a:schemeClr>
                </a:solidFill>
              </a:rPr>
              <a:t>Funciones de la Librería </a:t>
            </a:r>
            <a:r>
              <a:rPr lang="es-ES" sz="2800" dirty="0" err="1">
                <a:solidFill>
                  <a:schemeClr val="bg1">
                    <a:lumMod val="50000"/>
                  </a:schemeClr>
                </a:solidFill>
              </a:rPr>
              <a:t>cmath</a:t>
            </a:r>
            <a:endParaRPr lang="es-EC" sz="2800" dirty="0">
              <a:solidFill>
                <a:schemeClr val="bg1">
                  <a:lumMod val="50000"/>
                </a:schemeClr>
              </a:solidFill>
            </a:endParaRPr>
          </a:p>
        </p:txBody>
      </p:sp>
      <p:sp>
        <p:nvSpPr>
          <p:cNvPr id="9" name="12 CuadroTexto"/>
          <p:cNvSpPr txBox="1"/>
          <p:nvPr/>
        </p:nvSpPr>
        <p:spPr>
          <a:xfrm>
            <a:off x="4259378" y="2852936"/>
            <a:ext cx="4705110"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Tabla 1.10. </a:t>
            </a:r>
            <a:r>
              <a:rPr lang="es-ES" sz="1200" dirty="0">
                <a:solidFill>
                  <a:schemeClr val="tx1">
                    <a:lumMod val="50000"/>
                    <a:lumOff val="50000"/>
                  </a:schemeClr>
                </a:solidFill>
                <a:latin typeface="+mj-lt"/>
              </a:rPr>
              <a:t>Algunas de las Funciones Matemáticas de la Librería “</a:t>
            </a:r>
            <a:r>
              <a:rPr lang="es-ES" sz="1200" dirty="0" err="1">
                <a:solidFill>
                  <a:schemeClr val="tx1">
                    <a:lumMod val="50000"/>
                    <a:lumOff val="50000"/>
                  </a:schemeClr>
                </a:solidFill>
                <a:latin typeface="+mj-lt"/>
              </a:rPr>
              <a:t>cmath</a:t>
            </a:r>
            <a:r>
              <a:rPr lang="es-ES" sz="1200" dirty="0">
                <a:solidFill>
                  <a:schemeClr val="tx1">
                    <a:lumMod val="50000"/>
                    <a:lumOff val="50000"/>
                  </a:schemeClr>
                </a:solidFill>
                <a:latin typeface="+mj-lt"/>
              </a:rPr>
              <a:t>”.</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8116CF1A-1960-5047-6B41-F11DE2B73831}"/>
              </a:ext>
            </a:extLst>
          </p:cNvPr>
          <p:cNvPicPr>
            <a:picLocks noChangeAspect="1"/>
          </p:cNvPicPr>
          <p:nvPr/>
        </p:nvPicPr>
        <p:blipFill>
          <a:blip r:embed="rId2"/>
          <a:stretch>
            <a:fillRect/>
          </a:stretch>
        </p:blipFill>
        <p:spPr>
          <a:xfrm>
            <a:off x="4259378" y="3299592"/>
            <a:ext cx="4705110" cy="2545311"/>
          </a:xfrm>
          <a:prstGeom prst="rect">
            <a:avLst/>
          </a:prstGeom>
        </p:spPr>
      </p:pic>
    </p:spTree>
    <p:extLst>
      <p:ext uri="{BB962C8B-B14F-4D97-AF65-F5344CB8AC3E}">
        <p14:creationId xmlns:p14="http://schemas.microsoft.com/office/powerpoint/2010/main" val="1509497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Fórmulas Matemáticas</a:t>
            </a:r>
            <a:endParaRPr lang="en-US" b="1" dirty="0"/>
          </a:p>
        </p:txBody>
      </p:sp>
      <mc:AlternateContent xmlns:mc="http://schemas.openxmlformats.org/markup-compatibility/2006" xmlns:a14="http://schemas.microsoft.com/office/drawing/2010/main">
        <mc:Choice Requires="a14">
          <p:sp>
            <p:nvSpPr>
              <p:cNvPr id="5" name="4 Marcador de contenido"/>
              <p:cNvSpPr>
                <a:spLocks noGrp="1"/>
              </p:cNvSpPr>
              <p:nvPr>
                <p:ph idx="1"/>
              </p:nvPr>
            </p:nvSpPr>
            <p:spPr>
              <a:xfrm>
                <a:off x="179512" y="2348879"/>
                <a:ext cx="4190880" cy="4372595"/>
              </a:xfrm>
            </p:spPr>
            <p:txBody>
              <a:bodyPr>
                <a:normAutofit fontScale="77500" lnSpcReduction="20000"/>
              </a:bodyPr>
              <a:lstStyle/>
              <a:p>
                <a:pPr algn="just">
                  <a:lnSpc>
                    <a:spcPct val="115000"/>
                  </a:lnSpc>
                  <a:spcBef>
                    <a:spcPts val="0"/>
                  </a:spcBef>
                </a:pPr>
                <a:r>
                  <a:rPr lang="es-EC" sz="1800" dirty="0">
                    <a:solidFill>
                      <a:srgbClr val="FF0000"/>
                    </a:solidFill>
                    <a:effectLst/>
                    <a:ea typeface="Calibri" panose="020F0502020204030204" pitchFamily="34" charset="0"/>
                    <a:cs typeface="Times New Roman" panose="02020603050405020304" pitchFamily="18" charset="0"/>
                  </a:rPr>
                  <a:t>Las funciones trigonométricas sólo trabajan con radianes y no </a:t>
                </a:r>
                <a:r>
                  <a:rPr lang="es-EC" sz="1800" dirty="0">
                    <a:solidFill>
                      <a:srgbClr val="FF0000"/>
                    </a:solidFill>
                    <a:ea typeface="Calibri" panose="020F0502020204030204" pitchFamily="34" charset="0"/>
                    <a:cs typeface="Times New Roman" panose="02020603050405020304" pitchFamily="18" charset="0"/>
                  </a:rPr>
                  <a:t>con grados </a:t>
                </a:r>
                <a:r>
                  <a:rPr lang="es-EC" sz="1800" dirty="0">
                    <a:solidFill>
                      <a:schemeClr val="bg1">
                        <a:lumMod val="50000"/>
                      </a:schemeClr>
                    </a:solidFill>
                    <a:ea typeface="Calibri" panose="020F0502020204030204" pitchFamily="34" charset="0"/>
                    <a:cs typeface="Times New Roman" panose="02020603050405020304" pitchFamily="18" charset="0"/>
                  </a:rPr>
                  <a:t>(ver Figura 1.25.2)</a:t>
                </a:r>
                <a:r>
                  <a:rPr lang="es-EC" sz="1800" dirty="0">
                    <a:solidFill>
                      <a:schemeClr val="bg1">
                        <a:lumMod val="50000"/>
                      </a:schemeClr>
                    </a:solidFill>
                    <a:effectLst/>
                    <a:ea typeface="Calibri" panose="020F0502020204030204" pitchFamily="34" charset="0"/>
                    <a:cs typeface="Times New Roman" panose="02020603050405020304" pitchFamily="18" charset="0"/>
                  </a:rPr>
                  <a:t>. </a:t>
                </a:r>
                <a:r>
                  <a:rPr lang="es-EC" sz="1800" dirty="0">
                    <a:effectLst/>
                    <a:ea typeface="Calibri" panose="020F0502020204030204" pitchFamily="34" charset="0"/>
                    <a:cs typeface="Times New Roman" panose="02020603050405020304" pitchFamily="18" charset="0"/>
                  </a:rPr>
                  <a:t>Un número “x</a:t>
                </a:r>
                <a:r>
                  <a:rPr lang="es-EC" sz="1800" dirty="0">
                    <a:ea typeface="Calibri" panose="020F0502020204030204" pitchFamily="34" charset="0"/>
                    <a:cs typeface="Times New Roman" panose="02020603050405020304" pitchFamily="18" charset="0"/>
                  </a:rPr>
                  <a:t>”</a:t>
                </a:r>
                <a:r>
                  <a:rPr lang="es-EC" sz="1800" dirty="0">
                    <a:effectLst/>
                    <a:ea typeface="Calibri" panose="020F0502020204030204" pitchFamily="34" charset="0"/>
                    <a:cs typeface="Times New Roman" panose="02020603050405020304" pitchFamily="18" charset="0"/>
                  </a:rPr>
                  <a:t> puede ser convertido des grados a radianes multiplicando ese valor por</a:t>
                </a:r>
                <a:r>
                  <a:rPr lang="es-EC" sz="1800" dirty="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Arial" panose="020B0604020202020204" pitchFamily="34" charset="0"/>
                          </a:rPr>
                        </m:ctrlPr>
                      </m:sSupPr>
                      <m:e>
                        <m:r>
                          <a:rPr lang="es-EC" sz="1800" i="1">
                            <a:effectLst/>
                            <a:latin typeface="Cambria Math" panose="02040503050406030204" pitchFamily="18" charset="0"/>
                            <a:ea typeface="Calibri" panose="020F0502020204030204" pitchFamily="34" charset="0"/>
                            <a:cs typeface="Arial" panose="020B0604020202020204" pitchFamily="34" charset="0"/>
                          </a:rPr>
                          <m:t>𝜋</m:t>
                        </m:r>
                        <m:r>
                          <a:rPr lang="es-EC" sz="1800" i="1">
                            <a:effectLst/>
                            <a:latin typeface="Cambria Math" panose="02040503050406030204" pitchFamily="18" charset="0"/>
                            <a:ea typeface="Calibri" panose="020F0502020204030204" pitchFamily="34" charset="0"/>
                            <a:cs typeface="Arial" panose="020B0604020202020204" pitchFamily="34" charset="0"/>
                          </a:rPr>
                          <m:t>/180</m:t>
                        </m:r>
                      </m:e>
                      <m:sup>
                        <m:r>
                          <a:rPr lang="es-EC" sz="1800" i="1">
                            <a:effectLst/>
                            <a:latin typeface="Cambria Math" panose="02040503050406030204" pitchFamily="18" charset="0"/>
                            <a:ea typeface="Calibri" panose="020F0502020204030204" pitchFamily="34" charset="0"/>
                            <a:cs typeface="Arial" panose="020B0604020202020204" pitchFamily="34" charset="0"/>
                          </a:rPr>
                          <m:t>𝑜</m:t>
                        </m:r>
                      </m:sup>
                    </m:sSup>
                  </m:oMath>
                </a14:m>
                <a:r>
                  <a:rPr lang="es-EC" sz="1800" dirty="0">
                    <a:effectLst/>
                    <a:latin typeface="Arial" panose="020B0604020202020204" pitchFamily="34" charset="0"/>
                    <a:ea typeface="Times New Roman" panose="02020603050405020304" pitchFamily="18" charset="0"/>
                    <a:cs typeface="Times New Roman" panose="02020603050405020304" pitchFamily="18" charset="0"/>
                  </a:rPr>
                  <a:t>. </a:t>
                </a:r>
                <a:r>
                  <a:rPr lang="es-EC" sz="1800" dirty="0">
                    <a:effectLst/>
                    <a:ea typeface="Times New Roman" panose="02020603050405020304" pitchFamily="18" charset="0"/>
                    <a:cs typeface="Times New Roman" panose="02020603050405020304" pitchFamily="18" charset="0"/>
                  </a:rPr>
                  <a:t>Así mismo, </a:t>
                </a:r>
                <a:r>
                  <a:rPr lang="es-EC" sz="1800" dirty="0">
                    <a:solidFill>
                      <a:srgbClr val="FF0000"/>
                    </a:solidFill>
                    <a:effectLst/>
                    <a:ea typeface="Times New Roman" panose="02020603050405020304" pitchFamily="18" charset="0"/>
                    <a:cs typeface="Times New Roman" panose="02020603050405020304" pitchFamily="18" charset="0"/>
                  </a:rPr>
                  <a:t>un número “x</a:t>
                </a:r>
                <a:r>
                  <a:rPr lang="es-EC" sz="1800" dirty="0">
                    <a:solidFill>
                      <a:srgbClr val="FF0000"/>
                    </a:solidFill>
                    <a:ea typeface="Times New Roman" panose="02020603050405020304" pitchFamily="18" charset="0"/>
                    <a:cs typeface="Times New Roman" panose="02020603050405020304" pitchFamily="18" charset="0"/>
                  </a:rPr>
                  <a:t>”</a:t>
                </a:r>
                <a:r>
                  <a:rPr lang="es-EC" sz="1800" dirty="0">
                    <a:solidFill>
                      <a:srgbClr val="FF0000"/>
                    </a:solidFill>
                    <a:effectLst/>
                    <a:ea typeface="Times New Roman" panose="02020603050405020304" pitchFamily="18" charset="0"/>
                    <a:cs typeface="Times New Roman" panose="02020603050405020304" pitchFamily="18" charset="0"/>
                  </a:rPr>
                  <a:t> puede ser convertido de radianes a grados multiplicando ese valor por</a:t>
                </a:r>
                <a:r>
                  <a:rPr lang="es-EC" sz="180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a:solidFill>
                              <a:srgbClr val="FF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s-EC" sz="1800" i="1">
                            <a:solidFill>
                              <a:srgbClr val="FF0000"/>
                            </a:solidFill>
                            <a:effectLst/>
                            <a:latin typeface="Cambria Math" panose="02040503050406030204" pitchFamily="18" charset="0"/>
                            <a:ea typeface="Times New Roman" panose="02020603050405020304" pitchFamily="18" charset="0"/>
                            <a:cs typeface="Arial" panose="020B0604020202020204" pitchFamily="34" charset="0"/>
                          </a:rPr>
                          <m:t>180</m:t>
                        </m:r>
                      </m:e>
                      <m:sup>
                        <m:r>
                          <a:rPr lang="es-EC" sz="1800" i="1">
                            <a:solidFill>
                              <a:srgbClr val="FF0000"/>
                            </a:solidFill>
                            <a:effectLst/>
                            <a:latin typeface="Cambria Math" panose="02040503050406030204" pitchFamily="18" charset="0"/>
                            <a:ea typeface="Times New Roman" panose="02020603050405020304" pitchFamily="18" charset="0"/>
                            <a:cs typeface="Arial" panose="020B0604020202020204" pitchFamily="34" charset="0"/>
                          </a:rPr>
                          <m:t>𝑜</m:t>
                        </m:r>
                      </m:sup>
                    </m:sSup>
                    <m:r>
                      <a:rPr lang="es-EC" sz="1800">
                        <a:solidFill>
                          <a:srgbClr val="FF0000"/>
                        </a:solidFill>
                        <a:effectLst/>
                        <a:latin typeface="Cambria Math" panose="02040503050406030204" pitchFamily="18" charset="0"/>
                        <a:ea typeface="Times New Roman" panose="02020603050405020304" pitchFamily="18" charset="0"/>
                        <a:cs typeface="Arial" panose="020B0604020202020204" pitchFamily="34" charset="0"/>
                      </a:rPr>
                      <m:t>/</m:t>
                    </m:r>
                    <m:r>
                      <a:rPr lang="es-EC" sz="1800" i="1">
                        <a:solidFill>
                          <a:srgbClr val="FF0000"/>
                        </a:solidFill>
                        <a:effectLst/>
                        <a:latin typeface="Cambria Math" panose="02040503050406030204" pitchFamily="18" charset="0"/>
                        <a:ea typeface="Calibri" panose="020F0502020204030204" pitchFamily="34" charset="0"/>
                        <a:cs typeface="Arial" panose="020B0604020202020204" pitchFamily="34" charset="0"/>
                      </a:rPr>
                      <m:t>𝜋</m:t>
                    </m:r>
                  </m:oMath>
                </a14:m>
                <a:r>
                  <a:rPr lang="es-EC" sz="1800" dirty="0">
                    <a:effectLst/>
                    <a:latin typeface="Arial" panose="020B0604020202020204" pitchFamily="34" charset="0"/>
                    <a:ea typeface="Times New Roman" panose="02020603050405020304" pitchFamily="18" charset="0"/>
                    <a:cs typeface="Times New Roman" panose="02020603050405020304" pitchFamily="18" charset="0"/>
                  </a:rPr>
                  <a:t>. </a:t>
                </a:r>
                <a:r>
                  <a:rPr lang="es-EC" sz="1800" dirty="0">
                    <a:effectLst/>
                    <a:ea typeface="Times New Roman" panose="02020603050405020304" pitchFamily="18" charset="0"/>
                    <a:cs typeface="Times New Roman" panose="02020603050405020304" pitchFamily="18" charset="0"/>
                  </a:rPr>
                  <a:t>Por ejemplo: </a:t>
                </a:r>
                <a14:m>
                  <m:oMath xmlns:m="http://schemas.openxmlformats.org/officeDocument/2006/math">
                    <m:sSup>
                      <m:sSupPr>
                        <m:ctrlPr>
                          <a:rPr lang="en-US" sz="1900" i="1">
                            <a:latin typeface="Cambria Math" panose="02040503050406030204" pitchFamily="18" charset="0"/>
                            <a:ea typeface="Cambria Math" panose="02040503050406030204" pitchFamily="18" charset="0"/>
                          </a:rPr>
                        </m:ctrlPr>
                      </m:sSupPr>
                      <m:e>
                        <m:sSup>
                          <m:sSupPr>
                            <m:ctrlPr>
                              <a:rPr lang="en-US" sz="1900" i="1">
                                <a:latin typeface="Cambria Math" panose="02040503050406030204" pitchFamily="18" charset="0"/>
                                <a:ea typeface="Cambria Math" panose="02040503050406030204" pitchFamily="18" charset="0"/>
                              </a:rPr>
                            </m:ctrlPr>
                          </m:sSupPr>
                          <m:e>
                            <m:sSup>
                              <m:sSupPr>
                                <m:ctrlPr>
                                  <a:rPr lang="en-US" sz="1900" i="1">
                                    <a:latin typeface="Cambria Math" panose="02040503050406030204" pitchFamily="18" charset="0"/>
                                    <a:ea typeface="Cambria Math" panose="02040503050406030204" pitchFamily="18" charset="0"/>
                                  </a:rPr>
                                </m:ctrlPr>
                              </m:sSupPr>
                              <m:e>
                                <m:r>
                                  <a:rPr lang="es-EC" sz="1900" i="1">
                                    <a:latin typeface="Cambria Math" panose="02040503050406030204" pitchFamily="18" charset="0"/>
                                    <a:ea typeface="Cambria Math" panose="02040503050406030204" pitchFamily="18" charset="0"/>
                                  </a:rPr>
                                  <m:t>360</m:t>
                                </m:r>
                              </m:e>
                              <m:sup>
                                <m:r>
                                  <a:rPr lang="es-EC" sz="1900" i="1">
                                    <a:latin typeface="Cambria Math" panose="02040503050406030204" pitchFamily="18" charset="0"/>
                                    <a:ea typeface="Cambria Math" panose="02040503050406030204" pitchFamily="18" charset="0"/>
                                  </a:rPr>
                                  <m:t>𝑜</m:t>
                                </m:r>
                              </m:sup>
                            </m:sSup>
                            <m:r>
                              <a:rPr lang="es-EC" sz="1900" i="1">
                                <a:latin typeface="Cambria Math" panose="02040503050406030204" pitchFamily="18" charset="0"/>
                                <a:ea typeface="Cambria Math" panose="02040503050406030204" pitchFamily="18" charset="0"/>
                              </a:rPr>
                              <m:t>=360</m:t>
                            </m:r>
                          </m:e>
                          <m:sup>
                            <m:r>
                              <a:rPr lang="es-EC" sz="1900" i="1">
                                <a:latin typeface="Cambria Math" panose="02040503050406030204" pitchFamily="18" charset="0"/>
                                <a:ea typeface="Cambria Math" panose="02040503050406030204" pitchFamily="18" charset="0"/>
                              </a:rPr>
                              <m:t>𝑜</m:t>
                            </m:r>
                          </m:sup>
                        </m:sSup>
                        <m:r>
                          <a:rPr lang="es-EC" sz="1900" i="1">
                            <a:latin typeface="Cambria Math" panose="02040503050406030204" pitchFamily="18" charset="0"/>
                            <a:ea typeface="Cambria Math" panose="02040503050406030204" pitchFamily="18" charset="0"/>
                          </a:rPr>
                          <m:t>×</m:t>
                        </m:r>
                        <m:r>
                          <a:rPr lang="es-EC" sz="1900" i="1">
                            <a:latin typeface="Cambria Math" panose="02040503050406030204" pitchFamily="18" charset="0"/>
                            <a:ea typeface="Cambria Math" panose="02040503050406030204" pitchFamily="18" charset="0"/>
                          </a:rPr>
                          <m:t>𝜋</m:t>
                        </m:r>
                        <m:r>
                          <a:rPr lang="es-EC" sz="1900" i="1">
                            <a:latin typeface="Cambria Math" panose="02040503050406030204" pitchFamily="18" charset="0"/>
                            <a:ea typeface="Cambria Math" panose="02040503050406030204" pitchFamily="18" charset="0"/>
                          </a:rPr>
                          <m:t>/180</m:t>
                        </m:r>
                      </m:e>
                      <m:sup>
                        <m:r>
                          <a:rPr lang="es-EC" sz="1900" i="1">
                            <a:latin typeface="Cambria Math" panose="02040503050406030204" pitchFamily="18" charset="0"/>
                            <a:ea typeface="Cambria Math" panose="02040503050406030204" pitchFamily="18" charset="0"/>
                          </a:rPr>
                          <m:t>𝑜</m:t>
                        </m:r>
                      </m:sup>
                    </m:sSup>
                    <m:r>
                      <a:rPr lang="es-EC" sz="1900" i="1">
                        <a:latin typeface="Cambria Math" panose="02040503050406030204" pitchFamily="18" charset="0"/>
                        <a:ea typeface="Cambria Math" panose="02040503050406030204" pitchFamily="18" charset="0"/>
                      </a:rPr>
                      <m:t>=2</m:t>
                    </m:r>
                    <m:r>
                      <a:rPr lang="es-EC" sz="1900" i="1">
                        <a:latin typeface="Cambria Math" panose="02040503050406030204" pitchFamily="18" charset="0"/>
                        <a:ea typeface="Cambria Math" panose="02040503050406030204" pitchFamily="18" charset="0"/>
                      </a:rPr>
                      <m:t>𝜋</m:t>
                    </m:r>
                    <m:r>
                      <a:rPr lang="es-EC" sz="1900" i="1">
                        <a:effectLst/>
                        <a:latin typeface="Cambria Math" panose="02040503050406030204" pitchFamily="18" charset="0"/>
                        <a:ea typeface="Calibri" panose="020F0502020204030204" pitchFamily="34" charset="0"/>
                        <a:cs typeface="Arial" panose="020B0604020202020204" pitchFamily="34" charset="0"/>
                      </a:rPr>
                      <m:t>.</m:t>
                    </m:r>
                  </m:oMath>
                </a14:m>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algn="just">
                  <a:lnSpc>
                    <a:spcPct val="115000"/>
                  </a:lnSpc>
                  <a:spcBef>
                    <a:spcPts val="0"/>
                  </a:spcBef>
                  <a:spcAft>
                    <a:spcPts val="0"/>
                  </a:spcAft>
                </a:pPr>
                <a:r>
                  <a:rPr lang="es-EC" sz="1800" dirty="0">
                    <a:solidFill>
                      <a:srgbClr val="FF0000"/>
                    </a:solidFill>
                    <a:effectLst/>
                    <a:ea typeface="Calibri" panose="020F0502020204030204" pitchFamily="34" charset="0"/>
                    <a:cs typeface="Times New Roman" panose="02020603050405020304" pitchFamily="18" charset="0"/>
                  </a:rPr>
                  <a:t>Las funciones mencionadas anteriormente trabajan con flotantes de doble precisión </a:t>
                </a:r>
                <a:r>
                  <a:rPr lang="es-EC" sz="1800" i="1" dirty="0">
                    <a:solidFill>
                      <a:srgbClr val="FF0000"/>
                    </a:solidFill>
                    <a:effectLst/>
                    <a:ea typeface="Calibri" panose="020F0502020204030204" pitchFamily="34" charset="0"/>
                    <a:cs typeface="Times New Roman" panose="02020603050405020304" pitchFamily="18" charset="0"/>
                  </a:rPr>
                  <a:t>(</a:t>
                </a:r>
                <a:r>
                  <a:rPr lang="es-EC" sz="1800" i="1" dirty="0" err="1">
                    <a:solidFill>
                      <a:srgbClr val="FF0000"/>
                    </a:solidFill>
                    <a:effectLst/>
                    <a:ea typeface="Calibri" panose="020F0502020204030204" pitchFamily="34" charset="0"/>
                    <a:cs typeface="Times New Roman" panose="02020603050405020304" pitchFamily="18" charset="0"/>
                  </a:rPr>
                  <a:t>double</a:t>
                </a:r>
                <a:r>
                  <a:rPr lang="es-EC" sz="1800" i="1" dirty="0">
                    <a:solidFill>
                      <a:srgbClr val="FF0000"/>
                    </a:solidFill>
                    <a:effectLst/>
                    <a:ea typeface="Calibri" panose="020F0502020204030204" pitchFamily="34" charset="0"/>
                    <a:cs typeface="Times New Roman" panose="02020603050405020304" pitchFamily="18" charset="0"/>
                  </a:rPr>
                  <a:t>)</a:t>
                </a:r>
                <a:r>
                  <a:rPr lang="es-EC" sz="1800" dirty="0">
                    <a:effectLst/>
                    <a:ea typeface="Calibri" panose="020F0502020204030204" pitchFamily="34" charset="0"/>
                    <a:cs typeface="Times New Roman" panose="02020603050405020304" pitchFamily="18" charset="0"/>
                  </a:rPr>
                  <a:t>. En el mundo real, el tipo de dato más utilizado en la mayor parte de las aplicaciones científicas y matemáticas es el </a:t>
                </a:r>
                <a:r>
                  <a:rPr lang="es-EC" sz="1800" i="1" dirty="0" err="1">
                    <a:effectLst/>
                    <a:ea typeface="Calibri" panose="020F0502020204030204" pitchFamily="34" charset="0"/>
                    <a:cs typeface="Times New Roman" panose="02020603050405020304" pitchFamily="18" charset="0"/>
                  </a:rPr>
                  <a:t>float</a:t>
                </a:r>
                <a:r>
                  <a:rPr lang="es-EC" sz="1800" i="1" dirty="0">
                    <a:effectLst/>
                    <a:ea typeface="Calibri" panose="020F0502020204030204" pitchFamily="34" charset="0"/>
                    <a:cs typeface="Times New Roman" panose="02020603050405020304" pitchFamily="18" charset="0"/>
                  </a:rPr>
                  <a:t> (flotante)</a:t>
                </a:r>
                <a:r>
                  <a:rPr lang="es-EC" sz="1800" dirty="0">
                    <a:effectLst/>
                    <a:ea typeface="Calibri" panose="020F0502020204030204" pitchFamily="34" charset="0"/>
                    <a:cs typeface="Times New Roman" panose="02020603050405020304" pitchFamily="18" charset="0"/>
                  </a:rPr>
                  <a:t>, por lo que si se quiere trabajar con estas funciones es necesario realizar conversiones de tipos de datos implícitas.</a:t>
                </a:r>
                <a:endParaRPr lang="en-US" sz="1800" dirty="0">
                  <a:effectLst/>
                  <a:ea typeface="Calibri" panose="020F0502020204030204" pitchFamily="34" charset="0"/>
                  <a:cs typeface="Times New Roman" panose="02020603050405020304" pitchFamily="18" charset="0"/>
                </a:endParaRPr>
              </a:p>
            </p:txBody>
          </p:sp>
        </mc:Choice>
        <mc:Fallback xmlns="">
          <p:sp>
            <p:nvSpPr>
              <p:cNvPr id="5" name="4 Marcador de contenido"/>
              <p:cNvSpPr>
                <a:spLocks noGrp="1" noRot="1" noChangeAspect="1" noMove="1" noResize="1" noEditPoints="1" noAdjustHandles="1" noChangeArrowheads="1" noChangeShapeType="1" noTextEdit="1"/>
              </p:cNvSpPr>
              <p:nvPr>
                <p:ph idx="1"/>
              </p:nvPr>
            </p:nvSpPr>
            <p:spPr>
              <a:xfrm>
                <a:off x="179512" y="2348879"/>
                <a:ext cx="4190880" cy="4372595"/>
              </a:xfrm>
              <a:blipFill>
                <a:blip r:embed="rId2"/>
                <a:stretch>
                  <a:fillRect l="-145" t="-418" r="-291"/>
                </a:stretch>
              </a:blipFill>
            </p:spPr>
            <p:txBody>
              <a:bodyPr/>
              <a:lstStyle/>
              <a:p>
                <a:r>
                  <a:rPr lang="en-US">
                    <a:noFill/>
                  </a:rPr>
                  <a:t> </a:t>
                </a:r>
              </a:p>
            </p:txBody>
          </p:sp>
        </mc:Fallback>
      </mc:AlternateContent>
      <p:sp>
        <p:nvSpPr>
          <p:cNvPr id="3" name="2 Marcador de fecha"/>
          <p:cNvSpPr>
            <a:spLocks noGrp="1"/>
          </p:cNvSpPr>
          <p:nvPr>
            <p:ph type="dt" sz="half" idx="10"/>
          </p:nvPr>
        </p:nvSpPr>
        <p:spPr/>
        <p:txBody>
          <a:bodyPr/>
          <a:lstStyle/>
          <a:p>
            <a:fld id="{44C3288D-7DAC-4DD2-9022-6C6BA4238517}" type="datetime1">
              <a:rPr lang="es-EC" smtClean="0"/>
              <a:t>25/9/2025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
        <p:nvSpPr>
          <p:cNvPr id="8" name="7 CuadroTexto"/>
          <p:cNvSpPr txBox="1"/>
          <p:nvPr/>
        </p:nvSpPr>
        <p:spPr>
          <a:xfrm>
            <a:off x="179512" y="1700808"/>
            <a:ext cx="8003726" cy="523220"/>
          </a:xfrm>
          <a:prstGeom prst="rect">
            <a:avLst/>
          </a:prstGeom>
          <a:noFill/>
        </p:spPr>
        <p:txBody>
          <a:bodyPr wrap="square" rtlCol="0">
            <a:spAutoFit/>
          </a:bodyPr>
          <a:lstStyle/>
          <a:p>
            <a:r>
              <a:rPr lang="es-ES" sz="2800" dirty="0">
                <a:solidFill>
                  <a:schemeClr val="bg1">
                    <a:lumMod val="50000"/>
                  </a:schemeClr>
                </a:solidFill>
              </a:rPr>
              <a:t>Funciones Trigonométricas de la Librería </a:t>
            </a:r>
            <a:r>
              <a:rPr lang="es-ES" sz="2800" dirty="0" err="1">
                <a:solidFill>
                  <a:schemeClr val="bg1">
                    <a:lumMod val="50000"/>
                  </a:schemeClr>
                </a:solidFill>
              </a:rPr>
              <a:t>cmath</a:t>
            </a:r>
            <a:endParaRPr lang="es-EC" sz="2800" dirty="0">
              <a:solidFill>
                <a:schemeClr val="bg1">
                  <a:lumMod val="50000"/>
                </a:schemeClr>
              </a:solidFill>
            </a:endParaRPr>
          </a:p>
        </p:txBody>
      </p:sp>
      <p:sp>
        <p:nvSpPr>
          <p:cNvPr id="9" name="12 CuadroTexto"/>
          <p:cNvSpPr txBox="1"/>
          <p:nvPr/>
        </p:nvSpPr>
        <p:spPr>
          <a:xfrm>
            <a:off x="4514408" y="5459615"/>
            <a:ext cx="4450080" cy="892552"/>
          </a:xfrm>
          <a:prstGeom prst="rect">
            <a:avLst/>
          </a:prstGeom>
          <a:noFill/>
        </p:spPr>
        <p:txBody>
          <a:bodyPr wrap="square" rtlCol="0">
            <a:spAutoFit/>
          </a:bodyPr>
          <a:lstStyle/>
          <a:p>
            <a:pPr algn="ctr"/>
            <a:r>
              <a:rPr lang="es-ES" sz="1000" b="1" dirty="0">
                <a:solidFill>
                  <a:schemeClr val="tx1">
                    <a:lumMod val="50000"/>
                    <a:lumOff val="50000"/>
                  </a:schemeClr>
                </a:solidFill>
                <a:latin typeface="+mj-lt"/>
              </a:rPr>
              <a:t>Figura 1.25.2. </a:t>
            </a:r>
            <a:r>
              <a:rPr lang="es-ES" sz="1000" dirty="0">
                <a:solidFill>
                  <a:schemeClr val="tx1">
                    <a:lumMod val="50000"/>
                    <a:lumOff val="50000"/>
                  </a:schemeClr>
                </a:solidFill>
                <a:latin typeface="+mj-lt"/>
              </a:rPr>
              <a:t>Funciones Trigonométricas de la Librería “</a:t>
            </a:r>
            <a:r>
              <a:rPr lang="es-ES" sz="1000" dirty="0" err="1">
                <a:solidFill>
                  <a:schemeClr val="tx1">
                    <a:lumMod val="50000"/>
                    <a:lumOff val="50000"/>
                  </a:schemeClr>
                </a:solidFill>
                <a:latin typeface="+mj-lt"/>
              </a:rPr>
              <a:t>cmath</a:t>
            </a:r>
            <a:r>
              <a:rPr lang="es-ES" sz="1000" dirty="0">
                <a:solidFill>
                  <a:schemeClr val="tx1">
                    <a:lumMod val="50000"/>
                    <a:lumOff val="50000"/>
                  </a:schemeClr>
                </a:solidFill>
                <a:latin typeface="+mj-lt"/>
              </a:rPr>
              <a:t>”.</a:t>
            </a:r>
          </a:p>
          <a:p>
            <a:pPr algn="ctr"/>
            <a:r>
              <a:rPr lang="es-ES" sz="1000" dirty="0">
                <a:solidFill>
                  <a:schemeClr val="tx1">
                    <a:lumMod val="50000"/>
                    <a:lumOff val="50000"/>
                  </a:schemeClr>
                </a:solidFill>
                <a:latin typeface="+mj-lt"/>
              </a:rPr>
              <a:t>Fuente: https://www.reddit.com/r/math/comments/9z1vlb/geometric_representations_of_trigonomic_functions/?tl=es-419.</a:t>
            </a:r>
          </a:p>
          <a:p>
            <a:pPr algn="ctr"/>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9A00BD68-3D77-1BD9-E98F-F30B9FD42712}"/>
              </a:ext>
            </a:extLst>
          </p:cNvPr>
          <p:cNvPicPr>
            <a:picLocks noChangeAspect="1"/>
          </p:cNvPicPr>
          <p:nvPr/>
        </p:nvPicPr>
        <p:blipFill>
          <a:blip r:embed="rId3"/>
          <a:stretch>
            <a:fillRect/>
          </a:stretch>
        </p:blipFill>
        <p:spPr>
          <a:xfrm>
            <a:off x="4514408" y="2420888"/>
            <a:ext cx="4450080" cy="2966719"/>
          </a:xfrm>
          <a:prstGeom prst="rect">
            <a:avLst/>
          </a:prstGeom>
        </p:spPr>
      </p:pic>
    </p:spTree>
    <p:extLst>
      <p:ext uri="{BB962C8B-B14F-4D97-AF65-F5344CB8AC3E}">
        <p14:creationId xmlns:p14="http://schemas.microsoft.com/office/powerpoint/2010/main" val="2603805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1.28. (Aplicación del uso de funciones matemáticas con las funciones </a:t>
            </a:r>
            <a:r>
              <a:rPr lang="es-ES" b="1" dirty="0" err="1">
                <a:solidFill>
                  <a:srgbClr val="FF0000"/>
                </a:solidFill>
              </a:rPr>
              <a:t>cout</a:t>
            </a:r>
            <a:r>
              <a:rPr lang="es-ES" b="1" dirty="0">
                <a:solidFill>
                  <a:srgbClr val="FF0000"/>
                </a:solidFill>
              </a:rPr>
              <a:t> y </a:t>
            </a:r>
            <a:r>
              <a:rPr lang="es-ES" b="1" dirty="0" err="1">
                <a:solidFill>
                  <a:srgbClr val="FF0000"/>
                </a:solidFill>
              </a:rPr>
              <a:t>cin</a:t>
            </a:r>
            <a:r>
              <a:rPr lang="es-ES" b="1" dirty="0">
                <a:solidFill>
                  <a:srgbClr val="FF0000"/>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spTree>
    <p:extLst>
      <p:ext uri="{BB962C8B-B14F-4D97-AF65-F5344CB8AC3E}">
        <p14:creationId xmlns:p14="http://schemas.microsoft.com/office/powerpoint/2010/main" val="2832958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80"/>
            <a:ext cx="2952328" cy="2880320"/>
          </a:xfrm>
        </p:spPr>
        <p:txBody>
          <a:bodyPr>
            <a:normAutofit fontScale="85000" lnSpcReduction="20000"/>
          </a:bodyPr>
          <a:lstStyle/>
          <a:p>
            <a:r>
              <a:rPr lang="es-ES" dirty="0">
                <a:solidFill>
                  <a:schemeClr val="bg1">
                    <a:lumMod val="50000"/>
                  </a:schemeClr>
                </a:solidFill>
              </a:rPr>
              <a:t>Escribir un programa que permita probar el uso de al menos seis de las doce funciones matemáticas de la Tabla 1.10, </a:t>
            </a:r>
            <a:r>
              <a:rPr lang="es-ES" dirty="0">
                <a:solidFill>
                  <a:srgbClr val="FF0000"/>
                </a:solidFill>
              </a:rPr>
              <a:t>utilizando las funciones “</a:t>
            </a:r>
            <a:r>
              <a:rPr lang="es-ES" dirty="0" err="1">
                <a:solidFill>
                  <a:srgbClr val="FF0000"/>
                </a:solidFill>
              </a:rPr>
              <a:t>cout</a:t>
            </a:r>
            <a:r>
              <a:rPr lang="es-ES" dirty="0">
                <a:solidFill>
                  <a:srgbClr val="FF0000"/>
                </a:solidFill>
              </a:rPr>
              <a:t>” y “</a:t>
            </a:r>
            <a:r>
              <a:rPr lang="es-ES" dirty="0" err="1">
                <a:solidFill>
                  <a:srgbClr val="FF0000"/>
                </a:solidFill>
              </a:rPr>
              <a:t>cin</a:t>
            </a:r>
            <a:r>
              <a:rPr lang="es-ES" dirty="0">
                <a:solidFill>
                  <a:srgbClr val="FF0000"/>
                </a:solidFill>
              </a:rPr>
              <a:t>”</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
        <p:nvSpPr>
          <p:cNvPr id="9" name="12 CuadroTexto"/>
          <p:cNvSpPr txBox="1"/>
          <p:nvPr/>
        </p:nvSpPr>
        <p:spPr>
          <a:xfrm>
            <a:off x="4283968" y="5661248"/>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1.28:</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905592"/>
          </a:xfrm>
        </p:spPr>
        <p:txBody>
          <a:bodyPr/>
          <a:lstStyle/>
          <a:p>
            <a:pPr>
              <a:lnSpc>
                <a:spcPts val="4000"/>
              </a:lnSpc>
            </a:pPr>
            <a:r>
              <a:rPr lang="es-EC" b="1" dirty="0"/>
              <a:t>Fórmulas Matemáticas</a:t>
            </a:r>
            <a:endParaRPr lang="en-US"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1.28</a:t>
            </a:r>
            <a:endParaRPr lang="es-EC" sz="2800" dirty="0">
              <a:solidFill>
                <a:schemeClr val="bg1">
                  <a:lumMod val="50000"/>
                </a:schemeClr>
              </a:solidFill>
            </a:endParaRPr>
          </a:p>
        </p:txBody>
      </p:sp>
      <p:pic>
        <p:nvPicPr>
          <p:cNvPr id="8" name="Imagen 7">
            <a:extLst>
              <a:ext uri="{FF2B5EF4-FFF2-40B4-BE49-F238E27FC236}">
                <a16:creationId xmlns:a16="http://schemas.microsoft.com/office/drawing/2014/main" id="{9D290772-3125-CB6A-86BA-CDF534C58A80}"/>
              </a:ext>
            </a:extLst>
          </p:cNvPr>
          <p:cNvPicPr>
            <a:picLocks noChangeAspect="1"/>
          </p:cNvPicPr>
          <p:nvPr/>
        </p:nvPicPr>
        <p:blipFill>
          <a:blip r:embed="rId2"/>
          <a:stretch>
            <a:fillRect/>
          </a:stretch>
        </p:blipFill>
        <p:spPr>
          <a:xfrm>
            <a:off x="3106151" y="1744710"/>
            <a:ext cx="5930345" cy="3772522"/>
          </a:xfrm>
          <a:prstGeom prst="rect">
            <a:avLst/>
          </a:prstGeom>
        </p:spPr>
      </p:pic>
    </p:spTree>
    <p:extLst>
      <p:ext uri="{BB962C8B-B14F-4D97-AF65-F5344CB8AC3E}">
        <p14:creationId xmlns:p14="http://schemas.microsoft.com/office/powerpoint/2010/main" val="51907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80"/>
            <a:ext cx="2952328" cy="2880320"/>
          </a:xfrm>
        </p:spPr>
        <p:txBody>
          <a:bodyPr>
            <a:normAutofit fontScale="85000" lnSpcReduction="20000"/>
          </a:bodyPr>
          <a:lstStyle/>
          <a:p>
            <a:r>
              <a:rPr lang="es-ES" dirty="0">
                <a:solidFill>
                  <a:schemeClr val="bg1">
                    <a:lumMod val="50000"/>
                  </a:schemeClr>
                </a:solidFill>
              </a:rPr>
              <a:t>Escribir un programa que permita probar el uso de al menos seis de las doce funciones matemáticas de la Tabla 1.10, </a:t>
            </a:r>
            <a:r>
              <a:rPr lang="es-ES" dirty="0">
                <a:solidFill>
                  <a:srgbClr val="FF0000"/>
                </a:solidFill>
              </a:rPr>
              <a:t>utilizando las funciones “</a:t>
            </a:r>
            <a:r>
              <a:rPr lang="es-ES" dirty="0" err="1">
                <a:solidFill>
                  <a:srgbClr val="FF0000"/>
                </a:solidFill>
              </a:rPr>
              <a:t>cout</a:t>
            </a:r>
            <a:r>
              <a:rPr lang="es-ES" dirty="0">
                <a:solidFill>
                  <a:srgbClr val="FF0000"/>
                </a:solidFill>
              </a:rPr>
              <a:t>” y “</a:t>
            </a:r>
            <a:r>
              <a:rPr lang="es-ES" dirty="0" err="1">
                <a:solidFill>
                  <a:srgbClr val="FF0000"/>
                </a:solidFill>
              </a:rPr>
              <a:t>cin</a:t>
            </a:r>
            <a:r>
              <a:rPr lang="es-ES" dirty="0">
                <a:solidFill>
                  <a:srgbClr val="FF0000"/>
                </a:solidFill>
              </a:rPr>
              <a:t>”</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9" name="12 CuadroTexto"/>
          <p:cNvSpPr txBox="1"/>
          <p:nvPr/>
        </p:nvSpPr>
        <p:spPr>
          <a:xfrm>
            <a:off x="4283968" y="5168225"/>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1.28:</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1.28</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4276A3A7-3C6C-8991-E5E4-2F301A3E275A}"/>
              </a:ext>
            </a:extLst>
          </p:cNvPr>
          <p:cNvPicPr>
            <a:picLocks noChangeAspect="1"/>
          </p:cNvPicPr>
          <p:nvPr/>
        </p:nvPicPr>
        <p:blipFill>
          <a:blip r:embed="rId2"/>
          <a:stretch>
            <a:fillRect/>
          </a:stretch>
        </p:blipFill>
        <p:spPr>
          <a:xfrm>
            <a:off x="3094531" y="2701462"/>
            <a:ext cx="5992800" cy="2429781"/>
          </a:xfrm>
          <a:prstGeom prst="rect">
            <a:avLst/>
          </a:prstGeom>
        </p:spPr>
      </p:pic>
      <p:sp>
        <p:nvSpPr>
          <p:cNvPr id="10" name="Título 11">
            <a:extLst>
              <a:ext uri="{FF2B5EF4-FFF2-40B4-BE49-F238E27FC236}">
                <a16:creationId xmlns:a16="http://schemas.microsoft.com/office/drawing/2014/main" id="{C93296D2-A4DA-8DD4-30C3-7B726BA8A443}"/>
              </a:ext>
            </a:extLst>
          </p:cNvPr>
          <p:cNvSpPr txBox="1">
            <a:spLocks/>
          </p:cNvSpPr>
          <p:nvPr/>
        </p:nvSpPr>
        <p:spPr>
          <a:xfrm>
            <a:off x="457200" y="75136"/>
            <a:ext cx="8229600" cy="90559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nSpc>
                <a:spcPts val="4000"/>
              </a:lnSpc>
            </a:pPr>
            <a:r>
              <a:rPr lang="es-EC" b="1" dirty="0"/>
              <a:t>Fórmulas Matemáticas</a:t>
            </a:r>
            <a:endParaRPr lang="en-US" dirty="0"/>
          </a:p>
        </p:txBody>
      </p:sp>
    </p:spTree>
    <p:extLst>
      <p:ext uri="{BB962C8B-B14F-4D97-AF65-F5344CB8AC3E}">
        <p14:creationId xmlns:p14="http://schemas.microsoft.com/office/powerpoint/2010/main" val="2181709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075734" cy="3816424"/>
          </a:xfrm>
        </p:spPr>
        <p:txBody>
          <a:bodyPr>
            <a:normAutofit/>
          </a:bodyPr>
          <a:lstStyle/>
          <a:p>
            <a:r>
              <a:rPr lang="es-ES" sz="1100" dirty="0">
                <a:solidFill>
                  <a:schemeClr val="bg1">
                    <a:lumMod val="50000"/>
                  </a:schemeClr>
                </a:solidFill>
              </a:rPr>
              <a:t>Como se puede ver en este programa, la única entrada es el valor de “x”, para lo cual utilizamos la función “</a:t>
            </a:r>
            <a:r>
              <a:rPr lang="es-ES" sz="1100" dirty="0" err="1">
                <a:solidFill>
                  <a:schemeClr val="bg1">
                    <a:lumMod val="50000"/>
                  </a:schemeClr>
                </a:solidFill>
              </a:rPr>
              <a:t>cin</a:t>
            </a:r>
            <a:r>
              <a:rPr lang="es-ES" sz="1100" dirty="0">
                <a:solidFill>
                  <a:schemeClr val="bg1">
                    <a:lumMod val="50000"/>
                  </a:schemeClr>
                </a:solidFill>
              </a:rPr>
              <a:t>” que permite leer un dato de manera individual:</a:t>
            </a:r>
          </a:p>
          <a:p>
            <a:endParaRPr lang="es-ES" sz="1100" dirty="0">
              <a:solidFill>
                <a:schemeClr val="bg1">
                  <a:lumMod val="50000"/>
                </a:schemeClr>
              </a:solidFill>
            </a:endParaRPr>
          </a:p>
          <a:p>
            <a:pPr indent="0">
              <a:buNone/>
            </a:pP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a:t>
            </a:r>
            <a:endParaRPr lang="es-ES" sz="1100" dirty="0">
              <a:solidFill>
                <a:schemeClr val="bg1">
                  <a:lumMod val="50000"/>
                </a:schemeClr>
              </a:solidFill>
            </a:endParaRPr>
          </a:p>
          <a:p>
            <a:endParaRPr lang="es-ES" sz="1100" dirty="0">
              <a:solidFill>
                <a:schemeClr val="bg1">
                  <a:lumMod val="50000"/>
                </a:schemeClr>
              </a:solidFill>
            </a:endParaRPr>
          </a:p>
          <a:p>
            <a:r>
              <a:rPr lang="es-ES" sz="1100" dirty="0">
                <a:solidFill>
                  <a:schemeClr val="bg1">
                    <a:lumMod val="50000"/>
                  </a:schemeClr>
                </a:solidFill>
              </a:rPr>
              <a:t>Luego nosotros calculamos y desplegamos el valor del cos(x), el valor del sen(x), el valor de la raíz cuadrada de “x”, el valor del logaritmo natural de “x”, la potencia de “x” elevado al cubo y el valor absoluto de “x” negativo:</a:t>
            </a:r>
          </a:p>
          <a:p>
            <a:endParaRPr lang="es-ES" sz="1100" dirty="0">
              <a:solidFill>
                <a:schemeClr val="bg1">
                  <a:lumMod val="50000"/>
                </a:schemeClr>
              </a:solidFill>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"cos("</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cos(x)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sen</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sin(x)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raiz_cuadrada</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sqrt(x)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log_natural</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log(x) </a:t>
            </a:r>
            <a:r>
              <a:rPr lang="en-US"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C"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potencia_numero</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3) = "</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pow</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(x, 3)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20000"/>
              </a:lnSpc>
              <a:spcBef>
                <a:spcPts val="0"/>
              </a:spcBef>
              <a:buNone/>
            </a:pP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C"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valor_absoluto</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fabs</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(-x) </a:t>
            </a:r>
            <a:r>
              <a:rPr lang="es-EC" sz="11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C"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C"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s-ES" sz="11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
        <p:nvSpPr>
          <p:cNvPr id="9" name="12 CuadroTexto"/>
          <p:cNvSpPr txBox="1"/>
          <p:nvPr/>
        </p:nvSpPr>
        <p:spPr>
          <a:xfrm>
            <a:off x="2248733" y="6248345"/>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1.28:</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1.28</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D6413BCF-5699-8E05-59BB-962B1737159B}"/>
              </a:ext>
            </a:extLst>
          </p:cNvPr>
          <p:cNvPicPr>
            <a:picLocks noChangeAspect="1"/>
          </p:cNvPicPr>
          <p:nvPr/>
        </p:nvPicPr>
        <p:blipFill>
          <a:blip r:embed="rId2" cstate="print"/>
          <a:srcRect/>
          <a:stretch>
            <a:fillRect/>
          </a:stretch>
        </p:blipFill>
        <p:spPr bwMode="auto">
          <a:xfrm>
            <a:off x="1622772" y="4797934"/>
            <a:ext cx="5397500" cy="1384300"/>
          </a:xfrm>
          <a:prstGeom prst="rect">
            <a:avLst/>
          </a:prstGeom>
          <a:noFill/>
          <a:ln w="9525">
            <a:noFill/>
            <a:miter lim="800000"/>
            <a:headEnd/>
            <a:tailEnd/>
          </a:ln>
        </p:spPr>
      </p:pic>
      <p:sp>
        <p:nvSpPr>
          <p:cNvPr id="11" name="Título 11">
            <a:extLst>
              <a:ext uri="{FF2B5EF4-FFF2-40B4-BE49-F238E27FC236}">
                <a16:creationId xmlns:a16="http://schemas.microsoft.com/office/drawing/2014/main" id="{794046C9-AF27-25B5-13BA-5CD75B2FAD68}"/>
              </a:ext>
            </a:extLst>
          </p:cNvPr>
          <p:cNvSpPr txBox="1">
            <a:spLocks/>
          </p:cNvSpPr>
          <p:nvPr/>
        </p:nvSpPr>
        <p:spPr>
          <a:xfrm>
            <a:off x="457200" y="75136"/>
            <a:ext cx="8229600" cy="90559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nSpc>
                <a:spcPts val="4000"/>
              </a:lnSpc>
            </a:pPr>
            <a:r>
              <a:rPr lang="es-EC" b="1"/>
              <a:t>Fórmulas Matemáticas</a:t>
            </a:r>
            <a:endParaRPr lang="en-US" dirty="0"/>
          </a:p>
        </p:txBody>
      </p:sp>
    </p:spTree>
    <p:extLst>
      <p:ext uri="{BB962C8B-B14F-4D97-AF65-F5344CB8AC3E}">
        <p14:creationId xmlns:p14="http://schemas.microsoft.com/office/powerpoint/2010/main" val="158392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rgbClr val="FF0000"/>
                </a:solidFill>
              </a:rPr>
              <a:t>Problema 1.29. (Aplicación del uso de funciones matemáticas con las funciones </a:t>
            </a:r>
            <a:r>
              <a:rPr lang="es-ES" b="1" dirty="0" err="1">
                <a:solidFill>
                  <a:srgbClr val="FF0000"/>
                </a:solidFill>
              </a:rPr>
              <a:t>printf</a:t>
            </a:r>
            <a:r>
              <a:rPr lang="es-ES" b="1" dirty="0">
                <a:solidFill>
                  <a:srgbClr val="FF0000"/>
                </a:solidFill>
              </a:rPr>
              <a:t> y </a:t>
            </a:r>
            <a:r>
              <a:rPr lang="es-ES" b="1" dirty="0" err="1">
                <a:solidFill>
                  <a:srgbClr val="FF0000"/>
                </a:solidFill>
              </a:rPr>
              <a:t>scanf</a:t>
            </a:r>
            <a:r>
              <a:rPr lang="es-ES" b="1" dirty="0">
                <a:solidFill>
                  <a:srgbClr val="FF0000"/>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Tree>
    <p:extLst>
      <p:ext uri="{BB962C8B-B14F-4D97-AF65-F5344CB8AC3E}">
        <p14:creationId xmlns:p14="http://schemas.microsoft.com/office/powerpoint/2010/main" val="2845373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80"/>
            <a:ext cx="2952328" cy="2880320"/>
          </a:xfrm>
        </p:spPr>
        <p:txBody>
          <a:bodyPr>
            <a:normAutofit fontScale="85000" lnSpcReduction="20000"/>
          </a:bodyPr>
          <a:lstStyle/>
          <a:p>
            <a:r>
              <a:rPr lang="es-ES" dirty="0">
                <a:solidFill>
                  <a:schemeClr val="bg1">
                    <a:lumMod val="50000"/>
                  </a:schemeClr>
                </a:solidFill>
              </a:rPr>
              <a:t>Escribir un programa que permita probar el uso de al menos seis de las doce funciones matemáticas de la Tabla 1.10, </a:t>
            </a:r>
            <a:r>
              <a:rPr lang="es-ES" dirty="0">
                <a:solidFill>
                  <a:srgbClr val="FF0000"/>
                </a:solidFill>
              </a:rPr>
              <a:t>utilizando las funciones “</a:t>
            </a:r>
            <a:r>
              <a:rPr lang="es-ES" dirty="0" err="1">
                <a:solidFill>
                  <a:srgbClr val="FF0000"/>
                </a:solidFill>
              </a:rPr>
              <a:t>printf</a:t>
            </a:r>
            <a:r>
              <a:rPr lang="es-ES" dirty="0">
                <a:solidFill>
                  <a:srgbClr val="FF0000"/>
                </a:solidFill>
              </a:rPr>
              <a:t>” y “</a:t>
            </a:r>
            <a:r>
              <a:rPr lang="es-ES" dirty="0" err="1">
                <a:solidFill>
                  <a:srgbClr val="FF0000"/>
                </a:solidFill>
              </a:rPr>
              <a:t>scanf</a:t>
            </a:r>
            <a:r>
              <a:rPr lang="es-ES" dirty="0">
                <a:solidFill>
                  <a:srgbClr val="FF0000"/>
                </a:solidFill>
              </a:rPr>
              <a:t>”</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
        <p:nvSpPr>
          <p:cNvPr id="9" name="12 CuadroTexto"/>
          <p:cNvSpPr txBox="1"/>
          <p:nvPr/>
        </p:nvSpPr>
        <p:spPr>
          <a:xfrm>
            <a:off x="4283968" y="5528265"/>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1.29:</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905592"/>
          </a:xfrm>
        </p:spPr>
        <p:txBody>
          <a:bodyPr/>
          <a:lstStyle/>
          <a:p>
            <a:pPr>
              <a:lnSpc>
                <a:spcPts val="4000"/>
              </a:lnSpc>
            </a:pPr>
            <a:r>
              <a:rPr lang="es-EC" b="1" dirty="0"/>
              <a:t>Fórmulas Matemáticas</a:t>
            </a:r>
            <a:endParaRPr lang="en-US"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1.29</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78926CE1-7660-B2AB-3BDF-04743427C516}"/>
              </a:ext>
            </a:extLst>
          </p:cNvPr>
          <p:cNvPicPr>
            <a:picLocks noChangeAspect="1"/>
          </p:cNvPicPr>
          <p:nvPr/>
        </p:nvPicPr>
        <p:blipFill>
          <a:blip r:embed="rId2"/>
          <a:stretch>
            <a:fillRect/>
          </a:stretch>
        </p:blipFill>
        <p:spPr>
          <a:xfrm>
            <a:off x="3064804" y="1879362"/>
            <a:ext cx="6040449" cy="3532981"/>
          </a:xfrm>
          <a:prstGeom prst="rect">
            <a:avLst/>
          </a:prstGeom>
        </p:spPr>
      </p:pic>
    </p:spTree>
    <p:extLst>
      <p:ext uri="{BB962C8B-B14F-4D97-AF65-F5344CB8AC3E}">
        <p14:creationId xmlns:p14="http://schemas.microsoft.com/office/powerpoint/2010/main" val="777028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80"/>
            <a:ext cx="2952328" cy="2880320"/>
          </a:xfrm>
        </p:spPr>
        <p:txBody>
          <a:bodyPr>
            <a:normAutofit fontScale="85000" lnSpcReduction="20000"/>
          </a:bodyPr>
          <a:lstStyle/>
          <a:p>
            <a:r>
              <a:rPr lang="es-ES" dirty="0">
                <a:solidFill>
                  <a:schemeClr val="bg1">
                    <a:lumMod val="50000"/>
                  </a:schemeClr>
                </a:solidFill>
              </a:rPr>
              <a:t>Escribir un programa que permita probar el uso de al menos seis de las doce funciones matemáticas de la Tabla 1.10, </a:t>
            </a:r>
            <a:r>
              <a:rPr lang="es-ES" dirty="0">
                <a:solidFill>
                  <a:srgbClr val="FF0000"/>
                </a:solidFill>
              </a:rPr>
              <a:t>utilizando las funciones “</a:t>
            </a:r>
            <a:r>
              <a:rPr lang="es-ES" dirty="0" err="1">
                <a:solidFill>
                  <a:srgbClr val="FF0000"/>
                </a:solidFill>
              </a:rPr>
              <a:t>printf</a:t>
            </a:r>
            <a:r>
              <a:rPr lang="es-ES" dirty="0">
                <a:solidFill>
                  <a:srgbClr val="FF0000"/>
                </a:solidFill>
              </a:rPr>
              <a:t>” y “</a:t>
            </a:r>
            <a:r>
              <a:rPr lang="es-ES" dirty="0" err="1">
                <a:solidFill>
                  <a:srgbClr val="FF0000"/>
                </a:solidFill>
              </a:rPr>
              <a:t>scanf</a:t>
            </a:r>
            <a:r>
              <a:rPr lang="es-ES" dirty="0">
                <a:solidFill>
                  <a:srgbClr val="FF0000"/>
                </a:solidFill>
              </a:rPr>
              <a:t>”</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9" name="12 CuadroTexto"/>
          <p:cNvSpPr txBox="1"/>
          <p:nvPr/>
        </p:nvSpPr>
        <p:spPr>
          <a:xfrm>
            <a:off x="4283968" y="4775321"/>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1.28:</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1.29</a:t>
            </a:r>
            <a:endParaRPr lang="es-EC" sz="2800" dirty="0">
              <a:solidFill>
                <a:schemeClr val="bg1">
                  <a:lumMod val="50000"/>
                </a:schemeClr>
              </a:solidFill>
            </a:endParaRPr>
          </a:p>
        </p:txBody>
      </p:sp>
      <p:sp>
        <p:nvSpPr>
          <p:cNvPr id="10" name="Título 11">
            <a:extLst>
              <a:ext uri="{FF2B5EF4-FFF2-40B4-BE49-F238E27FC236}">
                <a16:creationId xmlns:a16="http://schemas.microsoft.com/office/drawing/2014/main" id="{C93296D2-A4DA-8DD4-30C3-7B726BA8A443}"/>
              </a:ext>
            </a:extLst>
          </p:cNvPr>
          <p:cNvSpPr txBox="1">
            <a:spLocks/>
          </p:cNvSpPr>
          <p:nvPr/>
        </p:nvSpPr>
        <p:spPr>
          <a:xfrm>
            <a:off x="457200" y="75136"/>
            <a:ext cx="8229600" cy="90559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nSpc>
                <a:spcPts val="4000"/>
              </a:lnSpc>
            </a:pPr>
            <a:r>
              <a:rPr lang="es-EC" b="1" dirty="0"/>
              <a:t>Fórmulas Matemáticas</a:t>
            </a:r>
            <a:endParaRPr lang="en-US" dirty="0"/>
          </a:p>
        </p:txBody>
      </p:sp>
      <p:pic>
        <p:nvPicPr>
          <p:cNvPr id="8" name="Imagen 7">
            <a:extLst>
              <a:ext uri="{FF2B5EF4-FFF2-40B4-BE49-F238E27FC236}">
                <a16:creationId xmlns:a16="http://schemas.microsoft.com/office/drawing/2014/main" id="{A869B3A1-20D9-D06B-CB5A-5BFD91100F73}"/>
              </a:ext>
            </a:extLst>
          </p:cNvPr>
          <p:cNvPicPr>
            <a:picLocks noChangeAspect="1"/>
          </p:cNvPicPr>
          <p:nvPr/>
        </p:nvPicPr>
        <p:blipFill>
          <a:blip r:embed="rId2"/>
          <a:stretch>
            <a:fillRect/>
          </a:stretch>
        </p:blipFill>
        <p:spPr>
          <a:xfrm>
            <a:off x="3059833" y="2276872"/>
            <a:ext cx="6048671" cy="2441482"/>
          </a:xfrm>
          <a:prstGeom prst="rect">
            <a:avLst/>
          </a:prstGeom>
        </p:spPr>
      </p:pic>
    </p:spTree>
    <p:extLst>
      <p:ext uri="{BB962C8B-B14F-4D97-AF65-F5344CB8AC3E}">
        <p14:creationId xmlns:p14="http://schemas.microsoft.com/office/powerpoint/2010/main" val="974899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003726" cy="3816424"/>
          </a:xfrm>
        </p:spPr>
        <p:txBody>
          <a:bodyPr>
            <a:normAutofit/>
          </a:bodyPr>
          <a:lstStyle/>
          <a:p>
            <a:r>
              <a:rPr lang="es-ES" sz="1100" dirty="0">
                <a:solidFill>
                  <a:schemeClr val="bg1">
                    <a:lumMod val="50000"/>
                  </a:schemeClr>
                </a:solidFill>
              </a:rPr>
              <a:t>Como se puede ver en este programa, la única entrada es el valor de “x”, para lo cual utilizamos la función “</a:t>
            </a:r>
            <a:r>
              <a:rPr lang="es-ES" sz="1100" dirty="0" err="1">
                <a:solidFill>
                  <a:schemeClr val="bg1">
                    <a:lumMod val="50000"/>
                  </a:schemeClr>
                </a:solidFill>
              </a:rPr>
              <a:t>scanf_s</a:t>
            </a:r>
            <a:r>
              <a:rPr lang="es-ES" sz="1100" dirty="0">
                <a:solidFill>
                  <a:schemeClr val="bg1">
                    <a:lumMod val="50000"/>
                  </a:schemeClr>
                </a:solidFill>
              </a:rPr>
              <a:t>” que permite leer un dato, donde se utiliza el especificador de formato “%f” y la dirección de la variable “x” manipulada por el operador “&amp;”:</a:t>
            </a:r>
          </a:p>
          <a:p>
            <a:endParaRPr lang="es-ES" sz="1100" dirty="0">
              <a:solidFill>
                <a:schemeClr val="bg1">
                  <a:lumMod val="50000"/>
                </a:schemeClr>
              </a:solidFill>
            </a:endParaRPr>
          </a:p>
          <a:p>
            <a:pPr indent="0">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&amp;x);</a:t>
            </a:r>
          </a:p>
          <a:p>
            <a:endParaRPr lang="es-ES" sz="1100" dirty="0">
              <a:solidFill>
                <a:schemeClr val="bg1">
                  <a:lumMod val="50000"/>
                </a:schemeClr>
              </a:solidFill>
            </a:endParaRPr>
          </a:p>
          <a:p>
            <a:r>
              <a:rPr lang="es-ES" sz="1100" dirty="0">
                <a:solidFill>
                  <a:schemeClr val="bg1">
                    <a:lumMod val="50000"/>
                  </a:schemeClr>
                </a:solidFill>
              </a:rPr>
              <a:t>Luego nosotros calculamos y desplegamos el valor del cos(x), el valor del sen(x), el valor de la raíz cuadrada de “x”, el valor del logaritmo natural de “x”, la potencia de “x” elevado al cubo y el valor absoluto de “x” negativo:</a:t>
            </a:r>
          </a:p>
          <a:p>
            <a:endParaRPr lang="es-ES" sz="1100" dirty="0">
              <a:solidFill>
                <a:schemeClr val="bg1">
                  <a:lumMod val="50000"/>
                </a:schemeClr>
              </a:solidFill>
            </a:endParaRPr>
          </a:p>
          <a:p>
            <a:pPr marR="0"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"cos(%f) = %f\n"</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cos(x));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sen</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 = %f\n"</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sin(x));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raiz_cuadrada</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 = %f\n"</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sqrt</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log_natural</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 = %f\n"</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log(x));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potencia_numero</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 3) = %f\n"</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pow</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(x, 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valor_absoluto</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 = %f\n"</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x, </a:t>
            </a: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fabs</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(-x));</a:t>
            </a:r>
            <a:endParaRPr lang="es-ES" sz="11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
        <p:nvSpPr>
          <p:cNvPr id="9" name="12 CuadroTexto"/>
          <p:cNvSpPr txBox="1"/>
          <p:nvPr/>
        </p:nvSpPr>
        <p:spPr>
          <a:xfrm>
            <a:off x="2248733" y="6536377"/>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1.29:</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1.29</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D6413BCF-5699-8E05-59BB-962B1737159B}"/>
              </a:ext>
            </a:extLst>
          </p:cNvPr>
          <p:cNvPicPr>
            <a:picLocks noChangeAspect="1"/>
          </p:cNvPicPr>
          <p:nvPr/>
        </p:nvPicPr>
        <p:blipFill>
          <a:blip r:embed="rId2" cstate="print"/>
          <a:srcRect/>
          <a:stretch>
            <a:fillRect/>
          </a:stretch>
        </p:blipFill>
        <p:spPr bwMode="auto">
          <a:xfrm>
            <a:off x="1622772" y="5085966"/>
            <a:ext cx="5397500" cy="1384300"/>
          </a:xfrm>
          <a:prstGeom prst="rect">
            <a:avLst/>
          </a:prstGeom>
          <a:noFill/>
          <a:ln w="9525">
            <a:noFill/>
            <a:miter lim="800000"/>
            <a:headEnd/>
            <a:tailEnd/>
          </a:ln>
        </p:spPr>
      </p:pic>
      <p:sp>
        <p:nvSpPr>
          <p:cNvPr id="11" name="Título 11">
            <a:extLst>
              <a:ext uri="{FF2B5EF4-FFF2-40B4-BE49-F238E27FC236}">
                <a16:creationId xmlns:a16="http://schemas.microsoft.com/office/drawing/2014/main" id="{794046C9-AF27-25B5-13BA-5CD75B2FAD68}"/>
              </a:ext>
            </a:extLst>
          </p:cNvPr>
          <p:cNvSpPr txBox="1">
            <a:spLocks/>
          </p:cNvSpPr>
          <p:nvPr/>
        </p:nvSpPr>
        <p:spPr>
          <a:xfrm>
            <a:off x="457200" y="75136"/>
            <a:ext cx="8229600" cy="90559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nSpc>
                <a:spcPts val="4000"/>
              </a:lnSpc>
            </a:pPr>
            <a:r>
              <a:rPr lang="es-EC" b="1"/>
              <a:t>Fórmulas Matemáticas</a:t>
            </a:r>
            <a:endParaRPr lang="en-US" dirty="0"/>
          </a:p>
        </p:txBody>
      </p:sp>
    </p:spTree>
    <p:extLst>
      <p:ext uri="{BB962C8B-B14F-4D97-AF65-F5344CB8AC3E}">
        <p14:creationId xmlns:p14="http://schemas.microsoft.com/office/powerpoint/2010/main" val="1891326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rgbClr val="FF0000"/>
                </a:solidFill>
              </a:rPr>
              <a:t>Aplicaciones de las Funciones de la Librería “</a:t>
            </a:r>
            <a:r>
              <a:rPr lang="es-ES" b="1" dirty="0" err="1">
                <a:solidFill>
                  <a:srgbClr val="FF0000"/>
                </a:solidFill>
              </a:rPr>
              <a:t>cmath</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Tree>
    <p:extLst>
      <p:ext uri="{BB962C8B-B14F-4D97-AF65-F5344CB8AC3E}">
        <p14:creationId xmlns:p14="http://schemas.microsoft.com/office/powerpoint/2010/main" val="3947045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9512" y="2060848"/>
            <a:ext cx="4190880" cy="4372595"/>
          </a:xfrm>
        </p:spPr>
        <p:txBody>
          <a:bodyPr>
            <a:normAutofit/>
          </a:bodyPr>
          <a:lstStyle/>
          <a:p>
            <a:pPr algn="just">
              <a:lnSpc>
                <a:spcPct val="115000"/>
              </a:lnSpc>
              <a:spcBef>
                <a:spcPts val="0"/>
              </a:spcBef>
            </a:pPr>
            <a:r>
              <a:rPr lang="es-ES" sz="1800" dirty="0">
                <a:solidFill>
                  <a:schemeClr val="bg1">
                    <a:lumMod val="50000"/>
                  </a:schemeClr>
                </a:solidFill>
                <a:ea typeface="Calibri" panose="020F0502020204030204" pitchFamily="34" charset="0"/>
                <a:cs typeface="Times New Roman" panose="02020603050405020304" pitchFamily="18" charset="0"/>
              </a:rPr>
              <a:t>A continuación, se presentan algunos problemas que muestran el uso de las funciones matemáticas de la librería “</a:t>
            </a:r>
            <a:r>
              <a:rPr lang="es-ES" sz="1800" dirty="0" err="1">
                <a:solidFill>
                  <a:schemeClr val="bg1">
                    <a:lumMod val="50000"/>
                  </a:schemeClr>
                </a:solidFill>
                <a:ea typeface="Calibri" panose="020F0502020204030204" pitchFamily="34" charset="0"/>
                <a:cs typeface="Times New Roman" panose="02020603050405020304" pitchFamily="18" charset="0"/>
              </a:rPr>
              <a:t>cmath</a:t>
            </a:r>
            <a:r>
              <a:rPr lang="es-ES" sz="1800" dirty="0">
                <a:solidFill>
                  <a:schemeClr val="bg1">
                    <a:lumMod val="50000"/>
                  </a:schemeClr>
                </a:solidFill>
                <a:ea typeface="Calibri" panose="020F0502020204030204" pitchFamily="34" charset="0"/>
                <a:cs typeface="Times New Roman" panose="02020603050405020304" pitchFamily="18" charset="0"/>
              </a:rPr>
              <a:t>” enfocadas al </a:t>
            </a:r>
            <a:r>
              <a:rPr lang="es-ES" sz="1800" dirty="0">
                <a:solidFill>
                  <a:srgbClr val="FF0000"/>
                </a:solidFill>
                <a:ea typeface="Calibri" panose="020F0502020204030204" pitchFamily="34" charset="0"/>
                <a:cs typeface="Times New Roman" panose="02020603050405020304" pitchFamily="18" charset="0"/>
              </a:rPr>
              <a:t>área de Matemáticas, Geometría, y Trigonometría</a:t>
            </a:r>
            <a:r>
              <a:rPr lang="es-ES" sz="1800" dirty="0">
                <a:solidFill>
                  <a:schemeClr val="bg1">
                    <a:lumMod val="50000"/>
                  </a:schemeClr>
                </a:solidFill>
                <a:ea typeface="Calibri" panose="020F0502020204030204" pitchFamily="34" charset="0"/>
                <a:cs typeface="Times New Roman" panose="02020603050405020304" pitchFamily="18" charset="0"/>
              </a:rPr>
              <a:t>, donde se utilizarán las </a:t>
            </a:r>
            <a:r>
              <a:rPr lang="es-ES" sz="1800" dirty="0">
                <a:solidFill>
                  <a:srgbClr val="FF0000"/>
                </a:solidFill>
                <a:ea typeface="Calibri" panose="020F0502020204030204" pitchFamily="34" charset="0"/>
                <a:cs typeface="Times New Roman" panose="02020603050405020304" pitchFamily="18" charset="0"/>
              </a:rPr>
              <a:t>Funciones de Entrada y Salida de Datos</a:t>
            </a:r>
            <a:r>
              <a:rPr lang="es-ES" sz="1800" dirty="0">
                <a:solidFill>
                  <a:schemeClr val="bg1">
                    <a:lumMod val="50000"/>
                  </a:schemeClr>
                </a:solidFill>
                <a:ea typeface="Calibri" panose="020F0502020204030204" pitchFamily="34" charset="0"/>
                <a:cs typeface="Times New Roman" panose="02020603050405020304" pitchFamily="18" charset="0"/>
              </a:rPr>
              <a:t> estudiadas previamente.</a:t>
            </a:r>
            <a:endParaRPr lang="en-US" sz="1800" dirty="0">
              <a:solidFill>
                <a:schemeClr val="bg1">
                  <a:lumMod val="50000"/>
                </a:schemeClr>
              </a:solidFill>
              <a:effectLst/>
              <a:ea typeface="Calibri" panose="020F0502020204030204" pitchFamily="34" charset="0"/>
              <a:cs typeface="Times New Roman" panose="02020603050405020304" pitchFamily="18" charset="0"/>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9" name="12 CuadroTexto"/>
          <p:cNvSpPr txBox="1"/>
          <p:nvPr/>
        </p:nvSpPr>
        <p:spPr>
          <a:xfrm>
            <a:off x="4514408" y="5445224"/>
            <a:ext cx="4450080" cy="707886"/>
          </a:xfrm>
          <a:prstGeom prst="rect">
            <a:avLst/>
          </a:prstGeom>
          <a:noFill/>
        </p:spPr>
        <p:txBody>
          <a:bodyPr wrap="square" rtlCol="0">
            <a:spAutoFit/>
          </a:bodyPr>
          <a:lstStyle/>
          <a:p>
            <a:pPr algn="ctr"/>
            <a:r>
              <a:rPr lang="es-ES" sz="1000" b="1" dirty="0">
                <a:solidFill>
                  <a:schemeClr val="tx1">
                    <a:lumMod val="50000"/>
                    <a:lumOff val="50000"/>
                  </a:schemeClr>
                </a:solidFill>
                <a:latin typeface="+mj-lt"/>
              </a:rPr>
              <a:t>Figura 1.25.3. </a:t>
            </a:r>
            <a:r>
              <a:rPr lang="es-ES" sz="1000" dirty="0">
                <a:solidFill>
                  <a:schemeClr val="tx1">
                    <a:lumMod val="50000"/>
                    <a:lumOff val="50000"/>
                  </a:schemeClr>
                </a:solidFill>
                <a:latin typeface="+mj-lt"/>
              </a:rPr>
              <a:t>Aplicaciones de las Funciones de la Librería “</a:t>
            </a:r>
            <a:r>
              <a:rPr lang="es-ES" sz="1000" dirty="0" err="1">
                <a:solidFill>
                  <a:schemeClr val="tx1">
                    <a:lumMod val="50000"/>
                    <a:lumOff val="50000"/>
                  </a:schemeClr>
                </a:solidFill>
                <a:latin typeface="+mj-lt"/>
              </a:rPr>
              <a:t>cmath</a:t>
            </a:r>
            <a:r>
              <a:rPr lang="es-ES" sz="1000" dirty="0">
                <a:solidFill>
                  <a:schemeClr val="tx1">
                    <a:lumMod val="50000"/>
                    <a:lumOff val="50000"/>
                  </a:schemeClr>
                </a:solidFill>
                <a:latin typeface="+mj-lt"/>
              </a:rPr>
              <a:t>”</a:t>
            </a:r>
            <a:r>
              <a:rPr lang="es-EC" sz="1000" dirty="0">
                <a:solidFill>
                  <a:schemeClr val="tx1">
                    <a:lumMod val="50000"/>
                    <a:lumOff val="50000"/>
                  </a:schemeClr>
                </a:solidFill>
                <a:latin typeface="+mj-lt"/>
              </a:rPr>
              <a:t>.</a:t>
            </a:r>
          </a:p>
          <a:p>
            <a:pPr algn="ctr"/>
            <a:r>
              <a:rPr lang="es-ES" sz="1000" dirty="0">
                <a:solidFill>
                  <a:schemeClr val="tx1">
                    <a:lumMod val="50000"/>
                    <a:lumOff val="50000"/>
                  </a:schemeClr>
                </a:solidFill>
                <a:latin typeface="+mj-lt"/>
              </a:rPr>
              <a:t>Fuente: https://primerospasosparaprogramar.wordpress.com/2011/04/08/programacion-en-c-la-libreria-cmath/.</a:t>
            </a:r>
          </a:p>
        </p:txBody>
      </p:sp>
      <p:sp>
        <p:nvSpPr>
          <p:cNvPr id="11" name="Título 11">
            <a:extLst>
              <a:ext uri="{FF2B5EF4-FFF2-40B4-BE49-F238E27FC236}">
                <a16:creationId xmlns:a16="http://schemas.microsoft.com/office/drawing/2014/main" id="{0B553CB1-02AF-EE54-2328-A6EC3664AB34}"/>
              </a:ext>
            </a:extLst>
          </p:cNvPr>
          <p:cNvSpPr txBox="1">
            <a:spLocks/>
          </p:cNvSpPr>
          <p:nvPr/>
        </p:nvSpPr>
        <p:spPr>
          <a:xfrm>
            <a:off x="457200" y="75136"/>
            <a:ext cx="8229600" cy="124388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nSpc>
                <a:spcPts val="4000"/>
              </a:lnSpc>
            </a:pPr>
            <a:r>
              <a:rPr lang="es-ES" sz="4400" b="1" dirty="0"/>
              <a:t>Aplicaciones de las Funciones de la Librería “</a:t>
            </a:r>
            <a:r>
              <a:rPr lang="es-ES" sz="4400" b="1" dirty="0" err="1"/>
              <a:t>cmath</a:t>
            </a:r>
            <a:r>
              <a:rPr lang="es-ES" sz="4400" b="1" dirty="0"/>
              <a:t>”</a:t>
            </a:r>
            <a:endParaRPr lang="en-US" sz="4400" dirty="0"/>
          </a:p>
        </p:txBody>
      </p:sp>
      <p:pic>
        <p:nvPicPr>
          <p:cNvPr id="13" name="Imagen 12">
            <a:extLst>
              <a:ext uri="{FF2B5EF4-FFF2-40B4-BE49-F238E27FC236}">
                <a16:creationId xmlns:a16="http://schemas.microsoft.com/office/drawing/2014/main" id="{9D41216E-4865-FEBF-D2E9-646AE9938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520" y="2204864"/>
            <a:ext cx="4283968" cy="3212976"/>
          </a:xfrm>
          <a:prstGeom prst="rect">
            <a:avLst/>
          </a:prstGeom>
        </p:spPr>
      </p:pic>
    </p:spTree>
    <p:extLst>
      <p:ext uri="{BB962C8B-B14F-4D97-AF65-F5344CB8AC3E}">
        <p14:creationId xmlns:p14="http://schemas.microsoft.com/office/powerpoint/2010/main" val="344167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1.30. (Cálculo del área y perímetro de un cuadrado utilizando </a:t>
            </a:r>
            <a:r>
              <a:rPr lang="es-ES" b="1" dirty="0" err="1">
                <a:solidFill>
                  <a:srgbClr val="FF0000"/>
                </a:solidFill>
              </a:rPr>
              <a:t>cout</a:t>
            </a:r>
            <a:r>
              <a:rPr lang="es-ES" b="1" dirty="0">
                <a:solidFill>
                  <a:srgbClr val="FF0000"/>
                </a:solidFill>
              </a:rPr>
              <a:t> y </a:t>
            </a:r>
            <a:r>
              <a:rPr lang="es-ES" b="1" dirty="0" err="1">
                <a:solidFill>
                  <a:srgbClr val="FF0000"/>
                </a:solidFill>
              </a:rPr>
              <a:t>cin</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Tree>
    <p:extLst>
      <p:ext uri="{BB962C8B-B14F-4D97-AF65-F5344CB8AC3E}">
        <p14:creationId xmlns:p14="http://schemas.microsoft.com/office/powerpoint/2010/main" val="2343125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1944217"/>
          </a:xfrm>
        </p:spPr>
        <p:txBody>
          <a:bodyPr>
            <a:normAutofit fontScale="55000" lnSpcReduction="20000"/>
          </a:bodyPr>
          <a:lstStyle/>
          <a:p>
            <a:r>
              <a:rPr lang="es-ES" dirty="0">
                <a:solidFill>
                  <a:schemeClr val="bg1">
                    <a:lumMod val="50000"/>
                  </a:schemeClr>
                </a:solidFill>
              </a:rPr>
              <a:t>Escribir un programa que calcule el área y el perímetro de un cuadrado,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“l” el valor del lado del cuadrado. Además, trabajar con valores flotantes y con las funciones matemáticas de la librería “</a:t>
            </a:r>
            <a:r>
              <a:rPr lang="es-ES" dirty="0" err="1">
                <a:solidFill>
                  <a:schemeClr val="bg1">
                    <a:lumMod val="50000"/>
                  </a:schemeClr>
                </a:solidFill>
              </a:rPr>
              <a:t>cmath</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9" name="12 CuadroTexto"/>
          <p:cNvSpPr txBox="1"/>
          <p:nvPr/>
        </p:nvSpPr>
        <p:spPr>
          <a:xfrm>
            <a:off x="4283968" y="5528265"/>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1.30:</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1.30</a:t>
            </a:r>
            <a:endParaRPr lang="es-EC" sz="2800" dirty="0">
              <a:solidFill>
                <a:schemeClr val="bg1">
                  <a:lumMod val="50000"/>
                </a:schemeClr>
              </a:solidFill>
            </a:endParaRPr>
          </a:p>
        </p:txBody>
      </p:sp>
      <p:pic>
        <p:nvPicPr>
          <p:cNvPr id="8" name="Imagen 7">
            <a:extLst>
              <a:ext uri="{FF2B5EF4-FFF2-40B4-BE49-F238E27FC236}">
                <a16:creationId xmlns:a16="http://schemas.microsoft.com/office/drawing/2014/main" id="{F1C33585-4017-29FD-4AE9-4429677C57DA}"/>
              </a:ext>
            </a:extLst>
          </p:cNvPr>
          <p:cNvPicPr>
            <a:picLocks noChangeAspect="1"/>
          </p:cNvPicPr>
          <p:nvPr/>
        </p:nvPicPr>
        <p:blipFill>
          <a:blip r:embed="rId2"/>
          <a:stretch>
            <a:fillRect/>
          </a:stretch>
        </p:blipFill>
        <p:spPr>
          <a:xfrm>
            <a:off x="418789" y="4437112"/>
            <a:ext cx="2607940" cy="359144"/>
          </a:xfrm>
          <a:prstGeom prst="rect">
            <a:avLst/>
          </a:prstGeom>
        </p:spPr>
      </p:pic>
      <p:pic>
        <p:nvPicPr>
          <p:cNvPr id="11" name="Imagen 10">
            <a:extLst>
              <a:ext uri="{FF2B5EF4-FFF2-40B4-BE49-F238E27FC236}">
                <a16:creationId xmlns:a16="http://schemas.microsoft.com/office/drawing/2014/main" id="{9F55641D-7475-F134-246F-6328B93700D4}"/>
              </a:ext>
            </a:extLst>
          </p:cNvPr>
          <p:cNvPicPr>
            <a:picLocks noChangeAspect="1"/>
          </p:cNvPicPr>
          <p:nvPr/>
        </p:nvPicPr>
        <p:blipFill>
          <a:blip r:embed="rId3"/>
          <a:stretch>
            <a:fillRect/>
          </a:stretch>
        </p:blipFill>
        <p:spPr>
          <a:xfrm>
            <a:off x="3275856" y="1390389"/>
            <a:ext cx="5688632" cy="4066505"/>
          </a:xfrm>
          <a:prstGeom prst="rect">
            <a:avLst/>
          </a:prstGeom>
        </p:spPr>
      </p:pic>
    </p:spTree>
    <p:extLst>
      <p:ext uri="{BB962C8B-B14F-4D97-AF65-F5344CB8AC3E}">
        <p14:creationId xmlns:p14="http://schemas.microsoft.com/office/powerpoint/2010/main" val="1080994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9" name="12 CuadroTexto"/>
          <p:cNvSpPr txBox="1"/>
          <p:nvPr/>
        </p:nvSpPr>
        <p:spPr>
          <a:xfrm>
            <a:off x="4283968" y="4448145"/>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1.30:</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1.30</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DE8239C5-6A55-0205-9859-64F9B3EAF33F}"/>
              </a:ext>
            </a:extLst>
          </p:cNvPr>
          <p:cNvPicPr>
            <a:picLocks noChangeAspect="1"/>
          </p:cNvPicPr>
          <p:nvPr/>
        </p:nvPicPr>
        <p:blipFill>
          <a:blip r:embed="rId2"/>
          <a:stretch>
            <a:fillRect/>
          </a:stretch>
        </p:blipFill>
        <p:spPr>
          <a:xfrm>
            <a:off x="3131840" y="2287905"/>
            <a:ext cx="5940151" cy="2086417"/>
          </a:xfrm>
          <a:prstGeom prst="rect">
            <a:avLst/>
          </a:prstGeom>
        </p:spPr>
      </p:pic>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11" name="4 Marcador de contenido">
            <a:extLst>
              <a:ext uri="{FF2B5EF4-FFF2-40B4-BE49-F238E27FC236}">
                <a16:creationId xmlns:a16="http://schemas.microsoft.com/office/drawing/2014/main" id="{01CF5207-7A51-6E9D-D1F6-32C72788318A}"/>
              </a:ext>
            </a:extLst>
          </p:cNvPr>
          <p:cNvSpPr txBox="1">
            <a:spLocks/>
          </p:cNvSpPr>
          <p:nvPr/>
        </p:nvSpPr>
        <p:spPr>
          <a:xfrm>
            <a:off x="107505" y="2348879"/>
            <a:ext cx="2952328" cy="1944217"/>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dirty="0">
                <a:solidFill>
                  <a:schemeClr val="bg1">
                    <a:lumMod val="50000"/>
                  </a:schemeClr>
                </a:solidFill>
              </a:rPr>
              <a:t>Escribir un programa que calcule el área y el perímetro de un cuadrado,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“l” el valor del lado del cuadrado. Además, trabajar con valores flotantes y con las funciones matemáticas de la librería “</a:t>
            </a:r>
            <a:r>
              <a:rPr lang="es-ES" dirty="0" err="1">
                <a:solidFill>
                  <a:schemeClr val="bg1">
                    <a:lumMod val="50000"/>
                  </a:schemeClr>
                </a:solidFill>
              </a:rPr>
              <a:t>cmath</a:t>
            </a:r>
            <a:r>
              <a:rPr lang="es-ES" dirty="0">
                <a:solidFill>
                  <a:schemeClr val="bg1">
                    <a:lumMod val="50000"/>
                  </a:schemeClr>
                </a:solidFill>
              </a:rPr>
              <a:t>”.</a:t>
            </a:r>
          </a:p>
        </p:txBody>
      </p:sp>
      <p:pic>
        <p:nvPicPr>
          <p:cNvPr id="12" name="Imagen 11">
            <a:extLst>
              <a:ext uri="{FF2B5EF4-FFF2-40B4-BE49-F238E27FC236}">
                <a16:creationId xmlns:a16="http://schemas.microsoft.com/office/drawing/2014/main" id="{0521067F-7BF3-B93C-8131-D983F2B61170}"/>
              </a:ext>
            </a:extLst>
          </p:cNvPr>
          <p:cNvPicPr>
            <a:picLocks noChangeAspect="1"/>
          </p:cNvPicPr>
          <p:nvPr/>
        </p:nvPicPr>
        <p:blipFill>
          <a:blip r:embed="rId3"/>
          <a:stretch>
            <a:fillRect/>
          </a:stretch>
        </p:blipFill>
        <p:spPr>
          <a:xfrm>
            <a:off x="418789" y="4437112"/>
            <a:ext cx="2607940" cy="359144"/>
          </a:xfrm>
          <a:prstGeom prst="rect">
            <a:avLst/>
          </a:prstGeom>
        </p:spPr>
      </p:pic>
    </p:spTree>
    <p:extLst>
      <p:ext uri="{BB962C8B-B14F-4D97-AF65-F5344CB8AC3E}">
        <p14:creationId xmlns:p14="http://schemas.microsoft.com/office/powerpoint/2010/main" val="1991916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856984" cy="3024336"/>
          </a:xfrm>
        </p:spPr>
        <p:txBody>
          <a:bodyPr>
            <a:normAutofit lnSpcReduction="10000"/>
          </a:bodyPr>
          <a:lstStyle/>
          <a:p>
            <a:r>
              <a:rPr lang="es-ES" sz="1200" dirty="0">
                <a:solidFill>
                  <a:schemeClr val="bg1">
                    <a:lumMod val="50000"/>
                  </a:schemeClr>
                </a:solidFill>
              </a:rPr>
              <a:t>Como se puede ver en este programa, la única entrada es el valor del “lado” del cuadrado, para lo cual utilizamos la función “</a:t>
            </a:r>
            <a:r>
              <a:rPr lang="es-ES" sz="1200" dirty="0" err="1">
                <a:solidFill>
                  <a:schemeClr val="bg1">
                    <a:lumMod val="50000"/>
                  </a:schemeClr>
                </a:solidFill>
              </a:rPr>
              <a:t>cin</a:t>
            </a:r>
            <a:r>
              <a:rPr lang="es-ES" sz="1200" dirty="0">
                <a:solidFill>
                  <a:schemeClr val="bg1">
                    <a:lumMod val="50000"/>
                  </a:schemeClr>
                </a:solidFill>
              </a:rPr>
              <a:t>” que permite leer un dato de manera individual:</a:t>
            </a:r>
          </a:p>
          <a:p>
            <a:endParaRPr lang="es-ES" sz="1200" dirty="0">
              <a:solidFill>
                <a:schemeClr val="bg1">
                  <a:lumMod val="50000"/>
                </a:schemeClr>
              </a:solidFill>
            </a:endParaRPr>
          </a:p>
          <a:p>
            <a:pPr marL="341313" indent="0">
              <a:buNone/>
            </a:pP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lado;</a:t>
            </a:r>
            <a:endParaRPr lang="es-ES" sz="1200" dirty="0">
              <a:solidFill>
                <a:schemeClr val="bg1">
                  <a:lumMod val="50000"/>
                </a:schemeClr>
              </a:solidFill>
            </a:endParaRPr>
          </a:p>
          <a:p>
            <a:endParaRPr lang="es-ES" sz="1200" dirty="0">
              <a:solidFill>
                <a:schemeClr val="bg1">
                  <a:lumMod val="50000"/>
                </a:schemeClr>
              </a:solidFill>
            </a:endParaRPr>
          </a:p>
          <a:p>
            <a:r>
              <a:rPr lang="es-ES" sz="1200" dirty="0">
                <a:solidFill>
                  <a:schemeClr val="bg1">
                    <a:lumMod val="50000"/>
                  </a:schemeClr>
                </a:solidFill>
              </a:rPr>
              <a:t>Luego nosotros calculamos y desplegamos el valor del perímetro y del área del cuadrado:</a:t>
            </a:r>
          </a:p>
          <a:p>
            <a:endParaRPr lang="es-ES" sz="1200" dirty="0">
              <a:solidFill>
                <a:schemeClr val="bg1">
                  <a:lumMod val="50000"/>
                </a:schemeClr>
              </a:solidFill>
            </a:endParaRPr>
          </a:p>
          <a:p>
            <a:pPr marL="341313" marR="0" indent="0">
              <a:lnSpc>
                <a:spcPct val="120000"/>
              </a:lnSpc>
              <a:spcBef>
                <a:spcPts val="0"/>
              </a:spcBef>
              <a:buNone/>
            </a:pPr>
            <a:r>
              <a:rPr lang="es-ES" sz="12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perímetro del cuadrado.</a:t>
            </a:r>
          </a:p>
          <a:p>
            <a:pPr marL="341313" marR="0" indent="0">
              <a:lnSpc>
                <a:spcPct val="120000"/>
              </a:lnSpc>
              <a:spcBef>
                <a:spcPts val="0"/>
              </a:spcBef>
              <a:buNone/>
            </a:pP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p = 4 * lado;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1313" marR="0" indent="0">
              <a:lnSpc>
                <a:spcPct val="120000"/>
              </a:lnSpc>
              <a:spcBef>
                <a:spcPts val="0"/>
              </a:spcBef>
              <a:buNone/>
            </a:pPr>
            <a:r>
              <a:rPr lang="es-ES" sz="12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área del cuadrado.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1313" marR="0" indent="0">
              <a:lnSpc>
                <a:spcPct val="120000"/>
              </a:lnSpc>
              <a:spcBef>
                <a:spcPts val="0"/>
              </a:spcBef>
              <a:buNone/>
            </a:pP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pow</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(lado, 2);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1313" marR="0" indent="0">
              <a:lnSpc>
                <a:spcPct val="120000"/>
              </a:lnSpc>
              <a:spcBef>
                <a:spcPts val="0"/>
              </a:spcBef>
              <a:buNone/>
            </a:pPr>
            <a:r>
              <a:rPr lang="es-ES" sz="12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Imprimir el perímetro y el área del cuadrado.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1313" marR="0" indent="0">
              <a:lnSpc>
                <a:spcPct val="120000"/>
              </a:lnSpc>
              <a:spcBef>
                <a:spcPts val="0"/>
              </a:spcBef>
              <a:buNone/>
            </a:pP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"Perímetro: "</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p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1313" marR="0" indent="0">
              <a:lnSpc>
                <a:spcPct val="120000"/>
              </a:lnSpc>
              <a:spcBef>
                <a:spcPts val="0"/>
              </a:spcBef>
              <a:buNone/>
            </a:pP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"Área: "</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2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S" sz="12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9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
        <p:nvSpPr>
          <p:cNvPr id="9" name="12 CuadroTexto"/>
          <p:cNvSpPr txBox="1"/>
          <p:nvPr/>
        </p:nvSpPr>
        <p:spPr>
          <a:xfrm>
            <a:off x="2595699" y="5952692"/>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1.30:</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1.30</a:t>
            </a:r>
            <a:endParaRPr lang="es-EC" sz="2800" dirty="0">
              <a:solidFill>
                <a:schemeClr val="bg1">
                  <a:lumMod val="50000"/>
                </a:schemeClr>
              </a:solidFill>
            </a:endParaRPr>
          </a:p>
        </p:txBody>
      </p:sp>
      <p:pic>
        <p:nvPicPr>
          <p:cNvPr id="4" name="Imagen 3">
            <a:extLst>
              <a:ext uri="{FF2B5EF4-FFF2-40B4-BE49-F238E27FC236}">
                <a16:creationId xmlns:a16="http://schemas.microsoft.com/office/drawing/2014/main" id="{B70B9BCB-D1BF-E13B-DF28-4886303E92BA}"/>
              </a:ext>
            </a:extLst>
          </p:cNvPr>
          <p:cNvPicPr>
            <a:picLocks noChangeAspect="1"/>
          </p:cNvPicPr>
          <p:nvPr/>
        </p:nvPicPr>
        <p:blipFill>
          <a:blip r:embed="rId2"/>
          <a:stretch>
            <a:fillRect/>
          </a:stretch>
        </p:blipFill>
        <p:spPr>
          <a:xfrm>
            <a:off x="1871662" y="4728552"/>
            <a:ext cx="5400675" cy="1103630"/>
          </a:xfrm>
          <a:prstGeom prst="rect">
            <a:avLst/>
          </a:prstGeom>
        </p:spPr>
      </p:pic>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Tree>
    <p:extLst>
      <p:ext uri="{BB962C8B-B14F-4D97-AF65-F5344CB8AC3E}">
        <p14:creationId xmlns:p14="http://schemas.microsoft.com/office/powerpoint/2010/main" val="270670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1.31. (Cálculo del área y perímetro de un cuadrado utilizando </a:t>
            </a:r>
            <a:r>
              <a:rPr lang="es-ES" b="1" dirty="0" err="1">
                <a:solidFill>
                  <a:srgbClr val="FF0000"/>
                </a:solidFill>
              </a:rPr>
              <a:t>printf</a:t>
            </a:r>
            <a:r>
              <a:rPr lang="es-ES" b="1" dirty="0">
                <a:solidFill>
                  <a:srgbClr val="FF0000"/>
                </a:solidFill>
              </a:rPr>
              <a:t> y </a:t>
            </a:r>
            <a:r>
              <a:rPr lang="es-ES" b="1" dirty="0" err="1">
                <a:solidFill>
                  <a:srgbClr val="FF0000"/>
                </a:solidFill>
              </a:rPr>
              <a:t>scanf</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2644658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1944217"/>
          </a:xfrm>
        </p:spPr>
        <p:txBody>
          <a:bodyPr>
            <a:normAutofit fontScale="55000" lnSpcReduction="20000"/>
          </a:bodyPr>
          <a:lstStyle/>
          <a:p>
            <a:r>
              <a:rPr lang="es-ES" dirty="0">
                <a:solidFill>
                  <a:schemeClr val="bg1">
                    <a:lumMod val="50000"/>
                  </a:schemeClr>
                </a:solidFill>
              </a:rPr>
              <a:t>Escribir un programa que calcule el área y el perímetro de un cuadrado,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“l” el valor del lado del cuadrado. Además, trabajar con valores flotantes y con las funciones matemáticas de la librería “</a:t>
            </a:r>
            <a:r>
              <a:rPr lang="es-ES" dirty="0" err="1">
                <a:solidFill>
                  <a:schemeClr val="bg1">
                    <a:lumMod val="50000"/>
                  </a:schemeClr>
                </a:solidFill>
              </a:rPr>
              <a:t>cmath</a:t>
            </a:r>
            <a:r>
              <a:rPr lang="es-ES" dirty="0">
                <a:solidFill>
                  <a:schemeClr val="bg1">
                    <a:lumMod val="50000"/>
                  </a:schemeClr>
                </a:solidFill>
              </a:rPr>
              <a:t>”.</a:t>
            </a: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
        <p:nvSpPr>
          <p:cNvPr id="9" name="12 CuadroTexto"/>
          <p:cNvSpPr txBox="1"/>
          <p:nvPr/>
        </p:nvSpPr>
        <p:spPr>
          <a:xfrm>
            <a:off x="4283968" y="5672281"/>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1.31:</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1.31</a:t>
            </a:r>
            <a:endParaRPr lang="es-EC" sz="2800" dirty="0">
              <a:solidFill>
                <a:schemeClr val="bg1">
                  <a:lumMod val="50000"/>
                </a:schemeClr>
              </a:solidFill>
            </a:endParaRPr>
          </a:p>
        </p:txBody>
      </p:sp>
      <p:pic>
        <p:nvPicPr>
          <p:cNvPr id="8" name="Imagen 7">
            <a:extLst>
              <a:ext uri="{FF2B5EF4-FFF2-40B4-BE49-F238E27FC236}">
                <a16:creationId xmlns:a16="http://schemas.microsoft.com/office/drawing/2014/main" id="{F1C33585-4017-29FD-4AE9-4429677C57DA}"/>
              </a:ext>
            </a:extLst>
          </p:cNvPr>
          <p:cNvPicPr>
            <a:picLocks noChangeAspect="1"/>
          </p:cNvPicPr>
          <p:nvPr/>
        </p:nvPicPr>
        <p:blipFill>
          <a:blip r:embed="rId2"/>
          <a:stretch>
            <a:fillRect/>
          </a:stretch>
        </p:blipFill>
        <p:spPr>
          <a:xfrm>
            <a:off x="395536" y="4366000"/>
            <a:ext cx="2607940" cy="359144"/>
          </a:xfrm>
          <a:prstGeom prst="rect">
            <a:avLst/>
          </a:prstGeom>
        </p:spPr>
      </p:pic>
      <p:pic>
        <p:nvPicPr>
          <p:cNvPr id="7" name="Imagen 6">
            <a:extLst>
              <a:ext uri="{FF2B5EF4-FFF2-40B4-BE49-F238E27FC236}">
                <a16:creationId xmlns:a16="http://schemas.microsoft.com/office/drawing/2014/main" id="{7C9F1B4A-CE21-BCDC-6ABA-8CC929B7AB7A}"/>
              </a:ext>
            </a:extLst>
          </p:cNvPr>
          <p:cNvPicPr>
            <a:picLocks noChangeAspect="1"/>
          </p:cNvPicPr>
          <p:nvPr/>
        </p:nvPicPr>
        <p:blipFill>
          <a:blip r:embed="rId3"/>
          <a:stretch>
            <a:fillRect/>
          </a:stretch>
        </p:blipFill>
        <p:spPr>
          <a:xfrm>
            <a:off x="3143998" y="1639668"/>
            <a:ext cx="5880341" cy="3883680"/>
          </a:xfrm>
          <a:prstGeom prst="rect">
            <a:avLst/>
          </a:prstGeom>
        </p:spPr>
      </p:pic>
    </p:spTree>
    <p:extLst>
      <p:ext uri="{BB962C8B-B14F-4D97-AF65-F5344CB8AC3E}">
        <p14:creationId xmlns:p14="http://schemas.microsoft.com/office/powerpoint/2010/main" val="4102518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
        <p:nvSpPr>
          <p:cNvPr id="9" name="12 CuadroTexto"/>
          <p:cNvSpPr txBox="1"/>
          <p:nvPr/>
        </p:nvSpPr>
        <p:spPr>
          <a:xfrm>
            <a:off x="4283968" y="4520153"/>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1.31:</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1.31</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pic>
        <p:nvPicPr>
          <p:cNvPr id="10" name="Imagen 9">
            <a:extLst>
              <a:ext uri="{FF2B5EF4-FFF2-40B4-BE49-F238E27FC236}">
                <a16:creationId xmlns:a16="http://schemas.microsoft.com/office/drawing/2014/main" id="{1B3E5FFD-8643-8C7C-761B-B77521FF423F}"/>
              </a:ext>
            </a:extLst>
          </p:cNvPr>
          <p:cNvPicPr>
            <a:picLocks noChangeAspect="1"/>
          </p:cNvPicPr>
          <p:nvPr/>
        </p:nvPicPr>
        <p:blipFill>
          <a:blip r:embed="rId3"/>
          <a:stretch>
            <a:fillRect/>
          </a:stretch>
        </p:blipFill>
        <p:spPr>
          <a:xfrm>
            <a:off x="3082974" y="2348880"/>
            <a:ext cx="6022279" cy="2108544"/>
          </a:xfrm>
          <a:prstGeom prst="rect">
            <a:avLst/>
          </a:prstGeom>
        </p:spPr>
      </p:pic>
      <p:sp>
        <p:nvSpPr>
          <p:cNvPr id="11" name="4 Marcador de contenido">
            <a:extLst>
              <a:ext uri="{FF2B5EF4-FFF2-40B4-BE49-F238E27FC236}">
                <a16:creationId xmlns:a16="http://schemas.microsoft.com/office/drawing/2014/main" id="{90A4434C-A001-4B7B-B92E-23BD0DE84E27}"/>
              </a:ext>
            </a:extLst>
          </p:cNvPr>
          <p:cNvSpPr>
            <a:spLocks noGrp="1"/>
          </p:cNvSpPr>
          <p:nvPr>
            <p:ph idx="1"/>
          </p:nvPr>
        </p:nvSpPr>
        <p:spPr>
          <a:xfrm>
            <a:off x="107505" y="2348879"/>
            <a:ext cx="2952328" cy="1944217"/>
          </a:xfrm>
        </p:spPr>
        <p:txBody>
          <a:bodyPr>
            <a:normAutofit fontScale="55000" lnSpcReduction="20000"/>
          </a:bodyPr>
          <a:lstStyle/>
          <a:p>
            <a:r>
              <a:rPr lang="es-ES" dirty="0">
                <a:solidFill>
                  <a:schemeClr val="bg1">
                    <a:lumMod val="50000"/>
                  </a:schemeClr>
                </a:solidFill>
              </a:rPr>
              <a:t>Escribir un programa que calcule el área y el perímetro de un cuadrado,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“l” el valor del lado del cuadrado. Además, trabajar con valores flotantes y con las funciones matemáticas de la librería “</a:t>
            </a:r>
            <a:r>
              <a:rPr lang="es-ES" dirty="0" err="1">
                <a:solidFill>
                  <a:schemeClr val="bg1">
                    <a:lumMod val="50000"/>
                  </a:schemeClr>
                </a:solidFill>
              </a:rPr>
              <a:t>cmath</a:t>
            </a:r>
            <a:r>
              <a:rPr lang="es-ES" dirty="0">
                <a:solidFill>
                  <a:schemeClr val="bg1">
                    <a:lumMod val="50000"/>
                  </a:schemeClr>
                </a:solidFill>
              </a:rPr>
              <a:t>”.</a:t>
            </a:r>
          </a:p>
        </p:txBody>
      </p:sp>
      <p:pic>
        <p:nvPicPr>
          <p:cNvPr id="12" name="Imagen 11">
            <a:extLst>
              <a:ext uri="{FF2B5EF4-FFF2-40B4-BE49-F238E27FC236}">
                <a16:creationId xmlns:a16="http://schemas.microsoft.com/office/drawing/2014/main" id="{E204B234-B0B7-0491-2898-BB833AFFF389}"/>
              </a:ext>
            </a:extLst>
          </p:cNvPr>
          <p:cNvPicPr>
            <a:picLocks noChangeAspect="1"/>
          </p:cNvPicPr>
          <p:nvPr/>
        </p:nvPicPr>
        <p:blipFill>
          <a:blip r:embed="rId4"/>
          <a:stretch>
            <a:fillRect/>
          </a:stretch>
        </p:blipFill>
        <p:spPr>
          <a:xfrm>
            <a:off x="395536" y="4366000"/>
            <a:ext cx="2607940" cy="359144"/>
          </a:xfrm>
          <a:prstGeom prst="rect">
            <a:avLst/>
          </a:prstGeom>
        </p:spPr>
      </p:pic>
    </p:spTree>
    <p:extLst>
      <p:ext uri="{BB962C8B-B14F-4D97-AF65-F5344CB8AC3E}">
        <p14:creationId xmlns:p14="http://schemas.microsoft.com/office/powerpoint/2010/main" val="3390123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496944" cy="3024336"/>
          </a:xfrm>
        </p:spPr>
        <p:txBody>
          <a:bodyPr>
            <a:normAutofit fontScale="92500"/>
          </a:bodyPr>
          <a:lstStyle/>
          <a:p>
            <a:r>
              <a:rPr lang="es-ES" sz="1200" dirty="0">
                <a:solidFill>
                  <a:schemeClr val="bg1">
                    <a:lumMod val="50000"/>
                  </a:schemeClr>
                </a:solidFill>
              </a:rPr>
              <a:t>Como se puede ver en este programa, la única entrada es el valor del lado del cuadrado representada por la variable “lado”, para lo cual utilizamos la función “</a:t>
            </a:r>
            <a:r>
              <a:rPr lang="es-ES" sz="1200" dirty="0" err="1">
                <a:solidFill>
                  <a:schemeClr val="bg1">
                    <a:lumMod val="50000"/>
                  </a:schemeClr>
                </a:solidFill>
              </a:rPr>
              <a:t>scanf_s</a:t>
            </a:r>
            <a:r>
              <a:rPr lang="es-ES" sz="1200" dirty="0">
                <a:solidFill>
                  <a:schemeClr val="bg1">
                    <a:lumMod val="50000"/>
                  </a:schemeClr>
                </a:solidFill>
              </a:rPr>
              <a:t>” que permite leer un dato, donde se utiliza el especificador de formato “%f” y la dirección de la variable “lado” manipulada por el operador “&amp;”:</a:t>
            </a:r>
          </a:p>
          <a:p>
            <a:endParaRPr lang="es-ES" sz="1200" dirty="0">
              <a:solidFill>
                <a:schemeClr val="bg1">
                  <a:lumMod val="50000"/>
                </a:schemeClr>
              </a:solidFill>
            </a:endParaRPr>
          </a:p>
          <a:p>
            <a:pPr indent="0">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&amp;lado);</a:t>
            </a:r>
            <a:endPar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endParaRPr>
          </a:p>
          <a:p>
            <a:endParaRPr lang="es-ES" sz="1200" dirty="0">
              <a:solidFill>
                <a:schemeClr val="bg1">
                  <a:lumMod val="50000"/>
                </a:schemeClr>
              </a:solidFill>
            </a:endParaRPr>
          </a:p>
          <a:p>
            <a:r>
              <a:rPr lang="es-ES" sz="1200" dirty="0">
                <a:solidFill>
                  <a:schemeClr val="bg1">
                    <a:lumMod val="50000"/>
                  </a:schemeClr>
                </a:solidFill>
              </a:rPr>
              <a:t>Luego nosotros calculamos y desplegamos el valor del perímetro y del área del cuadrado:</a:t>
            </a:r>
          </a:p>
          <a:p>
            <a:endParaRPr lang="es-ES" sz="1200" dirty="0">
              <a:solidFill>
                <a:schemeClr val="bg1">
                  <a:lumMod val="50000"/>
                </a:schemeClr>
              </a:solidFill>
            </a:endParaRPr>
          </a:p>
          <a:p>
            <a:pPr marR="0" indent="0">
              <a:lnSpc>
                <a:spcPct val="120000"/>
              </a:lnSpc>
              <a:spcBef>
                <a:spcPts val="0"/>
              </a:spcBef>
              <a:buNone/>
            </a:pPr>
            <a:r>
              <a:rPr lang="es-ES" sz="11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perímetro del cuadrado.</a:t>
            </a:r>
          </a:p>
          <a:p>
            <a:pPr marR="0" indent="0">
              <a:lnSpc>
                <a:spcPct val="120000"/>
              </a:lnSpc>
              <a:spcBef>
                <a:spcPts val="0"/>
              </a:spcBef>
              <a:buNone/>
            </a:pP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p = 4 * lado;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área del cuadrado.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pow</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(lado, 2);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Imprimir el perímetro y el área del cuadrado.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"Perímetro: %f\n"</a:t>
            </a:r>
            <a:r>
              <a:rPr lang="es-E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Área</a:t>
            </a:r>
            <a:r>
              <a:rPr lang="en-US" sz="11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%f\n"</a:t>
            </a: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area);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100" dirty="0">
              <a:solidFill>
                <a:schemeClr val="bg1">
                  <a:lumMod val="50000"/>
                </a:schemeClr>
              </a:solidFill>
            </a:endParaRPr>
          </a:p>
          <a:p>
            <a:pPr marL="341313" marR="0" indent="0">
              <a:lnSpc>
                <a:spcPct val="120000"/>
              </a:lnSpc>
              <a:spcBef>
                <a:spcPts val="0"/>
              </a:spcBef>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9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
        <p:nvSpPr>
          <p:cNvPr id="9" name="12 CuadroTexto"/>
          <p:cNvSpPr txBox="1"/>
          <p:nvPr/>
        </p:nvSpPr>
        <p:spPr>
          <a:xfrm>
            <a:off x="2595699" y="5952692"/>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1.31:</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1.31</a:t>
            </a:r>
            <a:endParaRPr lang="es-EC" sz="2800" dirty="0">
              <a:solidFill>
                <a:schemeClr val="bg1">
                  <a:lumMod val="50000"/>
                </a:schemeClr>
              </a:solidFill>
            </a:endParaRPr>
          </a:p>
        </p:txBody>
      </p:sp>
      <p:pic>
        <p:nvPicPr>
          <p:cNvPr id="4" name="Imagen 3">
            <a:extLst>
              <a:ext uri="{FF2B5EF4-FFF2-40B4-BE49-F238E27FC236}">
                <a16:creationId xmlns:a16="http://schemas.microsoft.com/office/drawing/2014/main" id="{B70B9BCB-D1BF-E13B-DF28-4886303E92BA}"/>
              </a:ext>
            </a:extLst>
          </p:cNvPr>
          <p:cNvPicPr>
            <a:picLocks noChangeAspect="1"/>
          </p:cNvPicPr>
          <p:nvPr/>
        </p:nvPicPr>
        <p:blipFill>
          <a:blip r:embed="rId2"/>
          <a:stretch>
            <a:fillRect/>
          </a:stretch>
        </p:blipFill>
        <p:spPr>
          <a:xfrm>
            <a:off x="1871662" y="4728552"/>
            <a:ext cx="5400675" cy="1103630"/>
          </a:xfrm>
          <a:prstGeom prst="rect">
            <a:avLst/>
          </a:prstGeom>
        </p:spPr>
      </p:pic>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Tree>
    <p:extLst>
      <p:ext uri="{BB962C8B-B14F-4D97-AF65-F5344CB8AC3E}">
        <p14:creationId xmlns:p14="http://schemas.microsoft.com/office/powerpoint/2010/main" val="1611987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1.32. (Cálculo del área y perímetro de un rectángulo utilizando </a:t>
            </a:r>
            <a:r>
              <a:rPr lang="es-ES" b="1" dirty="0" err="1">
                <a:solidFill>
                  <a:srgbClr val="FF0000"/>
                </a:solidFill>
              </a:rPr>
              <a:t>cout</a:t>
            </a:r>
            <a:r>
              <a:rPr lang="es-ES" b="1" dirty="0">
                <a:solidFill>
                  <a:srgbClr val="FF0000"/>
                </a:solidFill>
              </a:rPr>
              <a:t> y </a:t>
            </a:r>
            <a:r>
              <a:rPr lang="es-ES" b="1" dirty="0" err="1">
                <a:solidFill>
                  <a:srgbClr val="FF0000"/>
                </a:solidFill>
              </a:rPr>
              <a:t>cin</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Tree>
    <p:extLst>
      <p:ext uri="{BB962C8B-B14F-4D97-AF65-F5344CB8AC3E}">
        <p14:creationId xmlns:p14="http://schemas.microsoft.com/office/powerpoint/2010/main" val="2612739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2232249"/>
          </a:xfrm>
        </p:spPr>
        <p:txBody>
          <a:bodyPr>
            <a:normAutofit fontScale="62500" lnSpcReduction="20000"/>
          </a:bodyPr>
          <a:lstStyle/>
          <a:p>
            <a:r>
              <a:rPr lang="es-ES" dirty="0">
                <a:solidFill>
                  <a:schemeClr val="bg1">
                    <a:lumMod val="50000"/>
                  </a:schemeClr>
                </a:solidFill>
              </a:rPr>
              <a:t>Escribir un programa que calcule el área y el perímetro de un rectángulo,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“a” y “b” los valores de los lados del rectángulo. (Trabajar con valores flotantes). </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9" name="12 CuadroTexto"/>
          <p:cNvSpPr txBox="1"/>
          <p:nvPr/>
        </p:nvSpPr>
        <p:spPr>
          <a:xfrm>
            <a:off x="4283968" y="6093296"/>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1.32:</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1.32</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232C95E4-43EA-F0D6-F866-C89C70886A56}"/>
              </a:ext>
            </a:extLst>
          </p:cNvPr>
          <p:cNvPicPr>
            <a:picLocks noChangeAspect="1"/>
          </p:cNvPicPr>
          <p:nvPr/>
        </p:nvPicPr>
        <p:blipFill>
          <a:blip r:embed="rId2"/>
          <a:stretch>
            <a:fillRect/>
          </a:stretch>
        </p:blipFill>
        <p:spPr>
          <a:xfrm>
            <a:off x="323527" y="4622721"/>
            <a:ext cx="2880321" cy="390455"/>
          </a:xfrm>
          <a:prstGeom prst="rect">
            <a:avLst/>
          </a:prstGeom>
        </p:spPr>
      </p:pic>
      <p:pic>
        <p:nvPicPr>
          <p:cNvPr id="13" name="Imagen 12">
            <a:extLst>
              <a:ext uri="{FF2B5EF4-FFF2-40B4-BE49-F238E27FC236}">
                <a16:creationId xmlns:a16="http://schemas.microsoft.com/office/drawing/2014/main" id="{54CBB19C-8FA9-731E-4310-9E0C934A3D7B}"/>
              </a:ext>
            </a:extLst>
          </p:cNvPr>
          <p:cNvPicPr>
            <a:picLocks noChangeAspect="1"/>
          </p:cNvPicPr>
          <p:nvPr/>
        </p:nvPicPr>
        <p:blipFill>
          <a:blip r:embed="rId3"/>
          <a:stretch>
            <a:fillRect/>
          </a:stretch>
        </p:blipFill>
        <p:spPr>
          <a:xfrm>
            <a:off x="3635896" y="1533277"/>
            <a:ext cx="4714298" cy="4488011"/>
          </a:xfrm>
          <a:prstGeom prst="rect">
            <a:avLst/>
          </a:prstGeom>
        </p:spPr>
      </p:pic>
    </p:spTree>
    <p:extLst>
      <p:ext uri="{BB962C8B-B14F-4D97-AF65-F5344CB8AC3E}">
        <p14:creationId xmlns:p14="http://schemas.microsoft.com/office/powerpoint/2010/main" val="2256540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9" name="12 CuadroTexto"/>
          <p:cNvSpPr txBox="1"/>
          <p:nvPr/>
        </p:nvSpPr>
        <p:spPr>
          <a:xfrm>
            <a:off x="4431597" y="4874676"/>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1.32:</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1.32</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11" name="4 Marcador de contenido">
            <a:extLst>
              <a:ext uri="{FF2B5EF4-FFF2-40B4-BE49-F238E27FC236}">
                <a16:creationId xmlns:a16="http://schemas.microsoft.com/office/drawing/2014/main" id="{B2026CC9-0CB0-E957-29B0-F91F8117A45D}"/>
              </a:ext>
            </a:extLst>
          </p:cNvPr>
          <p:cNvSpPr>
            <a:spLocks noGrp="1"/>
          </p:cNvSpPr>
          <p:nvPr>
            <p:ph idx="1"/>
          </p:nvPr>
        </p:nvSpPr>
        <p:spPr>
          <a:xfrm>
            <a:off x="107505" y="2348879"/>
            <a:ext cx="2952328" cy="2232249"/>
          </a:xfrm>
        </p:spPr>
        <p:txBody>
          <a:bodyPr>
            <a:normAutofit fontScale="62500" lnSpcReduction="20000"/>
          </a:bodyPr>
          <a:lstStyle/>
          <a:p>
            <a:r>
              <a:rPr lang="es-ES" dirty="0">
                <a:solidFill>
                  <a:schemeClr val="bg1">
                    <a:lumMod val="50000"/>
                  </a:schemeClr>
                </a:solidFill>
              </a:rPr>
              <a:t>Escribir un programa que calcule el área y el perímetro de un rectángulo,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“a” y “b” los valores de los lados del rectángulo. (Trabajar con valores flotantes). </a:t>
            </a:r>
          </a:p>
        </p:txBody>
      </p:sp>
      <p:pic>
        <p:nvPicPr>
          <p:cNvPr id="12" name="Imagen 11">
            <a:extLst>
              <a:ext uri="{FF2B5EF4-FFF2-40B4-BE49-F238E27FC236}">
                <a16:creationId xmlns:a16="http://schemas.microsoft.com/office/drawing/2014/main" id="{0C8EF427-D1BA-B95A-0BC5-0F3BDE257799}"/>
              </a:ext>
            </a:extLst>
          </p:cNvPr>
          <p:cNvPicPr>
            <a:picLocks noChangeAspect="1"/>
          </p:cNvPicPr>
          <p:nvPr/>
        </p:nvPicPr>
        <p:blipFill>
          <a:blip r:embed="rId2"/>
          <a:stretch>
            <a:fillRect/>
          </a:stretch>
        </p:blipFill>
        <p:spPr>
          <a:xfrm>
            <a:off x="323527" y="4622721"/>
            <a:ext cx="2880321" cy="390455"/>
          </a:xfrm>
          <a:prstGeom prst="rect">
            <a:avLst/>
          </a:prstGeom>
        </p:spPr>
      </p:pic>
      <p:pic>
        <p:nvPicPr>
          <p:cNvPr id="15" name="Imagen 14">
            <a:extLst>
              <a:ext uri="{FF2B5EF4-FFF2-40B4-BE49-F238E27FC236}">
                <a16:creationId xmlns:a16="http://schemas.microsoft.com/office/drawing/2014/main" id="{7C6071D6-1C07-5025-5D12-8C394756F394}"/>
              </a:ext>
            </a:extLst>
          </p:cNvPr>
          <p:cNvPicPr>
            <a:picLocks noChangeAspect="1"/>
          </p:cNvPicPr>
          <p:nvPr/>
        </p:nvPicPr>
        <p:blipFill>
          <a:blip r:embed="rId3"/>
          <a:stretch>
            <a:fillRect/>
          </a:stretch>
        </p:blipFill>
        <p:spPr>
          <a:xfrm>
            <a:off x="3635896" y="2347571"/>
            <a:ext cx="5335819" cy="2452987"/>
          </a:xfrm>
          <a:prstGeom prst="rect">
            <a:avLst/>
          </a:prstGeom>
        </p:spPr>
      </p:pic>
    </p:spTree>
    <p:extLst>
      <p:ext uri="{BB962C8B-B14F-4D97-AF65-F5344CB8AC3E}">
        <p14:creationId xmlns:p14="http://schemas.microsoft.com/office/powerpoint/2010/main" val="307073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856984" cy="3024336"/>
          </a:xfrm>
        </p:spPr>
        <p:txBody>
          <a:bodyPr>
            <a:normAutofit fontScale="92500" lnSpcReduction="20000"/>
          </a:bodyPr>
          <a:lstStyle/>
          <a:p>
            <a:r>
              <a:rPr lang="es-ES" sz="1300" dirty="0">
                <a:solidFill>
                  <a:schemeClr val="bg1">
                    <a:lumMod val="50000"/>
                  </a:schemeClr>
                </a:solidFill>
              </a:rPr>
              <a:t>Como se puede ver en este programa, hay dos entradas que son los valores del ancho “a” y el largo “b” del rectángulo, para lo cual utilizamos la función “</a:t>
            </a:r>
            <a:r>
              <a:rPr lang="es-ES" sz="1300" dirty="0" err="1">
                <a:solidFill>
                  <a:schemeClr val="bg1">
                    <a:lumMod val="50000"/>
                  </a:schemeClr>
                </a:solidFill>
              </a:rPr>
              <a:t>cin</a:t>
            </a:r>
            <a:r>
              <a:rPr lang="es-ES" sz="1300" dirty="0">
                <a:solidFill>
                  <a:schemeClr val="bg1">
                    <a:lumMod val="50000"/>
                  </a:schemeClr>
                </a:solidFill>
              </a:rPr>
              <a:t>” que permite leer un dato de manera individual:</a:t>
            </a:r>
          </a:p>
          <a:p>
            <a:endParaRPr lang="es-ES" sz="1300" dirty="0">
              <a:solidFill>
                <a:schemeClr val="bg1">
                  <a:lumMod val="50000"/>
                </a:schemeClr>
              </a:solidFill>
            </a:endParaRPr>
          </a:p>
          <a:p>
            <a:pPr marL="341313" indent="0">
              <a:buNone/>
            </a:pP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a:t>
            </a:r>
          </a:p>
          <a:p>
            <a:pPr marL="341313" indent="0">
              <a:buNone/>
            </a:pP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b;</a:t>
            </a:r>
            <a:endParaRPr lang="es-ES" sz="1300" dirty="0">
              <a:solidFill>
                <a:schemeClr val="bg1">
                  <a:lumMod val="50000"/>
                </a:schemeClr>
              </a:solidFill>
            </a:endParaRPr>
          </a:p>
          <a:p>
            <a:endParaRPr lang="es-ES" sz="1300" dirty="0">
              <a:solidFill>
                <a:schemeClr val="bg1">
                  <a:lumMod val="50000"/>
                </a:schemeClr>
              </a:solidFill>
            </a:endParaRPr>
          </a:p>
          <a:p>
            <a:r>
              <a:rPr lang="es-ES" sz="1300" dirty="0">
                <a:solidFill>
                  <a:schemeClr val="bg1">
                    <a:lumMod val="50000"/>
                  </a:schemeClr>
                </a:solidFill>
              </a:rPr>
              <a:t>Luego nosotros calculamos y desplegamos el valor del perímetro y del área del rectángulo:</a:t>
            </a:r>
          </a:p>
          <a:p>
            <a:endParaRPr lang="es-ES" sz="1300" dirty="0">
              <a:solidFill>
                <a:schemeClr val="bg1">
                  <a:lumMod val="50000"/>
                </a:schemeClr>
              </a:solidFill>
            </a:endParaRPr>
          </a:p>
          <a:p>
            <a:pPr marR="0" indent="0">
              <a:lnSpc>
                <a:spcPct val="120000"/>
              </a:lnSpc>
              <a:spcBef>
                <a:spcPts val="0"/>
              </a:spcBef>
              <a:buNone/>
            </a:pPr>
            <a:r>
              <a:rPr lang="es-ES" sz="13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perímetro del rectángulo.</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p = 2 * a + 2 * b;</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área del rectángulo.</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 * b;</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Imprimir el perímetro y el área del rectángulo.</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"Perímetro: "</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p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20000"/>
              </a:lnSpc>
              <a:spcBef>
                <a:spcPts val="0"/>
              </a:spcBef>
              <a:buNone/>
            </a:pP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cout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"Área: "</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&lt;&lt;</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13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endl</a:t>
            </a:r>
            <a:r>
              <a:rPr lang="es-ES" sz="13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es-ES" sz="13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9" name="12 CuadroTexto"/>
          <p:cNvSpPr txBox="1"/>
          <p:nvPr/>
        </p:nvSpPr>
        <p:spPr>
          <a:xfrm>
            <a:off x="2595699" y="6104329"/>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1.32:</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07504" y="1177588"/>
            <a:ext cx="8003726" cy="523220"/>
          </a:xfrm>
          <a:prstGeom prst="rect">
            <a:avLst/>
          </a:prstGeom>
          <a:noFill/>
        </p:spPr>
        <p:txBody>
          <a:bodyPr wrap="square" rtlCol="0">
            <a:spAutoFit/>
          </a:bodyPr>
          <a:lstStyle/>
          <a:p>
            <a:r>
              <a:rPr lang="es-ES" sz="2800" dirty="0">
                <a:solidFill>
                  <a:schemeClr val="bg1">
                    <a:lumMod val="50000"/>
                  </a:schemeClr>
                </a:solidFill>
              </a:rPr>
              <a:t>Problema 1.32</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pic>
        <p:nvPicPr>
          <p:cNvPr id="11" name="Imagen 10">
            <a:extLst>
              <a:ext uri="{FF2B5EF4-FFF2-40B4-BE49-F238E27FC236}">
                <a16:creationId xmlns:a16="http://schemas.microsoft.com/office/drawing/2014/main" id="{1AD6B572-2B90-A5B7-A2ED-F075475C319F}"/>
              </a:ext>
            </a:extLst>
          </p:cNvPr>
          <p:cNvPicPr>
            <a:picLocks noChangeAspect="1"/>
          </p:cNvPicPr>
          <p:nvPr/>
        </p:nvPicPr>
        <p:blipFill>
          <a:blip r:embed="rId2"/>
          <a:stretch>
            <a:fillRect/>
          </a:stretch>
        </p:blipFill>
        <p:spPr>
          <a:xfrm>
            <a:off x="1767569" y="4816566"/>
            <a:ext cx="5400675" cy="1196340"/>
          </a:xfrm>
          <a:prstGeom prst="rect">
            <a:avLst/>
          </a:prstGeom>
        </p:spPr>
      </p:pic>
    </p:spTree>
    <p:extLst>
      <p:ext uri="{BB962C8B-B14F-4D97-AF65-F5344CB8AC3E}">
        <p14:creationId xmlns:p14="http://schemas.microsoft.com/office/powerpoint/2010/main" val="1509081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1.33. (Cálculo del área y perímetro de un rectángulo utilizando </a:t>
            </a:r>
            <a:r>
              <a:rPr lang="es-ES" b="1" dirty="0" err="1">
                <a:solidFill>
                  <a:srgbClr val="FF0000"/>
                </a:solidFill>
              </a:rPr>
              <a:t>printf</a:t>
            </a:r>
            <a:r>
              <a:rPr lang="es-ES" b="1" dirty="0">
                <a:solidFill>
                  <a:srgbClr val="FF0000"/>
                </a:solidFill>
              </a:rPr>
              <a:t> y </a:t>
            </a:r>
            <a:r>
              <a:rPr lang="es-ES" b="1" dirty="0" err="1">
                <a:solidFill>
                  <a:srgbClr val="FF0000"/>
                </a:solidFill>
              </a:rPr>
              <a:t>scanf</a:t>
            </a:r>
            <a:r>
              <a:rPr lang="es-ES" b="1" dirty="0">
                <a:solidFill>
                  <a:srgbClr val="FF0000"/>
                </a:solidFill>
              </a:rPr>
              <a:t>)</a:t>
            </a:r>
            <a:endParaRPr lang="es-EC" b="1" dirty="0">
              <a:solidFill>
                <a:srgbClr val="FF0000"/>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Tree>
    <p:extLst>
      <p:ext uri="{BB962C8B-B14F-4D97-AF65-F5344CB8AC3E}">
        <p14:creationId xmlns:p14="http://schemas.microsoft.com/office/powerpoint/2010/main" val="1617498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2304257"/>
          </a:xfrm>
        </p:spPr>
        <p:txBody>
          <a:bodyPr>
            <a:normAutofit fontScale="62500" lnSpcReduction="20000"/>
          </a:bodyPr>
          <a:lstStyle/>
          <a:p>
            <a:r>
              <a:rPr lang="es-ES" dirty="0">
                <a:solidFill>
                  <a:schemeClr val="bg1">
                    <a:lumMod val="50000"/>
                  </a:schemeClr>
                </a:solidFill>
              </a:rPr>
              <a:t>Escribir un programa que calcule el área y el perímetro de un rectángulo,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“a” y “b” los valores de los lados del rectángulo. (Trabajar con valores flotantes). </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
        <p:nvSpPr>
          <p:cNvPr id="9" name="12 CuadroTexto"/>
          <p:cNvSpPr txBox="1"/>
          <p:nvPr/>
        </p:nvSpPr>
        <p:spPr>
          <a:xfrm>
            <a:off x="4283968" y="6032321"/>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1.33:</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1.33</a:t>
            </a:r>
            <a:endParaRPr lang="es-EC" sz="2800" dirty="0">
              <a:solidFill>
                <a:schemeClr val="bg1">
                  <a:lumMod val="50000"/>
                </a:schemeClr>
              </a:solidFill>
            </a:endParaRPr>
          </a:p>
        </p:txBody>
      </p:sp>
      <p:pic>
        <p:nvPicPr>
          <p:cNvPr id="4" name="Imagen 3">
            <a:extLst>
              <a:ext uri="{FF2B5EF4-FFF2-40B4-BE49-F238E27FC236}">
                <a16:creationId xmlns:a16="http://schemas.microsoft.com/office/drawing/2014/main" id="{5192C7D7-6E68-36AE-5708-F09D82902347}"/>
              </a:ext>
            </a:extLst>
          </p:cNvPr>
          <p:cNvPicPr>
            <a:picLocks noChangeAspect="1"/>
          </p:cNvPicPr>
          <p:nvPr/>
        </p:nvPicPr>
        <p:blipFill>
          <a:blip r:embed="rId2"/>
          <a:stretch>
            <a:fillRect/>
          </a:stretch>
        </p:blipFill>
        <p:spPr>
          <a:xfrm>
            <a:off x="294411" y="4653136"/>
            <a:ext cx="2880321" cy="390455"/>
          </a:xfrm>
          <a:prstGeom prst="rect">
            <a:avLst/>
          </a:prstGeom>
        </p:spPr>
      </p:pic>
      <p:pic>
        <p:nvPicPr>
          <p:cNvPr id="11" name="Imagen 10">
            <a:extLst>
              <a:ext uri="{FF2B5EF4-FFF2-40B4-BE49-F238E27FC236}">
                <a16:creationId xmlns:a16="http://schemas.microsoft.com/office/drawing/2014/main" id="{B237D500-E60D-9F80-3117-A4AD7C8DC96E}"/>
              </a:ext>
            </a:extLst>
          </p:cNvPr>
          <p:cNvPicPr>
            <a:picLocks noChangeAspect="1"/>
          </p:cNvPicPr>
          <p:nvPr/>
        </p:nvPicPr>
        <p:blipFill>
          <a:blip r:embed="rId3"/>
          <a:stretch>
            <a:fillRect/>
          </a:stretch>
        </p:blipFill>
        <p:spPr>
          <a:xfrm>
            <a:off x="3669774" y="1412143"/>
            <a:ext cx="4862237" cy="4548170"/>
          </a:xfrm>
          <a:prstGeom prst="rect">
            <a:avLst/>
          </a:prstGeom>
        </p:spPr>
      </p:pic>
    </p:spTree>
    <p:extLst>
      <p:ext uri="{BB962C8B-B14F-4D97-AF65-F5344CB8AC3E}">
        <p14:creationId xmlns:p14="http://schemas.microsoft.com/office/powerpoint/2010/main" val="1165910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sp>
        <p:nvSpPr>
          <p:cNvPr id="9" name="12 CuadroTexto"/>
          <p:cNvSpPr txBox="1"/>
          <p:nvPr/>
        </p:nvSpPr>
        <p:spPr>
          <a:xfrm>
            <a:off x="4499992" y="4894328"/>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1.33:</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1.33</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7" name="4 Marcador de contenido">
            <a:extLst>
              <a:ext uri="{FF2B5EF4-FFF2-40B4-BE49-F238E27FC236}">
                <a16:creationId xmlns:a16="http://schemas.microsoft.com/office/drawing/2014/main" id="{90609CEB-4E4F-09AA-78C9-4EA09F609D2A}"/>
              </a:ext>
            </a:extLst>
          </p:cNvPr>
          <p:cNvSpPr>
            <a:spLocks noGrp="1"/>
          </p:cNvSpPr>
          <p:nvPr>
            <p:ph idx="1"/>
          </p:nvPr>
        </p:nvSpPr>
        <p:spPr>
          <a:xfrm>
            <a:off x="107505" y="2348879"/>
            <a:ext cx="2952328" cy="2304257"/>
          </a:xfrm>
        </p:spPr>
        <p:txBody>
          <a:bodyPr>
            <a:normAutofit fontScale="62500" lnSpcReduction="20000"/>
          </a:bodyPr>
          <a:lstStyle/>
          <a:p>
            <a:r>
              <a:rPr lang="es-ES" dirty="0">
                <a:solidFill>
                  <a:schemeClr val="bg1">
                    <a:lumMod val="50000"/>
                  </a:schemeClr>
                </a:solidFill>
              </a:rPr>
              <a:t>Escribir un programa que calcule el área y el perímetro de un rectángulo,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“a” y “b” los valores de los lados del rectángulo. (Trabajar con valores flotantes). </a:t>
            </a:r>
          </a:p>
        </p:txBody>
      </p:sp>
      <p:pic>
        <p:nvPicPr>
          <p:cNvPr id="8" name="Imagen 7">
            <a:extLst>
              <a:ext uri="{FF2B5EF4-FFF2-40B4-BE49-F238E27FC236}">
                <a16:creationId xmlns:a16="http://schemas.microsoft.com/office/drawing/2014/main" id="{E39D18E3-C7B9-7804-C352-0DDA32C12610}"/>
              </a:ext>
            </a:extLst>
          </p:cNvPr>
          <p:cNvPicPr>
            <a:picLocks noChangeAspect="1"/>
          </p:cNvPicPr>
          <p:nvPr/>
        </p:nvPicPr>
        <p:blipFill>
          <a:blip r:embed="rId3"/>
          <a:stretch>
            <a:fillRect/>
          </a:stretch>
        </p:blipFill>
        <p:spPr>
          <a:xfrm>
            <a:off x="294411" y="4653136"/>
            <a:ext cx="2880321" cy="390455"/>
          </a:xfrm>
          <a:prstGeom prst="rect">
            <a:avLst/>
          </a:prstGeom>
        </p:spPr>
      </p:pic>
      <p:pic>
        <p:nvPicPr>
          <p:cNvPr id="17" name="Imagen 16">
            <a:extLst>
              <a:ext uri="{FF2B5EF4-FFF2-40B4-BE49-F238E27FC236}">
                <a16:creationId xmlns:a16="http://schemas.microsoft.com/office/drawing/2014/main" id="{7FF92CF5-5326-FBBB-1355-2EFE65202F28}"/>
              </a:ext>
            </a:extLst>
          </p:cNvPr>
          <p:cNvPicPr>
            <a:picLocks noChangeAspect="1"/>
          </p:cNvPicPr>
          <p:nvPr/>
        </p:nvPicPr>
        <p:blipFill>
          <a:blip r:embed="rId4"/>
          <a:stretch>
            <a:fillRect/>
          </a:stretch>
        </p:blipFill>
        <p:spPr>
          <a:xfrm>
            <a:off x="3835675" y="2348879"/>
            <a:ext cx="5055344" cy="2487090"/>
          </a:xfrm>
          <a:prstGeom prst="rect">
            <a:avLst/>
          </a:prstGeom>
        </p:spPr>
      </p:pic>
    </p:spTree>
    <p:extLst>
      <p:ext uri="{BB962C8B-B14F-4D97-AF65-F5344CB8AC3E}">
        <p14:creationId xmlns:p14="http://schemas.microsoft.com/office/powerpoint/2010/main" val="2272470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341818" cy="3024336"/>
          </a:xfrm>
        </p:spPr>
        <p:txBody>
          <a:bodyPr>
            <a:normAutofit fontScale="70000" lnSpcReduction="20000"/>
          </a:bodyPr>
          <a:lstStyle/>
          <a:p>
            <a:r>
              <a:rPr lang="es-ES" sz="1600" dirty="0">
                <a:solidFill>
                  <a:schemeClr val="bg1">
                    <a:lumMod val="50000"/>
                  </a:schemeClr>
                </a:solidFill>
              </a:rPr>
              <a:t>Como se puede ver en este programa, hay dos entradas que son los valores del ancho “a” y el largo “b” del rectángulo representadas por las variables “a” y “b”, para lo cual utilizamos la función “</a:t>
            </a:r>
            <a:r>
              <a:rPr lang="es-ES" sz="1600" dirty="0" err="1">
                <a:solidFill>
                  <a:schemeClr val="bg1">
                    <a:lumMod val="50000"/>
                  </a:schemeClr>
                </a:solidFill>
              </a:rPr>
              <a:t>scanf_s</a:t>
            </a:r>
            <a:r>
              <a:rPr lang="es-ES" sz="1600" dirty="0">
                <a:solidFill>
                  <a:schemeClr val="bg1">
                    <a:lumMod val="50000"/>
                  </a:schemeClr>
                </a:solidFill>
              </a:rPr>
              <a:t>” que permite leer un dato, donde se utiliza el especificador de formato “%f” y la dirección de la variable manipulada por el operador “&amp;”, en cada caso:</a:t>
            </a:r>
          </a:p>
          <a:p>
            <a:endParaRPr lang="es-ES" sz="1600" dirty="0">
              <a:solidFill>
                <a:schemeClr val="bg1">
                  <a:lumMod val="50000"/>
                </a:schemeClr>
              </a:solidFill>
            </a:endParaRPr>
          </a:p>
          <a:p>
            <a:pPr indent="0">
              <a:buNone/>
            </a:pPr>
            <a:r>
              <a:rPr lang="es-ES" sz="1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&amp;a);</a:t>
            </a:r>
          </a:p>
          <a:p>
            <a:pPr indent="0">
              <a:buNone/>
            </a:pPr>
            <a:r>
              <a:rPr lang="es-ES" sz="1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&amp;b);</a:t>
            </a:r>
            <a:endParaRPr lang="en-U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endParaRPr>
          </a:p>
          <a:p>
            <a:endParaRPr lang="es-ES" sz="1600" dirty="0">
              <a:solidFill>
                <a:schemeClr val="bg1">
                  <a:lumMod val="50000"/>
                </a:schemeClr>
              </a:solidFill>
            </a:endParaRPr>
          </a:p>
          <a:p>
            <a:r>
              <a:rPr lang="es-ES" sz="1600" dirty="0">
                <a:solidFill>
                  <a:schemeClr val="bg1">
                    <a:lumMod val="50000"/>
                  </a:schemeClr>
                </a:solidFill>
              </a:rPr>
              <a:t>Luego nosotros calculamos y desplegamos el valor del perímetro y del área del rectángulo:</a:t>
            </a:r>
          </a:p>
          <a:p>
            <a:endParaRPr lang="es-ES" sz="1600" dirty="0">
              <a:solidFill>
                <a:schemeClr val="bg1">
                  <a:lumMod val="50000"/>
                </a:schemeClr>
              </a:solidFill>
            </a:endParaRPr>
          </a:p>
          <a:p>
            <a:pPr marR="0" indent="0">
              <a:lnSpc>
                <a:spcPct val="120000"/>
              </a:lnSpc>
              <a:spcBef>
                <a:spcPts val="0"/>
              </a:spcBef>
              <a:buNone/>
            </a:pPr>
            <a:r>
              <a:rPr lang="es-ES" sz="16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perímetro del rectángulo.</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p = 2 * a + 2 * b;</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6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Calcular el área del rectángulo.</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area</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 * b;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6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 Imprimir el perímetro y el área del rectángulo.</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1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"Perímetro: %f\n"</a:t>
            </a:r>
            <a:r>
              <a:rPr lang="es-E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p);</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printf</a:t>
            </a:r>
            <a:r>
              <a:rPr lang="en-U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600" dirty="0" err="1">
                <a:solidFill>
                  <a:srgbClr val="A31515"/>
                </a:solidFill>
                <a:effectLst/>
                <a:latin typeface="Consolas" panose="020B0609020204030204" pitchFamily="49" charset="0"/>
                <a:ea typeface="Calibri" panose="020F0502020204030204" pitchFamily="34" charset="0"/>
                <a:cs typeface="Consolas" panose="020B0609020204030204" pitchFamily="49" charset="0"/>
              </a:rPr>
              <a:t>Área</a:t>
            </a:r>
            <a:r>
              <a:rPr lang="en-US" sz="1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%f\n"</a:t>
            </a:r>
            <a:r>
              <a:rPr lang="en-US" sz="1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area);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11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100" dirty="0">
              <a:solidFill>
                <a:schemeClr val="bg1">
                  <a:lumMod val="50000"/>
                </a:schemeClr>
              </a:solidFill>
            </a:endParaRPr>
          </a:p>
          <a:p>
            <a:pPr marL="341313" marR="0" indent="0">
              <a:lnSpc>
                <a:spcPct val="120000"/>
              </a:lnSpc>
              <a:spcBef>
                <a:spcPts val="0"/>
              </a:spcBef>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9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sp>
        <p:nvSpPr>
          <p:cNvPr id="9" name="12 CuadroTexto"/>
          <p:cNvSpPr txBox="1"/>
          <p:nvPr/>
        </p:nvSpPr>
        <p:spPr>
          <a:xfrm>
            <a:off x="2595699" y="5952692"/>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1.33:</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1.33</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pic>
        <p:nvPicPr>
          <p:cNvPr id="7" name="Imagen 6">
            <a:extLst>
              <a:ext uri="{FF2B5EF4-FFF2-40B4-BE49-F238E27FC236}">
                <a16:creationId xmlns:a16="http://schemas.microsoft.com/office/drawing/2014/main" id="{0B15B65C-F3CB-96FC-CA8D-6EE9F449EB4C}"/>
              </a:ext>
            </a:extLst>
          </p:cNvPr>
          <p:cNvPicPr>
            <a:picLocks noChangeAspect="1"/>
          </p:cNvPicPr>
          <p:nvPr/>
        </p:nvPicPr>
        <p:blipFill>
          <a:blip r:embed="rId2"/>
          <a:stretch>
            <a:fillRect/>
          </a:stretch>
        </p:blipFill>
        <p:spPr>
          <a:xfrm>
            <a:off x="1871662" y="4708768"/>
            <a:ext cx="5400675" cy="1196340"/>
          </a:xfrm>
          <a:prstGeom prst="rect">
            <a:avLst/>
          </a:prstGeom>
        </p:spPr>
      </p:pic>
    </p:spTree>
    <p:extLst>
      <p:ext uri="{BB962C8B-B14F-4D97-AF65-F5344CB8AC3E}">
        <p14:creationId xmlns:p14="http://schemas.microsoft.com/office/powerpoint/2010/main" val="1481878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rgbClr val="FF0000"/>
                </a:solidFill>
              </a:rPr>
              <a:t>Problema 1.34. (Cálculo del área y perímetro de un círculo utilizando </a:t>
            </a:r>
            <a:r>
              <a:rPr lang="es-ES" b="1" dirty="0" err="1">
                <a:solidFill>
                  <a:srgbClr val="FF0000"/>
                </a:solidFill>
              </a:rPr>
              <a:t>cout</a:t>
            </a:r>
            <a:r>
              <a:rPr lang="es-ES" b="1" dirty="0">
                <a:solidFill>
                  <a:srgbClr val="FF0000"/>
                </a:solidFill>
              </a:rPr>
              <a:t> y </a:t>
            </a:r>
            <a:r>
              <a:rPr lang="es-ES" b="1" dirty="0" err="1">
                <a:solidFill>
                  <a:srgbClr val="FF0000"/>
                </a:solidFill>
              </a:rPr>
              <a:t>cin</a:t>
            </a:r>
            <a:r>
              <a:rPr lang="es-ES" b="1" dirty="0">
                <a:solidFill>
                  <a:srgbClr val="FF0000"/>
                </a:solidFill>
              </a:rPr>
              <a:t>)</a:t>
            </a:r>
          </a:p>
          <a:p>
            <a:pPr lvl="1"/>
            <a:r>
              <a:rPr lang="es-ES" b="1" dirty="0"/>
              <a:t>Problema 1.35. (Cálculo del área y perímetro de un círculo utilizando </a:t>
            </a:r>
            <a:r>
              <a:rPr lang="es-ES" b="1" dirty="0" err="1"/>
              <a:t>printf</a:t>
            </a:r>
            <a:r>
              <a:rPr lang="es-ES" b="1" dirty="0"/>
              <a:t> y </a:t>
            </a:r>
            <a:r>
              <a:rPr lang="es-ES" b="1" dirty="0" err="1"/>
              <a:t>scanf</a:t>
            </a:r>
            <a:r>
              <a:rPr lang="es-ES" b="1" dirty="0"/>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spTree>
    <p:extLst>
      <p:ext uri="{BB962C8B-B14F-4D97-AF65-F5344CB8AC3E}">
        <p14:creationId xmlns:p14="http://schemas.microsoft.com/office/powerpoint/2010/main" val="3144083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1944217"/>
          </a:xfrm>
        </p:spPr>
        <p:txBody>
          <a:bodyPr>
            <a:normAutofit fontScale="62500" lnSpcReduction="20000"/>
          </a:bodyPr>
          <a:lstStyle/>
          <a:p>
            <a:r>
              <a:rPr lang="es-ES" dirty="0">
                <a:solidFill>
                  <a:schemeClr val="bg1">
                    <a:lumMod val="50000"/>
                  </a:schemeClr>
                </a:solidFill>
              </a:rPr>
              <a:t>Escribir un programa que calcule el área y el perímetro de un círculo,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“r” el valor del radio del círculo. (Trabajar con valores flotantes).</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sp>
        <p:nvSpPr>
          <p:cNvPr id="9" name="12 CuadroTexto"/>
          <p:cNvSpPr txBox="1"/>
          <p:nvPr/>
        </p:nvSpPr>
        <p:spPr>
          <a:xfrm>
            <a:off x="4283968" y="5744289"/>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1.34:</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1.34</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6B3A7F0A-746D-E53E-FB53-A315E6BE317A}"/>
              </a:ext>
            </a:extLst>
          </p:cNvPr>
          <p:cNvPicPr>
            <a:picLocks noChangeAspect="1"/>
          </p:cNvPicPr>
          <p:nvPr/>
        </p:nvPicPr>
        <p:blipFill>
          <a:blip r:embed="rId2"/>
          <a:stretch>
            <a:fillRect/>
          </a:stretch>
        </p:blipFill>
        <p:spPr>
          <a:xfrm>
            <a:off x="107505" y="4365104"/>
            <a:ext cx="3164954" cy="446340"/>
          </a:xfrm>
          <a:prstGeom prst="rect">
            <a:avLst/>
          </a:prstGeom>
        </p:spPr>
      </p:pic>
      <p:pic>
        <p:nvPicPr>
          <p:cNvPr id="13" name="Imagen 12">
            <a:extLst>
              <a:ext uri="{FF2B5EF4-FFF2-40B4-BE49-F238E27FC236}">
                <a16:creationId xmlns:a16="http://schemas.microsoft.com/office/drawing/2014/main" id="{D860AF4F-3C19-57E4-67A1-66DE544B2274}"/>
              </a:ext>
            </a:extLst>
          </p:cNvPr>
          <p:cNvPicPr>
            <a:picLocks noChangeAspect="1"/>
          </p:cNvPicPr>
          <p:nvPr/>
        </p:nvPicPr>
        <p:blipFill>
          <a:blip r:embed="rId3"/>
          <a:stretch>
            <a:fillRect/>
          </a:stretch>
        </p:blipFill>
        <p:spPr>
          <a:xfrm>
            <a:off x="3669610" y="1628800"/>
            <a:ext cx="4973132" cy="4077072"/>
          </a:xfrm>
          <a:prstGeom prst="rect">
            <a:avLst/>
          </a:prstGeom>
        </p:spPr>
      </p:pic>
    </p:spTree>
    <p:extLst>
      <p:ext uri="{BB962C8B-B14F-4D97-AF65-F5344CB8AC3E}">
        <p14:creationId xmlns:p14="http://schemas.microsoft.com/office/powerpoint/2010/main" val="54171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a:p>
        </p:txBody>
      </p:sp>
      <p:sp>
        <p:nvSpPr>
          <p:cNvPr id="9" name="12 CuadroTexto"/>
          <p:cNvSpPr txBox="1"/>
          <p:nvPr/>
        </p:nvSpPr>
        <p:spPr>
          <a:xfrm>
            <a:off x="4427984" y="4304129"/>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1.34:</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1.34</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4" name="4 Marcador de contenido">
            <a:extLst>
              <a:ext uri="{FF2B5EF4-FFF2-40B4-BE49-F238E27FC236}">
                <a16:creationId xmlns:a16="http://schemas.microsoft.com/office/drawing/2014/main" id="{D214EB89-B936-7FF7-3EAA-FFBD5E3D856F}"/>
              </a:ext>
            </a:extLst>
          </p:cNvPr>
          <p:cNvSpPr>
            <a:spLocks noGrp="1"/>
          </p:cNvSpPr>
          <p:nvPr>
            <p:ph idx="1"/>
          </p:nvPr>
        </p:nvSpPr>
        <p:spPr>
          <a:xfrm>
            <a:off x="107505" y="2348879"/>
            <a:ext cx="2952328" cy="1944217"/>
          </a:xfrm>
        </p:spPr>
        <p:txBody>
          <a:bodyPr>
            <a:normAutofit fontScale="62500" lnSpcReduction="20000"/>
          </a:bodyPr>
          <a:lstStyle/>
          <a:p>
            <a:r>
              <a:rPr lang="es-ES" dirty="0">
                <a:solidFill>
                  <a:schemeClr val="bg1">
                    <a:lumMod val="50000"/>
                  </a:schemeClr>
                </a:solidFill>
              </a:rPr>
              <a:t>Escribir un programa que calcule el área y el perímetro de un círculo,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“r” el valor del radio del círculo. (Trabajar con valores flotantes).</a:t>
            </a:r>
          </a:p>
        </p:txBody>
      </p:sp>
      <p:pic>
        <p:nvPicPr>
          <p:cNvPr id="5" name="Imagen 4">
            <a:extLst>
              <a:ext uri="{FF2B5EF4-FFF2-40B4-BE49-F238E27FC236}">
                <a16:creationId xmlns:a16="http://schemas.microsoft.com/office/drawing/2014/main" id="{8403C75D-FC27-DA5A-3EC4-5E559F21D7AA}"/>
              </a:ext>
            </a:extLst>
          </p:cNvPr>
          <p:cNvPicPr>
            <a:picLocks noChangeAspect="1"/>
          </p:cNvPicPr>
          <p:nvPr/>
        </p:nvPicPr>
        <p:blipFill>
          <a:blip r:embed="rId2"/>
          <a:stretch>
            <a:fillRect/>
          </a:stretch>
        </p:blipFill>
        <p:spPr>
          <a:xfrm>
            <a:off x="107505" y="4365104"/>
            <a:ext cx="3164954" cy="446340"/>
          </a:xfrm>
          <a:prstGeom prst="rect">
            <a:avLst/>
          </a:prstGeom>
        </p:spPr>
      </p:pic>
      <p:pic>
        <p:nvPicPr>
          <p:cNvPr id="10" name="Imagen 9">
            <a:extLst>
              <a:ext uri="{FF2B5EF4-FFF2-40B4-BE49-F238E27FC236}">
                <a16:creationId xmlns:a16="http://schemas.microsoft.com/office/drawing/2014/main" id="{8BE5C0E4-8DC3-2F3C-515E-372F80E0D9EB}"/>
              </a:ext>
            </a:extLst>
          </p:cNvPr>
          <p:cNvPicPr>
            <a:picLocks noChangeAspect="1"/>
          </p:cNvPicPr>
          <p:nvPr/>
        </p:nvPicPr>
        <p:blipFill>
          <a:blip r:embed="rId3"/>
          <a:stretch>
            <a:fillRect/>
          </a:stretch>
        </p:blipFill>
        <p:spPr>
          <a:xfrm>
            <a:off x="3541728" y="2562537"/>
            <a:ext cx="5494767" cy="1715130"/>
          </a:xfrm>
          <a:prstGeom prst="rect">
            <a:avLst/>
          </a:prstGeom>
        </p:spPr>
      </p:pic>
    </p:spTree>
    <p:extLst>
      <p:ext uri="{BB962C8B-B14F-4D97-AF65-F5344CB8AC3E}">
        <p14:creationId xmlns:p14="http://schemas.microsoft.com/office/powerpoint/2010/main" val="883599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856984" cy="3024336"/>
          </a:xfrm>
        </p:spPr>
        <p:txBody>
          <a:bodyPr>
            <a:normAutofit fontScale="92500" lnSpcReduction="10000"/>
          </a:bodyPr>
          <a:lstStyle/>
          <a:p>
            <a:r>
              <a:rPr lang="es-ES" sz="1300" dirty="0">
                <a:solidFill>
                  <a:schemeClr val="bg1">
                    <a:lumMod val="50000"/>
                  </a:schemeClr>
                </a:solidFill>
              </a:rPr>
              <a:t>Como se puede ver en este programa, la única entrada es el valor del “radio” del círculo, para lo cual utilizamos la función “</a:t>
            </a:r>
            <a:r>
              <a:rPr lang="es-ES" sz="1300" dirty="0" err="1">
                <a:solidFill>
                  <a:schemeClr val="bg1">
                    <a:lumMod val="50000"/>
                  </a:schemeClr>
                </a:solidFill>
              </a:rPr>
              <a:t>cin</a:t>
            </a:r>
            <a:r>
              <a:rPr lang="es-ES" sz="1300" dirty="0">
                <a:solidFill>
                  <a:schemeClr val="bg1">
                    <a:lumMod val="50000"/>
                  </a:schemeClr>
                </a:solidFill>
              </a:rPr>
              <a:t>” que permite leer un dato de manera individual:</a:t>
            </a:r>
          </a:p>
          <a:p>
            <a:endParaRPr lang="es-ES" sz="1300" dirty="0">
              <a:solidFill>
                <a:schemeClr val="bg1">
                  <a:lumMod val="50000"/>
                </a:schemeClr>
              </a:solidFill>
            </a:endParaRPr>
          </a:p>
          <a:p>
            <a:pPr marL="341313" indent="0">
              <a:buNone/>
            </a:pP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cin</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&gt;&gt;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radio;</a:t>
            </a:r>
            <a:endParaRPr lang="es-ES" sz="1300" dirty="0">
              <a:solidFill>
                <a:schemeClr val="bg1">
                  <a:lumMod val="50000"/>
                </a:schemeClr>
              </a:solidFill>
            </a:endParaRPr>
          </a:p>
          <a:p>
            <a:endParaRPr lang="es-ES" sz="1300" dirty="0">
              <a:solidFill>
                <a:schemeClr val="bg1">
                  <a:lumMod val="50000"/>
                </a:schemeClr>
              </a:solidFill>
            </a:endParaRPr>
          </a:p>
          <a:p>
            <a:r>
              <a:rPr lang="es-ES" sz="1300" dirty="0">
                <a:solidFill>
                  <a:schemeClr val="bg1">
                    <a:lumMod val="50000"/>
                  </a:schemeClr>
                </a:solidFill>
              </a:rPr>
              <a:t>Luego nosotros calculamos y desplegamos el valor del perímetro y del área del círculo:</a:t>
            </a:r>
          </a:p>
          <a:p>
            <a:endParaRPr lang="es-ES" sz="1300" dirty="0">
              <a:solidFill>
                <a:schemeClr val="bg1">
                  <a:lumMod val="50000"/>
                </a:schemeClr>
              </a:solidFill>
            </a:endParaRPr>
          </a:p>
          <a:p>
            <a:pPr marR="0" indent="0">
              <a:lnSpc>
                <a:spcPct val="120000"/>
              </a:lnSpc>
              <a:spcBef>
                <a:spcPts val="0"/>
              </a:spcBef>
              <a:buNone/>
            </a:pPr>
            <a:r>
              <a:rPr lang="es-ES" sz="13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perímetro.</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2 * </a:t>
            </a:r>
            <a:r>
              <a:rPr lang="es-ES" sz="13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radio;</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área.</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13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pow</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(radio, 2);</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13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3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y de la variable '</a:t>
            </a:r>
            <a:r>
              <a:rPr lang="es-ES" sz="13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3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cout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perímetro es: "</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endl</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20000"/>
              </a:lnSpc>
              <a:spcBef>
                <a:spcPts val="0"/>
              </a:spcBef>
              <a:buNone/>
            </a:pP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cout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área es: "</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3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endl</a:t>
            </a:r>
            <a:r>
              <a:rPr lang="es-ES" sz="13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s-ES" sz="13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36</a:t>
            </a:fld>
            <a:endParaRPr lang="es-EC"/>
          </a:p>
        </p:txBody>
      </p:sp>
      <p:sp>
        <p:nvSpPr>
          <p:cNvPr id="9" name="12 CuadroTexto"/>
          <p:cNvSpPr txBox="1"/>
          <p:nvPr/>
        </p:nvSpPr>
        <p:spPr>
          <a:xfrm>
            <a:off x="2595699" y="5877272"/>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1.34:</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1.34</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7" name="Rectangle 2">
            <a:extLst>
              <a:ext uri="{FF2B5EF4-FFF2-40B4-BE49-F238E27FC236}">
                <a16:creationId xmlns:a16="http://schemas.microsoft.com/office/drawing/2014/main" id="{9981CA0D-8BDF-B050-8803-E580DBB6E1C2}"/>
              </a:ext>
            </a:extLst>
          </p:cNvPr>
          <p:cNvSpPr>
            <a:spLocks noChangeArrowheads="1"/>
          </p:cNvSpPr>
          <p:nvPr/>
        </p:nvSpPr>
        <p:spPr bwMode="auto">
          <a:xfrm>
            <a:off x="1979712" y="48865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to 9">
            <a:extLst>
              <a:ext uri="{FF2B5EF4-FFF2-40B4-BE49-F238E27FC236}">
                <a16:creationId xmlns:a16="http://schemas.microsoft.com/office/drawing/2014/main" id="{585E74AA-004B-6640-25E6-6AA396E3EA24}"/>
              </a:ext>
            </a:extLst>
          </p:cNvPr>
          <p:cNvGraphicFramePr>
            <a:graphicFrameLocks noChangeAspect="1"/>
          </p:cNvGraphicFramePr>
          <p:nvPr>
            <p:extLst>
              <p:ext uri="{D42A27DB-BD31-4B8C-83A1-F6EECF244321}">
                <p14:modId xmlns:p14="http://schemas.microsoft.com/office/powerpoint/2010/main" val="1621634267"/>
              </p:ext>
            </p:extLst>
          </p:nvPr>
        </p:nvGraphicFramePr>
        <p:xfrm>
          <a:off x="1979712" y="4869160"/>
          <a:ext cx="5006975" cy="974725"/>
        </p:xfrm>
        <a:graphic>
          <a:graphicData uri="http://schemas.openxmlformats.org/presentationml/2006/ole">
            <mc:AlternateContent xmlns:mc="http://schemas.openxmlformats.org/markup-compatibility/2006">
              <mc:Choice xmlns:v="urn:schemas-microsoft-com:vml" Requires="v">
                <p:oleObj name="Bitmap Image" r:id="rId2" imgW="7148180" imgH="1386667" progId="Paint.Picture">
                  <p:embed/>
                </p:oleObj>
              </mc:Choice>
              <mc:Fallback>
                <p:oleObj name="Bitmap Image" r:id="rId2" imgW="7148180" imgH="1386667"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4869160"/>
                        <a:ext cx="500697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18103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rgbClr val="FF0000"/>
                </a:solidFill>
              </a:rPr>
              <a:t>Problema 1.35. (Cálculo del área y perímetro de un círculo utilizando </a:t>
            </a:r>
            <a:r>
              <a:rPr lang="es-ES" b="1" dirty="0" err="1">
                <a:solidFill>
                  <a:srgbClr val="FF0000"/>
                </a:solidFill>
              </a:rPr>
              <a:t>printf</a:t>
            </a:r>
            <a:r>
              <a:rPr lang="es-ES" b="1" dirty="0">
                <a:solidFill>
                  <a:srgbClr val="FF0000"/>
                </a:solidFill>
              </a:rPr>
              <a:t> y </a:t>
            </a:r>
            <a:r>
              <a:rPr lang="es-ES" b="1" dirty="0" err="1">
                <a:solidFill>
                  <a:srgbClr val="FF0000"/>
                </a:solidFill>
              </a:rPr>
              <a:t>scanf</a:t>
            </a:r>
            <a:r>
              <a:rPr lang="es-ES" b="1" dirty="0">
                <a:solidFill>
                  <a:srgbClr val="FF0000"/>
                </a:solidFill>
              </a:rPr>
              <a:t>)</a:t>
            </a:r>
          </a:p>
          <a:p>
            <a:pPr lvl="1"/>
            <a:r>
              <a:rPr lang="es-ES" b="1" dirty="0"/>
              <a:t>Problema 1.36. (Cálculo de la hipotenusa y de los ángulos de un triángulo rectángulo utilizando </a:t>
            </a:r>
            <a:r>
              <a:rPr lang="es-ES" b="1" dirty="0" err="1"/>
              <a:t>cout</a:t>
            </a:r>
            <a:r>
              <a:rPr lang="es-ES" b="1" dirty="0"/>
              <a:t> y </a:t>
            </a:r>
            <a:r>
              <a:rPr lang="es-ES" b="1" dirty="0" err="1"/>
              <a:t>cin</a:t>
            </a:r>
            <a:r>
              <a:rPr lang="es-ES" b="1" dirty="0"/>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Tree>
    <p:extLst>
      <p:ext uri="{BB962C8B-B14F-4D97-AF65-F5344CB8AC3E}">
        <p14:creationId xmlns:p14="http://schemas.microsoft.com/office/powerpoint/2010/main" val="2575886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1944217"/>
          </a:xfrm>
        </p:spPr>
        <p:txBody>
          <a:bodyPr>
            <a:normAutofit fontScale="62500" lnSpcReduction="20000"/>
          </a:bodyPr>
          <a:lstStyle/>
          <a:p>
            <a:r>
              <a:rPr lang="es-ES" dirty="0">
                <a:solidFill>
                  <a:schemeClr val="bg1">
                    <a:lumMod val="50000"/>
                  </a:schemeClr>
                </a:solidFill>
              </a:rPr>
              <a:t>Escribir un programa que calcule el área y el perímetro de un círculo,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“r” el valor del radio del círculo. (Trabajar con valores flotantes).</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38</a:t>
            </a:fld>
            <a:endParaRPr lang="es-EC"/>
          </a:p>
        </p:txBody>
      </p:sp>
      <p:sp>
        <p:nvSpPr>
          <p:cNvPr id="9" name="12 CuadroTexto"/>
          <p:cNvSpPr txBox="1"/>
          <p:nvPr/>
        </p:nvSpPr>
        <p:spPr>
          <a:xfrm>
            <a:off x="4283968" y="6032321"/>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1.35:</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1.35</a:t>
            </a:r>
            <a:endParaRPr lang="es-EC" sz="2800" dirty="0">
              <a:solidFill>
                <a:schemeClr val="bg1">
                  <a:lumMod val="50000"/>
                </a:schemeClr>
              </a:solidFill>
            </a:endParaRPr>
          </a:p>
        </p:txBody>
      </p:sp>
      <p:pic>
        <p:nvPicPr>
          <p:cNvPr id="4" name="Imagen 3">
            <a:extLst>
              <a:ext uri="{FF2B5EF4-FFF2-40B4-BE49-F238E27FC236}">
                <a16:creationId xmlns:a16="http://schemas.microsoft.com/office/drawing/2014/main" id="{2FDE08D5-D0BA-BE37-18F5-1D5175FE325A}"/>
              </a:ext>
            </a:extLst>
          </p:cNvPr>
          <p:cNvPicPr>
            <a:picLocks noChangeAspect="1"/>
          </p:cNvPicPr>
          <p:nvPr/>
        </p:nvPicPr>
        <p:blipFill>
          <a:blip r:embed="rId2"/>
          <a:stretch>
            <a:fillRect/>
          </a:stretch>
        </p:blipFill>
        <p:spPr>
          <a:xfrm>
            <a:off x="107505" y="4365104"/>
            <a:ext cx="3164954" cy="446340"/>
          </a:xfrm>
          <a:prstGeom prst="rect">
            <a:avLst/>
          </a:prstGeom>
        </p:spPr>
      </p:pic>
      <p:pic>
        <p:nvPicPr>
          <p:cNvPr id="11" name="Imagen 10">
            <a:extLst>
              <a:ext uri="{FF2B5EF4-FFF2-40B4-BE49-F238E27FC236}">
                <a16:creationId xmlns:a16="http://schemas.microsoft.com/office/drawing/2014/main" id="{878E53F7-E7CC-D193-5307-4061B3A93888}"/>
              </a:ext>
            </a:extLst>
          </p:cNvPr>
          <p:cNvPicPr>
            <a:picLocks noChangeAspect="1"/>
          </p:cNvPicPr>
          <p:nvPr/>
        </p:nvPicPr>
        <p:blipFill>
          <a:blip r:embed="rId3"/>
          <a:stretch>
            <a:fillRect/>
          </a:stretch>
        </p:blipFill>
        <p:spPr>
          <a:xfrm>
            <a:off x="3370515" y="1687940"/>
            <a:ext cx="5571322" cy="4272373"/>
          </a:xfrm>
          <a:prstGeom prst="rect">
            <a:avLst/>
          </a:prstGeom>
        </p:spPr>
      </p:pic>
    </p:spTree>
    <p:extLst>
      <p:ext uri="{BB962C8B-B14F-4D97-AF65-F5344CB8AC3E}">
        <p14:creationId xmlns:p14="http://schemas.microsoft.com/office/powerpoint/2010/main" val="2784401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sp>
        <p:nvSpPr>
          <p:cNvPr id="9" name="12 CuadroTexto"/>
          <p:cNvSpPr txBox="1"/>
          <p:nvPr/>
        </p:nvSpPr>
        <p:spPr>
          <a:xfrm>
            <a:off x="4283968" y="4293096"/>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1.35:</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1.31</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7" name="4 Marcador de contenido">
            <a:extLst>
              <a:ext uri="{FF2B5EF4-FFF2-40B4-BE49-F238E27FC236}">
                <a16:creationId xmlns:a16="http://schemas.microsoft.com/office/drawing/2014/main" id="{065E7A40-1516-4017-F2EF-DCEC1AB28893}"/>
              </a:ext>
            </a:extLst>
          </p:cNvPr>
          <p:cNvSpPr>
            <a:spLocks noGrp="1"/>
          </p:cNvSpPr>
          <p:nvPr>
            <p:ph idx="1"/>
          </p:nvPr>
        </p:nvSpPr>
        <p:spPr>
          <a:xfrm>
            <a:off x="107505" y="2348879"/>
            <a:ext cx="2952328" cy="1944217"/>
          </a:xfrm>
        </p:spPr>
        <p:txBody>
          <a:bodyPr>
            <a:normAutofit fontScale="62500" lnSpcReduction="20000"/>
          </a:bodyPr>
          <a:lstStyle/>
          <a:p>
            <a:r>
              <a:rPr lang="es-ES" dirty="0">
                <a:solidFill>
                  <a:schemeClr val="bg1">
                    <a:lumMod val="50000"/>
                  </a:schemeClr>
                </a:solidFill>
              </a:rPr>
              <a:t>Escribir un programa que calcule el área y el perímetro de un círculo,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“r” el valor del radio del círculo. (Trabajar con valores flotantes).</a:t>
            </a:r>
          </a:p>
        </p:txBody>
      </p:sp>
      <p:pic>
        <p:nvPicPr>
          <p:cNvPr id="8" name="Imagen 7">
            <a:extLst>
              <a:ext uri="{FF2B5EF4-FFF2-40B4-BE49-F238E27FC236}">
                <a16:creationId xmlns:a16="http://schemas.microsoft.com/office/drawing/2014/main" id="{EC033CB1-6DEF-2A51-A39B-54298DE38E4D}"/>
              </a:ext>
            </a:extLst>
          </p:cNvPr>
          <p:cNvPicPr>
            <a:picLocks noChangeAspect="1"/>
          </p:cNvPicPr>
          <p:nvPr/>
        </p:nvPicPr>
        <p:blipFill>
          <a:blip r:embed="rId3"/>
          <a:stretch>
            <a:fillRect/>
          </a:stretch>
        </p:blipFill>
        <p:spPr>
          <a:xfrm>
            <a:off x="107505" y="4365104"/>
            <a:ext cx="3164954" cy="446340"/>
          </a:xfrm>
          <a:prstGeom prst="rect">
            <a:avLst/>
          </a:prstGeom>
        </p:spPr>
      </p:pic>
      <p:pic>
        <p:nvPicPr>
          <p:cNvPr id="15" name="Imagen 14">
            <a:extLst>
              <a:ext uri="{FF2B5EF4-FFF2-40B4-BE49-F238E27FC236}">
                <a16:creationId xmlns:a16="http://schemas.microsoft.com/office/drawing/2014/main" id="{E43A19C6-B342-C219-4793-9B1EEFA515A3}"/>
              </a:ext>
            </a:extLst>
          </p:cNvPr>
          <p:cNvPicPr>
            <a:picLocks noChangeAspect="1"/>
          </p:cNvPicPr>
          <p:nvPr/>
        </p:nvPicPr>
        <p:blipFill>
          <a:blip r:embed="rId4"/>
          <a:stretch>
            <a:fillRect/>
          </a:stretch>
        </p:blipFill>
        <p:spPr>
          <a:xfrm>
            <a:off x="3347864" y="2492896"/>
            <a:ext cx="5724128" cy="1766366"/>
          </a:xfrm>
          <a:prstGeom prst="rect">
            <a:avLst/>
          </a:prstGeom>
        </p:spPr>
      </p:pic>
    </p:spTree>
    <p:extLst>
      <p:ext uri="{BB962C8B-B14F-4D97-AF65-F5344CB8AC3E}">
        <p14:creationId xmlns:p14="http://schemas.microsoft.com/office/powerpoint/2010/main" val="3656551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496944" cy="3024336"/>
          </a:xfrm>
        </p:spPr>
        <p:txBody>
          <a:bodyPr>
            <a:normAutofit fontScale="85000" lnSpcReduction="10000"/>
          </a:bodyPr>
          <a:lstStyle/>
          <a:p>
            <a:r>
              <a:rPr lang="es-ES" sz="1400" dirty="0">
                <a:solidFill>
                  <a:schemeClr val="bg1">
                    <a:lumMod val="50000"/>
                  </a:schemeClr>
                </a:solidFill>
              </a:rPr>
              <a:t>Como se puede ver en este programa, la única entrada es el valor del radio del círculo representada por la variable “radio”, para lo cual utilizamos la función “</a:t>
            </a:r>
            <a:r>
              <a:rPr lang="es-ES" sz="1400" dirty="0" err="1">
                <a:solidFill>
                  <a:schemeClr val="bg1">
                    <a:lumMod val="50000"/>
                  </a:schemeClr>
                </a:solidFill>
              </a:rPr>
              <a:t>scanf_s</a:t>
            </a:r>
            <a:r>
              <a:rPr lang="es-ES" sz="1400" dirty="0">
                <a:solidFill>
                  <a:schemeClr val="bg1">
                    <a:lumMod val="50000"/>
                  </a:schemeClr>
                </a:solidFill>
              </a:rPr>
              <a:t>” que permite leer un dato, donde se utiliza el especificador de formato “%f” y la dirección de la variable “radio” manipulada por el operador “&amp;”:</a:t>
            </a:r>
          </a:p>
          <a:p>
            <a:endParaRPr lang="es-ES" sz="1400" dirty="0">
              <a:solidFill>
                <a:schemeClr val="bg1">
                  <a:lumMod val="50000"/>
                </a:schemeClr>
              </a:solidFill>
            </a:endParaRPr>
          </a:p>
          <a:p>
            <a:pPr indent="0">
              <a:buNone/>
            </a:pP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scanf_s</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14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"%f"</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&amp;radio);</a:t>
            </a:r>
            <a:endParaRPr lang="en-US" sz="1400" dirty="0">
              <a:solidFill>
                <a:srgbClr val="000000"/>
              </a:solidFill>
              <a:effectLst/>
              <a:latin typeface="Consolas" panose="020B0609020204030204" pitchFamily="49" charset="0"/>
              <a:ea typeface="Calibri" panose="020F0502020204030204" pitchFamily="34" charset="0"/>
              <a:cs typeface="Consolas" panose="020B0609020204030204" pitchFamily="49" charset="0"/>
            </a:endParaRPr>
          </a:p>
          <a:p>
            <a:endParaRPr lang="es-ES" sz="1400" dirty="0">
              <a:solidFill>
                <a:schemeClr val="bg1">
                  <a:lumMod val="50000"/>
                </a:schemeClr>
              </a:solidFill>
            </a:endParaRPr>
          </a:p>
          <a:p>
            <a:r>
              <a:rPr lang="es-ES" sz="1400" dirty="0">
                <a:solidFill>
                  <a:schemeClr val="bg1">
                    <a:lumMod val="50000"/>
                  </a:schemeClr>
                </a:solidFill>
              </a:rPr>
              <a:t>Luego nosotros calculamos y desplegamos el valor del perímetro y del área del círculo:</a:t>
            </a:r>
          </a:p>
          <a:p>
            <a:endParaRPr lang="es-ES" sz="1400" dirty="0">
              <a:solidFill>
                <a:schemeClr val="bg1">
                  <a:lumMod val="50000"/>
                </a:schemeClr>
              </a:solidFill>
            </a:endParaRPr>
          </a:p>
          <a:p>
            <a:pPr marR="0" indent="0">
              <a:lnSpc>
                <a:spcPct val="120000"/>
              </a:lnSpc>
              <a:spcBef>
                <a:spcPts val="0"/>
              </a:spcBef>
              <a:buNone/>
            </a:pPr>
            <a:r>
              <a:rPr lang="es-ES" sz="14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perímetro.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2 * </a:t>
            </a:r>
            <a:r>
              <a:rPr lang="es-ES" sz="14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radio;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4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área.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14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pow</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(radio, 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4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14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4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y de la variable '</a:t>
            </a:r>
            <a:r>
              <a:rPr lang="es-ES" sz="14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4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printf</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14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perímetro es: %f\n"</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perimetro</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20000"/>
              </a:lnSpc>
              <a:spcBef>
                <a:spcPts val="0"/>
              </a:spcBef>
              <a:buNone/>
            </a:pP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printf</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14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área es: %f\n"</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14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area</a:t>
            </a:r>
            <a:r>
              <a:rPr lang="es-ES" sz="14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n-US" sz="14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400" dirty="0">
              <a:solidFill>
                <a:schemeClr val="bg1">
                  <a:lumMod val="50000"/>
                </a:schemeClr>
              </a:solidFill>
            </a:endParaRPr>
          </a:p>
          <a:p>
            <a:pPr marL="341313" marR="0" indent="0">
              <a:lnSpc>
                <a:spcPct val="120000"/>
              </a:lnSpc>
              <a:spcBef>
                <a:spcPts val="0"/>
              </a:spcBef>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9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40</a:t>
            </a:fld>
            <a:endParaRPr lang="es-EC"/>
          </a:p>
        </p:txBody>
      </p:sp>
      <p:sp>
        <p:nvSpPr>
          <p:cNvPr id="9" name="12 CuadroTexto"/>
          <p:cNvSpPr txBox="1"/>
          <p:nvPr/>
        </p:nvSpPr>
        <p:spPr>
          <a:xfrm>
            <a:off x="2595699" y="5952692"/>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1.35:</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1.35</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7" name="Rectangle 2">
            <a:extLst>
              <a:ext uri="{FF2B5EF4-FFF2-40B4-BE49-F238E27FC236}">
                <a16:creationId xmlns:a16="http://schemas.microsoft.com/office/drawing/2014/main" id="{4785D0F0-C3DE-B820-C0BB-39C4E9538225}"/>
              </a:ext>
            </a:extLst>
          </p:cNvPr>
          <p:cNvSpPr>
            <a:spLocks noChangeArrowheads="1"/>
          </p:cNvSpPr>
          <p:nvPr/>
        </p:nvSpPr>
        <p:spPr bwMode="auto">
          <a:xfrm>
            <a:off x="1980728" y="49411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to 9">
            <a:extLst>
              <a:ext uri="{FF2B5EF4-FFF2-40B4-BE49-F238E27FC236}">
                <a16:creationId xmlns:a16="http://schemas.microsoft.com/office/drawing/2014/main" id="{8AA4BDBF-34C6-A8D1-5360-66056B157D26}"/>
              </a:ext>
            </a:extLst>
          </p:cNvPr>
          <p:cNvGraphicFramePr>
            <a:graphicFrameLocks noChangeAspect="1"/>
          </p:cNvGraphicFramePr>
          <p:nvPr>
            <p:extLst>
              <p:ext uri="{D42A27DB-BD31-4B8C-83A1-F6EECF244321}">
                <p14:modId xmlns:p14="http://schemas.microsoft.com/office/powerpoint/2010/main" val="2323629662"/>
              </p:ext>
            </p:extLst>
          </p:nvPr>
        </p:nvGraphicFramePr>
        <p:xfrm>
          <a:off x="1980728" y="4941168"/>
          <a:ext cx="5006975" cy="974725"/>
        </p:xfrm>
        <a:graphic>
          <a:graphicData uri="http://schemas.openxmlformats.org/presentationml/2006/ole">
            <mc:AlternateContent xmlns:mc="http://schemas.openxmlformats.org/markup-compatibility/2006">
              <mc:Choice xmlns:v="urn:schemas-microsoft-com:vml" Requires="v">
                <p:oleObj name="Bitmap Image" r:id="rId2" imgW="7148180" imgH="1386667" progId="Paint.Picture">
                  <p:embed/>
                </p:oleObj>
              </mc:Choice>
              <mc:Fallback>
                <p:oleObj name="Bitmap Image" r:id="rId2" imgW="7148180" imgH="1386667"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0728" y="4941168"/>
                        <a:ext cx="500697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6388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1.35. (Cálculo del área y perímetro de un círculo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pPr lvl="1"/>
            <a:r>
              <a:rPr lang="es-ES" b="1" dirty="0">
                <a:solidFill>
                  <a:srgbClr val="FF0000"/>
                </a:solidFill>
              </a:rPr>
              <a:t>Problema 1.36. (Cálculo de la hipotenusa y de los ángulos de un triángulo rectángulo utilizando </a:t>
            </a:r>
            <a:r>
              <a:rPr lang="es-ES" b="1" dirty="0" err="1">
                <a:solidFill>
                  <a:srgbClr val="FF0000"/>
                </a:solidFill>
              </a:rPr>
              <a:t>cout</a:t>
            </a:r>
            <a:r>
              <a:rPr lang="es-ES" b="1" dirty="0">
                <a:solidFill>
                  <a:srgbClr val="FF0000"/>
                </a:solidFill>
              </a:rPr>
              <a:t> y </a:t>
            </a:r>
            <a:r>
              <a:rPr lang="es-ES" b="1" dirty="0" err="1">
                <a:solidFill>
                  <a:srgbClr val="FF0000"/>
                </a:solidFill>
              </a:rPr>
              <a:t>cin</a:t>
            </a:r>
            <a:r>
              <a:rPr lang="es-ES" b="1" dirty="0">
                <a:solidFill>
                  <a:srgbClr val="FF0000"/>
                </a:solidFill>
              </a:rPr>
              <a:t>)</a:t>
            </a:r>
          </a:p>
          <a:p>
            <a:pPr lvl="1"/>
            <a:r>
              <a:rPr lang="es-ES" b="1" dirty="0"/>
              <a:t>Problema 1.37. (Cálculo de la hipotenusa y de los ángulos de un triángulo rectángulo utilizando </a:t>
            </a:r>
            <a:r>
              <a:rPr lang="es-ES" b="1" dirty="0" err="1"/>
              <a:t>printf</a:t>
            </a:r>
            <a:r>
              <a:rPr lang="es-ES" b="1" dirty="0"/>
              <a:t> y </a:t>
            </a:r>
            <a:r>
              <a:rPr lang="es-ES" b="1" dirty="0" err="1"/>
              <a:t>scanf</a:t>
            </a:r>
            <a:r>
              <a:rPr lang="es-ES" b="1" dirty="0"/>
              <a:t>)</a:t>
            </a:r>
            <a:endParaRPr lang="en-US" b="1" dirty="0"/>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41</a:t>
            </a:fld>
            <a:endParaRPr lang="es-EC"/>
          </a:p>
        </p:txBody>
      </p:sp>
    </p:spTree>
    <p:extLst>
      <p:ext uri="{BB962C8B-B14F-4D97-AF65-F5344CB8AC3E}">
        <p14:creationId xmlns:p14="http://schemas.microsoft.com/office/powerpoint/2010/main" val="190342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2232249"/>
          </a:xfrm>
        </p:spPr>
        <p:txBody>
          <a:bodyPr>
            <a:normAutofit fontScale="55000" lnSpcReduction="20000"/>
          </a:bodyPr>
          <a:lstStyle/>
          <a:p>
            <a:r>
              <a:rPr lang="es-ES" dirty="0">
                <a:solidFill>
                  <a:schemeClr val="bg1">
                    <a:lumMod val="50000"/>
                  </a:schemeClr>
                </a:solidFill>
              </a:rPr>
              <a:t>Escribir un programa que calcule la hipotenusa y los dos ángulos internos de un triángulo rectángulo que suman 90°,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“a” y “b” los valores de los catetos del triángulo rectángulo. (Trabajar con valores flotantes).</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42</a:t>
            </a:fld>
            <a:endParaRPr lang="es-EC"/>
          </a:p>
        </p:txBody>
      </p:sp>
      <p:sp>
        <p:nvSpPr>
          <p:cNvPr id="9" name="12 CuadroTexto"/>
          <p:cNvSpPr txBox="1"/>
          <p:nvPr/>
        </p:nvSpPr>
        <p:spPr>
          <a:xfrm>
            <a:off x="4427984" y="5661248"/>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1.36:</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1.36</a:t>
            </a:r>
            <a:endParaRPr lang="es-EC" sz="2800" dirty="0">
              <a:solidFill>
                <a:schemeClr val="bg1">
                  <a:lumMod val="50000"/>
                </a:schemeClr>
              </a:solidFill>
            </a:endParaRPr>
          </a:p>
        </p:txBody>
      </p:sp>
      <p:pic>
        <p:nvPicPr>
          <p:cNvPr id="11" name="Imagen 10">
            <a:extLst>
              <a:ext uri="{FF2B5EF4-FFF2-40B4-BE49-F238E27FC236}">
                <a16:creationId xmlns:a16="http://schemas.microsoft.com/office/drawing/2014/main" id="{04AEDFE2-E51F-24F1-CC44-58D7BDC1D469}"/>
              </a:ext>
            </a:extLst>
          </p:cNvPr>
          <p:cNvPicPr>
            <a:picLocks noChangeAspect="1"/>
          </p:cNvPicPr>
          <p:nvPr/>
        </p:nvPicPr>
        <p:blipFill>
          <a:blip r:embed="rId2"/>
          <a:stretch>
            <a:fillRect/>
          </a:stretch>
        </p:blipFill>
        <p:spPr>
          <a:xfrm>
            <a:off x="3817774" y="1746753"/>
            <a:ext cx="5262307" cy="3842487"/>
          </a:xfrm>
          <a:prstGeom prst="rect">
            <a:avLst/>
          </a:prstGeom>
        </p:spPr>
      </p:pic>
      <p:pic>
        <p:nvPicPr>
          <p:cNvPr id="15" name="Imagen 14">
            <a:extLst>
              <a:ext uri="{FF2B5EF4-FFF2-40B4-BE49-F238E27FC236}">
                <a16:creationId xmlns:a16="http://schemas.microsoft.com/office/drawing/2014/main" id="{27134002-FCB3-E251-64D2-7111AE5F719C}"/>
              </a:ext>
            </a:extLst>
          </p:cNvPr>
          <p:cNvPicPr>
            <a:picLocks noChangeAspect="1"/>
          </p:cNvPicPr>
          <p:nvPr/>
        </p:nvPicPr>
        <p:blipFill>
          <a:blip r:embed="rId3"/>
          <a:stretch>
            <a:fillRect/>
          </a:stretch>
        </p:blipFill>
        <p:spPr>
          <a:xfrm>
            <a:off x="179512" y="4437112"/>
            <a:ext cx="3626022" cy="864096"/>
          </a:xfrm>
          <a:prstGeom prst="rect">
            <a:avLst/>
          </a:prstGeom>
        </p:spPr>
      </p:pic>
    </p:spTree>
    <p:extLst>
      <p:ext uri="{BB962C8B-B14F-4D97-AF65-F5344CB8AC3E}">
        <p14:creationId xmlns:p14="http://schemas.microsoft.com/office/powerpoint/2010/main" val="1553429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43</a:t>
            </a:fld>
            <a:endParaRPr lang="es-EC"/>
          </a:p>
        </p:txBody>
      </p:sp>
      <p:sp>
        <p:nvSpPr>
          <p:cNvPr id="9" name="12 CuadroTexto"/>
          <p:cNvSpPr txBox="1"/>
          <p:nvPr/>
        </p:nvSpPr>
        <p:spPr>
          <a:xfrm>
            <a:off x="4431597" y="5240233"/>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1.36:</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1.36</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7" name="4 Marcador de contenido">
            <a:extLst>
              <a:ext uri="{FF2B5EF4-FFF2-40B4-BE49-F238E27FC236}">
                <a16:creationId xmlns:a16="http://schemas.microsoft.com/office/drawing/2014/main" id="{B53C0608-0DF5-1A10-D9B0-1DE35A69627D}"/>
              </a:ext>
            </a:extLst>
          </p:cNvPr>
          <p:cNvSpPr>
            <a:spLocks noGrp="1"/>
          </p:cNvSpPr>
          <p:nvPr>
            <p:ph idx="1"/>
          </p:nvPr>
        </p:nvSpPr>
        <p:spPr>
          <a:xfrm>
            <a:off x="107505" y="2348879"/>
            <a:ext cx="2952328" cy="2232249"/>
          </a:xfrm>
        </p:spPr>
        <p:txBody>
          <a:bodyPr>
            <a:normAutofit fontScale="55000" lnSpcReduction="20000"/>
          </a:bodyPr>
          <a:lstStyle/>
          <a:p>
            <a:r>
              <a:rPr lang="es-ES" dirty="0">
                <a:solidFill>
                  <a:schemeClr val="bg1">
                    <a:lumMod val="50000"/>
                  </a:schemeClr>
                </a:solidFill>
              </a:rPr>
              <a:t>Escribir un programa que calcule la hipotenusa y los dos ángulos internos de un triángulo rectángulo que suman 90°, </a:t>
            </a:r>
            <a:r>
              <a:rPr lang="es-ES" dirty="0">
                <a:solidFill>
                  <a:srgbClr val="FF0000"/>
                </a:solidFill>
              </a:rPr>
              <a:t>utilizando las funciones “</a:t>
            </a:r>
            <a:r>
              <a:rPr lang="es-ES" dirty="0" err="1">
                <a:solidFill>
                  <a:srgbClr val="FF0000"/>
                </a:solidFill>
              </a:rPr>
              <a:t>cout</a:t>
            </a:r>
            <a:r>
              <a:rPr lang="es-ES" dirty="0">
                <a:solidFill>
                  <a:srgbClr val="FF0000"/>
                </a:solidFill>
              </a:rPr>
              <a:t>”, “</a:t>
            </a:r>
            <a:r>
              <a:rPr lang="es-ES" dirty="0" err="1">
                <a:solidFill>
                  <a:srgbClr val="FF0000"/>
                </a:solidFill>
              </a:rPr>
              <a:t>cin</a:t>
            </a:r>
            <a:r>
              <a:rPr lang="es-ES" dirty="0">
                <a:solidFill>
                  <a:srgbClr val="FF0000"/>
                </a:solidFill>
              </a:rPr>
              <a:t>” y las siguientes fórmulas matemáticas</a:t>
            </a:r>
            <a:r>
              <a:rPr lang="es-ES" dirty="0">
                <a:solidFill>
                  <a:schemeClr val="bg1">
                    <a:lumMod val="50000"/>
                  </a:schemeClr>
                </a:solidFill>
              </a:rPr>
              <a:t>. Siendo “a” y “b” los valores de los catetos del triángulo rectángulo. (Trabajar con valores flotantes).</a:t>
            </a:r>
          </a:p>
        </p:txBody>
      </p:sp>
      <p:pic>
        <p:nvPicPr>
          <p:cNvPr id="10" name="Imagen 9">
            <a:extLst>
              <a:ext uri="{FF2B5EF4-FFF2-40B4-BE49-F238E27FC236}">
                <a16:creationId xmlns:a16="http://schemas.microsoft.com/office/drawing/2014/main" id="{01018A00-BBAE-CFEE-95B1-EEC0CD273934}"/>
              </a:ext>
            </a:extLst>
          </p:cNvPr>
          <p:cNvPicPr>
            <a:picLocks noChangeAspect="1"/>
          </p:cNvPicPr>
          <p:nvPr/>
        </p:nvPicPr>
        <p:blipFill>
          <a:blip r:embed="rId2"/>
          <a:stretch>
            <a:fillRect/>
          </a:stretch>
        </p:blipFill>
        <p:spPr>
          <a:xfrm>
            <a:off x="179512" y="4437112"/>
            <a:ext cx="3626022" cy="864096"/>
          </a:xfrm>
          <a:prstGeom prst="rect">
            <a:avLst/>
          </a:prstGeom>
        </p:spPr>
      </p:pic>
      <p:pic>
        <p:nvPicPr>
          <p:cNvPr id="16" name="Imagen 15">
            <a:extLst>
              <a:ext uri="{FF2B5EF4-FFF2-40B4-BE49-F238E27FC236}">
                <a16:creationId xmlns:a16="http://schemas.microsoft.com/office/drawing/2014/main" id="{BB35D379-DDE5-4230-37F2-257DD6EFEBFA}"/>
              </a:ext>
            </a:extLst>
          </p:cNvPr>
          <p:cNvPicPr>
            <a:picLocks noChangeAspect="1"/>
          </p:cNvPicPr>
          <p:nvPr/>
        </p:nvPicPr>
        <p:blipFill>
          <a:blip r:embed="rId3"/>
          <a:stretch>
            <a:fillRect/>
          </a:stretch>
        </p:blipFill>
        <p:spPr>
          <a:xfrm>
            <a:off x="3969142" y="1915269"/>
            <a:ext cx="5055149" cy="3313931"/>
          </a:xfrm>
          <a:prstGeom prst="rect">
            <a:avLst/>
          </a:prstGeom>
        </p:spPr>
      </p:pic>
    </p:spTree>
    <p:extLst>
      <p:ext uri="{BB962C8B-B14F-4D97-AF65-F5344CB8AC3E}">
        <p14:creationId xmlns:p14="http://schemas.microsoft.com/office/powerpoint/2010/main" val="1595191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856984" cy="4176464"/>
          </a:xfrm>
        </p:spPr>
        <p:txBody>
          <a:bodyPr>
            <a:noAutofit/>
          </a:bodyPr>
          <a:lstStyle/>
          <a:p>
            <a:r>
              <a:rPr lang="es-ES" sz="900" dirty="0">
                <a:solidFill>
                  <a:schemeClr val="bg1">
                    <a:lumMod val="50000"/>
                  </a:schemeClr>
                </a:solidFill>
              </a:rPr>
              <a:t>Como se puede ver en este programa, hay dos entradas que son los valores del primer cateto “a” y el segundo cateto “b” del triángulo rectángulo, para lo cual utilizamos la función “</a:t>
            </a:r>
            <a:r>
              <a:rPr lang="es-ES" sz="900" dirty="0" err="1">
                <a:solidFill>
                  <a:schemeClr val="bg1">
                    <a:lumMod val="50000"/>
                  </a:schemeClr>
                </a:solidFill>
              </a:rPr>
              <a:t>cin</a:t>
            </a:r>
            <a:r>
              <a:rPr lang="es-ES" sz="900" dirty="0">
                <a:solidFill>
                  <a:schemeClr val="bg1">
                    <a:lumMod val="50000"/>
                  </a:schemeClr>
                </a:solidFill>
              </a:rPr>
              <a:t>” que permite leer un dato de manera individual:</a:t>
            </a:r>
          </a:p>
          <a:p>
            <a:endParaRPr lang="es-ES" sz="900" dirty="0">
              <a:solidFill>
                <a:schemeClr val="bg1">
                  <a:lumMod val="50000"/>
                </a:schemeClr>
              </a:solidFill>
            </a:endParaRPr>
          </a:p>
          <a:p>
            <a:pPr marL="341313" indent="0">
              <a:buNone/>
            </a:pPr>
            <a:r>
              <a:rPr lang="es-ES" sz="9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S" sz="9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9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S" sz="9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a:t>
            </a:r>
          </a:p>
          <a:p>
            <a:pPr marL="341313" indent="0">
              <a:buNone/>
            </a:pPr>
            <a:r>
              <a:rPr lang="es-ES" sz="9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cin</a:t>
            </a:r>
            <a:r>
              <a:rPr lang="es-ES" sz="9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s-ES" sz="900" dirty="0">
                <a:solidFill>
                  <a:srgbClr val="008080"/>
                </a:solidFill>
                <a:effectLst/>
                <a:latin typeface="Consolas" panose="020B0609020204030204" pitchFamily="49" charset="0"/>
                <a:ea typeface="Calibri" panose="020F0502020204030204" pitchFamily="34" charset="0"/>
                <a:cs typeface="Consolas" panose="020B0609020204030204" pitchFamily="49" charset="0"/>
              </a:rPr>
              <a:t>&gt;&gt;</a:t>
            </a:r>
            <a:r>
              <a:rPr lang="es-ES" sz="9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b;</a:t>
            </a:r>
            <a:endParaRPr lang="es-ES" sz="900" dirty="0">
              <a:solidFill>
                <a:schemeClr val="bg1">
                  <a:lumMod val="50000"/>
                </a:schemeClr>
              </a:solidFill>
            </a:endParaRPr>
          </a:p>
          <a:p>
            <a:endParaRPr lang="es-ES" sz="900" dirty="0">
              <a:solidFill>
                <a:schemeClr val="bg1">
                  <a:lumMod val="50000"/>
                </a:schemeClr>
              </a:solidFill>
            </a:endParaRPr>
          </a:p>
          <a:p>
            <a:r>
              <a:rPr lang="es-ES" sz="900" dirty="0">
                <a:solidFill>
                  <a:schemeClr val="bg1">
                    <a:lumMod val="50000"/>
                  </a:schemeClr>
                </a:solidFill>
              </a:rPr>
              <a:t>Luego nosotros calculamos y desplegamos el valor de la hipotenusa utilizando una variable, el valor del primer ángulo utilizando la variable “</a:t>
            </a:r>
            <a:r>
              <a:rPr lang="es-ES" sz="900" dirty="0" err="1">
                <a:solidFill>
                  <a:schemeClr val="bg1">
                    <a:lumMod val="50000"/>
                  </a:schemeClr>
                </a:solidFill>
              </a:rPr>
              <a:t>anguloA</a:t>
            </a:r>
            <a:r>
              <a:rPr lang="es-ES" sz="900" dirty="0">
                <a:solidFill>
                  <a:schemeClr val="bg1">
                    <a:lumMod val="50000"/>
                  </a:schemeClr>
                </a:solidFill>
              </a:rPr>
              <a:t>” y el valor del segundo ángulo utilizando la variable “</a:t>
            </a:r>
            <a:r>
              <a:rPr lang="es-ES" sz="900" dirty="0" err="1">
                <a:solidFill>
                  <a:schemeClr val="bg1">
                    <a:lumMod val="50000"/>
                  </a:schemeClr>
                </a:solidFill>
              </a:rPr>
              <a:t>anguloB</a:t>
            </a:r>
            <a:r>
              <a:rPr lang="es-ES" sz="900" dirty="0">
                <a:solidFill>
                  <a:schemeClr val="bg1">
                    <a:lumMod val="50000"/>
                  </a:schemeClr>
                </a:solidFill>
              </a:rPr>
              <a:t>” del triángulo rectángulo:</a:t>
            </a:r>
          </a:p>
          <a:p>
            <a:endParaRPr lang="es-ES" sz="900" dirty="0">
              <a:solidFill>
                <a:schemeClr val="bg1">
                  <a:lumMod val="50000"/>
                </a:schemeClr>
              </a:solidFill>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la hipotenusa.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n-U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hipotenusa</a:t>
            </a:r>
            <a:r>
              <a:rPr lang="en-U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sqrt(pow(a, 2) + pow(b, 2));</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ángulo A del triángulo rectángulo.</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atan2(b, 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Convertir el valor del ángulo A de radianes a grados.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180 / </a:t>
            </a:r>
            <a:r>
              <a:rPr lang="es-ES" sz="9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ángulo A del triángulo rectángulo.</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atan2(a, b);</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Convertir el valor del ángulo B de radianes a grados.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180 / </a:t>
            </a:r>
            <a:r>
              <a:rPr lang="es-ES" sz="9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'hipotenusa'.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cout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"La hipotenusa es: "</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hipotenusa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endl</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9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cout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ángulo A es: "</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 grados."</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endl</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9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9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buNone/>
            </a:pP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cout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ángulo B es: "</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 grados."</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a:solidFill>
                  <a:srgbClr val="008080"/>
                </a:solidFill>
                <a:effectLst/>
                <a:latin typeface="Cascadia Mono" panose="020B0609020000020004" pitchFamily="49" charset="0"/>
                <a:ea typeface="Calibri" panose="020F0502020204030204" pitchFamily="34" charset="0"/>
                <a:cs typeface="Cascadia Mono" panose="020B0609020000020004" pitchFamily="49" charset="0"/>
              </a:rPr>
              <a:t>&lt;&lt;</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9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endl</a:t>
            </a:r>
            <a:r>
              <a:rPr lang="es-ES" sz="9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s-ES" sz="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44</a:t>
            </a:fld>
            <a:endParaRPr lang="es-EC"/>
          </a:p>
        </p:txBody>
      </p:sp>
      <p:sp>
        <p:nvSpPr>
          <p:cNvPr id="9" name="12 CuadroTexto"/>
          <p:cNvSpPr txBox="1"/>
          <p:nvPr/>
        </p:nvSpPr>
        <p:spPr>
          <a:xfrm>
            <a:off x="4776914" y="4880193"/>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1.36:</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07504" y="1177588"/>
            <a:ext cx="8003726" cy="523220"/>
          </a:xfrm>
          <a:prstGeom prst="rect">
            <a:avLst/>
          </a:prstGeom>
          <a:noFill/>
        </p:spPr>
        <p:txBody>
          <a:bodyPr wrap="square" rtlCol="0">
            <a:spAutoFit/>
          </a:bodyPr>
          <a:lstStyle/>
          <a:p>
            <a:r>
              <a:rPr lang="es-ES" sz="2800" dirty="0">
                <a:solidFill>
                  <a:schemeClr val="bg1">
                    <a:lumMod val="50000"/>
                  </a:schemeClr>
                </a:solidFill>
              </a:rPr>
              <a:t>Problema 1.36</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4" name="Rectangle 2">
            <a:extLst>
              <a:ext uri="{FF2B5EF4-FFF2-40B4-BE49-F238E27FC236}">
                <a16:creationId xmlns:a16="http://schemas.microsoft.com/office/drawing/2014/main" id="{DFE69DF3-DEDA-3418-E8C4-5322A13EDEDD}"/>
              </a:ext>
            </a:extLst>
          </p:cNvPr>
          <p:cNvSpPr>
            <a:spLocks noChangeArrowheads="1"/>
          </p:cNvSpPr>
          <p:nvPr/>
        </p:nvSpPr>
        <p:spPr bwMode="auto">
          <a:xfrm>
            <a:off x="2087562" y="4931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to 6">
            <a:extLst>
              <a:ext uri="{FF2B5EF4-FFF2-40B4-BE49-F238E27FC236}">
                <a16:creationId xmlns:a16="http://schemas.microsoft.com/office/drawing/2014/main" id="{2004923A-E6AE-32CB-0DF7-DDD53FD02A2F}"/>
              </a:ext>
            </a:extLst>
          </p:cNvPr>
          <p:cNvGraphicFramePr>
            <a:graphicFrameLocks noChangeAspect="1"/>
          </p:cNvGraphicFramePr>
          <p:nvPr>
            <p:extLst>
              <p:ext uri="{D42A27DB-BD31-4B8C-83A1-F6EECF244321}">
                <p14:modId xmlns:p14="http://schemas.microsoft.com/office/powerpoint/2010/main" val="3478395842"/>
              </p:ext>
            </p:extLst>
          </p:nvPr>
        </p:nvGraphicFramePr>
        <p:xfrm>
          <a:off x="4139629" y="3660261"/>
          <a:ext cx="4968875" cy="1150938"/>
        </p:xfrm>
        <a:graphic>
          <a:graphicData uri="http://schemas.openxmlformats.org/presentationml/2006/ole">
            <mc:AlternateContent xmlns:mc="http://schemas.openxmlformats.org/markup-compatibility/2006">
              <mc:Choice xmlns:v="urn:schemas-microsoft-com:vml" Requires="v">
                <p:oleObj name="Bitmap Image" r:id="rId2" imgW="7155800" imgH="1653333" progId="Paint.Picture">
                  <p:embed/>
                </p:oleObj>
              </mc:Choice>
              <mc:Fallback>
                <p:oleObj name="Bitmap Image" r:id="rId2" imgW="7155800" imgH="1653333"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629" y="3660261"/>
                        <a:ext cx="4968875"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22082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1.35. (Cálculo del área y perímetro de un círculo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pPr lvl="1"/>
            <a:r>
              <a:rPr lang="es-ES" b="1" dirty="0">
                <a:solidFill>
                  <a:schemeClr val="bg1">
                    <a:lumMod val="50000"/>
                  </a:schemeClr>
                </a:solidFill>
              </a:rPr>
              <a:t>Problema 1.36. (Cálculo de la hipotenusa y de los ángulos de un triángulo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rgbClr val="FF0000"/>
                </a:solidFill>
              </a:rPr>
              <a:t>Problema 1.37. (Cálculo de la hipotenusa y de los ángulos de un triángulo rectángulo utilizando </a:t>
            </a:r>
            <a:r>
              <a:rPr lang="es-ES" b="1" dirty="0" err="1">
                <a:solidFill>
                  <a:srgbClr val="FF0000"/>
                </a:solidFill>
              </a:rPr>
              <a:t>printf</a:t>
            </a:r>
            <a:r>
              <a:rPr lang="es-ES" b="1" dirty="0">
                <a:solidFill>
                  <a:srgbClr val="FF0000"/>
                </a:solidFill>
              </a:rPr>
              <a:t> y </a:t>
            </a:r>
            <a:r>
              <a:rPr lang="es-ES" b="1" dirty="0" err="1">
                <a:solidFill>
                  <a:srgbClr val="FF0000"/>
                </a:solidFill>
              </a:rPr>
              <a:t>scanf</a:t>
            </a:r>
            <a:r>
              <a:rPr lang="es-ES" b="1" dirty="0">
                <a:solidFill>
                  <a:srgbClr val="FF0000"/>
                </a:solidFill>
              </a:rPr>
              <a:t>)</a:t>
            </a:r>
            <a:endParaRPr lang="en-US" b="1" dirty="0">
              <a:solidFill>
                <a:srgbClr val="FF0000"/>
              </a:solidFill>
            </a:endParaRPr>
          </a:p>
          <a:p>
            <a:r>
              <a:rPr lang="es-EC" b="1" dirty="0"/>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45</a:t>
            </a:fld>
            <a:endParaRPr lang="es-EC"/>
          </a:p>
        </p:txBody>
      </p:sp>
    </p:spTree>
    <p:extLst>
      <p:ext uri="{BB962C8B-B14F-4D97-AF65-F5344CB8AC3E}">
        <p14:creationId xmlns:p14="http://schemas.microsoft.com/office/powerpoint/2010/main" val="1091305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5" y="2348879"/>
            <a:ext cx="2952328" cy="2304257"/>
          </a:xfrm>
        </p:spPr>
        <p:txBody>
          <a:bodyPr>
            <a:normAutofit fontScale="55000" lnSpcReduction="20000"/>
          </a:bodyPr>
          <a:lstStyle/>
          <a:p>
            <a:r>
              <a:rPr lang="es-ES" dirty="0">
                <a:solidFill>
                  <a:schemeClr val="bg1">
                    <a:lumMod val="50000"/>
                  </a:schemeClr>
                </a:solidFill>
              </a:rPr>
              <a:t>Escribir un programa que calcule la hipotenusa y los dos ángulos internos de un triángulo rectángulo que suman 90°,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“a” y “b” los valores de los catetos del triángulo rectángulo. (Trabajar con valores flotantes). </a:t>
            </a: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46</a:t>
            </a:fld>
            <a:endParaRPr lang="es-EC"/>
          </a:p>
        </p:txBody>
      </p:sp>
      <p:sp>
        <p:nvSpPr>
          <p:cNvPr id="9" name="12 CuadroTexto"/>
          <p:cNvSpPr txBox="1"/>
          <p:nvPr/>
        </p:nvSpPr>
        <p:spPr>
          <a:xfrm>
            <a:off x="4283968" y="5949280"/>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1.37:</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1.37</a:t>
            </a:r>
            <a:endParaRPr lang="es-EC" sz="2800" dirty="0">
              <a:solidFill>
                <a:schemeClr val="bg1">
                  <a:lumMod val="50000"/>
                </a:schemeClr>
              </a:solidFill>
            </a:endParaRPr>
          </a:p>
        </p:txBody>
      </p:sp>
      <p:pic>
        <p:nvPicPr>
          <p:cNvPr id="7" name="Imagen 6">
            <a:extLst>
              <a:ext uri="{FF2B5EF4-FFF2-40B4-BE49-F238E27FC236}">
                <a16:creationId xmlns:a16="http://schemas.microsoft.com/office/drawing/2014/main" id="{BDE5B44D-E767-371C-D69F-AEDA10CBFB19}"/>
              </a:ext>
            </a:extLst>
          </p:cNvPr>
          <p:cNvPicPr>
            <a:picLocks noChangeAspect="1"/>
          </p:cNvPicPr>
          <p:nvPr/>
        </p:nvPicPr>
        <p:blipFill>
          <a:blip r:embed="rId2"/>
          <a:stretch>
            <a:fillRect/>
          </a:stretch>
        </p:blipFill>
        <p:spPr>
          <a:xfrm>
            <a:off x="179512" y="4437112"/>
            <a:ext cx="3626022" cy="864096"/>
          </a:xfrm>
          <a:prstGeom prst="rect">
            <a:avLst/>
          </a:prstGeom>
        </p:spPr>
      </p:pic>
      <p:pic>
        <p:nvPicPr>
          <p:cNvPr id="10" name="Imagen 9">
            <a:extLst>
              <a:ext uri="{FF2B5EF4-FFF2-40B4-BE49-F238E27FC236}">
                <a16:creationId xmlns:a16="http://schemas.microsoft.com/office/drawing/2014/main" id="{7F86259A-C5FA-6000-2889-2E197DD9CC6F}"/>
              </a:ext>
            </a:extLst>
          </p:cNvPr>
          <p:cNvPicPr>
            <a:picLocks noChangeAspect="1"/>
          </p:cNvPicPr>
          <p:nvPr/>
        </p:nvPicPr>
        <p:blipFill>
          <a:blip r:embed="rId3"/>
          <a:stretch>
            <a:fillRect/>
          </a:stretch>
        </p:blipFill>
        <p:spPr>
          <a:xfrm>
            <a:off x="3805533" y="1691355"/>
            <a:ext cx="5230961" cy="4185917"/>
          </a:xfrm>
          <a:prstGeom prst="rect">
            <a:avLst/>
          </a:prstGeom>
        </p:spPr>
      </p:pic>
    </p:spTree>
    <p:extLst>
      <p:ext uri="{BB962C8B-B14F-4D97-AF65-F5344CB8AC3E}">
        <p14:creationId xmlns:p14="http://schemas.microsoft.com/office/powerpoint/2010/main" val="3052094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47</a:t>
            </a:fld>
            <a:endParaRPr lang="es-EC"/>
          </a:p>
        </p:txBody>
      </p:sp>
      <p:sp>
        <p:nvSpPr>
          <p:cNvPr id="9" name="12 CuadroTexto"/>
          <p:cNvSpPr txBox="1"/>
          <p:nvPr/>
        </p:nvSpPr>
        <p:spPr>
          <a:xfrm>
            <a:off x="4648713" y="5456257"/>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Programa 1.37:</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628800"/>
            <a:ext cx="8003726" cy="523220"/>
          </a:xfrm>
          <a:prstGeom prst="rect">
            <a:avLst/>
          </a:prstGeom>
          <a:noFill/>
        </p:spPr>
        <p:txBody>
          <a:bodyPr wrap="square" rtlCol="0">
            <a:spAutoFit/>
          </a:bodyPr>
          <a:lstStyle/>
          <a:p>
            <a:r>
              <a:rPr lang="es-ES" sz="2800" dirty="0">
                <a:solidFill>
                  <a:schemeClr val="bg1">
                    <a:lumMod val="50000"/>
                  </a:schemeClr>
                </a:solidFill>
              </a:rPr>
              <a:t>Problema 1.37</a:t>
            </a:r>
            <a:endParaRPr lang="es-EC" sz="2800" dirty="0">
              <a:solidFill>
                <a:schemeClr val="bg1">
                  <a:lumMod val="50000"/>
                </a:schemeClr>
              </a:solidFill>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10" name="4 Marcador de contenido">
            <a:extLst>
              <a:ext uri="{FF2B5EF4-FFF2-40B4-BE49-F238E27FC236}">
                <a16:creationId xmlns:a16="http://schemas.microsoft.com/office/drawing/2014/main" id="{84709E23-CE01-196D-E883-89879A06BDD2}"/>
              </a:ext>
            </a:extLst>
          </p:cNvPr>
          <p:cNvSpPr>
            <a:spLocks noGrp="1"/>
          </p:cNvSpPr>
          <p:nvPr>
            <p:ph idx="1"/>
          </p:nvPr>
        </p:nvSpPr>
        <p:spPr>
          <a:xfrm>
            <a:off x="107505" y="2348879"/>
            <a:ext cx="2952328" cy="2304257"/>
          </a:xfrm>
        </p:spPr>
        <p:txBody>
          <a:bodyPr>
            <a:normAutofit fontScale="55000" lnSpcReduction="20000"/>
          </a:bodyPr>
          <a:lstStyle/>
          <a:p>
            <a:r>
              <a:rPr lang="es-ES" dirty="0">
                <a:solidFill>
                  <a:schemeClr val="bg1">
                    <a:lumMod val="50000"/>
                  </a:schemeClr>
                </a:solidFill>
              </a:rPr>
              <a:t>Escribir un programa que calcule la hipotenusa y los dos ángulos internos de un triángulo rectángulo que suman 90°, </a:t>
            </a:r>
            <a:r>
              <a:rPr lang="es-ES" dirty="0">
                <a:solidFill>
                  <a:srgbClr val="FF0000"/>
                </a:solidFill>
              </a:rPr>
              <a:t>utilizando las funciones “</a:t>
            </a:r>
            <a:r>
              <a:rPr lang="es-ES" dirty="0" err="1">
                <a:solidFill>
                  <a:srgbClr val="FF0000"/>
                </a:solidFill>
              </a:rPr>
              <a:t>printf</a:t>
            </a:r>
            <a:r>
              <a:rPr lang="es-ES" dirty="0">
                <a:solidFill>
                  <a:srgbClr val="FF0000"/>
                </a:solidFill>
              </a:rPr>
              <a:t>”, “</a:t>
            </a:r>
            <a:r>
              <a:rPr lang="es-ES" dirty="0" err="1">
                <a:solidFill>
                  <a:srgbClr val="FF0000"/>
                </a:solidFill>
              </a:rPr>
              <a:t>scanf</a:t>
            </a:r>
            <a:r>
              <a:rPr lang="es-ES" dirty="0">
                <a:solidFill>
                  <a:srgbClr val="FF0000"/>
                </a:solidFill>
              </a:rPr>
              <a:t>” y las siguientes fórmulas matemáticas</a:t>
            </a:r>
            <a:r>
              <a:rPr lang="es-ES" dirty="0">
                <a:solidFill>
                  <a:schemeClr val="bg1">
                    <a:lumMod val="50000"/>
                  </a:schemeClr>
                </a:solidFill>
              </a:rPr>
              <a:t>. Siendo “a” y “b” los valores de los catetos del triángulo rectángulo. (Trabajar con valores flotantes). </a:t>
            </a:r>
          </a:p>
        </p:txBody>
      </p:sp>
      <p:pic>
        <p:nvPicPr>
          <p:cNvPr id="11" name="Imagen 10">
            <a:extLst>
              <a:ext uri="{FF2B5EF4-FFF2-40B4-BE49-F238E27FC236}">
                <a16:creationId xmlns:a16="http://schemas.microsoft.com/office/drawing/2014/main" id="{06D297D2-E6D7-57D2-F7BA-EE33AAC30D67}"/>
              </a:ext>
            </a:extLst>
          </p:cNvPr>
          <p:cNvPicPr>
            <a:picLocks noChangeAspect="1"/>
          </p:cNvPicPr>
          <p:nvPr/>
        </p:nvPicPr>
        <p:blipFill>
          <a:blip r:embed="rId3"/>
          <a:stretch>
            <a:fillRect/>
          </a:stretch>
        </p:blipFill>
        <p:spPr>
          <a:xfrm>
            <a:off x="179512" y="4437112"/>
            <a:ext cx="3626022" cy="864096"/>
          </a:xfrm>
          <a:prstGeom prst="rect">
            <a:avLst/>
          </a:prstGeom>
        </p:spPr>
      </p:pic>
      <p:pic>
        <p:nvPicPr>
          <p:cNvPr id="13" name="Imagen 12">
            <a:extLst>
              <a:ext uri="{FF2B5EF4-FFF2-40B4-BE49-F238E27FC236}">
                <a16:creationId xmlns:a16="http://schemas.microsoft.com/office/drawing/2014/main" id="{256C5DB7-6088-744F-BCDC-559F22ED3926}"/>
              </a:ext>
            </a:extLst>
          </p:cNvPr>
          <p:cNvPicPr>
            <a:picLocks noChangeAspect="1"/>
          </p:cNvPicPr>
          <p:nvPr/>
        </p:nvPicPr>
        <p:blipFill>
          <a:blip r:embed="rId4"/>
          <a:stretch>
            <a:fillRect/>
          </a:stretch>
        </p:blipFill>
        <p:spPr>
          <a:xfrm>
            <a:off x="4005348" y="1853515"/>
            <a:ext cx="5031147" cy="3530734"/>
          </a:xfrm>
          <a:prstGeom prst="rect">
            <a:avLst/>
          </a:prstGeom>
        </p:spPr>
      </p:pic>
    </p:spTree>
    <p:extLst>
      <p:ext uri="{BB962C8B-B14F-4D97-AF65-F5344CB8AC3E}">
        <p14:creationId xmlns:p14="http://schemas.microsoft.com/office/powerpoint/2010/main" val="656047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1700808"/>
            <a:ext cx="8341818" cy="3600400"/>
          </a:xfrm>
        </p:spPr>
        <p:txBody>
          <a:bodyPr>
            <a:normAutofit fontScale="25000" lnSpcReduction="20000"/>
          </a:bodyPr>
          <a:lstStyle/>
          <a:p>
            <a:r>
              <a:rPr lang="es-ES" sz="3600" dirty="0">
                <a:solidFill>
                  <a:schemeClr val="bg1">
                    <a:lumMod val="50000"/>
                  </a:schemeClr>
                </a:solidFill>
              </a:rPr>
              <a:t>Como se puede ver en este programa, hay dos entradas que son los valores del primer cateto “a” y el </a:t>
            </a:r>
            <a:r>
              <a:rPr lang="es-ES" sz="3600" dirty="0" err="1">
                <a:solidFill>
                  <a:schemeClr val="bg1">
                    <a:lumMod val="50000"/>
                  </a:schemeClr>
                </a:solidFill>
              </a:rPr>
              <a:t>segudo</a:t>
            </a:r>
            <a:r>
              <a:rPr lang="es-ES" sz="3600" dirty="0">
                <a:solidFill>
                  <a:schemeClr val="bg1">
                    <a:lumMod val="50000"/>
                  </a:schemeClr>
                </a:solidFill>
              </a:rPr>
              <a:t> cateto “b” del triángulo rectángulo representadas por las variables “a” y “b”, para lo cual utilizamos la función “</a:t>
            </a:r>
            <a:r>
              <a:rPr lang="es-ES" sz="3600" dirty="0" err="1">
                <a:solidFill>
                  <a:schemeClr val="bg1">
                    <a:lumMod val="50000"/>
                  </a:schemeClr>
                </a:solidFill>
              </a:rPr>
              <a:t>scanf_s</a:t>
            </a:r>
            <a:r>
              <a:rPr lang="es-ES" sz="3600" dirty="0">
                <a:solidFill>
                  <a:schemeClr val="bg1">
                    <a:lumMod val="50000"/>
                  </a:schemeClr>
                </a:solidFill>
              </a:rPr>
              <a:t>” que permite leer un dato, donde se utiliza el especificador de formato “%f” y la dirección de la variable manipulada por el operador “&amp;”, en cada caso:</a:t>
            </a:r>
          </a:p>
          <a:p>
            <a:endParaRPr lang="es-ES" sz="3600" dirty="0">
              <a:solidFill>
                <a:schemeClr val="bg1">
                  <a:lumMod val="50000"/>
                </a:schemeClr>
              </a:solidFill>
            </a:endParaRPr>
          </a:p>
          <a:p>
            <a:pPr indent="0">
              <a:buNone/>
            </a:pPr>
            <a:r>
              <a:rPr lang="es-ES" sz="3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s-ES" sz="3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3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s-ES" sz="3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&amp;a);</a:t>
            </a:r>
          </a:p>
          <a:p>
            <a:pPr indent="0">
              <a:buNone/>
            </a:pPr>
            <a:r>
              <a:rPr lang="es-ES" sz="36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scanf_s</a:t>
            </a:r>
            <a:r>
              <a:rPr lang="es-ES" sz="3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s-ES" sz="36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"%f"</a:t>
            </a:r>
            <a:r>
              <a:rPr lang="es-ES" sz="36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&amp;b);</a:t>
            </a:r>
            <a:endParaRPr lang="en-US" sz="3600" dirty="0">
              <a:solidFill>
                <a:srgbClr val="000000"/>
              </a:solidFill>
              <a:effectLst/>
              <a:latin typeface="Consolas" panose="020B0609020204030204" pitchFamily="49" charset="0"/>
              <a:ea typeface="Calibri" panose="020F0502020204030204" pitchFamily="34" charset="0"/>
              <a:cs typeface="Consolas" panose="020B0609020204030204" pitchFamily="49" charset="0"/>
            </a:endParaRPr>
          </a:p>
          <a:p>
            <a:endParaRPr lang="es-ES" sz="3600" dirty="0">
              <a:solidFill>
                <a:schemeClr val="bg1">
                  <a:lumMod val="50000"/>
                </a:schemeClr>
              </a:solidFill>
            </a:endParaRPr>
          </a:p>
          <a:p>
            <a:r>
              <a:rPr lang="es-ES" sz="3600" dirty="0">
                <a:solidFill>
                  <a:schemeClr val="bg1">
                    <a:lumMod val="50000"/>
                  </a:schemeClr>
                </a:solidFill>
              </a:rPr>
              <a:t>Luego nosotros calculamos y desplegamos el valor de la hipotenusa utilizando una variable, el valor del primer ángulo utilizando la variable “</a:t>
            </a:r>
            <a:r>
              <a:rPr lang="es-ES" sz="3600" dirty="0" err="1">
                <a:solidFill>
                  <a:schemeClr val="bg1">
                    <a:lumMod val="50000"/>
                  </a:schemeClr>
                </a:solidFill>
              </a:rPr>
              <a:t>anguloA</a:t>
            </a:r>
            <a:r>
              <a:rPr lang="es-ES" sz="3600" dirty="0">
                <a:solidFill>
                  <a:schemeClr val="bg1">
                    <a:lumMod val="50000"/>
                  </a:schemeClr>
                </a:solidFill>
              </a:rPr>
              <a:t>” y el valor del segundo ángulo utilizando la variable “</a:t>
            </a:r>
            <a:r>
              <a:rPr lang="es-ES" sz="3600" dirty="0" err="1">
                <a:solidFill>
                  <a:schemeClr val="bg1">
                    <a:lumMod val="50000"/>
                  </a:schemeClr>
                </a:solidFill>
              </a:rPr>
              <a:t>anguloB</a:t>
            </a:r>
            <a:r>
              <a:rPr lang="es-ES" sz="3600" dirty="0">
                <a:solidFill>
                  <a:schemeClr val="bg1">
                    <a:lumMod val="50000"/>
                  </a:schemeClr>
                </a:solidFill>
              </a:rPr>
              <a:t>” del triángulo rectángulo:</a:t>
            </a:r>
          </a:p>
          <a:p>
            <a:endParaRPr lang="es-ES" sz="3600" dirty="0">
              <a:solidFill>
                <a:schemeClr val="bg1">
                  <a:lumMod val="50000"/>
                </a:schemeClr>
              </a:solidFill>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la hipotenusa.</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n-U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hipotenusa</a:t>
            </a:r>
            <a:r>
              <a:rPr lang="en-U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sqrt(pow(a, 2) + pow(b, 2));</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ángulo A del triángulo rectángulo.</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atan2(b, a);</a:t>
            </a:r>
            <a:endParaRPr lang="en-US" sz="36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Convertir el valor del ángulo A de radianes a grados.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180 / </a:t>
            </a:r>
            <a:r>
              <a:rPr lang="es-ES" sz="36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Calcular el ángulo A del triángulo rectángulo.</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atan2(a, b);</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Convertir el valor del ángulo B de radianes a grados.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180 / </a:t>
            </a:r>
            <a:r>
              <a:rPr lang="es-ES" sz="3600" dirty="0">
                <a:solidFill>
                  <a:srgbClr val="6F008A"/>
                </a:solidFill>
                <a:effectLst/>
                <a:latin typeface="Cascadia Mono" panose="020B0609020000020004" pitchFamily="49" charset="0"/>
                <a:ea typeface="Calibri" panose="020F0502020204030204" pitchFamily="34" charset="0"/>
                <a:cs typeface="Cascadia Mono" panose="020B0609020000020004" pitchFamily="49" charset="0"/>
              </a:rPr>
              <a:t>PI</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'hipotenusa'.</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printf</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36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"La hipotenusa es: %f\n"</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hipotenusa);</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36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printf</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36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ángulo A es: %f grados\n"</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anguloA</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Imprimir el valor de la variable '</a:t>
            </a:r>
            <a:r>
              <a:rPr lang="es-ES" sz="360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360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buNone/>
            </a:pP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printf</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r>
              <a:rPr lang="es-ES" sz="3600" dirty="0">
                <a:solidFill>
                  <a:srgbClr val="A31515"/>
                </a:solidFill>
                <a:effectLst/>
                <a:latin typeface="Cascadia Mono" panose="020B0609020000020004" pitchFamily="49" charset="0"/>
                <a:ea typeface="Calibri" panose="020F0502020204030204" pitchFamily="34" charset="0"/>
                <a:cs typeface="Cascadia Mono" panose="020B0609020000020004" pitchFamily="49" charset="0"/>
              </a:rPr>
              <a:t>"El ángulo B es: %f grados\n"</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s-ES" sz="360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anguloB</a:t>
            </a:r>
            <a:r>
              <a:rPr lang="es-ES" sz="360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20000"/>
              </a:lnSpc>
              <a:spcBef>
                <a:spcPts val="0"/>
              </a:spcBef>
              <a:buNone/>
            </a:pPr>
            <a:r>
              <a:rPr lang="en-US" sz="4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4000" dirty="0">
              <a:solidFill>
                <a:schemeClr val="bg1">
                  <a:lumMod val="50000"/>
                </a:schemeClr>
              </a:solidFill>
            </a:endParaRPr>
          </a:p>
          <a:p>
            <a:pPr marL="341313" marR="0" indent="0">
              <a:lnSpc>
                <a:spcPct val="120000"/>
              </a:lnSpc>
              <a:spcBef>
                <a:spcPts val="0"/>
              </a:spcBef>
              <a:buNone/>
            </a:pP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s-ES" sz="1900" dirty="0">
              <a:solidFill>
                <a:schemeClr val="bg1">
                  <a:lumMod val="50000"/>
                </a:schemeClr>
              </a:solidFill>
            </a:endParaRPr>
          </a:p>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48</a:t>
            </a:fld>
            <a:endParaRPr lang="es-EC"/>
          </a:p>
        </p:txBody>
      </p:sp>
      <p:sp>
        <p:nvSpPr>
          <p:cNvPr id="9" name="12 CuadroTexto"/>
          <p:cNvSpPr txBox="1"/>
          <p:nvPr/>
        </p:nvSpPr>
        <p:spPr>
          <a:xfrm>
            <a:off x="4644008" y="5013176"/>
            <a:ext cx="3744416" cy="276999"/>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Salida 1.37:</a:t>
            </a:r>
            <a:r>
              <a:rPr lang="es-ES" sz="1200" dirty="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
        <p:nvSpPr>
          <p:cNvPr id="2" name="7 CuadroTexto">
            <a:extLst>
              <a:ext uri="{FF2B5EF4-FFF2-40B4-BE49-F238E27FC236}">
                <a16:creationId xmlns:a16="http://schemas.microsoft.com/office/drawing/2014/main" id="{309320EB-83B4-B56E-2BB7-BA1935752CD3}"/>
              </a:ext>
            </a:extLst>
          </p:cNvPr>
          <p:cNvSpPr txBox="1"/>
          <p:nvPr/>
        </p:nvSpPr>
        <p:spPr>
          <a:xfrm>
            <a:off x="179512" y="1124744"/>
            <a:ext cx="8003726" cy="523220"/>
          </a:xfrm>
          <a:prstGeom prst="rect">
            <a:avLst/>
          </a:prstGeom>
          <a:noFill/>
        </p:spPr>
        <p:txBody>
          <a:bodyPr wrap="square" rtlCol="0">
            <a:spAutoFit/>
          </a:bodyPr>
          <a:lstStyle/>
          <a:p>
            <a:r>
              <a:rPr lang="es-ES" sz="2800" dirty="0">
                <a:solidFill>
                  <a:schemeClr val="bg1">
                    <a:lumMod val="50000"/>
                  </a:schemeClr>
                </a:solidFill>
              </a:rPr>
              <a:t>Problema 1.37</a:t>
            </a:r>
            <a:endParaRPr lang="es-EC" sz="2800" dirty="0">
              <a:solidFill>
                <a:schemeClr val="bg1">
                  <a:lumMod val="50000"/>
                </a:schemeClr>
              </a:solidFill>
            </a:endParaRPr>
          </a:p>
        </p:txBody>
      </p:sp>
      <p:sp>
        <p:nvSpPr>
          <p:cNvPr id="8" name="Título 11">
            <a:extLst>
              <a:ext uri="{FF2B5EF4-FFF2-40B4-BE49-F238E27FC236}">
                <a16:creationId xmlns:a16="http://schemas.microsoft.com/office/drawing/2014/main" id="{4D47D9E8-05DF-6873-87BD-B3DA7C81936E}"/>
              </a:ext>
            </a:extLst>
          </p:cNvPr>
          <p:cNvSpPr>
            <a:spLocks noGrp="1"/>
          </p:cNvSpPr>
          <p:nvPr>
            <p:ph type="title"/>
          </p:nvPr>
        </p:nvSpPr>
        <p:spPr>
          <a:xfrm>
            <a:off x="457200" y="-27384"/>
            <a:ext cx="8229600" cy="1243882"/>
          </a:xfrm>
        </p:spPr>
        <p:txBody>
          <a:bodyPr/>
          <a:lstStyle/>
          <a:p>
            <a:pPr>
              <a:lnSpc>
                <a:spcPts val="4000"/>
              </a:lnSpc>
            </a:pPr>
            <a:r>
              <a:rPr lang="es-ES" sz="4400" b="1" dirty="0"/>
              <a:t>Aplicaciones de las Funciones de la Librería </a:t>
            </a:r>
            <a:r>
              <a:rPr lang="es-ES" sz="4400" b="1" dirty="0" err="1"/>
              <a:t>cmath</a:t>
            </a:r>
            <a:endParaRPr lang="en-US" sz="4400" dirty="0"/>
          </a:p>
        </p:txBody>
      </p:sp>
      <p:sp>
        <p:nvSpPr>
          <p:cNvPr id="4" name="Rectangle 2">
            <a:extLst>
              <a:ext uri="{FF2B5EF4-FFF2-40B4-BE49-F238E27FC236}">
                <a16:creationId xmlns:a16="http://schemas.microsoft.com/office/drawing/2014/main" id="{BB3B56E2-D3E3-EB58-2927-38213B9E056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to 9">
            <a:extLst>
              <a:ext uri="{FF2B5EF4-FFF2-40B4-BE49-F238E27FC236}">
                <a16:creationId xmlns:a16="http://schemas.microsoft.com/office/drawing/2014/main" id="{03D06E20-8292-24C6-25BD-0B11E8344BD1}"/>
              </a:ext>
            </a:extLst>
          </p:cNvPr>
          <p:cNvGraphicFramePr>
            <a:graphicFrameLocks noChangeAspect="1"/>
          </p:cNvGraphicFramePr>
          <p:nvPr>
            <p:extLst>
              <p:ext uri="{D42A27DB-BD31-4B8C-83A1-F6EECF244321}">
                <p14:modId xmlns:p14="http://schemas.microsoft.com/office/powerpoint/2010/main" val="3766307715"/>
              </p:ext>
            </p:extLst>
          </p:nvPr>
        </p:nvGraphicFramePr>
        <p:xfrm>
          <a:off x="4067621" y="3819203"/>
          <a:ext cx="4968875" cy="1150938"/>
        </p:xfrm>
        <a:graphic>
          <a:graphicData uri="http://schemas.openxmlformats.org/presentationml/2006/ole">
            <mc:AlternateContent xmlns:mc="http://schemas.openxmlformats.org/markup-compatibility/2006">
              <mc:Choice xmlns:v="urn:schemas-microsoft-com:vml" Requires="v">
                <p:oleObj name="Bitmap Image" r:id="rId2" imgW="7155800" imgH="1653333" progId="Paint.Picture">
                  <p:embed/>
                </p:oleObj>
              </mc:Choice>
              <mc:Fallback>
                <p:oleObj name="Bitmap Image" r:id="rId2" imgW="7155800" imgH="1653333"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621" y="3819203"/>
                        <a:ext cx="4968875"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241562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1.35. (Cálculo del área y perímetro de un círculo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pPr lvl="1"/>
            <a:r>
              <a:rPr lang="es-ES" b="1" dirty="0">
                <a:solidFill>
                  <a:schemeClr val="bg1">
                    <a:lumMod val="50000"/>
                  </a:schemeClr>
                </a:solidFill>
              </a:rPr>
              <a:t>Problema 1.36. (Cálculo de la hipotenusa y de los ángulos de un triángulo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1.37. (Cálculo de la hipotenusa y de los ángulos de un triángulo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n-US" b="1" dirty="0">
              <a:solidFill>
                <a:schemeClr val="bg1">
                  <a:lumMod val="50000"/>
                </a:schemeClr>
              </a:solidFill>
            </a:endParaRPr>
          </a:p>
          <a:p>
            <a:r>
              <a:rPr lang="es-EC" b="1" dirty="0">
                <a:solidFill>
                  <a:srgbClr val="FF0000"/>
                </a:solidFill>
              </a:rPr>
              <a:t>Resumen</a:t>
            </a:r>
          </a:p>
          <a:p>
            <a:r>
              <a:rPr lang="es-EC" b="1" dirty="0"/>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49</a:t>
            </a:fld>
            <a:endParaRPr lang="es-EC"/>
          </a:p>
        </p:txBody>
      </p:sp>
    </p:spTree>
    <p:extLst>
      <p:ext uri="{BB962C8B-B14F-4D97-AF65-F5344CB8AC3E}">
        <p14:creationId xmlns:p14="http://schemas.microsoft.com/office/powerpoint/2010/main" val="3160080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50</a:t>
            </a:fld>
            <a:endParaRPr lang="es-EC"/>
          </a:p>
        </p:txBody>
      </p:sp>
      <p:sp>
        <p:nvSpPr>
          <p:cNvPr id="9" name="12 CuadroTexto"/>
          <p:cNvSpPr txBox="1"/>
          <p:nvPr/>
        </p:nvSpPr>
        <p:spPr>
          <a:xfrm>
            <a:off x="5508104" y="5234139"/>
            <a:ext cx="3528366" cy="553998"/>
          </a:xfrm>
          <a:prstGeom prst="rect">
            <a:avLst/>
          </a:prstGeom>
          <a:noFill/>
        </p:spPr>
        <p:txBody>
          <a:bodyPr wrap="square" rtlCol="0">
            <a:spAutoFit/>
          </a:bodyPr>
          <a:lstStyle/>
          <a:p>
            <a:pPr algn="ctr"/>
            <a:r>
              <a:rPr lang="es-ES" sz="1000" b="1" dirty="0">
                <a:solidFill>
                  <a:schemeClr val="tx1">
                    <a:lumMod val="50000"/>
                    <a:lumOff val="50000"/>
                  </a:schemeClr>
                </a:solidFill>
                <a:latin typeface="+mj-lt"/>
              </a:rPr>
              <a:t>Programa 1.25.4:</a:t>
            </a:r>
            <a:r>
              <a:rPr lang="es-ES" sz="1000" dirty="0">
                <a:solidFill>
                  <a:schemeClr val="tx1">
                    <a:lumMod val="50000"/>
                    <a:lumOff val="50000"/>
                  </a:schemeClr>
                </a:solidFill>
                <a:latin typeface="+mj-lt"/>
              </a:rPr>
              <a:t> Resumen del Capítulo 1.</a:t>
            </a:r>
          </a:p>
          <a:p>
            <a:pPr algn="ctr"/>
            <a:r>
              <a:rPr lang="es-ES" sz="1000" dirty="0">
                <a:solidFill>
                  <a:schemeClr val="tx1">
                    <a:lumMod val="50000"/>
                    <a:lumOff val="50000"/>
                  </a:schemeClr>
                </a:solidFill>
                <a:latin typeface="+mj-lt"/>
              </a:rPr>
              <a:t>Fuente: https://www.flaticon.es/icono-gratis/resumen_4833961.</a:t>
            </a:r>
            <a:endParaRPr lang="es-EC" sz="1000" dirty="0">
              <a:solidFill>
                <a:schemeClr val="tx1">
                  <a:lumMod val="50000"/>
                  <a:lumOff val="50000"/>
                </a:schemeClr>
              </a:solidFill>
              <a:latin typeface="+mj-lt"/>
            </a:endParaRPr>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457200" y="75136"/>
            <a:ext cx="8229600" cy="689568"/>
          </a:xfrm>
        </p:spPr>
        <p:txBody>
          <a:bodyPr/>
          <a:lstStyle/>
          <a:p>
            <a:pPr>
              <a:lnSpc>
                <a:spcPts val="4000"/>
              </a:lnSpc>
            </a:pPr>
            <a:r>
              <a:rPr lang="es-ES" sz="4400" b="1" dirty="0"/>
              <a:t>Resumen</a:t>
            </a:r>
            <a:endParaRPr lang="en-US" sz="4400" dirty="0"/>
          </a:p>
        </p:txBody>
      </p:sp>
      <p:sp>
        <p:nvSpPr>
          <p:cNvPr id="10" name="4 Marcador de contenido">
            <a:extLst>
              <a:ext uri="{FF2B5EF4-FFF2-40B4-BE49-F238E27FC236}">
                <a16:creationId xmlns:a16="http://schemas.microsoft.com/office/drawing/2014/main" id="{84709E23-CE01-196D-E883-89879A06BDD2}"/>
              </a:ext>
            </a:extLst>
          </p:cNvPr>
          <p:cNvSpPr>
            <a:spLocks noGrp="1"/>
          </p:cNvSpPr>
          <p:nvPr>
            <p:ph idx="1"/>
          </p:nvPr>
        </p:nvSpPr>
        <p:spPr>
          <a:xfrm>
            <a:off x="17944" y="1196752"/>
            <a:ext cx="5274136" cy="4752528"/>
          </a:xfrm>
        </p:spPr>
        <p:txBody>
          <a:bodyPr>
            <a:normAutofit fontScale="47500" lnSpcReduction="20000"/>
          </a:bodyPr>
          <a:lstStyle/>
          <a:p>
            <a:pPr marL="457200" indent="-457200">
              <a:buFont typeface="+mj-lt"/>
              <a:buAutoNum type="arabicPeriod"/>
            </a:pPr>
            <a:r>
              <a:rPr lang="es-ES" dirty="0">
                <a:solidFill>
                  <a:srgbClr val="FF0000"/>
                </a:solidFill>
              </a:rPr>
              <a:t>El compilador de C/C++ traduce el código fuente a código objeto</a:t>
            </a:r>
            <a:r>
              <a:rPr lang="es-ES" dirty="0">
                <a:solidFill>
                  <a:schemeClr val="bg1">
                    <a:lumMod val="50000"/>
                  </a:schemeClr>
                </a:solidFill>
              </a:rPr>
              <a:t>. El enlazador luego combina el código objeto para producir el programa ejecutable que puede correr sobre un sistema operativo.</a:t>
            </a:r>
          </a:p>
          <a:p>
            <a:pPr marL="457200" indent="-457200">
              <a:buFont typeface="+mj-lt"/>
              <a:buAutoNum type="arabicPeriod"/>
            </a:pPr>
            <a:r>
              <a:rPr lang="es-ES" dirty="0">
                <a:solidFill>
                  <a:srgbClr val="FF0000"/>
                </a:solidFill>
              </a:rPr>
              <a:t>Cada programa en lenguaje C/C++ tiene una función principal </a:t>
            </a:r>
            <a:r>
              <a:rPr lang="es-ES" dirty="0">
                <a:solidFill>
                  <a:schemeClr val="bg1">
                    <a:lumMod val="50000"/>
                  </a:schemeClr>
                </a:solidFill>
              </a:rPr>
              <a:t>(</a:t>
            </a:r>
            <a:r>
              <a:rPr lang="es-ES" dirty="0" err="1">
                <a:solidFill>
                  <a:schemeClr val="bg1">
                    <a:lumMod val="50000"/>
                  </a:schemeClr>
                </a:solidFill>
              </a:rPr>
              <a:t>main</a:t>
            </a:r>
            <a:r>
              <a:rPr lang="es-ES" dirty="0">
                <a:solidFill>
                  <a:schemeClr val="bg1">
                    <a:lumMod val="50000"/>
                  </a:schemeClr>
                </a:solidFill>
              </a:rPr>
              <a:t>), la cual define el punto de entrada a un programa.</a:t>
            </a:r>
          </a:p>
          <a:p>
            <a:pPr marL="457200" indent="-457200">
              <a:buFont typeface="+mj-lt"/>
              <a:buAutoNum type="arabicPeriod"/>
            </a:pPr>
            <a:r>
              <a:rPr lang="es-ES" dirty="0">
                <a:solidFill>
                  <a:srgbClr val="FF0000"/>
                </a:solidFill>
              </a:rPr>
              <a:t>La función de salida </a:t>
            </a:r>
            <a:r>
              <a:rPr lang="es-ES" dirty="0" err="1">
                <a:solidFill>
                  <a:srgbClr val="FF0000"/>
                </a:solidFill>
              </a:rPr>
              <a:t>cout</a:t>
            </a:r>
            <a:r>
              <a:rPr lang="es-ES" dirty="0">
                <a:solidFill>
                  <a:srgbClr val="FF0000"/>
                </a:solidFill>
              </a:rPr>
              <a:t> permite desplegar datos</a:t>
            </a:r>
            <a:r>
              <a:rPr lang="es-ES" dirty="0">
                <a:solidFill>
                  <a:schemeClr val="bg1">
                    <a:lumMod val="50000"/>
                  </a:schemeClr>
                </a:solidFill>
              </a:rPr>
              <a:t> desde la ventana de la consola utilizando el operador de inserción ‘&lt;&lt;’.</a:t>
            </a:r>
            <a:r>
              <a:rPr lang="es-ES" dirty="0">
                <a:solidFill>
                  <a:srgbClr val="FF0000"/>
                </a:solidFill>
              </a:rPr>
              <a:t> La función de entrada </a:t>
            </a:r>
            <a:r>
              <a:rPr lang="es-ES" dirty="0" err="1">
                <a:solidFill>
                  <a:srgbClr val="FF0000"/>
                </a:solidFill>
              </a:rPr>
              <a:t>cin</a:t>
            </a:r>
            <a:r>
              <a:rPr lang="es-ES" dirty="0">
                <a:solidFill>
                  <a:srgbClr val="FF0000"/>
                </a:solidFill>
              </a:rPr>
              <a:t> permite la entrada de datos</a:t>
            </a:r>
            <a:r>
              <a:rPr lang="es-ES" dirty="0">
                <a:solidFill>
                  <a:schemeClr val="bg1">
                    <a:lumMod val="50000"/>
                  </a:schemeClr>
                </a:solidFill>
              </a:rPr>
              <a:t> por consola utilizando el operador de extracción ‘&gt;&gt;’. </a:t>
            </a:r>
          </a:p>
          <a:p>
            <a:pPr marL="457200" indent="-457200">
              <a:buFont typeface="+mj-lt"/>
              <a:buAutoNum type="arabicPeriod"/>
            </a:pPr>
            <a:r>
              <a:rPr lang="es-ES" dirty="0">
                <a:solidFill>
                  <a:srgbClr val="FF0000"/>
                </a:solidFill>
              </a:rPr>
              <a:t>Una variable permite almacenar un elemento en la memoria de acceso aleatorio (RAM) </a:t>
            </a:r>
            <a:r>
              <a:rPr lang="es-ES" dirty="0">
                <a:solidFill>
                  <a:schemeClr val="bg1">
                    <a:lumMod val="50000"/>
                  </a:schemeClr>
                </a:solidFill>
              </a:rPr>
              <a:t>un valor de algún tipo de dato definido en el lenguaje C/C++.</a:t>
            </a:r>
          </a:p>
          <a:p>
            <a:pPr marL="457200" indent="-457200">
              <a:buFont typeface="+mj-lt"/>
              <a:buAutoNum type="arabicPeriod"/>
            </a:pPr>
            <a:r>
              <a:rPr lang="es-ES" dirty="0">
                <a:solidFill>
                  <a:srgbClr val="FF0000"/>
                </a:solidFill>
              </a:rPr>
              <a:t>Los cinco operadores aritméticos binarios que maneja el lenguaje C/C++ son: suma (+), resta (-), multiplicación (*), división (/), módulo (%</a:t>
            </a:r>
            <a:r>
              <a:rPr lang="es-ES" dirty="0">
                <a:solidFill>
                  <a:schemeClr val="bg1">
                    <a:lumMod val="50000"/>
                  </a:schemeClr>
                </a:solidFill>
              </a:rPr>
              <a:t>).</a:t>
            </a:r>
          </a:p>
          <a:p>
            <a:pPr marL="457200" indent="-457200">
              <a:buFont typeface="+mj-lt"/>
              <a:buAutoNum type="arabicPeriod"/>
            </a:pPr>
            <a:r>
              <a:rPr lang="es-ES" dirty="0">
                <a:solidFill>
                  <a:srgbClr val="FF0000"/>
                </a:solidFill>
              </a:rPr>
              <a:t>Los seis operadores relacionales que maneja el lenguaje C/C++ son: igual a (==), no igual a (!=), mayor que (&gt;), menor que (&lt;), mayor o igual que (&gt;=), menor o igual que (&lt;=).</a:t>
            </a:r>
          </a:p>
          <a:p>
            <a:pPr marL="457200" indent="-457200">
              <a:buFont typeface="+mj-lt"/>
              <a:buAutoNum type="arabicPeriod"/>
            </a:pPr>
            <a:r>
              <a:rPr lang="es-ES" dirty="0">
                <a:solidFill>
                  <a:srgbClr val="FF0000"/>
                </a:solidFill>
              </a:rPr>
              <a:t>Los tres operadores lógicos que maneja el lenguaje C/C++ son: operador lógico AND (&amp;&amp;), operador lógico OR (||), operador lógico de negación NOT (!).</a:t>
            </a:r>
          </a:p>
          <a:p>
            <a:pPr marL="457200" indent="-457200">
              <a:buFont typeface="+mj-lt"/>
              <a:buAutoNum type="arabicPeriod"/>
            </a:pPr>
            <a:r>
              <a:rPr lang="es-ES" dirty="0">
                <a:solidFill>
                  <a:srgbClr val="FF0000"/>
                </a:solidFill>
              </a:rPr>
              <a:t>La Librería de Encabezado de Funciones Matemáticas (</a:t>
            </a:r>
            <a:r>
              <a:rPr lang="es-ES" dirty="0" err="1">
                <a:solidFill>
                  <a:srgbClr val="FF0000"/>
                </a:solidFill>
              </a:rPr>
              <a:t>Math</a:t>
            </a:r>
            <a:r>
              <a:rPr lang="es-ES" dirty="0">
                <a:solidFill>
                  <a:srgbClr val="FF0000"/>
                </a:solidFill>
              </a:rPr>
              <a:t> Library </a:t>
            </a:r>
            <a:r>
              <a:rPr lang="es-ES" dirty="0" err="1">
                <a:solidFill>
                  <a:srgbClr val="FF0000"/>
                </a:solidFill>
              </a:rPr>
              <a:t>Header</a:t>
            </a:r>
            <a:r>
              <a:rPr lang="es-ES" dirty="0">
                <a:solidFill>
                  <a:srgbClr val="FF0000"/>
                </a:solidFill>
              </a:rPr>
              <a:t>), es una librería que tiene funciones para realizar operaciones matemáticas básicas</a:t>
            </a:r>
            <a:r>
              <a:rPr lang="es-ES" dirty="0">
                <a:solidFill>
                  <a:schemeClr val="bg1">
                    <a:lumMod val="50000"/>
                  </a:schemeClr>
                </a:solidFill>
              </a:rPr>
              <a:t>, tales como: funciones trigonométricas, funciones exponenciales, funciones logarítmicas, funciones para calcular la raíz cuadrada, funciones para calcular el valor absoluto de un número, etc.</a:t>
            </a:r>
          </a:p>
          <a:p>
            <a:pPr marL="457200" indent="-457200">
              <a:buFont typeface="+mj-lt"/>
              <a:buAutoNum type="arabicPeriod"/>
            </a:pPr>
            <a:r>
              <a:rPr lang="es-ES" dirty="0">
                <a:solidFill>
                  <a:srgbClr val="FF0000"/>
                </a:solidFill>
              </a:rPr>
              <a:t>En el lenguaje C/C++ se pueden crear programas que utilicen operadores aritméticos, relacionales y lógicos para resolver problemas de programación</a:t>
            </a:r>
            <a:r>
              <a:rPr lang="es-ES" dirty="0">
                <a:solidFill>
                  <a:schemeClr val="bg1">
                    <a:lumMod val="50000"/>
                  </a:schemeClr>
                </a:solidFill>
              </a:rPr>
              <a:t>. </a:t>
            </a:r>
          </a:p>
        </p:txBody>
      </p:sp>
      <p:pic>
        <p:nvPicPr>
          <p:cNvPr id="5" name="Imagen 4">
            <a:extLst>
              <a:ext uri="{FF2B5EF4-FFF2-40B4-BE49-F238E27FC236}">
                <a16:creationId xmlns:a16="http://schemas.microsoft.com/office/drawing/2014/main" id="{8DA22886-74D1-E5A8-29E4-CC6B54BE7FC9}"/>
              </a:ext>
            </a:extLst>
          </p:cNvPr>
          <p:cNvPicPr>
            <a:picLocks noChangeAspect="1"/>
          </p:cNvPicPr>
          <p:nvPr/>
        </p:nvPicPr>
        <p:blipFill>
          <a:blip r:embed="rId3"/>
          <a:stretch>
            <a:fillRect/>
          </a:stretch>
        </p:blipFill>
        <p:spPr>
          <a:xfrm>
            <a:off x="5508130" y="1268760"/>
            <a:ext cx="3528366" cy="3810330"/>
          </a:xfrm>
          <a:prstGeom prst="rect">
            <a:avLst/>
          </a:prstGeom>
        </p:spPr>
      </p:pic>
    </p:spTree>
    <p:extLst>
      <p:ext uri="{BB962C8B-B14F-4D97-AF65-F5344CB8AC3E}">
        <p14:creationId xmlns:p14="http://schemas.microsoft.com/office/powerpoint/2010/main" val="3141124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a:xfrm>
            <a:off x="457200" y="1600200"/>
            <a:ext cx="8507288" cy="4637112"/>
          </a:xfrm>
        </p:spPr>
        <p:txBody>
          <a:bodyPr>
            <a:normAutofit fontScale="85000" lnSpcReduction="20000"/>
          </a:bodyPr>
          <a:lstStyle/>
          <a:p>
            <a:r>
              <a:rPr lang="es-EC" b="1" dirty="0">
                <a:solidFill>
                  <a:schemeClr val="bg1">
                    <a:lumMod val="50000"/>
                  </a:schemeClr>
                </a:solidFill>
              </a:rPr>
              <a:t>Fórmulas Matemáticas</a:t>
            </a:r>
            <a:endParaRPr lang="en-US" b="1" dirty="0">
              <a:solidFill>
                <a:schemeClr val="bg1">
                  <a:lumMod val="50000"/>
                </a:schemeClr>
              </a:solidFill>
            </a:endParaRPr>
          </a:p>
          <a:p>
            <a:r>
              <a:rPr lang="es-ES" b="1" dirty="0">
                <a:solidFill>
                  <a:schemeClr val="bg1">
                    <a:lumMod val="50000"/>
                  </a:schemeClr>
                </a:solidFill>
              </a:rPr>
              <a:t>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1.28. (Aplicación del uso de funciones matemáticas con las funciones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1.29. (Aplicación del uso de funciones matemáticas con las funciones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r>
              <a:rPr lang="es-ES" b="1" dirty="0">
                <a:solidFill>
                  <a:schemeClr val="bg1">
                    <a:lumMod val="50000"/>
                  </a:schemeClr>
                </a:solidFill>
              </a:rPr>
              <a:t>Aplicaciones de las Funciones de la Librería “</a:t>
            </a:r>
            <a:r>
              <a:rPr lang="es-ES" b="1" dirty="0" err="1">
                <a:solidFill>
                  <a:schemeClr val="bg1">
                    <a:lumMod val="50000"/>
                  </a:schemeClr>
                </a:solidFill>
              </a:rPr>
              <a:t>cmath</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1.30. (Cálculo del área y perímetro de un cuadrado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1.31. (Cálculo del área y perímetro de un cuadrado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1.32. (Cálculo del área y perímetro de un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1.33. (Cálculo del área y perímetro de un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s-EC" b="1" dirty="0">
              <a:solidFill>
                <a:schemeClr val="bg1">
                  <a:lumMod val="50000"/>
                </a:schemeClr>
              </a:solidFill>
            </a:endParaRPr>
          </a:p>
          <a:p>
            <a:pPr lvl="1"/>
            <a:r>
              <a:rPr lang="es-ES" b="1" dirty="0">
                <a:solidFill>
                  <a:schemeClr val="bg1">
                    <a:lumMod val="50000"/>
                  </a:schemeClr>
                </a:solidFill>
              </a:rPr>
              <a:t>Problema 1.34. (Cálculo del área y perímetro de un círculo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1.35. (Cálculo del área y perímetro de un círculo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p>
          <a:p>
            <a:pPr lvl="1"/>
            <a:r>
              <a:rPr lang="es-ES" b="1" dirty="0">
                <a:solidFill>
                  <a:schemeClr val="bg1">
                    <a:lumMod val="50000"/>
                  </a:schemeClr>
                </a:solidFill>
              </a:rPr>
              <a:t>Problema 1.36. (Cálculo de la hipotenusa y de los ángulos de un triángulo rectángulo utilizando </a:t>
            </a:r>
            <a:r>
              <a:rPr lang="es-ES" b="1" dirty="0" err="1">
                <a:solidFill>
                  <a:schemeClr val="bg1">
                    <a:lumMod val="50000"/>
                  </a:schemeClr>
                </a:solidFill>
              </a:rPr>
              <a:t>cout</a:t>
            </a:r>
            <a:r>
              <a:rPr lang="es-ES" b="1" dirty="0">
                <a:solidFill>
                  <a:schemeClr val="bg1">
                    <a:lumMod val="50000"/>
                  </a:schemeClr>
                </a:solidFill>
              </a:rPr>
              <a:t> y </a:t>
            </a:r>
            <a:r>
              <a:rPr lang="es-ES" b="1" dirty="0" err="1">
                <a:solidFill>
                  <a:schemeClr val="bg1">
                    <a:lumMod val="50000"/>
                  </a:schemeClr>
                </a:solidFill>
              </a:rPr>
              <a:t>cin</a:t>
            </a:r>
            <a:r>
              <a:rPr lang="es-ES" b="1" dirty="0">
                <a:solidFill>
                  <a:schemeClr val="bg1">
                    <a:lumMod val="50000"/>
                  </a:schemeClr>
                </a:solidFill>
              </a:rPr>
              <a:t>)</a:t>
            </a:r>
          </a:p>
          <a:p>
            <a:pPr lvl="1"/>
            <a:r>
              <a:rPr lang="es-ES" b="1" dirty="0">
                <a:solidFill>
                  <a:schemeClr val="bg1">
                    <a:lumMod val="50000"/>
                  </a:schemeClr>
                </a:solidFill>
              </a:rPr>
              <a:t>Problema 1.37. (Cálculo de la hipotenusa y de los ángulos de un triángulo rectángulo utilizando </a:t>
            </a:r>
            <a:r>
              <a:rPr lang="es-ES" b="1" dirty="0" err="1">
                <a:solidFill>
                  <a:schemeClr val="bg1">
                    <a:lumMod val="50000"/>
                  </a:schemeClr>
                </a:solidFill>
              </a:rPr>
              <a:t>printf</a:t>
            </a:r>
            <a:r>
              <a:rPr lang="es-ES" b="1" dirty="0">
                <a:solidFill>
                  <a:schemeClr val="bg1">
                    <a:lumMod val="50000"/>
                  </a:schemeClr>
                </a:solidFill>
              </a:rPr>
              <a:t> y </a:t>
            </a:r>
            <a:r>
              <a:rPr lang="es-ES" b="1" dirty="0" err="1">
                <a:solidFill>
                  <a:schemeClr val="bg1">
                    <a:lumMod val="50000"/>
                  </a:schemeClr>
                </a:solidFill>
              </a:rPr>
              <a:t>scanf</a:t>
            </a:r>
            <a:r>
              <a:rPr lang="es-ES" b="1" dirty="0">
                <a:solidFill>
                  <a:schemeClr val="bg1">
                    <a:lumMod val="50000"/>
                  </a:schemeClr>
                </a:solidFill>
              </a:rPr>
              <a:t>)</a:t>
            </a:r>
            <a:endParaRPr lang="en-US" b="1" dirty="0">
              <a:solidFill>
                <a:schemeClr val="bg1">
                  <a:lumMod val="50000"/>
                </a:schemeClr>
              </a:solidFill>
            </a:endParaRPr>
          </a:p>
          <a:p>
            <a:r>
              <a:rPr lang="es-EC" b="1" dirty="0">
                <a:solidFill>
                  <a:schemeClr val="bg1">
                    <a:lumMod val="50000"/>
                  </a:schemeClr>
                </a:solidFill>
              </a:rPr>
              <a:t>Resumen</a:t>
            </a:r>
          </a:p>
          <a:p>
            <a:r>
              <a:rPr lang="es-EC" b="1" dirty="0">
                <a:solidFill>
                  <a:srgbClr val="FF0000"/>
                </a:solidFill>
              </a:rPr>
              <a:t>Referencias Bibliográficas</a:t>
            </a:r>
          </a:p>
        </p:txBody>
      </p:sp>
      <p:sp>
        <p:nvSpPr>
          <p:cNvPr id="5" name="4 Marcador de fecha"/>
          <p:cNvSpPr>
            <a:spLocks noGrp="1"/>
          </p:cNvSpPr>
          <p:nvPr>
            <p:ph type="dt" sz="half" idx="10"/>
          </p:nvPr>
        </p:nvSpPr>
        <p:spPr/>
        <p:txBody>
          <a:bodyPr/>
          <a:lstStyle/>
          <a:p>
            <a:fld id="{85E4E129-A937-4BEE-8A17-D7969DFE55C2}" type="datetime1">
              <a:rPr lang="es-EC" smtClean="0"/>
              <a:t>26/9/2025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51</a:t>
            </a:fld>
            <a:endParaRPr lang="es-EC"/>
          </a:p>
        </p:txBody>
      </p:sp>
    </p:spTree>
    <p:extLst>
      <p:ext uri="{BB962C8B-B14F-4D97-AF65-F5344CB8AC3E}">
        <p14:creationId xmlns:p14="http://schemas.microsoft.com/office/powerpoint/2010/main" val="353797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52</a:t>
            </a:fld>
            <a:endParaRPr lang="es-EC"/>
          </a:p>
        </p:txBody>
      </p:sp>
      <p:sp>
        <p:nvSpPr>
          <p:cNvPr id="14" name="Título 11">
            <a:extLst>
              <a:ext uri="{FF2B5EF4-FFF2-40B4-BE49-F238E27FC236}">
                <a16:creationId xmlns:a16="http://schemas.microsoft.com/office/drawing/2014/main" id="{1485C310-80EB-E6F4-BF73-2F6A5D63E762}"/>
              </a:ext>
            </a:extLst>
          </p:cNvPr>
          <p:cNvSpPr>
            <a:spLocks noGrp="1"/>
          </p:cNvSpPr>
          <p:nvPr>
            <p:ph type="title"/>
          </p:nvPr>
        </p:nvSpPr>
        <p:spPr>
          <a:xfrm>
            <a:off x="179512" y="363168"/>
            <a:ext cx="7283152" cy="689568"/>
          </a:xfrm>
        </p:spPr>
        <p:txBody>
          <a:bodyPr/>
          <a:lstStyle/>
          <a:p>
            <a:pPr>
              <a:lnSpc>
                <a:spcPts val="4000"/>
              </a:lnSpc>
            </a:pPr>
            <a:r>
              <a:rPr lang="es-ES" sz="4400" b="1" dirty="0"/>
              <a:t>Referencias Bibliográficas</a:t>
            </a:r>
            <a:endParaRPr lang="en-US" sz="4400" dirty="0"/>
          </a:p>
        </p:txBody>
      </p:sp>
      <p:sp>
        <p:nvSpPr>
          <p:cNvPr id="10" name="4 Marcador de contenido">
            <a:extLst>
              <a:ext uri="{FF2B5EF4-FFF2-40B4-BE49-F238E27FC236}">
                <a16:creationId xmlns:a16="http://schemas.microsoft.com/office/drawing/2014/main" id="{84709E23-CE01-196D-E883-89879A06BDD2}"/>
              </a:ext>
            </a:extLst>
          </p:cNvPr>
          <p:cNvSpPr>
            <a:spLocks noGrp="1"/>
          </p:cNvSpPr>
          <p:nvPr>
            <p:ph idx="1"/>
          </p:nvPr>
        </p:nvSpPr>
        <p:spPr>
          <a:xfrm>
            <a:off x="17944" y="1196752"/>
            <a:ext cx="7578392" cy="4752528"/>
          </a:xfrm>
        </p:spPr>
        <p:txBody>
          <a:bodyPr>
            <a:normAutofit fontScale="47500" lnSpcReduction="20000"/>
          </a:bodyPr>
          <a:lstStyle/>
          <a:p>
            <a:r>
              <a:rPr lang="es-ES" dirty="0">
                <a:solidFill>
                  <a:schemeClr val="bg1">
                    <a:lumMod val="50000"/>
                  </a:schemeClr>
                </a:solidFill>
              </a:rPr>
              <a:t>Ceballos, F.J., 2007. C/C++: Curso de Programación. Tercera Edición. Editorial RA-MA, España. ISBN: 978-84-9964-322-9.</a:t>
            </a:r>
          </a:p>
          <a:p>
            <a:r>
              <a:rPr lang="es-ES" dirty="0">
                <a:solidFill>
                  <a:schemeClr val="bg1">
                    <a:lumMod val="50000"/>
                  </a:schemeClr>
                </a:solidFill>
              </a:rPr>
              <a:t>Davies, P., 1995. </a:t>
            </a:r>
            <a:r>
              <a:rPr lang="es-ES" dirty="0" err="1">
                <a:solidFill>
                  <a:schemeClr val="bg1">
                    <a:lumMod val="50000"/>
                  </a:schemeClr>
                </a:solidFill>
              </a:rPr>
              <a:t>The</a:t>
            </a:r>
            <a:r>
              <a:rPr lang="es-ES" dirty="0">
                <a:solidFill>
                  <a:schemeClr val="bg1">
                    <a:lumMod val="50000"/>
                  </a:schemeClr>
                </a:solidFill>
              </a:rPr>
              <a:t> Indispensable Guide </a:t>
            </a:r>
            <a:r>
              <a:rPr lang="es-ES" dirty="0" err="1">
                <a:solidFill>
                  <a:schemeClr val="bg1">
                    <a:lumMod val="50000"/>
                  </a:schemeClr>
                </a:solidFill>
              </a:rPr>
              <a:t>to</a:t>
            </a:r>
            <a:r>
              <a:rPr lang="es-ES" dirty="0">
                <a:solidFill>
                  <a:schemeClr val="bg1">
                    <a:lumMod val="50000"/>
                  </a:schemeClr>
                </a:solidFill>
              </a:rPr>
              <a:t> C </a:t>
            </a:r>
            <a:r>
              <a:rPr lang="es-ES" dirty="0" err="1">
                <a:solidFill>
                  <a:schemeClr val="bg1">
                    <a:lumMod val="50000"/>
                  </a:schemeClr>
                </a:solidFill>
              </a:rPr>
              <a:t>with</a:t>
            </a:r>
            <a:r>
              <a:rPr lang="es-ES" dirty="0">
                <a:solidFill>
                  <a:schemeClr val="bg1">
                    <a:lumMod val="50000"/>
                  </a:schemeClr>
                </a:solidFill>
              </a:rPr>
              <a:t> </a:t>
            </a:r>
            <a:r>
              <a:rPr lang="es-ES" dirty="0" err="1">
                <a:solidFill>
                  <a:schemeClr val="bg1">
                    <a:lumMod val="50000"/>
                  </a:schemeClr>
                </a:solidFill>
              </a:rPr>
              <a:t>Engineering</a:t>
            </a:r>
            <a:r>
              <a:rPr lang="es-ES" dirty="0">
                <a:solidFill>
                  <a:schemeClr val="bg1">
                    <a:lumMod val="50000"/>
                  </a:schemeClr>
                </a:solidFill>
              </a:rPr>
              <a:t> </a:t>
            </a:r>
            <a:r>
              <a:rPr lang="es-ES" dirty="0" err="1">
                <a:solidFill>
                  <a:schemeClr val="bg1">
                    <a:lumMod val="50000"/>
                  </a:schemeClr>
                </a:solidFill>
              </a:rPr>
              <a:t>Applications</a:t>
            </a:r>
            <a:r>
              <a:rPr lang="es-ES" dirty="0">
                <a:solidFill>
                  <a:schemeClr val="bg1">
                    <a:lumMod val="50000"/>
                  </a:schemeClr>
                </a:solidFill>
              </a:rPr>
              <a:t>. </a:t>
            </a:r>
            <a:r>
              <a:rPr lang="es-ES" dirty="0" err="1">
                <a:solidFill>
                  <a:schemeClr val="bg1">
                    <a:lumMod val="50000"/>
                  </a:schemeClr>
                </a:solidFill>
              </a:rPr>
              <a:t>First</a:t>
            </a:r>
            <a:r>
              <a:rPr lang="es-ES" dirty="0">
                <a:solidFill>
                  <a:schemeClr val="bg1">
                    <a:lumMod val="50000"/>
                  </a:schemeClr>
                </a:solidFill>
              </a:rPr>
              <a:t> </a:t>
            </a:r>
            <a:r>
              <a:rPr lang="es-ES" dirty="0" err="1">
                <a:solidFill>
                  <a:schemeClr val="bg1">
                    <a:lumMod val="50000"/>
                  </a:schemeClr>
                </a:solidFill>
              </a:rPr>
              <a:t>Edition</a:t>
            </a:r>
            <a:r>
              <a:rPr lang="es-ES" dirty="0">
                <a:solidFill>
                  <a:schemeClr val="bg1">
                    <a:lumMod val="50000"/>
                  </a:schemeClr>
                </a:solidFill>
              </a:rPr>
              <a:t>. Addison-Wesley Publishing Company, USA. ISBN: 0-201624389.</a:t>
            </a:r>
          </a:p>
          <a:p>
            <a:r>
              <a:rPr lang="es-ES" dirty="0" err="1">
                <a:solidFill>
                  <a:schemeClr val="bg1">
                    <a:lumMod val="50000"/>
                  </a:schemeClr>
                </a:solidFill>
              </a:rPr>
              <a:t>Deitel</a:t>
            </a:r>
            <a:r>
              <a:rPr lang="es-ES" dirty="0">
                <a:solidFill>
                  <a:schemeClr val="bg1">
                    <a:lumMod val="50000"/>
                  </a:schemeClr>
                </a:solidFill>
              </a:rPr>
              <a:t>, H., </a:t>
            </a:r>
            <a:r>
              <a:rPr lang="es-ES" dirty="0" err="1">
                <a:solidFill>
                  <a:schemeClr val="bg1">
                    <a:lumMod val="50000"/>
                  </a:schemeClr>
                </a:solidFill>
              </a:rPr>
              <a:t>Deitel</a:t>
            </a:r>
            <a:r>
              <a:rPr lang="es-ES" dirty="0">
                <a:solidFill>
                  <a:schemeClr val="bg1">
                    <a:lumMod val="50000"/>
                  </a:schemeClr>
                </a:solidFill>
              </a:rPr>
              <a:t>, P., 2003. Cómo Programar en C++. Cuarta Edición. Pearson Educación, México. ISBN: 970-26-0254-8.</a:t>
            </a:r>
          </a:p>
          <a:p>
            <a:r>
              <a:rPr lang="es-ES" dirty="0" err="1">
                <a:solidFill>
                  <a:schemeClr val="bg1">
                    <a:lumMod val="50000"/>
                  </a:schemeClr>
                </a:solidFill>
              </a:rPr>
              <a:t>Docsity</a:t>
            </a:r>
            <a:r>
              <a:rPr lang="es-ES" dirty="0">
                <a:solidFill>
                  <a:schemeClr val="bg1">
                    <a:lumMod val="50000"/>
                  </a:schemeClr>
                </a:solidFill>
              </a:rPr>
              <a:t> (s.f.). Teoría de la relatividad. Sitio Web Educativo. Disponible en: https://www.docsity.com/es/teoria-de-la-relatividad-fisica-ejercicios/7482343/.</a:t>
            </a:r>
          </a:p>
          <a:p>
            <a:r>
              <a:rPr lang="es-ES" dirty="0" err="1">
                <a:solidFill>
                  <a:schemeClr val="bg1">
                    <a:lumMod val="50000"/>
                  </a:schemeClr>
                </a:solidFill>
              </a:rPr>
              <a:t>Fisimat</a:t>
            </a:r>
            <a:r>
              <a:rPr lang="es-ES" dirty="0">
                <a:solidFill>
                  <a:schemeClr val="bg1">
                    <a:lumMod val="50000"/>
                  </a:schemeClr>
                </a:solidFill>
              </a:rPr>
              <a:t>, (s.f.). Ley de gravitación universal – Ejercicios resueltos. Sitio Web Educativo: Física y Matemáticas. Disponible en: https://www.fisimat.com.mx/ley-de-la-gravitacion-universal/. </a:t>
            </a:r>
          </a:p>
          <a:p>
            <a:r>
              <a:rPr lang="es-ES" dirty="0">
                <a:solidFill>
                  <a:schemeClr val="bg1">
                    <a:lumMod val="50000"/>
                  </a:schemeClr>
                </a:solidFill>
              </a:rPr>
              <a:t>Granizo, E., 2016. Lenguaje C. Teoría y Ejercicios. Tercera Edición. </a:t>
            </a:r>
            <a:r>
              <a:rPr lang="es-ES" dirty="0" err="1">
                <a:solidFill>
                  <a:schemeClr val="bg1">
                    <a:lumMod val="50000"/>
                  </a:schemeClr>
                </a:solidFill>
              </a:rPr>
              <a:t>Edicumbre</a:t>
            </a:r>
            <a:r>
              <a:rPr lang="es-ES" dirty="0">
                <a:solidFill>
                  <a:schemeClr val="bg1">
                    <a:lumMod val="50000"/>
                  </a:schemeClr>
                </a:solidFill>
              </a:rPr>
              <a:t> Editorial Corporativa, Ecuador. ISBN: En Trámite.</a:t>
            </a:r>
          </a:p>
          <a:p>
            <a:r>
              <a:rPr lang="es-ES" dirty="0">
                <a:solidFill>
                  <a:schemeClr val="bg1">
                    <a:lumMod val="50000"/>
                  </a:schemeClr>
                </a:solidFill>
              </a:rPr>
              <a:t>Guillen, M., 2000. Cinco ecuaciones que cambiaron el mundo: El poder y la belleza de las matemáticas. Editorial Debate S.A., Madrid, España. ISBN:9788483062289.</a:t>
            </a:r>
          </a:p>
          <a:p>
            <a:r>
              <a:rPr lang="es-ES" dirty="0">
                <a:solidFill>
                  <a:schemeClr val="bg1">
                    <a:lumMod val="50000"/>
                  </a:schemeClr>
                </a:solidFill>
              </a:rPr>
              <a:t>Jones, B., </a:t>
            </a:r>
            <a:r>
              <a:rPr lang="es-ES" dirty="0" err="1">
                <a:solidFill>
                  <a:schemeClr val="bg1">
                    <a:lumMod val="50000"/>
                  </a:schemeClr>
                </a:solidFill>
              </a:rPr>
              <a:t>Aitken</a:t>
            </a:r>
            <a:r>
              <a:rPr lang="es-ES" dirty="0">
                <a:solidFill>
                  <a:schemeClr val="bg1">
                    <a:lumMod val="50000"/>
                  </a:schemeClr>
                </a:solidFill>
              </a:rPr>
              <a:t>, P., 2003. C in 21 </a:t>
            </a:r>
            <a:r>
              <a:rPr lang="es-ES" dirty="0" err="1">
                <a:solidFill>
                  <a:schemeClr val="bg1">
                    <a:lumMod val="50000"/>
                  </a:schemeClr>
                </a:solidFill>
              </a:rPr>
              <a:t>Days</a:t>
            </a:r>
            <a:r>
              <a:rPr lang="es-ES" dirty="0">
                <a:solidFill>
                  <a:schemeClr val="bg1">
                    <a:lumMod val="50000"/>
                  </a:schemeClr>
                </a:solidFill>
              </a:rPr>
              <a:t>. </a:t>
            </a:r>
            <a:r>
              <a:rPr lang="es-ES" dirty="0" err="1">
                <a:solidFill>
                  <a:schemeClr val="bg1">
                    <a:lumMod val="50000"/>
                  </a:schemeClr>
                </a:solidFill>
              </a:rPr>
              <a:t>Sixth</a:t>
            </a:r>
            <a:r>
              <a:rPr lang="es-ES" dirty="0">
                <a:solidFill>
                  <a:schemeClr val="bg1">
                    <a:lumMod val="50000"/>
                  </a:schemeClr>
                </a:solidFill>
              </a:rPr>
              <a:t> </a:t>
            </a:r>
            <a:r>
              <a:rPr lang="es-ES" dirty="0" err="1">
                <a:solidFill>
                  <a:schemeClr val="bg1">
                    <a:lumMod val="50000"/>
                  </a:schemeClr>
                </a:solidFill>
              </a:rPr>
              <a:t>Edition</a:t>
            </a:r>
            <a:r>
              <a:rPr lang="es-ES" dirty="0">
                <a:solidFill>
                  <a:schemeClr val="bg1">
                    <a:lumMod val="50000"/>
                  </a:schemeClr>
                </a:solidFill>
              </a:rPr>
              <a:t>. SAMS </a:t>
            </a:r>
            <a:r>
              <a:rPr lang="es-ES" dirty="0" err="1">
                <a:solidFill>
                  <a:schemeClr val="bg1">
                    <a:lumMod val="50000"/>
                  </a:schemeClr>
                </a:solidFill>
              </a:rPr>
              <a:t>Teach</a:t>
            </a:r>
            <a:r>
              <a:rPr lang="es-ES" dirty="0">
                <a:solidFill>
                  <a:schemeClr val="bg1">
                    <a:lumMod val="50000"/>
                  </a:schemeClr>
                </a:solidFill>
              </a:rPr>
              <a:t> </a:t>
            </a:r>
            <a:r>
              <a:rPr lang="es-ES" dirty="0" err="1">
                <a:solidFill>
                  <a:schemeClr val="bg1">
                    <a:lumMod val="50000"/>
                  </a:schemeClr>
                </a:solidFill>
              </a:rPr>
              <a:t>Yourself</a:t>
            </a:r>
            <a:r>
              <a:rPr lang="es-ES" dirty="0">
                <a:solidFill>
                  <a:schemeClr val="bg1">
                    <a:lumMod val="50000"/>
                  </a:schemeClr>
                </a:solidFill>
              </a:rPr>
              <a:t>, USA. ISBN: 0-672-32448-2.</a:t>
            </a:r>
          </a:p>
          <a:p>
            <a:r>
              <a:rPr lang="es-ES" dirty="0">
                <a:solidFill>
                  <a:schemeClr val="bg1">
                    <a:lumMod val="50000"/>
                  </a:schemeClr>
                </a:solidFill>
              </a:rPr>
              <a:t>Joyanes Aguilar, L., </a:t>
            </a:r>
            <a:r>
              <a:rPr lang="es-ES" dirty="0" err="1">
                <a:solidFill>
                  <a:schemeClr val="bg1">
                    <a:lumMod val="50000"/>
                  </a:schemeClr>
                </a:solidFill>
              </a:rPr>
              <a:t>Zahonero</a:t>
            </a:r>
            <a:r>
              <a:rPr lang="es-ES" dirty="0">
                <a:solidFill>
                  <a:schemeClr val="bg1">
                    <a:lumMod val="50000"/>
                  </a:schemeClr>
                </a:solidFill>
              </a:rPr>
              <a:t> Martínez, I., 2005. Programación en C. Metodología, algoritmos y estructuras de datos. Segunda Edición. McGraw-Hill, España. ISBN: 978-8448198442.</a:t>
            </a:r>
          </a:p>
          <a:p>
            <a:r>
              <a:rPr lang="es-ES" dirty="0">
                <a:solidFill>
                  <a:schemeClr val="bg1">
                    <a:lumMod val="50000"/>
                  </a:schemeClr>
                </a:solidFill>
              </a:rPr>
              <a:t>Luna, F., 2004. C++ </a:t>
            </a:r>
            <a:r>
              <a:rPr lang="es-ES" dirty="0" err="1">
                <a:solidFill>
                  <a:schemeClr val="bg1">
                    <a:lumMod val="50000"/>
                  </a:schemeClr>
                </a:solidFill>
              </a:rPr>
              <a:t>Programming</a:t>
            </a:r>
            <a:r>
              <a:rPr lang="es-ES" dirty="0">
                <a:solidFill>
                  <a:schemeClr val="bg1">
                    <a:lumMod val="50000"/>
                  </a:schemeClr>
                </a:solidFill>
              </a:rPr>
              <a:t> </a:t>
            </a:r>
            <a:r>
              <a:rPr lang="es-ES" dirty="0" err="1">
                <a:solidFill>
                  <a:schemeClr val="bg1">
                    <a:lumMod val="50000"/>
                  </a:schemeClr>
                </a:solidFill>
              </a:rPr>
              <a:t>for</a:t>
            </a:r>
            <a:r>
              <a:rPr lang="es-ES" dirty="0">
                <a:solidFill>
                  <a:schemeClr val="bg1">
                    <a:lumMod val="50000"/>
                  </a:schemeClr>
                </a:solidFill>
              </a:rPr>
              <a:t> </a:t>
            </a:r>
            <a:r>
              <a:rPr lang="es-ES" dirty="0" err="1">
                <a:solidFill>
                  <a:schemeClr val="bg1">
                    <a:lumMod val="50000"/>
                  </a:schemeClr>
                </a:solidFill>
              </a:rPr>
              <a:t>Game</a:t>
            </a:r>
            <a:r>
              <a:rPr lang="es-ES" dirty="0">
                <a:solidFill>
                  <a:schemeClr val="bg1">
                    <a:lumMod val="50000"/>
                  </a:schemeClr>
                </a:solidFill>
              </a:rPr>
              <a:t> </a:t>
            </a:r>
            <a:r>
              <a:rPr lang="es-ES" dirty="0" err="1">
                <a:solidFill>
                  <a:schemeClr val="bg1">
                    <a:lumMod val="50000"/>
                  </a:schemeClr>
                </a:solidFill>
              </a:rPr>
              <a:t>Developers</a:t>
            </a:r>
            <a:r>
              <a:rPr lang="es-ES" dirty="0">
                <a:solidFill>
                  <a:schemeClr val="bg1">
                    <a:lumMod val="50000"/>
                  </a:schemeClr>
                </a:solidFill>
              </a:rPr>
              <a:t>. Module I. </a:t>
            </a:r>
            <a:r>
              <a:rPr lang="es-ES" dirty="0" err="1">
                <a:solidFill>
                  <a:schemeClr val="bg1">
                    <a:lumMod val="50000"/>
                  </a:schemeClr>
                </a:solidFill>
              </a:rPr>
              <a:t>Game</a:t>
            </a:r>
            <a:r>
              <a:rPr lang="es-ES" dirty="0">
                <a:solidFill>
                  <a:schemeClr val="bg1">
                    <a:lumMod val="50000"/>
                  </a:schemeClr>
                </a:solidFill>
              </a:rPr>
              <a:t> </a:t>
            </a:r>
            <a:r>
              <a:rPr lang="es-ES" dirty="0" err="1">
                <a:solidFill>
                  <a:schemeClr val="bg1">
                    <a:lumMod val="50000"/>
                  </a:schemeClr>
                </a:solidFill>
              </a:rPr>
              <a:t>Institute</a:t>
            </a:r>
            <a:r>
              <a:rPr lang="es-ES" dirty="0">
                <a:solidFill>
                  <a:schemeClr val="bg1">
                    <a:lumMod val="50000"/>
                  </a:schemeClr>
                </a:solidFill>
              </a:rPr>
              <a:t>. E-</a:t>
            </a:r>
            <a:r>
              <a:rPr lang="es-ES" dirty="0" err="1">
                <a:solidFill>
                  <a:schemeClr val="bg1">
                    <a:lumMod val="50000"/>
                  </a:schemeClr>
                </a:solidFill>
              </a:rPr>
              <a:t>Institute</a:t>
            </a:r>
            <a:r>
              <a:rPr lang="es-ES" dirty="0">
                <a:solidFill>
                  <a:schemeClr val="bg1">
                    <a:lumMod val="50000"/>
                  </a:schemeClr>
                </a:solidFill>
              </a:rPr>
              <a:t>, Inc., USA.</a:t>
            </a:r>
          </a:p>
          <a:p>
            <a:r>
              <a:rPr lang="es-ES" dirty="0">
                <a:solidFill>
                  <a:schemeClr val="bg1">
                    <a:lumMod val="50000"/>
                  </a:schemeClr>
                </a:solidFill>
              </a:rPr>
              <a:t>Ritchie, D., </a:t>
            </a:r>
            <a:r>
              <a:rPr lang="es-ES" dirty="0" err="1">
                <a:solidFill>
                  <a:schemeClr val="bg1">
                    <a:lumMod val="50000"/>
                  </a:schemeClr>
                </a:solidFill>
              </a:rPr>
              <a:t>Kernighan</a:t>
            </a:r>
            <a:r>
              <a:rPr lang="es-ES" dirty="0">
                <a:solidFill>
                  <a:schemeClr val="bg1">
                    <a:lumMod val="50000"/>
                  </a:schemeClr>
                </a:solidFill>
              </a:rPr>
              <a:t>, B., 1988. C </a:t>
            </a:r>
            <a:r>
              <a:rPr lang="es-ES" dirty="0" err="1">
                <a:solidFill>
                  <a:schemeClr val="bg1">
                    <a:lumMod val="50000"/>
                  </a:schemeClr>
                </a:solidFill>
              </a:rPr>
              <a:t>Programming</a:t>
            </a:r>
            <a:r>
              <a:rPr lang="es-ES" dirty="0">
                <a:solidFill>
                  <a:schemeClr val="bg1">
                    <a:lumMod val="50000"/>
                  </a:schemeClr>
                </a:solidFill>
              </a:rPr>
              <a:t> </a:t>
            </a:r>
            <a:r>
              <a:rPr lang="es-ES" dirty="0" err="1">
                <a:solidFill>
                  <a:schemeClr val="bg1">
                    <a:lumMod val="50000"/>
                  </a:schemeClr>
                </a:solidFill>
              </a:rPr>
              <a:t>Language</a:t>
            </a:r>
            <a:r>
              <a:rPr lang="es-ES" dirty="0">
                <a:solidFill>
                  <a:schemeClr val="bg1">
                    <a:lumMod val="50000"/>
                  </a:schemeClr>
                </a:solidFill>
              </a:rPr>
              <a:t>. </a:t>
            </a:r>
            <a:r>
              <a:rPr lang="es-ES" dirty="0" err="1">
                <a:solidFill>
                  <a:schemeClr val="bg1">
                    <a:lumMod val="50000"/>
                  </a:schemeClr>
                </a:solidFill>
              </a:rPr>
              <a:t>Second</a:t>
            </a:r>
            <a:r>
              <a:rPr lang="es-ES" dirty="0">
                <a:solidFill>
                  <a:schemeClr val="bg1">
                    <a:lumMod val="50000"/>
                  </a:schemeClr>
                </a:solidFill>
              </a:rPr>
              <a:t> </a:t>
            </a:r>
            <a:r>
              <a:rPr lang="es-ES" dirty="0" err="1">
                <a:solidFill>
                  <a:schemeClr val="bg1">
                    <a:lumMod val="50000"/>
                  </a:schemeClr>
                </a:solidFill>
              </a:rPr>
              <a:t>Edition</a:t>
            </a:r>
            <a:r>
              <a:rPr lang="es-ES" dirty="0">
                <a:solidFill>
                  <a:schemeClr val="bg1">
                    <a:lumMod val="50000"/>
                  </a:schemeClr>
                </a:solidFill>
              </a:rPr>
              <a:t>. Prentice Hall, USA. ISBN: 0-13-110362-8.</a:t>
            </a:r>
          </a:p>
          <a:p>
            <a:r>
              <a:rPr lang="es-ES" dirty="0">
                <a:solidFill>
                  <a:schemeClr val="bg1">
                    <a:lumMod val="50000"/>
                  </a:schemeClr>
                </a:solidFill>
              </a:rPr>
              <a:t>Serway, R., Jewett, J., 2005. Física para Ciencias e Ingeniería. Volumen 1. Séptima Edición. ISBN: 978-607-481-357-9. Cengage </a:t>
            </a:r>
            <a:r>
              <a:rPr lang="es-ES" dirty="0" err="1">
                <a:solidFill>
                  <a:schemeClr val="bg1">
                    <a:lumMod val="50000"/>
                  </a:schemeClr>
                </a:solidFill>
              </a:rPr>
              <a:t>Learning</a:t>
            </a:r>
            <a:r>
              <a:rPr lang="es-ES" dirty="0">
                <a:solidFill>
                  <a:schemeClr val="bg1">
                    <a:lumMod val="50000"/>
                  </a:schemeClr>
                </a:solidFill>
              </a:rPr>
              <a:t> Editores, México.</a:t>
            </a:r>
          </a:p>
          <a:p>
            <a:r>
              <a:rPr lang="es-ES" dirty="0">
                <a:solidFill>
                  <a:schemeClr val="bg1">
                    <a:lumMod val="50000"/>
                  </a:schemeClr>
                </a:solidFill>
              </a:rPr>
              <a:t>Serway, R., Jewett, J., 2009. Física para Ciencias e Ingeniería. Volumen 2. Séptima Edición. ISBN: 978-607-481-358-6. Cengage </a:t>
            </a:r>
            <a:r>
              <a:rPr lang="es-ES" dirty="0" err="1">
                <a:solidFill>
                  <a:schemeClr val="bg1">
                    <a:lumMod val="50000"/>
                  </a:schemeClr>
                </a:solidFill>
              </a:rPr>
              <a:t>Learning</a:t>
            </a:r>
            <a:r>
              <a:rPr lang="es-ES" dirty="0">
                <a:solidFill>
                  <a:schemeClr val="bg1">
                    <a:lumMod val="50000"/>
                  </a:schemeClr>
                </a:solidFill>
              </a:rPr>
              <a:t> Editores, México.</a:t>
            </a:r>
          </a:p>
          <a:p>
            <a:r>
              <a:rPr lang="es-ES" dirty="0">
                <a:solidFill>
                  <a:schemeClr val="bg1">
                    <a:lumMod val="50000"/>
                  </a:schemeClr>
                </a:solidFill>
              </a:rPr>
              <a:t>Stroustrup, B., 1997. </a:t>
            </a:r>
            <a:r>
              <a:rPr lang="es-ES" dirty="0" err="1">
                <a:solidFill>
                  <a:schemeClr val="bg1">
                    <a:lumMod val="50000"/>
                  </a:schemeClr>
                </a:solidFill>
              </a:rPr>
              <a:t>The</a:t>
            </a:r>
            <a:r>
              <a:rPr lang="es-ES" dirty="0">
                <a:solidFill>
                  <a:schemeClr val="bg1">
                    <a:lumMod val="50000"/>
                  </a:schemeClr>
                </a:solidFill>
              </a:rPr>
              <a:t> C++ </a:t>
            </a:r>
            <a:r>
              <a:rPr lang="es-ES" dirty="0" err="1">
                <a:solidFill>
                  <a:schemeClr val="bg1">
                    <a:lumMod val="50000"/>
                  </a:schemeClr>
                </a:solidFill>
              </a:rPr>
              <a:t>Programming</a:t>
            </a:r>
            <a:r>
              <a:rPr lang="es-ES" dirty="0">
                <a:solidFill>
                  <a:schemeClr val="bg1">
                    <a:lumMod val="50000"/>
                  </a:schemeClr>
                </a:solidFill>
              </a:rPr>
              <a:t> </a:t>
            </a:r>
            <a:r>
              <a:rPr lang="es-ES" dirty="0" err="1">
                <a:solidFill>
                  <a:schemeClr val="bg1">
                    <a:lumMod val="50000"/>
                  </a:schemeClr>
                </a:solidFill>
              </a:rPr>
              <a:t>Language</a:t>
            </a:r>
            <a:r>
              <a:rPr lang="es-ES" dirty="0">
                <a:solidFill>
                  <a:schemeClr val="bg1">
                    <a:lumMod val="50000"/>
                  </a:schemeClr>
                </a:solidFill>
              </a:rPr>
              <a:t>. </a:t>
            </a:r>
            <a:r>
              <a:rPr lang="es-ES" dirty="0" err="1">
                <a:solidFill>
                  <a:schemeClr val="bg1">
                    <a:lumMod val="50000"/>
                  </a:schemeClr>
                </a:solidFill>
              </a:rPr>
              <a:t>Special</a:t>
            </a:r>
            <a:r>
              <a:rPr lang="es-ES" dirty="0">
                <a:solidFill>
                  <a:schemeClr val="bg1">
                    <a:lumMod val="50000"/>
                  </a:schemeClr>
                </a:solidFill>
              </a:rPr>
              <a:t> </a:t>
            </a:r>
            <a:r>
              <a:rPr lang="es-ES" dirty="0" err="1">
                <a:solidFill>
                  <a:schemeClr val="bg1">
                    <a:lumMod val="50000"/>
                  </a:schemeClr>
                </a:solidFill>
              </a:rPr>
              <a:t>Edition</a:t>
            </a:r>
            <a:r>
              <a:rPr lang="es-ES" dirty="0">
                <a:solidFill>
                  <a:schemeClr val="bg1">
                    <a:lumMod val="50000"/>
                  </a:schemeClr>
                </a:solidFill>
              </a:rPr>
              <a:t>. Addison-Wesley, USA. ISBN: 0-201-88954-4.</a:t>
            </a:r>
          </a:p>
          <a:p>
            <a:r>
              <a:rPr lang="es-ES" dirty="0">
                <a:solidFill>
                  <a:schemeClr val="bg1">
                    <a:lumMod val="50000"/>
                  </a:schemeClr>
                </a:solidFill>
              </a:rPr>
              <a:t>Zambrano, M., Villacís, C., Alvarado, D., Pérez, D., Carvajal, V., Guijarro, J., </a:t>
            </a:r>
            <a:r>
              <a:rPr lang="es-ES" dirty="0" err="1">
                <a:solidFill>
                  <a:schemeClr val="bg1">
                    <a:lumMod val="50000"/>
                  </a:schemeClr>
                </a:solidFill>
              </a:rPr>
              <a:t>Prajapati</a:t>
            </a:r>
            <a:r>
              <a:rPr lang="es-ES" dirty="0">
                <a:solidFill>
                  <a:schemeClr val="bg1">
                    <a:lumMod val="50000"/>
                  </a:schemeClr>
                </a:solidFill>
              </a:rPr>
              <a:t>, </a:t>
            </a:r>
            <a:r>
              <a:rPr lang="es-ES" dirty="0" err="1">
                <a:solidFill>
                  <a:schemeClr val="bg1">
                    <a:lumMod val="50000"/>
                  </a:schemeClr>
                </a:solidFill>
              </a:rPr>
              <a:t>Neerav</a:t>
            </a:r>
            <a:r>
              <a:rPr lang="es-ES" dirty="0">
                <a:solidFill>
                  <a:schemeClr val="bg1">
                    <a:lumMod val="50000"/>
                  </a:schemeClr>
                </a:solidFill>
              </a:rPr>
              <a:t>., </a:t>
            </a:r>
            <a:r>
              <a:rPr lang="es-ES" dirty="0" err="1">
                <a:solidFill>
                  <a:schemeClr val="bg1">
                    <a:lumMod val="50000"/>
                  </a:schemeClr>
                </a:solidFill>
              </a:rPr>
              <a:t>Sunday-Oyelere</a:t>
            </a:r>
            <a:r>
              <a:rPr lang="es-ES" dirty="0">
                <a:solidFill>
                  <a:schemeClr val="bg1">
                    <a:lumMod val="50000"/>
                  </a:schemeClr>
                </a:solidFill>
              </a:rPr>
              <a:t>, S., 2021. Active </a:t>
            </a:r>
            <a:r>
              <a:rPr lang="es-ES" dirty="0" err="1">
                <a:solidFill>
                  <a:schemeClr val="bg1">
                    <a:lumMod val="50000"/>
                  </a:schemeClr>
                </a:solidFill>
              </a:rPr>
              <a:t>learning</a:t>
            </a:r>
            <a:r>
              <a:rPr lang="es-ES" dirty="0">
                <a:solidFill>
                  <a:schemeClr val="bg1">
                    <a:lumMod val="50000"/>
                  </a:schemeClr>
                </a:solidFill>
              </a:rPr>
              <a:t> </a:t>
            </a:r>
            <a:r>
              <a:rPr lang="es-ES" dirty="0" err="1">
                <a:solidFill>
                  <a:schemeClr val="bg1">
                    <a:lumMod val="50000"/>
                  </a:schemeClr>
                </a:solidFill>
              </a:rPr>
              <a:t>of</a:t>
            </a:r>
            <a:r>
              <a:rPr lang="es-ES" dirty="0">
                <a:solidFill>
                  <a:schemeClr val="bg1">
                    <a:lumMod val="50000"/>
                  </a:schemeClr>
                </a:solidFill>
              </a:rPr>
              <a:t> </a:t>
            </a:r>
            <a:r>
              <a:rPr lang="es-ES" dirty="0" err="1">
                <a:solidFill>
                  <a:schemeClr val="bg1">
                    <a:lumMod val="50000"/>
                  </a:schemeClr>
                </a:solidFill>
              </a:rPr>
              <a:t>programming</a:t>
            </a:r>
            <a:r>
              <a:rPr lang="es-ES" dirty="0">
                <a:solidFill>
                  <a:schemeClr val="bg1">
                    <a:lumMod val="50000"/>
                  </a:schemeClr>
                </a:solidFill>
              </a:rPr>
              <a:t> as a </a:t>
            </a:r>
            <a:r>
              <a:rPr lang="es-ES" dirty="0" err="1">
                <a:solidFill>
                  <a:schemeClr val="bg1">
                    <a:lumMod val="50000"/>
                  </a:schemeClr>
                </a:solidFill>
              </a:rPr>
              <a:t>complex</a:t>
            </a:r>
            <a:r>
              <a:rPr lang="es-ES" dirty="0">
                <a:solidFill>
                  <a:schemeClr val="bg1">
                    <a:lumMod val="50000"/>
                  </a:schemeClr>
                </a:solidFill>
              </a:rPr>
              <a:t> </a:t>
            </a:r>
            <a:r>
              <a:rPr lang="es-ES" dirty="0" err="1">
                <a:solidFill>
                  <a:schemeClr val="bg1">
                    <a:lumMod val="50000"/>
                  </a:schemeClr>
                </a:solidFill>
              </a:rPr>
              <a:t>technology</a:t>
            </a:r>
            <a:r>
              <a:rPr lang="es-ES" dirty="0">
                <a:solidFill>
                  <a:schemeClr val="bg1">
                    <a:lumMod val="50000"/>
                  </a:schemeClr>
                </a:solidFill>
              </a:rPr>
              <a:t> </a:t>
            </a:r>
            <a:r>
              <a:rPr lang="es-ES" dirty="0" err="1">
                <a:solidFill>
                  <a:schemeClr val="bg1">
                    <a:lumMod val="50000"/>
                  </a:schemeClr>
                </a:solidFill>
              </a:rPr>
              <a:t>applying</a:t>
            </a:r>
            <a:r>
              <a:rPr lang="es-ES" dirty="0">
                <a:solidFill>
                  <a:schemeClr val="bg1">
                    <a:lumMod val="50000"/>
                  </a:schemeClr>
                </a:solidFill>
              </a:rPr>
              <a:t> </a:t>
            </a:r>
            <a:r>
              <a:rPr lang="es-ES" dirty="0" err="1">
                <a:solidFill>
                  <a:schemeClr val="bg1">
                    <a:lumMod val="50000"/>
                  </a:schemeClr>
                </a:solidFill>
              </a:rPr>
              <a:t>problem</a:t>
            </a:r>
            <a:r>
              <a:rPr lang="es-ES" dirty="0">
                <a:solidFill>
                  <a:schemeClr val="bg1">
                    <a:lumMod val="50000"/>
                  </a:schemeClr>
                </a:solidFill>
              </a:rPr>
              <a:t> </a:t>
            </a:r>
            <a:r>
              <a:rPr lang="es-ES" dirty="0" err="1">
                <a:solidFill>
                  <a:schemeClr val="bg1">
                    <a:lumMod val="50000"/>
                  </a:schemeClr>
                </a:solidFill>
              </a:rPr>
              <a:t>solving</a:t>
            </a:r>
            <a:r>
              <a:rPr lang="es-ES" dirty="0">
                <a:solidFill>
                  <a:schemeClr val="bg1">
                    <a:lumMod val="50000"/>
                  </a:schemeClr>
                </a:solidFill>
              </a:rPr>
              <a:t>, </a:t>
            </a:r>
            <a:r>
              <a:rPr lang="es-ES" dirty="0" err="1">
                <a:solidFill>
                  <a:schemeClr val="bg1">
                    <a:lumMod val="50000"/>
                  </a:schemeClr>
                </a:solidFill>
              </a:rPr>
              <a:t>programming</a:t>
            </a:r>
            <a:r>
              <a:rPr lang="es-ES" dirty="0">
                <a:solidFill>
                  <a:schemeClr val="bg1">
                    <a:lumMod val="50000"/>
                  </a:schemeClr>
                </a:solidFill>
              </a:rPr>
              <a:t> case </a:t>
            </a:r>
            <a:r>
              <a:rPr lang="es-ES" dirty="0" err="1">
                <a:solidFill>
                  <a:schemeClr val="bg1">
                    <a:lumMod val="50000"/>
                  </a:schemeClr>
                </a:solidFill>
              </a:rPr>
              <a:t>study</a:t>
            </a:r>
            <a:r>
              <a:rPr lang="es-ES" dirty="0">
                <a:solidFill>
                  <a:schemeClr val="bg1">
                    <a:lumMod val="50000"/>
                  </a:schemeClr>
                </a:solidFill>
              </a:rPr>
              <a:t> and </a:t>
            </a:r>
            <a:r>
              <a:rPr lang="es-ES" dirty="0" err="1">
                <a:solidFill>
                  <a:schemeClr val="bg1">
                    <a:lumMod val="50000"/>
                  </a:schemeClr>
                </a:solidFill>
              </a:rPr>
              <a:t>OnlineGDB</a:t>
            </a:r>
            <a:r>
              <a:rPr lang="es-ES" dirty="0">
                <a:solidFill>
                  <a:schemeClr val="bg1">
                    <a:lumMod val="50000"/>
                  </a:schemeClr>
                </a:solidFill>
              </a:rPr>
              <a:t> </a:t>
            </a:r>
            <a:r>
              <a:rPr lang="es-ES" dirty="0" err="1">
                <a:solidFill>
                  <a:schemeClr val="bg1">
                    <a:lumMod val="50000"/>
                  </a:schemeClr>
                </a:solidFill>
              </a:rPr>
              <a:t>Compiler</a:t>
            </a:r>
            <a:r>
              <a:rPr lang="es-ES" dirty="0">
                <a:solidFill>
                  <a:schemeClr val="bg1">
                    <a:lumMod val="50000"/>
                  </a:schemeClr>
                </a:solidFill>
              </a:rPr>
              <a:t>. 10th International </a:t>
            </a:r>
            <a:r>
              <a:rPr lang="es-ES" dirty="0" err="1">
                <a:solidFill>
                  <a:schemeClr val="bg1">
                    <a:lumMod val="50000"/>
                  </a:schemeClr>
                </a:solidFill>
              </a:rPr>
              <a:t>Conference</a:t>
            </a:r>
            <a:r>
              <a:rPr lang="es-ES" dirty="0">
                <a:solidFill>
                  <a:schemeClr val="bg1">
                    <a:lumMod val="50000"/>
                  </a:schemeClr>
                </a:solidFill>
              </a:rPr>
              <a:t> </a:t>
            </a:r>
            <a:r>
              <a:rPr lang="es-ES" dirty="0" err="1">
                <a:solidFill>
                  <a:schemeClr val="bg1">
                    <a:lumMod val="50000"/>
                  </a:schemeClr>
                </a:solidFill>
              </a:rPr>
              <a:t>on</a:t>
            </a:r>
            <a:r>
              <a:rPr lang="es-ES" dirty="0">
                <a:solidFill>
                  <a:schemeClr val="bg1">
                    <a:lumMod val="50000"/>
                  </a:schemeClr>
                </a:solidFill>
              </a:rPr>
              <a:t> </a:t>
            </a:r>
            <a:r>
              <a:rPr lang="es-ES" dirty="0" err="1">
                <a:solidFill>
                  <a:schemeClr val="bg1">
                    <a:lumMod val="50000"/>
                  </a:schemeClr>
                </a:solidFill>
              </a:rPr>
              <a:t>Educational</a:t>
            </a:r>
            <a:r>
              <a:rPr lang="es-ES" dirty="0">
                <a:solidFill>
                  <a:schemeClr val="bg1">
                    <a:lumMod val="50000"/>
                  </a:schemeClr>
                </a:solidFill>
              </a:rPr>
              <a:t> and </a:t>
            </a:r>
            <a:r>
              <a:rPr lang="es-ES" dirty="0" err="1">
                <a:solidFill>
                  <a:schemeClr val="bg1">
                    <a:lumMod val="50000"/>
                  </a:schemeClr>
                </a:solidFill>
              </a:rPr>
              <a:t>Information</a:t>
            </a:r>
            <a:r>
              <a:rPr lang="es-ES" dirty="0">
                <a:solidFill>
                  <a:schemeClr val="bg1">
                    <a:lumMod val="50000"/>
                  </a:schemeClr>
                </a:solidFill>
              </a:rPr>
              <a:t> </a:t>
            </a:r>
            <a:r>
              <a:rPr lang="es-ES" dirty="0" err="1">
                <a:solidFill>
                  <a:schemeClr val="bg1">
                    <a:lumMod val="50000"/>
                  </a:schemeClr>
                </a:solidFill>
              </a:rPr>
              <a:t>Technology</a:t>
            </a:r>
            <a:r>
              <a:rPr lang="es-ES" dirty="0">
                <a:solidFill>
                  <a:schemeClr val="bg1">
                    <a:lumMod val="50000"/>
                  </a:schemeClr>
                </a:solidFill>
              </a:rPr>
              <a:t> (ICEIT). DOI: 10.1109/ICEIT51700.2021.9375611. ISBN:978-1-6654-2295-6.</a:t>
            </a:r>
          </a:p>
        </p:txBody>
      </p:sp>
      <p:pic>
        <p:nvPicPr>
          <p:cNvPr id="4" name="Imagen 3">
            <a:extLst>
              <a:ext uri="{FF2B5EF4-FFF2-40B4-BE49-F238E27FC236}">
                <a16:creationId xmlns:a16="http://schemas.microsoft.com/office/drawing/2014/main" id="{003C2969-702B-0628-7027-9414E5D153EF}"/>
              </a:ext>
            </a:extLst>
          </p:cNvPr>
          <p:cNvPicPr>
            <a:picLocks noChangeAspect="1"/>
          </p:cNvPicPr>
          <p:nvPr/>
        </p:nvPicPr>
        <p:blipFill>
          <a:blip r:embed="rId3"/>
          <a:stretch>
            <a:fillRect/>
          </a:stretch>
        </p:blipFill>
        <p:spPr>
          <a:xfrm>
            <a:off x="7652332" y="44624"/>
            <a:ext cx="1440305" cy="1402202"/>
          </a:xfrm>
          <a:prstGeom prst="rect">
            <a:avLst/>
          </a:prstGeom>
        </p:spPr>
      </p:pic>
    </p:spTree>
    <p:extLst>
      <p:ext uri="{BB962C8B-B14F-4D97-AF65-F5344CB8AC3E}">
        <p14:creationId xmlns:p14="http://schemas.microsoft.com/office/powerpoint/2010/main" val="791745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79512" y="2221979"/>
            <a:ext cx="4140493" cy="1937043"/>
          </a:xfrm>
        </p:spPr>
        <p:txBody>
          <a:bodyPr>
            <a:normAutofit/>
          </a:bodyPr>
          <a:lstStyle/>
          <a:p>
            <a:r>
              <a:rPr lang="es-EC" b="1" dirty="0"/>
              <a:t>“</a:t>
            </a:r>
            <a:r>
              <a:rPr lang="es-ES" b="1" dirty="0"/>
              <a:t>No estudies para ganar dinero, estudia para aprender. Lo que aprendas hoy es lo que serás mañana.”</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53</a:t>
            </a:fld>
            <a:endParaRPr lang="es-EC"/>
          </a:p>
        </p:txBody>
      </p:sp>
      <p:sp>
        <p:nvSpPr>
          <p:cNvPr id="8" name="7 CuadroTexto"/>
          <p:cNvSpPr txBox="1"/>
          <p:nvPr/>
        </p:nvSpPr>
        <p:spPr>
          <a:xfrm>
            <a:off x="106385" y="1484784"/>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405202" y="5013176"/>
            <a:ext cx="4589746" cy="830997"/>
          </a:xfrm>
          <a:prstGeom prst="rect">
            <a:avLst/>
          </a:prstGeom>
          <a:noFill/>
        </p:spPr>
        <p:txBody>
          <a:bodyPr wrap="square" rtlCol="0">
            <a:spAutoFit/>
          </a:bodyPr>
          <a:lstStyle/>
          <a:p>
            <a:r>
              <a:rPr lang="es-ES_tradnl" sz="1200" b="1" dirty="0">
                <a:solidFill>
                  <a:schemeClr val="tx1">
                    <a:lumMod val="50000"/>
                    <a:lumOff val="50000"/>
                  </a:schemeClr>
                </a:solidFill>
                <a:latin typeface="+mj-lt"/>
              </a:rPr>
              <a:t>Figura 1.25.5.</a:t>
            </a:r>
            <a:r>
              <a:rPr lang="es-ES_tradnl" sz="1200" dirty="0">
                <a:solidFill>
                  <a:schemeClr val="tx1">
                    <a:lumMod val="50000"/>
                    <a:lumOff val="50000"/>
                  </a:schemeClr>
                </a:solidFill>
                <a:latin typeface="+mj-lt"/>
              </a:rPr>
              <a:t> </a:t>
            </a:r>
            <a:r>
              <a:rPr lang="es-EC" sz="1200" dirty="0">
                <a:solidFill>
                  <a:schemeClr val="tx1">
                    <a:lumMod val="50000"/>
                    <a:lumOff val="50000"/>
                  </a:schemeClr>
                </a:solidFill>
                <a:latin typeface="+mj-lt"/>
              </a:rPr>
              <a:t>Bill Gates, fundador de la empresa Microsoft</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https://marketing4ecommerce.net/historia-de-bill-gates-10-curiosidades-sobre-el-creador-de-microsoft-que-probablemente-no-sabias/.</a:t>
            </a:r>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F01A58E0-00AB-2F9B-A5EF-287F8AC9EE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2966" y="2221979"/>
            <a:ext cx="4531982" cy="2719189"/>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25/9/2025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861338"/>
          </a:xfrm>
        </p:spPr>
        <p:txBody>
          <a:bodyPr/>
          <a:lstStyle/>
          <a:p>
            <a:pPr>
              <a:lnSpc>
                <a:spcPts val="4000"/>
              </a:lnSpc>
            </a:pPr>
            <a:r>
              <a:rPr lang="es-EC" sz="4800" b="1" dirty="0"/>
              <a:t>Créditos</a:t>
            </a:r>
            <a:endParaRPr lang="en-US" sz="4800" b="1"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340768"/>
            <a:ext cx="8003726" cy="830997"/>
          </a:xfrm>
          <a:prstGeom prst="rect">
            <a:avLst/>
          </a:prstGeom>
          <a:noFill/>
        </p:spPr>
        <p:txBody>
          <a:bodyPr wrap="square" rtlCol="0">
            <a:spAutoFit/>
          </a:bodyPr>
          <a:lstStyle/>
          <a:p>
            <a:r>
              <a:rPr lang="es-ES" sz="2400" dirty="0">
                <a:solidFill>
                  <a:schemeClr val="bg1">
                    <a:lumMod val="50000"/>
                  </a:schemeClr>
                </a:solidFill>
              </a:rPr>
              <a:t>Universidad de las Fuerzas Armadas – ESPE (Quito-Ecuador)</a:t>
            </a:r>
            <a:endParaRPr lang="es-EC" sz="2400" dirty="0">
              <a:solidFill>
                <a:schemeClr val="bg1">
                  <a:lumMod val="50000"/>
                </a:schemeClr>
              </a:solidFill>
            </a:endParaRPr>
          </a:p>
        </p:txBody>
      </p:sp>
      <p:sp>
        <p:nvSpPr>
          <p:cNvPr id="9" name="4 Marcador de contenido">
            <a:extLst>
              <a:ext uri="{FF2B5EF4-FFF2-40B4-BE49-F238E27FC236}">
                <a16:creationId xmlns:a16="http://schemas.microsoft.com/office/drawing/2014/main" id="{C45A9866-52DC-1954-E135-0625512039DA}"/>
              </a:ext>
            </a:extLst>
          </p:cNvPr>
          <p:cNvSpPr>
            <a:spLocks noGrp="1"/>
          </p:cNvSpPr>
          <p:nvPr>
            <p:ph idx="1"/>
          </p:nvPr>
        </p:nvSpPr>
        <p:spPr>
          <a:xfrm>
            <a:off x="486941" y="2200508"/>
            <a:ext cx="7824103" cy="954107"/>
          </a:xfrm>
        </p:spPr>
        <p:txBody>
          <a:bodyPr>
            <a:normAutofit fontScale="85000" lnSpcReduction="10000"/>
          </a:bodyPr>
          <a:lstStyle/>
          <a:p>
            <a:r>
              <a:rPr lang="es-ES" sz="1800" dirty="0"/>
              <a:t>Margarita Zambrano, César Villacís, David Alvarado, Luis García, Kevin Topón</a:t>
            </a:r>
          </a:p>
          <a:p>
            <a:r>
              <a:rPr lang="es-ES" sz="1800" dirty="0">
                <a:solidFill>
                  <a:srgbClr val="0070C0"/>
                </a:solidFill>
              </a:rPr>
              <a:t>e-mail: {</a:t>
            </a:r>
            <a:r>
              <a:rPr lang="es-ES" sz="1800" dirty="0" err="1">
                <a:solidFill>
                  <a:srgbClr val="0070C0"/>
                </a:solidFill>
              </a:rPr>
              <a:t>mezambrano</a:t>
            </a:r>
            <a:r>
              <a:rPr lang="es-ES" sz="1800" dirty="0">
                <a:solidFill>
                  <a:srgbClr val="0070C0"/>
                </a:solidFill>
              </a:rPr>
              <a:t>, </a:t>
            </a:r>
            <a:r>
              <a:rPr lang="es-ES" sz="1800" dirty="0" err="1">
                <a:solidFill>
                  <a:srgbClr val="0070C0"/>
                </a:solidFill>
              </a:rPr>
              <a:t>cjvillacis</a:t>
            </a:r>
            <a:r>
              <a:rPr lang="es-ES" sz="1800" dirty="0">
                <a:solidFill>
                  <a:srgbClr val="0070C0"/>
                </a:solidFill>
              </a:rPr>
              <a:t>, </a:t>
            </a:r>
            <a:r>
              <a:rPr lang="es-ES" sz="1800">
                <a:solidFill>
                  <a:srgbClr val="0070C0"/>
                </a:solidFill>
              </a:rPr>
              <a:t>fdalvarado, </a:t>
            </a:r>
            <a:r>
              <a:rPr lang="es-ES" sz="1800" dirty="0">
                <a:solidFill>
                  <a:srgbClr val="0070C0"/>
                </a:solidFill>
              </a:rPr>
              <a:t>lfgarcia1, </a:t>
            </a:r>
            <a:r>
              <a:rPr lang="es-ES" sz="1800" dirty="0" err="1">
                <a:solidFill>
                  <a:srgbClr val="0070C0"/>
                </a:solidFill>
              </a:rPr>
              <a:t>kdtopon</a:t>
            </a:r>
            <a:r>
              <a:rPr lang="es-ES" sz="1800" dirty="0">
                <a:solidFill>
                  <a:srgbClr val="0070C0"/>
                </a:solidFill>
              </a:rPr>
              <a:t>}@espe.edu.ec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
        <p:nvSpPr>
          <p:cNvPr id="4" name="7 CuadroTexto">
            <a:extLst>
              <a:ext uri="{FF2B5EF4-FFF2-40B4-BE49-F238E27FC236}">
                <a16:creationId xmlns:a16="http://schemas.microsoft.com/office/drawing/2014/main" id="{E968CE6D-3F16-C180-F548-F55980D18169}"/>
              </a:ext>
            </a:extLst>
          </p:cNvPr>
          <p:cNvSpPr txBox="1"/>
          <p:nvPr/>
        </p:nvSpPr>
        <p:spPr>
          <a:xfrm>
            <a:off x="307319" y="4437112"/>
            <a:ext cx="8003726" cy="461665"/>
          </a:xfrm>
          <a:prstGeom prst="rect">
            <a:avLst/>
          </a:prstGeom>
          <a:noFill/>
        </p:spPr>
        <p:txBody>
          <a:bodyPr wrap="square" rtlCol="0">
            <a:spAutoFit/>
          </a:bodyPr>
          <a:lstStyle/>
          <a:p>
            <a:r>
              <a:rPr lang="es-ES" sz="2400" dirty="0">
                <a:solidFill>
                  <a:schemeClr val="bg1">
                    <a:lumMod val="50000"/>
                  </a:schemeClr>
                </a:solidFill>
              </a:rPr>
              <a:t>Universidad Rey Juan Carlos – URJC (Madrid-España)</a:t>
            </a:r>
            <a:endParaRPr lang="es-EC" sz="2400" dirty="0">
              <a:solidFill>
                <a:schemeClr val="bg1">
                  <a:lumMod val="50000"/>
                </a:schemeClr>
              </a:solidFill>
            </a:endParaRPr>
          </a:p>
        </p:txBody>
      </p:sp>
      <p:sp>
        <p:nvSpPr>
          <p:cNvPr id="5" name="4 Marcador de contenido">
            <a:extLst>
              <a:ext uri="{FF2B5EF4-FFF2-40B4-BE49-F238E27FC236}">
                <a16:creationId xmlns:a16="http://schemas.microsoft.com/office/drawing/2014/main" id="{241695AF-F320-FCD5-5948-B263AA1F6BB7}"/>
              </a:ext>
            </a:extLst>
          </p:cNvPr>
          <p:cNvSpPr txBox="1">
            <a:spLocks/>
          </p:cNvSpPr>
          <p:nvPr/>
        </p:nvSpPr>
        <p:spPr>
          <a:xfrm>
            <a:off x="486942" y="5013176"/>
            <a:ext cx="7541442" cy="12971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Sofía Bayona, Luis Pastor</a:t>
            </a:r>
          </a:p>
          <a:p>
            <a:r>
              <a:rPr lang="es-ES" sz="1800" dirty="0">
                <a:solidFill>
                  <a:srgbClr val="0070C0"/>
                </a:solidFill>
              </a:rPr>
              <a:t>e-mail: {</a:t>
            </a:r>
            <a:r>
              <a:rPr lang="es-ES" sz="1800" dirty="0" err="1">
                <a:solidFill>
                  <a:srgbClr val="0070C0"/>
                </a:solidFill>
              </a:rPr>
              <a:t>sofia.bayona</a:t>
            </a:r>
            <a:r>
              <a:rPr lang="es-ES" sz="1800" dirty="0">
                <a:solidFill>
                  <a:srgbClr val="0070C0"/>
                </a:solidFill>
              </a:rPr>
              <a:t>, </a:t>
            </a:r>
            <a:r>
              <a:rPr lang="es-ES" sz="1800" dirty="0" err="1">
                <a:solidFill>
                  <a:srgbClr val="0070C0"/>
                </a:solidFill>
              </a:rPr>
              <a:t>luis.pastor</a:t>
            </a:r>
            <a:r>
              <a:rPr lang="en-US" sz="1800" dirty="0">
                <a:solidFill>
                  <a:srgbClr val="0070C0"/>
                </a:solidFill>
              </a:rPr>
              <a:t>}</a:t>
            </a:r>
            <a:r>
              <a:rPr lang="es-ES" sz="1800" dirty="0">
                <a:solidFill>
                  <a:srgbClr val="0070C0"/>
                </a:solidFill>
              </a:rPr>
              <a:t>@urjc.es</a:t>
            </a:r>
            <a:endParaRPr lang="es-ES" sz="1800" dirty="0">
              <a:solidFill>
                <a:schemeClr val="bg1">
                  <a:lumMod val="50000"/>
                </a:schemeClr>
              </a:solidFill>
            </a:endParaRPr>
          </a:p>
          <a:p>
            <a:endParaRPr lang="es-ES" sz="1800" dirty="0">
              <a:solidFill>
                <a:schemeClr val="bg1">
                  <a:lumMod val="50000"/>
                </a:schemeClr>
              </a:solidFill>
            </a:endParaRPr>
          </a:p>
        </p:txBody>
      </p:sp>
      <p:sp>
        <p:nvSpPr>
          <p:cNvPr id="7" name="7 CuadroTexto">
            <a:extLst>
              <a:ext uri="{FF2B5EF4-FFF2-40B4-BE49-F238E27FC236}">
                <a16:creationId xmlns:a16="http://schemas.microsoft.com/office/drawing/2014/main" id="{6AC5F34F-7347-CA5E-D59D-7C19BBFB3AF1}"/>
              </a:ext>
            </a:extLst>
          </p:cNvPr>
          <p:cNvSpPr txBox="1"/>
          <p:nvPr/>
        </p:nvSpPr>
        <p:spPr>
          <a:xfrm>
            <a:off x="307319" y="3212976"/>
            <a:ext cx="8003726" cy="461665"/>
          </a:xfrm>
          <a:prstGeom prst="rect">
            <a:avLst/>
          </a:prstGeom>
          <a:noFill/>
        </p:spPr>
        <p:txBody>
          <a:bodyPr wrap="square" rtlCol="0">
            <a:spAutoFit/>
          </a:bodyPr>
          <a:lstStyle/>
          <a:p>
            <a:r>
              <a:rPr lang="es-ES" sz="2400" dirty="0">
                <a:solidFill>
                  <a:schemeClr val="bg1">
                    <a:lumMod val="50000"/>
                  </a:schemeClr>
                </a:solidFill>
              </a:rPr>
              <a:t>Universidad Politécnica Salesiana – UPS (Quito-Ecuador)</a:t>
            </a:r>
            <a:endParaRPr lang="es-EC" sz="2400" dirty="0">
              <a:solidFill>
                <a:schemeClr val="bg1">
                  <a:lumMod val="50000"/>
                </a:schemeClr>
              </a:solidFill>
            </a:endParaRPr>
          </a:p>
        </p:txBody>
      </p:sp>
      <p:sp>
        <p:nvSpPr>
          <p:cNvPr id="11" name="4 Marcador de contenido">
            <a:extLst>
              <a:ext uri="{FF2B5EF4-FFF2-40B4-BE49-F238E27FC236}">
                <a16:creationId xmlns:a16="http://schemas.microsoft.com/office/drawing/2014/main" id="{8FA5FDA6-44CA-7AFA-989B-C34B95139A59}"/>
              </a:ext>
            </a:extLst>
          </p:cNvPr>
          <p:cNvSpPr txBox="1">
            <a:spLocks/>
          </p:cNvSpPr>
          <p:nvPr/>
        </p:nvSpPr>
        <p:spPr>
          <a:xfrm>
            <a:off x="486942" y="3731897"/>
            <a:ext cx="7541442" cy="505087"/>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Margarita Villacís</a:t>
            </a:r>
          </a:p>
          <a:p>
            <a:r>
              <a:rPr lang="es-ES" sz="1800" dirty="0">
                <a:solidFill>
                  <a:srgbClr val="0070C0"/>
                </a:solidFill>
              </a:rPr>
              <a:t>e-mail: {</a:t>
            </a:r>
            <a:r>
              <a:rPr lang="es-ES" sz="1800" dirty="0" err="1">
                <a:solidFill>
                  <a:srgbClr val="0070C0"/>
                </a:solidFill>
              </a:rPr>
              <a:t>dmvillacis</a:t>
            </a:r>
            <a:r>
              <a:rPr lang="es-ES" sz="1800" dirty="0">
                <a:solidFill>
                  <a:srgbClr val="0070C0"/>
                </a:solidFill>
              </a:rPr>
              <a:t>}@ups.edu.ec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Tree>
    <p:extLst>
      <p:ext uri="{BB962C8B-B14F-4D97-AF65-F5344CB8AC3E}">
        <p14:creationId xmlns:p14="http://schemas.microsoft.com/office/powerpoint/2010/main" val="256536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8406</TotalTime>
  <Words>8026</Words>
  <Application>Microsoft Office PowerPoint</Application>
  <PresentationFormat>Presentación en pantalla (4:3)</PresentationFormat>
  <Paragraphs>700</Paragraphs>
  <Slides>54</Slides>
  <Notes>7</Notes>
  <HiddenSlides>0</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1</vt:i4>
      </vt:variant>
      <vt:variant>
        <vt:lpstr>Títulos de diapositiva</vt:lpstr>
      </vt:variant>
      <vt:variant>
        <vt:i4>54</vt:i4>
      </vt:variant>
    </vt:vector>
  </HeadingPairs>
  <TitlesOfParts>
    <vt:vector size="65" baseType="lpstr">
      <vt:lpstr>Arial</vt:lpstr>
      <vt:lpstr>Calibri</vt:lpstr>
      <vt:lpstr>Cambria Math</vt:lpstr>
      <vt:lpstr>Cascadia Mono</vt:lpstr>
      <vt:lpstr>Century Gothic</vt:lpstr>
      <vt:lpstr>Consolas</vt:lpstr>
      <vt:lpstr>Courier New</vt:lpstr>
      <vt:lpstr>Palatino Linotype</vt:lpstr>
      <vt:lpstr>Times New Roman</vt:lpstr>
      <vt:lpstr>Ejecutivo</vt:lpstr>
      <vt:lpstr>Paintbrush Picture</vt:lpstr>
      <vt:lpstr>Presentación de PowerPoint</vt:lpstr>
      <vt:lpstr>Contenido</vt:lpstr>
      <vt:lpstr>Fórmulas Matemáticas</vt:lpstr>
      <vt:lpstr>Contenido</vt:lpstr>
      <vt:lpstr>Fórmulas Matemáticas</vt:lpstr>
      <vt:lpstr>Fórmulas Matemáticas</vt:lpstr>
      <vt:lpstr>Contenido</vt:lpstr>
      <vt:lpstr>Fórmulas Matemáticas</vt:lpstr>
      <vt:lpstr>Presentación de PowerPoint</vt:lpstr>
      <vt:lpstr>Presentación de PowerPoint</vt:lpstr>
      <vt:lpstr>Contenido</vt:lpstr>
      <vt:lpstr>Fórmulas Matemáticas</vt:lpstr>
      <vt:lpstr>Presentación de PowerPoint</vt:lpstr>
      <vt:lpstr>Presentación de PowerPoint</vt:lpstr>
      <vt:lpstr>Contenido</vt:lpstr>
      <vt:lpstr>Presentación de PowerPoint</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Aplicaciones de las Funciones de la Librería cmath</vt:lpstr>
      <vt:lpstr>Aplicaciones de las Funciones de la Librería cmath</vt:lpstr>
      <vt:lpstr>Aplicaciones de las Funciones de la Librería cmath</vt:lpstr>
      <vt:lpstr>Contenido</vt:lpstr>
      <vt:lpstr>Resumen</vt:lpstr>
      <vt:lpstr>Contenido</vt:lpstr>
      <vt:lpstr>Referencias Bibliográficas</vt:lpstr>
      <vt:lpstr>Pensamiento</vt:lpstr>
      <vt:lpstr>Créditos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César Xavier Villacís Silva</cp:lastModifiedBy>
  <cp:revision>348</cp:revision>
  <cp:lastPrinted>2014-11-12T14:27:29Z</cp:lastPrinted>
  <dcterms:created xsi:type="dcterms:W3CDTF">2014-09-28T12:26:51Z</dcterms:created>
  <dcterms:modified xsi:type="dcterms:W3CDTF">2025-09-26T18:01:41Z</dcterms:modified>
</cp:coreProperties>
</file>