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816" r:id="rId1"/>
  </p:sldMasterIdLst>
  <p:notesMasterIdLst>
    <p:notesMasterId r:id="rId43"/>
  </p:notesMasterIdLst>
  <p:handoutMasterIdLst>
    <p:handoutMasterId r:id="rId44"/>
  </p:handoutMasterIdLst>
  <p:sldIdLst>
    <p:sldId id="311" r:id="rId2"/>
    <p:sldId id="257" r:id="rId3"/>
    <p:sldId id="278" r:id="rId4"/>
    <p:sldId id="482" r:id="rId5"/>
    <p:sldId id="483" r:id="rId6"/>
    <p:sldId id="456" r:id="rId7"/>
    <p:sldId id="484" r:id="rId8"/>
    <p:sldId id="485" r:id="rId9"/>
    <p:sldId id="486" r:id="rId10"/>
    <p:sldId id="358" r:id="rId11"/>
    <p:sldId id="457" r:id="rId12"/>
    <p:sldId id="420" r:id="rId13"/>
    <p:sldId id="458" r:id="rId14"/>
    <p:sldId id="459" r:id="rId15"/>
    <p:sldId id="460" r:id="rId16"/>
    <p:sldId id="463" r:id="rId17"/>
    <p:sldId id="462" r:id="rId18"/>
    <p:sldId id="461" r:id="rId19"/>
    <p:sldId id="464" r:id="rId20"/>
    <p:sldId id="465" r:id="rId21"/>
    <p:sldId id="466" r:id="rId22"/>
    <p:sldId id="467" r:id="rId23"/>
    <p:sldId id="468" r:id="rId24"/>
    <p:sldId id="470" r:id="rId25"/>
    <p:sldId id="473" r:id="rId26"/>
    <p:sldId id="471" r:id="rId27"/>
    <p:sldId id="472" r:id="rId28"/>
    <p:sldId id="474" r:id="rId29"/>
    <p:sldId id="475" r:id="rId30"/>
    <p:sldId id="469" r:id="rId31"/>
    <p:sldId id="476" r:id="rId32"/>
    <p:sldId id="424" r:id="rId33"/>
    <p:sldId id="477" r:id="rId34"/>
    <p:sldId id="478" r:id="rId35"/>
    <p:sldId id="479" r:id="rId36"/>
    <p:sldId id="480" r:id="rId37"/>
    <p:sldId id="481" r:id="rId38"/>
    <p:sldId id="427" r:id="rId39"/>
    <p:sldId id="450" r:id="rId40"/>
    <p:sldId id="393" r:id="rId41"/>
    <p:sldId id="451" r:id="rId42"/>
  </p:sldIdLst>
  <p:sldSz cx="9144000" cy="6858000" type="screen4x3"/>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10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8ABEF8-F28B-4F1C-8604-95AA82841CB5}" type="datetimeFigureOut">
              <a:rPr lang="es-EC" smtClean="0"/>
              <a:t>8/10/2025</a:t>
            </a:fld>
            <a:endParaRPr lang="es-EC"/>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E161FD-F57C-4EC7-B46A-8ED034AFAD39}" type="slidenum">
              <a:rPr lang="es-EC" smtClean="0"/>
              <a:t>‹Nº›</a:t>
            </a:fld>
            <a:endParaRPr lang="es-EC"/>
          </a:p>
        </p:txBody>
      </p:sp>
    </p:spTree>
    <p:extLst>
      <p:ext uri="{BB962C8B-B14F-4D97-AF65-F5344CB8AC3E}">
        <p14:creationId xmlns:p14="http://schemas.microsoft.com/office/powerpoint/2010/main" val="2345405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7D006-09F4-429A-BE8C-DBAF982511F0}" type="datetimeFigureOut">
              <a:rPr lang="es-EC" smtClean="0"/>
              <a:t>8/10/2025</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DD2930-2CA9-432A-8292-C602BD3CCB94}" type="slidenum">
              <a:rPr lang="es-EC" smtClean="0"/>
              <a:t>‹Nº›</a:t>
            </a:fld>
            <a:endParaRPr lang="es-EC"/>
          </a:p>
        </p:txBody>
      </p:sp>
    </p:spTree>
    <p:extLst>
      <p:ext uri="{BB962C8B-B14F-4D97-AF65-F5344CB8AC3E}">
        <p14:creationId xmlns:p14="http://schemas.microsoft.com/office/powerpoint/2010/main" val="35876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8/10/2025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8/10/2025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365760" y="1600200"/>
            <a:ext cx="4041648"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8/10/2025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457200" y="2212848"/>
            <a:ext cx="4041648"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8/10/2025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8/10/2025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8/10/2025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8/10/2025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8/10/2025</a:t>
            </a:fld>
            <a:endParaRPr lang="es-EC"/>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35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1: FUNDAMENTOS DEL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541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8/10/2025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3851920" y="1178049"/>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30187"/>
            <a:ext cx="8229600" cy="1600200"/>
          </a:xfrm>
        </p:spPr>
        <p:txBody>
          <a:bodyPr/>
          <a:lstStyle/>
          <a:p>
            <a:r>
              <a:rPr lang="en-US" b="1" dirty="0" err="1"/>
              <a:t>Contenido</a:t>
            </a:r>
            <a:endParaRPr lang="es-EC" dirty="0"/>
          </a:p>
        </p:txBody>
      </p:sp>
      <p:sp>
        <p:nvSpPr>
          <p:cNvPr id="3" name="2 Marcador de contenido"/>
          <p:cNvSpPr>
            <a:spLocks noGrp="1"/>
          </p:cNvSpPr>
          <p:nvPr>
            <p:ph idx="1"/>
          </p:nvPr>
        </p:nvSpPr>
        <p:spPr/>
        <p:txBody>
          <a:bodyPr>
            <a:normAutofit/>
          </a:bodyPr>
          <a:lstStyle/>
          <a:p>
            <a:pPr lvl="1"/>
            <a:r>
              <a:rPr lang="es-419" sz="3400" b="1" dirty="0" smtClean="0">
                <a:solidFill>
                  <a:srgbClr val="FF0000"/>
                </a:solidFill>
              </a:rPr>
              <a:t>Operadores </a:t>
            </a:r>
            <a:r>
              <a:rPr lang="es-419" sz="3400" b="1" dirty="0">
                <a:solidFill>
                  <a:srgbClr val="FF0000"/>
                </a:solidFill>
              </a:rPr>
              <a:t>Relacionales</a:t>
            </a:r>
            <a:endParaRPr lang="es-419" sz="3400" b="1" dirty="0">
              <a:solidFill>
                <a:srgbClr val="FF0000"/>
              </a:solidFill>
            </a:endParaRPr>
          </a:p>
          <a:p>
            <a:pPr lvl="1"/>
            <a:r>
              <a:rPr lang="es-419" sz="2000" dirty="0" smtClean="0"/>
              <a:t>Problema </a:t>
            </a:r>
            <a:r>
              <a:rPr lang="es-419" sz="2000" dirty="0"/>
              <a:t>1.24. (Aplicación de los operadores relacionales utilizando </a:t>
            </a:r>
            <a:r>
              <a:rPr lang="es-419" sz="2000" dirty="0" err="1"/>
              <a:t>cout</a:t>
            </a:r>
            <a:r>
              <a:rPr lang="es-419" sz="2000" dirty="0"/>
              <a:t> y </a:t>
            </a:r>
            <a:r>
              <a:rPr lang="es-419" sz="2000" dirty="0" err="1"/>
              <a:t>cin</a:t>
            </a:r>
            <a:r>
              <a:rPr lang="es-419" sz="2000" dirty="0"/>
              <a:t>) </a:t>
            </a:r>
            <a:r>
              <a:rPr lang="es-419" sz="1900" dirty="0" smtClean="0"/>
              <a:t> </a:t>
            </a:r>
            <a:endParaRPr lang="es-419" sz="1900" dirty="0"/>
          </a:p>
          <a:p>
            <a:pPr lvl="1"/>
            <a:r>
              <a:rPr lang="es-419" sz="1800" dirty="0" smtClean="0"/>
              <a:t>Problema </a:t>
            </a:r>
            <a:r>
              <a:rPr lang="es-419" sz="1800" dirty="0"/>
              <a:t>1.25. (Aplicación de los operadores relacionales utilizando </a:t>
            </a:r>
            <a:r>
              <a:rPr lang="es-419" sz="1800" dirty="0" err="1"/>
              <a:t>printf</a:t>
            </a:r>
            <a:r>
              <a:rPr lang="es-419" sz="1800" dirty="0"/>
              <a:t> y </a:t>
            </a:r>
            <a:r>
              <a:rPr lang="es-419" sz="1800" dirty="0" err="1"/>
              <a:t>scanf</a:t>
            </a:r>
            <a:r>
              <a:rPr lang="es-419" sz="1800" dirty="0"/>
              <a:t>)</a:t>
            </a:r>
            <a:endParaRPr lang="es-419" sz="1800" dirty="0" smtClean="0"/>
          </a:p>
          <a:p>
            <a:pPr lvl="1"/>
            <a:r>
              <a:rPr lang="es-419" sz="3400" dirty="0" smtClean="0"/>
              <a:t>Operadores Lógicos</a:t>
            </a:r>
            <a:endParaRPr lang="es-419" sz="3400" dirty="0" smtClean="0"/>
          </a:p>
          <a:p>
            <a:pPr lvl="1"/>
            <a:r>
              <a:rPr lang="es-419" sz="1800" dirty="0"/>
              <a:t>Problema 1.26. (Aplicación de los operadores lógicos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1.27. (Aplicación de los operadores lógicos utilizando </a:t>
            </a:r>
            <a:r>
              <a:rPr lang="es-419" sz="1800" dirty="0" err="1"/>
              <a:t>printf</a:t>
            </a:r>
            <a:r>
              <a:rPr lang="es-419" sz="1800" dirty="0"/>
              <a:t> y </a:t>
            </a:r>
            <a:r>
              <a:rPr lang="es-419" sz="1800" dirty="0" err="1" smtClean="0"/>
              <a:t>scanf</a:t>
            </a:r>
            <a:r>
              <a:rPr lang="es-419" sz="1800" dirty="0" smtClean="0"/>
              <a:t>) </a:t>
            </a:r>
            <a:endParaRPr lang="es-419" sz="1800" dirty="0" smtClean="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a:t>
            </a:fld>
            <a:endParaRPr lang="es-EC"/>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314533" y="2770465"/>
            <a:ext cx="4298532" cy="2539444"/>
          </a:xfrm>
        </p:spPr>
        <p:txBody>
          <a:bodyPr>
            <a:normAutofit fontScale="92500" lnSpcReduction="10000"/>
          </a:bodyPr>
          <a:lstStyle/>
          <a:p>
            <a:r>
              <a:rPr lang="es-419" sz="1800" dirty="0"/>
              <a:t>Los operadores relacionales se emplean para comparar o determinar alguna relación elemental entre dos variables o también entre dos expresiones y generar un valor de verdadero (1) o de falso (0) (Jones, B., </a:t>
            </a:r>
            <a:r>
              <a:rPr lang="es-419" sz="1800" dirty="0" err="1"/>
              <a:t>Aitken</a:t>
            </a:r>
            <a:r>
              <a:rPr lang="es-419" sz="1800" dirty="0"/>
              <a:t>, P., 2003). La Tabla </a:t>
            </a:r>
            <a:r>
              <a:rPr lang="es-419" sz="1800" dirty="0" smtClean="0"/>
              <a:t>1 </a:t>
            </a:r>
            <a:r>
              <a:rPr lang="es-419" sz="1800" dirty="0"/>
              <a:t>resume los operadores relacionales que maneja el lenguaje C/C++. </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8" name="7 CuadroTexto"/>
          <p:cNvSpPr txBox="1"/>
          <p:nvPr/>
        </p:nvSpPr>
        <p:spPr>
          <a:xfrm>
            <a:off x="539552" y="2036453"/>
            <a:ext cx="8003726" cy="523220"/>
          </a:xfrm>
          <a:prstGeom prst="rect">
            <a:avLst/>
          </a:prstGeom>
          <a:noFill/>
        </p:spPr>
        <p:txBody>
          <a:bodyPr wrap="square" rtlCol="0">
            <a:spAutoFit/>
          </a:bodyPr>
          <a:lstStyle/>
          <a:p>
            <a:r>
              <a:rPr lang="es-ES" sz="2800" dirty="0">
                <a:solidFill>
                  <a:srgbClr val="FF0000"/>
                </a:solidFill>
              </a:rPr>
              <a:t>Importancia</a:t>
            </a:r>
            <a:endParaRPr lang="es-EC" sz="2800" dirty="0">
              <a:solidFill>
                <a:srgbClr val="FF0000"/>
              </a:solidFill>
            </a:endParaRPr>
          </a:p>
        </p:txBody>
      </p:sp>
      <p:sp>
        <p:nvSpPr>
          <p:cNvPr id="9" name="12 CuadroTexto"/>
          <p:cNvSpPr txBox="1"/>
          <p:nvPr/>
        </p:nvSpPr>
        <p:spPr>
          <a:xfrm>
            <a:off x="4749277" y="5609454"/>
            <a:ext cx="4355976" cy="276999"/>
          </a:xfrm>
          <a:prstGeom prst="rect">
            <a:avLst/>
          </a:prstGeom>
          <a:noFill/>
        </p:spPr>
        <p:txBody>
          <a:bodyPr wrap="square" rtlCol="0">
            <a:spAutoFit/>
          </a:bodyPr>
          <a:lstStyle/>
          <a:p>
            <a:pPr algn="ctr"/>
            <a:r>
              <a:rPr lang="es-ES_tradnl" sz="1200" b="1" dirty="0" smtClean="0">
                <a:solidFill>
                  <a:schemeClr val="tx1">
                    <a:lumMod val="50000"/>
                    <a:lumOff val="50000"/>
                  </a:schemeClr>
                </a:solidFill>
                <a:latin typeface="+mj-lt"/>
              </a:rPr>
              <a:t>Tabla</a:t>
            </a:r>
            <a:r>
              <a:rPr lang="es-ES_tradnl" sz="1200" b="1" dirty="0" smtClean="0">
                <a:solidFill>
                  <a:schemeClr val="tx1">
                    <a:lumMod val="50000"/>
                    <a:lumOff val="50000"/>
                  </a:schemeClr>
                </a:solidFill>
                <a:latin typeface="+mj-lt"/>
              </a:rPr>
              <a:t> </a:t>
            </a:r>
            <a:r>
              <a:rPr lang="es-ES_tradnl" sz="1200" b="1" dirty="0" smtClean="0">
                <a:solidFill>
                  <a:schemeClr val="tx1">
                    <a:lumMod val="50000"/>
                    <a:lumOff val="50000"/>
                  </a:schemeClr>
                </a:solidFill>
                <a:latin typeface="+mj-lt"/>
              </a:rPr>
              <a:t>1.</a:t>
            </a:r>
            <a:r>
              <a:rPr lang="es-ES_tradnl" sz="1200"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Operadores Relacionales. </a:t>
            </a:r>
            <a:endParaRPr lang="es-EC" sz="1200" dirty="0">
              <a:solidFill>
                <a:schemeClr val="tx1">
                  <a:lumMod val="50000"/>
                  <a:lumOff val="50000"/>
                </a:schemeClr>
              </a:solidFill>
              <a:latin typeface="+mj-lt"/>
            </a:endParaRPr>
          </a:p>
        </p:txBody>
      </p:sp>
      <p:pic>
        <p:nvPicPr>
          <p:cNvPr id="4" name="Imagen 3"/>
          <p:cNvPicPr>
            <a:picLocks noChangeAspect="1"/>
          </p:cNvPicPr>
          <p:nvPr/>
        </p:nvPicPr>
        <p:blipFill>
          <a:blip r:embed="rId2"/>
          <a:stretch>
            <a:fillRect/>
          </a:stretch>
        </p:blipFill>
        <p:spPr>
          <a:xfrm>
            <a:off x="4541415" y="1628800"/>
            <a:ext cx="4484987" cy="3916577"/>
          </a:xfrm>
          <a:prstGeom prst="rect">
            <a:avLst/>
          </a:prstGeom>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30187"/>
            <a:ext cx="8229600" cy="1600200"/>
          </a:xfrm>
        </p:spPr>
        <p:txBody>
          <a:bodyPr/>
          <a:lstStyle/>
          <a:p>
            <a:r>
              <a:rPr lang="en-US" b="1" dirty="0" err="1"/>
              <a:t>Contenido</a:t>
            </a:r>
            <a:endParaRPr lang="es-EC" dirty="0"/>
          </a:p>
        </p:txBody>
      </p:sp>
      <p:sp>
        <p:nvSpPr>
          <p:cNvPr id="3" name="2 Marcador de contenido"/>
          <p:cNvSpPr>
            <a:spLocks noGrp="1"/>
          </p:cNvSpPr>
          <p:nvPr>
            <p:ph idx="1"/>
          </p:nvPr>
        </p:nvSpPr>
        <p:spPr/>
        <p:txBody>
          <a:bodyPr>
            <a:normAutofit/>
          </a:bodyPr>
          <a:lstStyle/>
          <a:p>
            <a:pPr lvl="1"/>
            <a:r>
              <a:rPr lang="es-419" sz="3400" dirty="0"/>
              <a:t>Operadores </a:t>
            </a:r>
            <a:r>
              <a:rPr lang="es-419" sz="3400" dirty="0"/>
              <a:t>Relacionales</a:t>
            </a:r>
          </a:p>
          <a:p>
            <a:pPr lvl="1"/>
            <a:r>
              <a:rPr lang="es-419" sz="2000" b="1" dirty="0" smtClean="0">
                <a:solidFill>
                  <a:srgbClr val="FF0000"/>
                </a:solidFill>
              </a:rPr>
              <a:t>Problema </a:t>
            </a:r>
            <a:r>
              <a:rPr lang="es-419" sz="2000" b="1" dirty="0">
                <a:solidFill>
                  <a:srgbClr val="FF0000"/>
                </a:solidFill>
              </a:rPr>
              <a:t>1.24. (Aplicación de los operadores relacionales utilizando </a:t>
            </a:r>
            <a:r>
              <a:rPr lang="es-419" sz="2000" b="1" dirty="0" err="1">
                <a:solidFill>
                  <a:srgbClr val="FF0000"/>
                </a:solidFill>
              </a:rPr>
              <a:t>cout</a:t>
            </a:r>
            <a:r>
              <a:rPr lang="es-419" sz="2000" b="1" dirty="0">
                <a:solidFill>
                  <a:srgbClr val="FF0000"/>
                </a:solidFill>
              </a:rPr>
              <a:t> y </a:t>
            </a:r>
            <a:r>
              <a:rPr lang="es-419" sz="2000" b="1" dirty="0" err="1">
                <a:solidFill>
                  <a:srgbClr val="FF0000"/>
                </a:solidFill>
              </a:rPr>
              <a:t>cin</a:t>
            </a:r>
            <a:r>
              <a:rPr lang="es-419" sz="2000" b="1" dirty="0">
                <a:solidFill>
                  <a:srgbClr val="FF0000"/>
                </a:solidFill>
              </a:rPr>
              <a:t>) </a:t>
            </a:r>
            <a:r>
              <a:rPr lang="es-419" sz="1900" b="1" dirty="0" smtClean="0">
                <a:solidFill>
                  <a:srgbClr val="FF0000"/>
                </a:solidFill>
              </a:rPr>
              <a:t> </a:t>
            </a:r>
            <a:endParaRPr lang="es-419" sz="1900" b="1" dirty="0">
              <a:solidFill>
                <a:srgbClr val="FF0000"/>
              </a:solidFill>
            </a:endParaRPr>
          </a:p>
          <a:p>
            <a:pPr lvl="1"/>
            <a:r>
              <a:rPr lang="es-419" sz="1800" dirty="0" smtClean="0"/>
              <a:t>Problema </a:t>
            </a:r>
            <a:r>
              <a:rPr lang="es-419" sz="1800" dirty="0"/>
              <a:t>1.25. (Aplicación de los operadores relacionales utilizando </a:t>
            </a:r>
            <a:r>
              <a:rPr lang="es-419" sz="1800" dirty="0" err="1"/>
              <a:t>printf</a:t>
            </a:r>
            <a:r>
              <a:rPr lang="es-419" sz="1800" dirty="0"/>
              <a:t> y </a:t>
            </a:r>
            <a:r>
              <a:rPr lang="es-419" sz="1800" dirty="0" err="1"/>
              <a:t>scanf</a:t>
            </a:r>
            <a:r>
              <a:rPr lang="es-419" sz="1800" dirty="0"/>
              <a:t>)</a:t>
            </a:r>
            <a:endParaRPr lang="es-419" sz="1800" dirty="0" smtClean="0"/>
          </a:p>
          <a:p>
            <a:pPr lvl="1"/>
            <a:r>
              <a:rPr lang="es-419" sz="3400" dirty="0" smtClean="0"/>
              <a:t>Operadores Lógicos</a:t>
            </a:r>
            <a:endParaRPr lang="es-419" sz="3400" dirty="0" smtClean="0"/>
          </a:p>
          <a:p>
            <a:pPr lvl="1"/>
            <a:r>
              <a:rPr lang="es-419" sz="1800" dirty="0"/>
              <a:t>Problema 1.26. (Aplicación de los operadores lógicos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1.27. (Aplicación de los operadores lógicos utilizando </a:t>
            </a:r>
            <a:r>
              <a:rPr lang="es-419" sz="1800" dirty="0" err="1"/>
              <a:t>printf</a:t>
            </a:r>
            <a:r>
              <a:rPr lang="es-419" sz="1800" dirty="0"/>
              <a:t> y </a:t>
            </a:r>
            <a:r>
              <a:rPr lang="es-419" sz="1800" dirty="0" err="1" smtClean="0"/>
              <a:t>scanf</a:t>
            </a:r>
            <a:r>
              <a:rPr lang="es-419" sz="1800" dirty="0" smtClean="0"/>
              <a:t>) </a:t>
            </a:r>
            <a:endParaRPr lang="es-419" sz="1800" dirty="0" smtClean="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a:t>
            </a:fld>
            <a:endParaRPr lang="es-EC"/>
          </a:p>
        </p:txBody>
      </p:sp>
    </p:spTree>
    <p:extLst>
      <p:ext uri="{BB962C8B-B14F-4D97-AF65-F5344CB8AC3E}">
        <p14:creationId xmlns:p14="http://schemas.microsoft.com/office/powerpoint/2010/main" val="396688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2382340"/>
            <a:ext cx="9144000" cy="4156572"/>
          </a:xfrm>
        </p:spPr>
        <p:txBody>
          <a:bodyPr>
            <a:normAutofit/>
          </a:bodyPr>
          <a:lstStyle/>
          <a:p>
            <a:r>
              <a:rPr lang="es-419" sz="2000" dirty="0"/>
              <a:t>Escribir un programa que permita probar el uso de los operadores relacionales, con dos números enteros leídos desde el teclado, utilizando las funciones ‘</a:t>
            </a:r>
            <a:r>
              <a:rPr lang="es-419" sz="2000" dirty="0" err="1"/>
              <a:t>cout</a:t>
            </a:r>
            <a:r>
              <a:rPr lang="es-419" sz="2000" dirty="0"/>
              <a:t>’ y ‘</a:t>
            </a:r>
            <a:r>
              <a:rPr lang="es-419" sz="2000" dirty="0" err="1"/>
              <a:t>cin</a:t>
            </a:r>
            <a:r>
              <a:rPr lang="es-419" sz="2000" dirty="0"/>
              <a:t>’. </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919904"/>
          </a:xfrm>
        </p:spPr>
        <p:txBody>
          <a:bodyPr/>
          <a:lstStyle/>
          <a:p>
            <a:pPr>
              <a:lnSpc>
                <a:spcPts val="4000"/>
              </a:lnSpc>
            </a:pPr>
            <a:r>
              <a:rPr lang="es-419" sz="2800" dirty="0"/>
              <a:t>Lenguaje C/C++. Problemas, Casos y Proyectos</a:t>
            </a:r>
            <a:endParaRPr lang="en-US" sz="2800" dirty="0"/>
          </a:p>
        </p:txBody>
      </p:sp>
      <p:sp>
        <p:nvSpPr>
          <p:cNvPr id="8" name="Rectángulo 7"/>
          <p:cNvSpPr/>
          <p:nvPr/>
        </p:nvSpPr>
        <p:spPr>
          <a:xfrm>
            <a:off x="539552" y="1653252"/>
            <a:ext cx="1673856" cy="400110"/>
          </a:xfrm>
          <a:prstGeom prst="rect">
            <a:avLst/>
          </a:prstGeom>
        </p:spPr>
        <p:txBody>
          <a:bodyPr wrap="none">
            <a:spAutoFit/>
          </a:bodyPr>
          <a:lstStyle/>
          <a:p>
            <a:r>
              <a:rPr lang="es-ES" sz="2000" b="1" dirty="0" smtClean="0">
                <a:solidFill>
                  <a:schemeClr val="bg1">
                    <a:lumMod val="50000"/>
                  </a:schemeClr>
                </a:solidFill>
              </a:rPr>
              <a:t>PROBLEMA</a:t>
            </a:r>
            <a:endParaRPr lang="es-EC" sz="2400" b="1" dirty="0">
              <a:solidFill>
                <a:schemeClr val="bg1">
                  <a:lumMod val="50000"/>
                </a:schemeClr>
              </a:solidFill>
            </a:endParaRPr>
          </a:p>
        </p:txBody>
      </p:sp>
      <p:pic>
        <p:nvPicPr>
          <p:cNvPr id="2" name="Imagen 1"/>
          <p:cNvPicPr>
            <a:picLocks noChangeAspect="1"/>
          </p:cNvPicPr>
          <p:nvPr/>
        </p:nvPicPr>
        <p:blipFill>
          <a:blip r:embed="rId2"/>
          <a:stretch>
            <a:fillRect/>
          </a:stretch>
        </p:blipFill>
        <p:spPr>
          <a:xfrm>
            <a:off x="1619672" y="3576132"/>
            <a:ext cx="5695950" cy="1809750"/>
          </a:xfrm>
          <a:prstGeom prst="rect">
            <a:avLst/>
          </a:prstGeom>
        </p:spPr>
      </p:pic>
      <p:sp>
        <p:nvSpPr>
          <p:cNvPr id="10" name="12 CuadroTexto"/>
          <p:cNvSpPr txBox="1"/>
          <p:nvPr/>
        </p:nvSpPr>
        <p:spPr>
          <a:xfrm>
            <a:off x="3203848" y="5486633"/>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a:solidFill>
                  <a:schemeClr val="bg1">
                    <a:lumMod val="50000"/>
                  </a:schemeClr>
                </a:solidFill>
                <a:latin typeface="+mj-lt"/>
              </a:rPr>
              <a:t>1</a:t>
            </a:r>
            <a:r>
              <a:rPr lang="es-ES" sz="1200" b="1" dirty="0" smtClean="0">
                <a:solidFill>
                  <a:schemeClr val="bg1">
                    <a:lumMod val="50000"/>
                  </a:schemeClr>
                </a:solidFill>
                <a:latin typeface="+mj-lt"/>
              </a:rPr>
              <a:t>.</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36099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sp>
        <p:nvSpPr>
          <p:cNvPr id="9" name="12 CuadroTexto"/>
          <p:cNvSpPr txBox="1"/>
          <p:nvPr/>
        </p:nvSpPr>
        <p:spPr>
          <a:xfrm>
            <a:off x="1240132" y="6187299"/>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smtClean="0">
                <a:solidFill>
                  <a:schemeClr val="bg1">
                    <a:lumMod val="50000"/>
                  </a:schemeClr>
                </a:solidFill>
                <a:latin typeface="+mj-lt"/>
              </a:rPr>
              <a:t>2.</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919904"/>
          </a:xfrm>
        </p:spPr>
        <p:txBody>
          <a:bodyPr/>
          <a:lstStyle/>
          <a:p>
            <a:pPr>
              <a:lnSpc>
                <a:spcPts val="4000"/>
              </a:lnSpc>
            </a:pPr>
            <a:r>
              <a:rPr lang="es-419" sz="2800" dirty="0"/>
              <a:t>Lenguaje C/C++. Problemas, Casos y Proyectos</a:t>
            </a:r>
            <a:endParaRPr lang="en-US" sz="2800" dirty="0"/>
          </a:p>
        </p:txBody>
      </p:sp>
      <p:sp>
        <p:nvSpPr>
          <p:cNvPr id="13" name="12 CuadroTexto"/>
          <p:cNvSpPr txBox="1"/>
          <p:nvPr/>
        </p:nvSpPr>
        <p:spPr>
          <a:xfrm>
            <a:off x="5796136" y="3959591"/>
            <a:ext cx="2437928"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a:solidFill>
                  <a:schemeClr val="bg1">
                    <a:lumMod val="50000"/>
                  </a:schemeClr>
                </a:solidFill>
                <a:latin typeface="+mj-lt"/>
              </a:rPr>
              <a:t>3</a:t>
            </a:r>
            <a:r>
              <a:rPr lang="es-ES" sz="1200" b="1" dirty="0" smtClean="0">
                <a:solidFill>
                  <a:schemeClr val="bg1">
                    <a:lumMod val="50000"/>
                  </a:schemeClr>
                </a:solidFill>
                <a:latin typeface="+mj-lt"/>
              </a:rPr>
              <a:t>.</a:t>
            </a:r>
            <a:r>
              <a:rPr lang="es-ES" sz="1200" dirty="0" smtClean="0">
                <a:solidFill>
                  <a:schemeClr val="tx1">
                    <a:lumMod val="50000"/>
                    <a:lumOff val="50000"/>
                  </a:schemeClr>
                </a:solidFill>
                <a:latin typeface="+mj-lt"/>
              </a:rPr>
              <a:t> </a:t>
            </a:r>
            <a:r>
              <a:rPr lang="es-ES" sz="1200" dirty="0" smtClean="0">
                <a:solidFill>
                  <a:schemeClr val="tx1">
                    <a:lumMod val="50000"/>
                    <a:lumOff val="50000"/>
                  </a:schemeClr>
                </a:solidFill>
                <a:latin typeface="+mj-lt"/>
              </a:rPr>
              <a:t>Salida del Programa</a:t>
            </a:r>
            <a:endParaRPr lang="es-EC" sz="1200" dirty="0">
              <a:solidFill>
                <a:schemeClr val="tx1">
                  <a:lumMod val="50000"/>
                  <a:lumOff val="50000"/>
                </a:schemeClr>
              </a:solidFill>
              <a:latin typeface="+mj-lt"/>
            </a:endParaRPr>
          </a:p>
        </p:txBody>
      </p:sp>
      <p:pic>
        <p:nvPicPr>
          <p:cNvPr id="16" name="Marcador de contenido 15"/>
          <p:cNvPicPr>
            <a:picLocks noGrp="1" noChangeAspect="1"/>
          </p:cNvPicPr>
          <p:nvPr>
            <p:ph idx="1"/>
          </p:nvPr>
        </p:nvPicPr>
        <p:blipFill>
          <a:blip r:embed="rId2"/>
          <a:stretch>
            <a:fillRect/>
          </a:stretch>
        </p:blipFill>
        <p:spPr>
          <a:xfrm>
            <a:off x="422140" y="1000996"/>
            <a:ext cx="3847518" cy="5153617"/>
          </a:xfrm>
          <a:prstGeom prst="rect">
            <a:avLst/>
          </a:prstGeom>
        </p:spPr>
      </p:pic>
      <p:pic>
        <p:nvPicPr>
          <p:cNvPr id="17" name="Imagen 16"/>
          <p:cNvPicPr>
            <a:picLocks noChangeAspect="1"/>
          </p:cNvPicPr>
          <p:nvPr/>
        </p:nvPicPr>
        <p:blipFill>
          <a:blip r:embed="rId3"/>
          <a:stretch>
            <a:fillRect/>
          </a:stretch>
        </p:blipFill>
        <p:spPr>
          <a:xfrm>
            <a:off x="4536168" y="2636912"/>
            <a:ext cx="4384200" cy="1274566"/>
          </a:xfrm>
          <a:prstGeom prst="rect">
            <a:avLst/>
          </a:prstGeom>
        </p:spPr>
      </p:pic>
    </p:spTree>
    <p:extLst>
      <p:ext uri="{BB962C8B-B14F-4D97-AF65-F5344CB8AC3E}">
        <p14:creationId xmlns:p14="http://schemas.microsoft.com/office/powerpoint/2010/main" val="238402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30187"/>
            <a:ext cx="8229600" cy="1600200"/>
          </a:xfrm>
        </p:spPr>
        <p:txBody>
          <a:bodyPr/>
          <a:lstStyle/>
          <a:p>
            <a:r>
              <a:rPr lang="en-US" b="1" dirty="0" err="1"/>
              <a:t>Contenido</a:t>
            </a:r>
            <a:endParaRPr lang="es-EC" dirty="0"/>
          </a:p>
        </p:txBody>
      </p:sp>
      <p:sp>
        <p:nvSpPr>
          <p:cNvPr id="3" name="2 Marcador de contenido"/>
          <p:cNvSpPr>
            <a:spLocks noGrp="1"/>
          </p:cNvSpPr>
          <p:nvPr>
            <p:ph idx="1"/>
          </p:nvPr>
        </p:nvSpPr>
        <p:spPr/>
        <p:txBody>
          <a:bodyPr>
            <a:normAutofit/>
          </a:bodyPr>
          <a:lstStyle/>
          <a:p>
            <a:pPr lvl="1"/>
            <a:r>
              <a:rPr lang="es-419" sz="3400" dirty="0"/>
              <a:t>Operadores </a:t>
            </a:r>
            <a:r>
              <a:rPr lang="es-419" sz="3400" dirty="0"/>
              <a:t>Relacionales</a:t>
            </a:r>
          </a:p>
          <a:p>
            <a:pPr lvl="1"/>
            <a:r>
              <a:rPr lang="es-419" sz="1800" dirty="0"/>
              <a:t>Problema </a:t>
            </a:r>
            <a:r>
              <a:rPr lang="es-419" sz="1800" dirty="0"/>
              <a:t>1.24. (Aplicación de los operadores relacionales utilizando </a:t>
            </a:r>
            <a:r>
              <a:rPr lang="es-419" sz="1800" dirty="0" err="1"/>
              <a:t>cout</a:t>
            </a:r>
            <a:r>
              <a:rPr lang="es-419" sz="1800" dirty="0"/>
              <a:t> y </a:t>
            </a:r>
            <a:r>
              <a:rPr lang="es-419" sz="1800" dirty="0" err="1"/>
              <a:t>cin</a:t>
            </a:r>
            <a:r>
              <a:rPr lang="es-419" sz="1800" dirty="0"/>
              <a:t>) </a:t>
            </a:r>
            <a:r>
              <a:rPr lang="es-419" sz="1800" dirty="0"/>
              <a:t> </a:t>
            </a:r>
            <a:endParaRPr lang="es-419" sz="1800" dirty="0"/>
          </a:p>
          <a:p>
            <a:pPr lvl="1"/>
            <a:r>
              <a:rPr lang="es-419" sz="2000" b="1" dirty="0">
                <a:solidFill>
                  <a:srgbClr val="FF0000"/>
                </a:solidFill>
              </a:rPr>
              <a:t>Problema </a:t>
            </a:r>
            <a:r>
              <a:rPr lang="es-419" sz="2000" b="1" dirty="0">
                <a:solidFill>
                  <a:srgbClr val="FF0000"/>
                </a:solidFill>
              </a:rPr>
              <a:t>1.25. (Aplicación de los operadores relacionales utilizando </a:t>
            </a:r>
            <a:r>
              <a:rPr lang="es-419" sz="2000" b="1" dirty="0" err="1">
                <a:solidFill>
                  <a:srgbClr val="FF0000"/>
                </a:solidFill>
              </a:rPr>
              <a:t>printf</a:t>
            </a:r>
            <a:r>
              <a:rPr lang="es-419" sz="2000" b="1" dirty="0">
                <a:solidFill>
                  <a:srgbClr val="FF0000"/>
                </a:solidFill>
              </a:rPr>
              <a:t> y </a:t>
            </a:r>
            <a:r>
              <a:rPr lang="es-419" sz="2000" b="1" dirty="0" err="1">
                <a:solidFill>
                  <a:srgbClr val="FF0000"/>
                </a:solidFill>
              </a:rPr>
              <a:t>scanf</a:t>
            </a:r>
            <a:r>
              <a:rPr lang="es-419" sz="2000" b="1" dirty="0">
                <a:solidFill>
                  <a:srgbClr val="FF0000"/>
                </a:solidFill>
              </a:rPr>
              <a:t>)</a:t>
            </a:r>
            <a:endParaRPr lang="es-419" sz="2000" b="1" dirty="0">
              <a:solidFill>
                <a:srgbClr val="FF0000"/>
              </a:solidFill>
            </a:endParaRPr>
          </a:p>
          <a:p>
            <a:pPr lvl="1"/>
            <a:r>
              <a:rPr lang="es-419" sz="3400" dirty="0" smtClean="0"/>
              <a:t>Operadores Lógicos</a:t>
            </a:r>
            <a:endParaRPr lang="es-419" sz="3400" dirty="0" smtClean="0"/>
          </a:p>
          <a:p>
            <a:pPr lvl="1"/>
            <a:r>
              <a:rPr lang="es-419" sz="1800" dirty="0"/>
              <a:t>Problema 1.26. (Aplicación de los operadores lógicos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1.27. (Aplicación de los operadores lógicos utilizando </a:t>
            </a:r>
            <a:r>
              <a:rPr lang="es-419" sz="1800" dirty="0" err="1"/>
              <a:t>printf</a:t>
            </a:r>
            <a:r>
              <a:rPr lang="es-419" sz="1800" dirty="0"/>
              <a:t> y </a:t>
            </a:r>
            <a:r>
              <a:rPr lang="es-419" sz="1800" dirty="0" err="1" smtClean="0"/>
              <a:t>scanf</a:t>
            </a:r>
            <a:r>
              <a:rPr lang="es-419" sz="1800" dirty="0" smtClean="0"/>
              <a:t>) </a:t>
            </a:r>
            <a:endParaRPr lang="es-419" sz="1800" dirty="0" smtClean="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spTree>
    <p:extLst>
      <p:ext uri="{BB962C8B-B14F-4D97-AF65-F5344CB8AC3E}">
        <p14:creationId xmlns:p14="http://schemas.microsoft.com/office/powerpoint/2010/main" val="3260513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9908" y="1451067"/>
            <a:ext cx="9144000" cy="4156572"/>
          </a:xfrm>
        </p:spPr>
        <p:txBody>
          <a:bodyPr>
            <a:normAutofit/>
          </a:bodyPr>
          <a:lstStyle/>
          <a:p>
            <a:r>
              <a:rPr lang="es-419" sz="1400" dirty="0"/>
              <a:t>Escribir un programa que permita probar el uso de los operadores relacionales, con dos números enteros leídos desde el teclado, utilizando las funciones ‘</a:t>
            </a:r>
            <a:r>
              <a:rPr lang="es-419" sz="1400" dirty="0" err="1"/>
              <a:t>printf</a:t>
            </a:r>
            <a:r>
              <a:rPr lang="es-419" sz="1400" dirty="0"/>
              <a:t>’ y ‘</a:t>
            </a:r>
            <a:r>
              <a:rPr lang="es-419" sz="1400" dirty="0" err="1"/>
              <a:t>scanf</a:t>
            </a:r>
            <a:r>
              <a:rPr lang="es-419" sz="1400" dirty="0"/>
              <a:t>’. </a:t>
            </a:r>
            <a:endParaRPr lang="es-ES" sz="14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919904"/>
          </a:xfrm>
        </p:spPr>
        <p:txBody>
          <a:bodyPr/>
          <a:lstStyle/>
          <a:p>
            <a:pPr>
              <a:lnSpc>
                <a:spcPts val="4000"/>
              </a:lnSpc>
            </a:pPr>
            <a:r>
              <a:rPr lang="es-419" sz="2800" dirty="0"/>
              <a:t>Lenguaje C/C++. Problemas, Casos y Proyectos</a:t>
            </a:r>
            <a:endParaRPr lang="en-US" sz="2800" dirty="0"/>
          </a:p>
        </p:txBody>
      </p:sp>
      <p:sp>
        <p:nvSpPr>
          <p:cNvPr id="8" name="Rectángulo 7"/>
          <p:cNvSpPr/>
          <p:nvPr/>
        </p:nvSpPr>
        <p:spPr>
          <a:xfrm>
            <a:off x="438608" y="1050957"/>
            <a:ext cx="1673856" cy="400110"/>
          </a:xfrm>
          <a:prstGeom prst="rect">
            <a:avLst/>
          </a:prstGeom>
        </p:spPr>
        <p:txBody>
          <a:bodyPr wrap="none">
            <a:spAutoFit/>
          </a:bodyPr>
          <a:lstStyle/>
          <a:p>
            <a:r>
              <a:rPr lang="es-ES" sz="2000" b="1" dirty="0" smtClean="0">
                <a:solidFill>
                  <a:schemeClr val="bg1">
                    <a:lumMod val="50000"/>
                  </a:schemeClr>
                </a:solidFill>
              </a:rPr>
              <a:t>PROBLEMA</a:t>
            </a:r>
            <a:endParaRPr lang="es-EC" sz="2400" b="1" dirty="0">
              <a:solidFill>
                <a:schemeClr val="bg1">
                  <a:lumMod val="50000"/>
                </a:schemeClr>
              </a:solidFill>
            </a:endParaRPr>
          </a:p>
        </p:txBody>
      </p:sp>
      <p:sp>
        <p:nvSpPr>
          <p:cNvPr id="10" name="12 CuadroTexto"/>
          <p:cNvSpPr txBox="1"/>
          <p:nvPr/>
        </p:nvSpPr>
        <p:spPr>
          <a:xfrm>
            <a:off x="3131840" y="6322014"/>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smtClean="0">
                <a:solidFill>
                  <a:schemeClr val="bg1">
                    <a:lumMod val="50000"/>
                  </a:schemeClr>
                </a:solidFill>
                <a:latin typeface="+mj-lt"/>
              </a:rPr>
              <a:t>5.</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pic>
        <p:nvPicPr>
          <p:cNvPr id="4" name="Imagen 3"/>
          <p:cNvPicPr>
            <a:picLocks noChangeAspect="1"/>
          </p:cNvPicPr>
          <p:nvPr/>
        </p:nvPicPr>
        <p:blipFill>
          <a:blip r:embed="rId2"/>
          <a:stretch>
            <a:fillRect/>
          </a:stretch>
        </p:blipFill>
        <p:spPr>
          <a:xfrm>
            <a:off x="2498289" y="1884325"/>
            <a:ext cx="3888432" cy="4472025"/>
          </a:xfrm>
          <a:prstGeom prst="rect">
            <a:avLst/>
          </a:prstGeom>
        </p:spPr>
      </p:pic>
    </p:spTree>
    <p:extLst>
      <p:ext uri="{BB962C8B-B14F-4D97-AF65-F5344CB8AC3E}">
        <p14:creationId xmlns:p14="http://schemas.microsoft.com/office/powerpoint/2010/main" val="3796885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9" name="12 CuadroTexto"/>
          <p:cNvSpPr txBox="1"/>
          <p:nvPr/>
        </p:nvSpPr>
        <p:spPr>
          <a:xfrm>
            <a:off x="971600" y="3655694"/>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a:solidFill>
                  <a:schemeClr val="bg1">
                    <a:lumMod val="50000"/>
                  </a:schemeClr>
                </a:solidFill>
                <a:latin typeface="+mj-lt"/>
              </a:rPr>
              <a:t>6</a:t>
            </a:r>
            <a:r>
              <a:rPr lang="es-ES" sz="1200" b="1" dirty="0" smtClean="0">
                <a:solidFill>
                  <a:schemeClr val="bg1">
                    <a:lumMod val="50000"/>
                  </a:schemeClr>
                </a:solidFill>
                <a:latin typeface="+mj-lt"/>
              </a:rPr>
              <a:t>.</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919904"/>
          </a:xfrm>
        </p:spPr>
        <p:txBody>
          <a:bodyPr/>
          <a:lstStyle/>
          <a:p>
            <a:pPr>
              <a:lnSpc>
                <a:spcPts val="4000"/>
              </a:lnSpc>
            </a:pPr>
            <a:r>
              <a:rPr lang="es-419" sz="2800" dirty="0"/>
              <a:t>Lenguaje C/C++. Problemas, Casos y Proyectos</a:t>
            </a:r>
            <a:endParaRPr lang="en-US" sz="2800" dirty="0"/>
          </a:p>
        </p:txBody>
      </p:sp>
      <p:sp>
        <p:nvSpPr>
          <p:cNvPr id="13" name="12 CuadroTexto"/>
          <p:cNvSpPr txBox="1"/>
          <p:nvPr/>
        </p:nvSpPr>
        <p:spPr>
          <a:xfrm>
            <a:off x="5364088" y="5689537"/>
            <a:ext cx="2437928"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a:solidFill>
                  <a:schemeClr val="bg1">
                    <a:lumMod val="50000"/>
                  </a:schemeClr>
                </a:solidFill>
                <a:latin typeface="+mj-lt"/>
              </a:rPr>
              <a:t>3</a:t>
            </a:r>
            <a:r>
              <a:rPr lang="es-ES" sz="1200" b="1" dirty="0" smtClean="0">
                <a:solidFill>
                  <a:schemeClr val="bg1">
                    <a:lumMod val="50000"/>
                  </a:schemeClr>
                </a:solidFill>
                <a:latin typeface="+mj-lt"/>
              </a:rPr>
              <a:t>.</a:t>
            </a:r>
            <a:r>
              <a:rPr lang="es-ES" sz="1200" dirty="0" smtClean="0">
                <a:solidFill>
                  <a:schemeClr val="tx1">
                    <a:lumMod val="50000"/>
                    <a:lumOff val="50000"/>
                  </a:schemeClr>
                </a:solidFill>
                <a:latin typeface="+mj-lt"/>
              </a:rPr>
              <a:t> </a:t>
            </a:r>
            <a:r>
              <a:rPr lang="es-ES" sz="1200" dirty="0" smtClean="0">
                <a:solidFill>
                  <a:schemeClr val="tx1">
                    <a:lumMod val="50000"/>
                    <a:lumOff val="50000"/>
                  </a:schemeClr>
                </a:solidFill>
                <a:latin typeface="+mj-lt"/>
              </a:rPr>
              <a:t>Salida del Programa</a:t>
            </a:r>
            <a:endParaRPr lang="es-EC" sz="1200" dirty="0">
              <a:solidFill>
                <a:schemeClr val="tx1">
                  <a:lumMod val="50000"/>
                  <a:lumOff val="50000"/>
                </a:schemeClr>
              </a:solidFill>
              <a:latin typeface="+mj-lt"/>
            </a:endParaRPr>
          </a:p>
        </p:txBody>
      </p:sp>
      <p:pic>
        <p:nvPicPr>
          <p:cNvPr id="4" name="Marcador de contenido 3"/>
          <p:cNvPicPr>
            <a:picLocks noGrp="1" noChangeAspect="1"/>
          </p:cNvPicPr>
          <p:nvPr>
            <p:ph idx="1"/>
          </p:nvPr>
        </p:nvPicPr>
        <p:blipFill>
          <a:blip r:embed="rId2"/>
          <a:stretch>
            <a:fillRect/>
          </a:stretch>
        </p:blipFill>
        <p:spPr>
          <a:xfrm>
            <a:off x="179512" y="1412776"/>
            <a:ext cx="4766813" cy="2239924"/>
          </a:xfrm>
          <a:prstGeom prst="rect">
            <a:avLst/>
          </a:prstGeom>
        </p:spPr>
      </p:pic>
      <p:pic>
        <p:nvPicPr>
          <p:cNvPr id="5" name="Imagen 4"/>
          <p:cNvPicPr>
            <a:picLocks noChangeAspect="1"/>
          </p:cNvPicPr>
          <p:nvPr/>
        </p:nvPicPr>
        <p:blipFill>
          <a:blip r:embed="rId3"/>
          <a:stretch>
            <a:fillRect/>
          </a:stretch>
        </p:blipFill>
        <p:spPr>
          <a:xfrm>
            <a:off x="3491880" y="4061215"/>
            <a:ext cx="5467350" cy="1638300"/>
          </a:xfrm>
          <a:prstGeom prst="rect">
            <a:avLst/>
          </a:prstGeom>
        </p:spPr>
      </p:pic>
    </p:spTree>
    <p:extLst>
      <p:ext uri="{BB962C8B-B14F-4D97-AF65-F5344CB8AC3E}">
        <p14:creationId xmlns:p14="http://schemas.microsoft.com/office/powerpoint/2010/main" val="2828671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228382" y="2163809"/>
            <a:ext cx="4172967" cy="4070996"/>
          </a:xfrm>
        </p:spPr>
        <p:txBody>
          <a:bodyPr>
            <a:normAutofit/>
          </a:bodyPr>
          <a:lstStyle/>
          <a:p>
            <a:r>
              <a:rPr lang="es-419" sz="2000" dirty="0"/>
              <a:t>Escribir un programa que permita presentar el uso de los operadores aritméticos binarios con los tipos de datos enteros de C/C++, utilizando las funciones ‘</a:t>
            </a:r>
            <a:r>
              <a:rPr lang="es-419" sz="2000" dirty="0" err="1"/>
              <a:t>printf</a:t>
            </a:r>
            <a:r>
              <a:rPr lang="es-419" sz="2000" dirty="0"/>
              <a:t>’ y ‘</a:t>
            </a:r>
            <a:r>
              <a:rPr lang="es-419" sz="2000" dirty="0" err="1"/>
              <a:t>scanf</a:t>
            </a:r>
            <a:r>
              <a:rPr lang="es-419" sz="2000" dirty="0"/>
              <a:t>’. </a:t>
            </a:r>
            <a:endParaRPr lang="es-419" sz="2000" dirty="0" smtClean="0"/>
          </a:p>
          <a:p>
            <a:r>
              <a:rPr lang="es-419" sz="2000" dirty="0" smtClean="0"/>
              <a:t>Código </a:t>
            </a:r>
            <a:r>
              <a:rPr lang="es-419" sz="2000" dirty="0"/>
              <a:t>del programa. </a:t>
            </a:r>
            <a:endParaRPr lang="es-ES" sz="20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sp>
        <p:nvSpPr>
          <p:cNvPr id="9" name="12 CuadroTexto"/>
          <p:cNvSpPr txBox="1"/>
          <p:nvPr/>
        </p:nvSpPr>
        <p:spPr>
          <a:xfrm>
            <a:off x="5379538" y="4503188"/>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5</a:t>
            </a:r>
            <a:r>
              <a:rPr lang="es-ES" sz="1200" b="1" dirty="0" smtClean="0">
                <a:solidFill>
                  <a:schemeClr val="bg1">
                    <a:lumMod val="50000"/>
                  </a:schemeClr>
                </a:solidFill>
                <a:latin typeface="+mj-lt"/>
              </a:rPr>
              <a:t>.</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419" sz="2800" dirty="0"/>
              <a:t>Lenguaje C/C++. Problemas, Casos y Proyectos</a:t>
            </a:r>
            <a:endParaRPr lang="en-US" sz="2800" dirty="0"/>
          </a:p>
        </p:txBody>
      </p:sp>
      <p:pic>
        <p:nvPicPr>
          <p:cNvPr id="7" name="Imagen 6"/>
          <p:cNvPicPr>
            <a:picLocks noChangeAspect="1"/>
          </p:cNvPicPr>
          <p:nvPr/>
        </p:nvPicPr>
        <p:blipFill>
          <a:blip r:embed="rId2"/>
          <a:stretch>
            <a:fillRect/>
          </a:stretch>
        </p:blipFill>
        <p:spPr>
          <a:xfrm>
            <a:off x="4811307" y="1622705"/>
            <a:ext cx="3731971" cy="2434667"/>
          </a:xfrm>
          <a:prstGeom prst="rect">
            <a:avLst/>
          </a:prstGeom>
        </p:spPr>
      </p:pic>
      <p:pic>
        <p:nvPicPr>
          <p:cNvPr id="8" name="Imagen 7"/>
          <p:cNvPicPr>
            <a:picLocks noChangeAspect="1"/>
          </p:cNvPicPr>
          <p:nvPr/>
        </p:nvPicPr>
        <p:blipFill>
          <a:blip r:embed="rId3"/>
          <a:stretch>
            <a:fillRect/>
          </a:stretch>
        </p:blipFill>
        <p:spPr>
          <a:xfrm>
            <a:off x="4458854" y="4199307"/>
            <a:ext cx="4613126" cy="311894"/>
          </a:xfrm>
          <a:prstGeom prst="rect">
            <a:avLst/>
          </a:prstGeom>
        </p:spPr>
      </p:pic>
      <p:pic>
        <p:nvPicPr>
          <p:cNvPr id="11" name="Imagen 10"/>
          <p:cNvPicPr>
            <a:picLocks noChangeAspect="1"/>
          </p:cNvPicPr>
          <p:nvPr/>
        </p:nvPicPr>
        <p:blipFill>
          <a:blip r:embed="rId4"/>
          <a:stretch>
            <a:fillRect/>
          </a:stretch>
        </p:blipFill>
        <p:spPr>
          <a:xfrm>
            <a:off x="4583360" y="4845995"/>
            <a:ext cx="4388527" cy="811259"/>
          </a:xfrm>
          <a:prstGeom prst="rect">
            <a:avLst/>
          </a:prstGeom>
        </p:spPr>
      </p:pic>
      <p:sp>
        <p:nvSpPr>
          <p:cNvPr id="14" name="Rectángulo 13"/>
          <p:cNvSpPr/>
          <p:nvPr/>
        </p:nvSpPr>
        <p:spPr>
          <a:xfrm>
            <a:off x="539552" y="1653252"/>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sp>
        <p:nvSpPr>
          <p:cNvPr id="15" name="12 CuadroTexto"/>
          <p:cNvSpPr txBox="1"/>
          <p:nvPr/>
        </p:nvSpPr>
        <p:spPr>
          <a:xfrm>
            <a:off x="5409482" y="5657254"/>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smtClean="0">
                <a:solidFill>
                  <a:schemeClr val="bg1">
                    <a:lumMod val="50000"/>
                  </a:schemeClr>
                </a:solidFill>
                <a:latin typeface="+mj-lt"/>
              </a:rPr>
              <a:t>6.</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0248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2200" b="1" dirty="0">
                <a:solidFill>
                  <a:srgbClr val="FF0000"/>
                </a:solidFill>
              </a:rPr>
              <a:t>El Operador de Módulo</a:t>
            </a:r>
          </a:p>
          <a:p>
            <a:pPr lvl="1"/>
            <a:r>
              <a:rPr lang="es-419" sz="1800" dirty="0"/>
              <a:t>Expresiones Aritméticas </a:t>
            </a:r>
            <a:r>
              <a:rPr lang="es-419" sz="1800" dirty="0" smtClean="0"/>
              <a:t>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spTree>
    <p:extLst>
      <p:ext uri="{BB962C8B-B14F-4D97-AF65-F5344CB8AC3E}">
        <p14:creationId xmlns:p14="http://schemas.microsoft.com/office/powerpoint/2010/main" val="2798122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9512" y="2132856"/>
            <a:ext cx="4298532" cy="3725685"/>
          </a:xfrm>
        </p:spPr>
        <p:txBody>
          <a:bodyPr>
            <a:normAutofit fontScale="77500" lnSpcReduction="20000"/>
          </a:bodyPr>
          <a:lstStyle/>
          <a:p>
            <a:r>
              <a:rPr lang="es-419" dirty="0"/>
              <a:t>El lenguaje C/C++ maneja un operador especial que es el de módulo, que retorna el resto de una división entera. Por ejemplo, al dividir la fracción 7 / 2, el resto de la división es 1; al dividir la fracción 7 / 13, el resto de la división es 7; y al dividir la fracción 23 / 8, el resto de esta división es 7 que a su vez es el numerador de la fracción 7 / 8 que forma parte de la fracción impropia 27 8 , como se muestra a continuación: </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sp>
        <p:nvSpPr>
          <p:cNvPr id="9" name="12 CuadroTexto"/>
          <p:cNvSpPr txBox="1"/>
          <p:nvPr/>
        </p:nvSpPr>
        <p:spPr>
          <a:xfrm>
            <a:off x="4914229" y="4692301"/>
            <a:ext cx="3744416" cy="461665"/>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Figura 7</a:t>
            </a:r>
            <a:r>
              <a:rPr lang="es-ES" sz="1200" b="1" dirty="0" smtClean="0">
                <a:solidFill>
                  <a:schemeClr val="tx1">
                    <a:lumMod val="50000"/>
                    <a:lumOff val="50000"/>
                  </a:schemeClr>
                </a:solidFill>
                <a:latin typeface="+mj-lt"/>
              </a:rPr>
              <a:t>.</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Pantalla de Presentación de la Herramienta de Desarrollo Visual Studio.</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419" sz="2800" dirty="0"/>
              <a:t>Lenguaje C/C++. Problemas, Casos y Proyectos</a:t>
            </a:r>
            <a:endParaRPr lang="en-US" sz="2800" dirty="0"/>
          </a:p>
        </p:txBody>
      </p:sp>
      <p:pic>
        <p:nvPicPr>
          <p:cNvPr id="8" name="Imagen 7"/>
          <p:cNvPicPr>
            <a:picLocks noChangeAspect="1"/>
          </p:cNvPicPr>
          <p:nvPr/>
        </p:nvPicPr>
        <p:blipFill>
          <a:blip r:embed="rId2"/>
          <a:stretch>
            <a:fillRect/>
          </a:stretch>
        </p:blipFill>
        <p:spPr>
          <a:xfrm>
            <a:off x="5220072" y="2973849"/>
            <a:ext cx="2962275" cy="447675"/>
          </a:xfrm>
          <a:prstGeom prst="rect">
            <a:avLst/>
          </a:prstGeom>
        </p:spPr>
      </p:pic>
      <p:pic>
        <p:nvPicPr>
          <p:cNvPr id="10" name="Imagen 9"/>
          <p:cNvPicPr>
            <a:picLocks noChangeAspect="1"/>
          </p:cNvPicPr>
          <p:nvPr/>
        </p:nvPicPr>
        <p:blipFill>
          <a:blip r:embed="rId3"/>
          <a:stretch>
            <a:fillRect/>
          </a:stretch>
        </p:blipFill>
        <p:spPr>
          <a:xfrm>
            <a:off x="5653734" y="3705196"/>
            <a:ext cx="2207624" cy="587900"/>
          </a:xfrm>
          <a:prstGeom prst="rect">
            <a:avLst/>
          </a:prstGeom>
        </p:spPr>
      </p:pic>
    </p:spTree>
    <p:extLst>
      <p:ext uri="{BB962C8B-B14F-4D97-AF65-F5344CB8AC3E}">
        <p14:creationId xmlns:p14="http://schemas.microsoft.com/office/powerpoint/2010/main" val="490258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2200" b="1" dirty="0">
                <a:solidFill>
                  <a:srgbClr val="FF0000"/>
                </a:solidFill>
              </a:rPr>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Tree>
    <p:extLst>
      <p:ext uri="{BB962C8B-B14F-4D97-AF65-F5344CB8AC3E}">
        <p14:creationId xmlns:p14="http://schemas.microsoft.com/office/powerpoint/2010/main" val="4021643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1900" dirty="0"/>
              <a:t>El lenguaje C/C++ define las siguientes expresiones aritméticas compuestas que utilizan un operador aritmético y el operador de asignación junto a dos </a:t>
            </a:r>
            <a:r>
              <a:rPr lang="es-419" sz="1900" dirty="0" err="1"/>
              <a:t>operandos</a:t>
            </a:r>
            <a:r>
              <a:rPr lang="es-419" sz="1900" dirty="0"/>
              <a:t> (Davies, P., 1995). La Tabla 1.3 resume lo expuesto: </a:t>
            </a:r>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
        <p:nvSpPr>
          <p:cNvPr id="9" name="12 CuadroTexto"/>
          <p:cNvSpPr txBox="1"/>
          <p:nvPr/>
        </p:nvSpPr>
        <p:spPr>
          <a:xfrm>
            <a:off x="4926696" y="4509120"/>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Tabla 1.</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Expresiones Aritméticas Compuestas.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4283968" y="2420888"/>
            <a:ext cx="4713806" cy="1887003"/>
          </a:xfrm>
          <a:prstGeom prst="rect">
            <a:avLst/>
          </a:prstGeom>
        </p:spPr>
      </p:pic>
    </p:spTree>
    <p:extLst>
      <p:ext uri="{BB962C8B-B14F-4D97-AF65-F5344CB8AC3E}">
        <p14:creationId xmlns:p14="http://schemas.microsoft.com/office/powerpoint/2010/main" val="3362973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2200" b="1" dirty="0">
                <a:solidFill>
                  <a:srgbClr val="FF0000"/>
                </a:solidFill>
              </a:rPr>
              <a:t>Problema 1.16. (Aplicación de las expresiones aritméticas compuestas utilizando </a:t>
            </a:r>
            <a:r>
              <a:rPr lang="es-419" sz="2200" b="1" dirty="0" err="1">
                <a:solidFill>
                  <a:srgbClr val="FF0000"/>
                </a:solidFill>
              </a:rPr>
              <a:t>cout</a:t>
            </a:r>
            <a:r>
              <a:rPr lang="es-419" sz="2200" b="1" dirty="0">
                <a:solidFill>
                  <a:srgbClr val="FF0000"/>
                </a:solidFill>
              </a:rPr>
              <a:t> y </a:t>
            </a:r>
            <a:r>
              <a:rPr lang="es-419" sz="2200" b="1" dirty="0" err="1">
                <a:solidFill>
                  <a:srgbClr val="FF0000"/>
                </a:solidFill>
              </a:rPr>
              <a:t>cin</a:t>
            </a:r>
            <a:r>
              <a:rPr lang="es-419" sz="2200" b="1" dirty="0">
                <a:solidFill>
                  <a:srgbClr val="FF0000"/>
                </a:solidFill>
              </a:rPr>
              <a:t>) </a:t>
            </a:r>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spTree>
    <p:extLst>
      <p:ext uri="{BB962C8B-B14F-4D97-AF65-F5344CB8AC3E}">
        <p14:creationId xmlns:p14="http://schemas.microsoft.com/office/powerpoint/2010/main" val="3252829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1900" dirty="0"/>
              <a:t>Escribir un programa que permita probar el uso de las cinco expresiones aritméticas compuestas, con dos números enteros leídos desde el teclado, utilizando las funciones ‘</a:t>
            </a:r>
            <a:r>
              <a:rPr lang="es-419" sz="1900" dirty="0" err="1"/>
              <a:t>printf</a:t>
            </a:r>
            <a:r>
              <a:rPr lang="es-419" sz="1900" dirty="0"/>
              <a:t>’ y ‘</a:t>
            </a:r>
            <a:r>
              <a:rPr lang="es-419" sz="1900" dirty="0" err="1"/>
              <a:t>scanf</a:t>
            </a:r>
            <a:r>
              <a:rPr lang="es-419" sz="1900" dirty="0"/>
              <a:t>’. </a:t>
            </a:r>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
        <p:nvSpPr>
          <p:cNvPr id="9" name="12 CuadroTexto"/>
          <p:cNvSpPr txBox="1"/>
          <p:nvPr/>
        </p:nvSpPr>
        <p:spPr>
          <a:xfrm>
            <a:off x="4942384" y="6091670"/>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8.</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pic>
        <p:nvPicPr>
          <p:cNvPr id="4" name="Imagen 3"/>
          <p:cNvPicPr>
            <a:picLocks noChangeAspect="1"/>
          </p:cNvPicPr>
          <p:nvPr/>
        </p:nvPicPr>
        <p:blipFill>
          <a:blip r:embed="rId2"/>
          <a:stretch>
            <a:fillRect/>
          </a:stretch>
        </p:blipFill>
        <p:spPr>
          <a:xfrm>
            <a:off x="4712547" y="1052736"/>
            <a:ext cx="4337668" cy="560905"/>
          </a:xfrm>
          <a:prstGeom prst="rect">
            <a:avLst/>
          </a:prstGeom>
        </p:spPr>
      </p:pic>
      <p:pic>
        <p:nvPicPr>
          <p:cNvPr id="7" name="Imagen 6"/>
          <p:cNvPicPr>
            <a:picLocks noChangeAspect="1"/>
          </p:cNvPicPr>
          <p:nvPr/>
        </p:nvPicPr>
        <p:blipFill>
          <a:blip r:embed="rId3"/>
          <a:stretch>
            <a:fillRect/>
          </a:stretch>
        </p:blipFill>
        <p:spPr>
          <a:xfrm>
            <a:off x="5175451" y="1653752"/>
            <a:ext cx="3273871" cy="4414593"/>
          </a:xfrm>
          <a:prstGeom prst="rect">
            <a:avLst/>
          </a:prstGeom>
        </p:spPr>
      </p:pic>
      <p:sp>
        <p:nvSpPr>
          <p:cNvPr id="10" name="Rectángulo 9"/>
          <p:cNvSpPr/>
          <p:nvPr/>
        </p:nvSpPr>
        <p:spPr>
          <a:xfrm>
            <a:off x="600677" y="1613641"/>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pic>
        <p:nvPicPr>
          <p:cNvPr id="2" name="Imagen 1"/>
          <p:cNvPicPr>
            <a:picLocks noChangeAspect="1"/>
          </p:cNvPicPr>
          <p:nvPr/>
        </p:nvPicPr>
        <p:blipFill>
          <a:blip r:embed="rId4"/>
          <a:stretch>
            <a:fillRect/>
          </a:stretch>
        </p:blipFill>
        <p:spPr>
          <a:xfrm>
            <a:off x="384653" y="4332189"/>
            <a:ext cx="4187347" cy="1376158"/>
          </a:xfrm>
          <a:prstGeom prst="rect">
            <a:avLst/>
          </a:prstGeom>
        </p:spPr>
      </p:pic>
      <p:sp>
        <p:nvSpPr>
          <p:cNvPr id="11" name="12 CuadroTexto"/>
          <p:cNvSpPr txBox="1"/>
          <p:nvPr/>
        </p:nvSpPr>
        <p:spPr>
          <a:xfrm>
            <a:off x="600677" y="5784206"/>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9.</a:t>
            </a:r>
            <a:r>
              <a:rPr lang="es-ES" sz="1200" dirty="0">
                <a:solidFill>
                  <a:schemeClr val="tx1">
                    <a:lumMod val="50000"/>
                    <a:lumOff val="50000"/>
                  </a:schemeClr>
                </a:solidFill>
                <a:latin typeface="+mj-lt"/>
              </a:rPr>
              <a:t> Salida del programa.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806809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2200" b="1" dirty="0">
                <a:solidFill>
                  <a:srgbClr val="FF0000"/>
                </a:solidFill>
              </a:rPr>
              <a:t>Problema 1.17. (Aplicación de las expresiones aritméticas compuestas utilizando </a:t>
            </a:r>
            <a:r>
              <a:rPr lang="es-419" sz="2200" b="1" dirty="0" err="1">
                <a:solidFill>
                  <a:srgbClr val="FF0000"/>
                </a:solidFill>
              </a:rPr>
              <a:t>printf</a:t>
            </a:r>
            <a:r>
              <a:rPr lang="es-419" sz="2200" b="1" dirty="0">
                <a:solidFill>
                  <a:srgbClr val="FF0000"/>
                </a:solidFill>
              </a:rPr>
              <a:t> y </a:t>
            </a:r>
            <a:r>
              <a:rPr lang="es-419" sz="2200" b="1" dirty="0" err="1">
                <a:solidFill>
                  <a:srgbClr val="FF0000"/>
                </a:solidFill>
              </a:rPr>
              <a:t>scanf</a:t>
            </a:r>
            <a:r>
              <a:rPr lang="es-419" sz="2200" b="1" dirty="0">
                <a:solidFill>
                  <a:srgbClr val="FF0000"/>
                </a:solidFill>
              </a:rPr>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spTree>
    <p:extLst>
      <p:ext uri="{BB962C8B-B14F-4D97-AF65-F5344CB8AC3E}">
        <p14:creationId xmlns:p14="http://schemas.microsoft.com/office/powerpoint/2010/main" val="3145252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2000" dirty="0"/>
              <a:t>Escribir un programa que permita probar el uso de las cinco expresiones aritméticas compuestas, con dos números enteros leídos desde el teclado, utilizando las funciones ‘</a:t>
            </a:r>
            <a:r>
              <a:rPr lang="es-419" sz="2000" dirty="0" err="1"/>
              <a:t>cout</a:t>
            </a:r>
            <a:r>
              <a:rPr lang="es-419" sz="2000" dirty="0"/>
              <a:t>’ y ‘</a:t>
            </a:r>
            <a:r>
              <a:rPr lang="es-419" sz="2000" dirty="0" err="1"/>
              <a:t>cin</a:t>
            </a:r>
            <a:r>
              <a:rPr lang="es-419" sz="2000" dirty="0"/>
              <a:t>’. </a:t>
            </a:r>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
        <p:nvSpPr>
          <p:cNvPr id="9" name="12 CuadroTexto"/>
          <p:cNvSpPr txBox="1"/>
          <p:nvPr/>
        </p:nvSpPr>
        <p:spPr>
          <a:xfrm>
            <a:off x="4902660" y="6120093"/>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10.</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sp>
        <p:nvSpPr>
          <p:cNvPr id="10" name="Rectángulo 9"/>
          <p:cNvSpPr/>
          <p:nvPr/>
        </p:nvSpPr>
        <p:spPr>
          <a:xfrm>
            <a:off x="600677" y="1613641"/>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pic>
        <p:nvPicPr>
          <p:cNvPr id="8" name="Imagen 7"/>
          <p:cNvPicPr>
            <a:picLocks noChangeAspect="1"/>
          </p:cNvPicPr>
          <p:nvPr/>
        </p:nvPicPr>
        <p:blipFill>
          <a:blip r:embed="rId2"/>
          <a:stretch>
            <a:fillRect/>
          </a:stretch>
        </p:blipFill>
        <p:spPr>
          <a:xfrm>
            <a:off x="4726854" y="1052736"/>
            <a:ext cx="3816424" cy="4204647"/>
          </a:xfrm>
          <a:prstGeom prst="rect">
            <a:avLst/>
          </a:prstGeom>
        </p:spPr>
      </p:pic>
      <p:pic>
        <p:nvPicPr>
          <p:cNvPr id="11" name="Imagen 10"/>
          <p:cNvPicPr>
            <a:picLocks noChangeAspect="1"/>
          </p:cNvPicPr>
          <p:nvPr/>
        </p:nvPicPr>
        <p:blipFill>
          <a:blip r:embed="rId3"/>
          <a:stretch>
            <a:fillRect/>
          </a:stretch>
        </p:blipFill>
        <p:spPr>
          <a:xfrm>
            <a:off x="4926251" y="5188218"/>
            <a:ext cx="3430685" cy="972617"/>
          </a:xfrm>
          <a:prstGeom prst="rect">
            <a:avLst/>
          </a:prstGeom>
        </p:spPr>
      </p:pic>
      <p:pic>
        <p:nvPicPr>
          <p:cNvPr id="13" name="Imagen 12"/>
          <p:cNvPicPr>
            <a:picLocks noChangeAspect="1"/>
          </p:cNvPicPr>
          <p:nvPr/>
        </p:nvPicPr>
        <p:blipFill>
          <a:blip r:embed="rId4"/>
          <a:stretch>
            <a:fillRect/>
          </a:stretch>
        </p:blipFill>
        <p:spPr>
          <a:xfrm>
            <a:off x="388796" y="4653136"/>
            <a:ext cx="4238360" cy="1361009"/>
          </a:xfrm>
          <a:prstGeom prst="rect">
            <a:avLst/>
          </a:prstGeom>
        </p:spPr>
      </p:pic>
      <p:sp>
        <p:nvSpPr>
          <p:cNvPr id="14" name="Rectángulo 13"/>
          <p:cNvSpPr/>
          <p:nvPr/>
        </p:nvSpPr>
        <p:spPr>
          <a:xfrm>
            <a:off x="1434022" y="5976169"/>
            <a:ext cx="2486578" cy="276999"/>
          </a:xfrm>
          <a:prstGeom prst="rect">
            <a:avLst/>
          </a:prstGeom>
        </p:spPr>
        <p:txBody>
          <a:bodyPr wrap="none">
            <a:spAutoFit/>
          </a:bodyPr>
          <a:lstStyle/>
          <a:p>
            <a:pPr algn="ctr"/>
            <a:r>
              <a:rPr lang="es-ES" sz="1200" b="1" dirty="0">
                <a:solidFill>
                  <a:schemeClr val="tx1">
                    <a:lumMod val="50000"/>
                    <a:lumOff val="50000"/>
                  </a:schemeClr>
                </a:solidFill>
              </a:rPr>
              <a:t>Figura </a:t>
            </a:r>
            <a:r>
              <a:rPr lang="es-ES" sz="1200" b="1" dirty="0" smtClean="0">
                <a:solidFill>
                  <a:schemeClr val="tx1">
                    <a:lumMod val="50000"/>
                    <a:lumOff val="50000"/>
                  </a:schemeClr>
                </a:solidFill>
              </a:rPr>
              <a:t>11.</a:t>
            </a:r>
            <a:r>
              <a:rPr lang="es-ES" sz="1200" dirty="0" smtClean="0">
                <a:solidFill>
                  <a:schemeClr val="tx1">
                    <a:lumMod val="50000"/>
                    <a:lumOff val="50000"/>
                  </a:schemeClr>
                </a:solidFill>
              </a:rPr>
              <a:t> </a:t>
            </a:r>
            <a:r>
              <a:rPr lang="es-ES" sz="1200" dirty="0">
                <a:solidFill>
                  <a:schemeClr val="tx1">
                    <a:lumMod val="50000"/>
                    <a:lumOff val="50000"/>
                  </a:schemeClr>
                </a:solidFill>
              </a:rPr>
              <a:t>Código del programa.  </a:t>
            </a:r>
            <a:endParaRPr lang="es-EC" sz="1200" dirty="0">
              <a:solidFill>
                <a:schemeClr val="tx1">
                  <a:lumMod val="50000"/>
                  <a:lumOff val="50000"/>
                </a:schemeClr>
              </a:solidFill>
            </a:endParaRPr>
          </a:p>
        </p:txBody>
      </p:sp>
    </p:spTree>
    <p:extLst>
      <p:ext uri="{BB962C8B-B14F-4D97-AF65-F5344CB8AC3E}">
        <p14:creationId xmlns:p14="http://schemas.microsoft.com/office/powerpoint/2010/main" val="3187399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2200" b="1" dirty="0">
                <a:solidFill>
                  <a:srgbClr val="FF0000"/>
                </a:solidFill>
              </a:rPr>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Tree>
    <p:extLst>
      <p:ext uri="{BB962C8B-B14F-4D97-AF65-F5344CB8AC3E}">
        <p14:creationId xmlns:p14="http://schemas.microsoft.com/office/powerpoint/2010/main" val="3364884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9512" y="1772816"/>
            <a:ext cx="4298532" cy="3725685"/>
          </a:xfrm>
        </p:spPr>
        <p:txBody>
          <a:bodyPr>
            <a:normAutofit/>
          </a:bodyPr>
          <a:lstStyle/>
          <a:p>
            <a:r>
              <a:rPr lang="es-419" sz="1900" dirty="0"/>
              <a:t>Un operador unario es una operación que actúa sobre una variable u operando (Davies, P., </a:t>
            </a:r>
            <a:r>
              <a:rPr lang="es-419" sz="1900" dirty="0" smtClean="0"/>
              <a:t>1995</a:t>
            </a:r>
            <a:r>
              <a:rPr lang="es-419" sz="1900" dirty="0"/>
              <a:t>). La Tabla 1.4 resume los tres operadores unarios que maneja el C/C</a:t>
            </a:r>
            <a:r>
              <a:rPr lang="es-419" sz="1900" dirty="0" smtClean="0"/>
              <a:t>++.</a:t>
            </a:r>
          </a:p>
          <a:p>
            <a:r>
              <a:rPr lang="es-419" sz="1900" dirty="0" err="1"/>
              <a:t>Tip</a:t>
            </a:r>
            <a:r>
              <a:rPr lang="es-419" sz="1900" dirty="0"/>
              <a:t> de Programación: El operador de incremento ++ utilizado en notación postfija del ejemplo anterior es equivalente a: 𝑥 = 𝑥 +1; mientras que el operad </a:t>
            </a:r>
            <a:endParaRPr lang="es-ES" sz="19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
        <p:nvSpPr>
          <p:cNvPr id="9" name="12 CuadroTexto"/>
          <p:cNvSpPr txBox="1"/>
          <p:nvPr/>
        </p:nvSpPr>
        <p:spPr>
          <a:xfrm>
            <a:off x="5079849" y="4260371"/>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Tabla 2.</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Operadores Unarios.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4478044" y="2780928"/>
            <a:ext cx="4568752" cy="1364787"/>
          </a:xfrm>
          <a:prstGeom prst="rect">
            <a:avLst/>
          </a:prstGeom>
        </p:spPr>
      </p:pic>
    </p:spTree>
    <p:extLst>
      <p:ext uri="{BB962C8B-B14F-4D97-AF65-F5344CB8AC3E}">
        <p14:creationId xmlns:p14="http://schemas.microsoft.com/office/powerpoint/2010/main" val="1020949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95559" y="1196752"/>
            <a:ext cx="8363766" cy="3725685"/>
          </a:xfrm>
        </p:spPr>
        <p:txBody>
          <a:bodyPr>
            <a:noAutofit/>
          </a:bodyPr>
          <a:lstStyle/>
          <a:p>
            <a:r>
              <a:rPr lang="es-419" sz="1600" dirty="0"/>
              <a:t>En este curso de programación se recomienda el uso de los operadores ++ y -- en </a:t>
            </a:r>
            <a:r>
              <a:rPr lang="es-419" sz="1600" dirty="0" smtClean="0"/>
              <a:t>notación. Postfija, </a:t>
            </a:r>
            <a:r>
              <a:rPr lang="es-419" sz="1600" dirty="0"/>
              <a:t>debido a la complejidad de comprensión que implica la notación prefija.  </a:t>
            </a:r>
          </a:p>
          <a:p>
            <a:r>
              <a:rPr lang="es-419" sz="1600" dirty="0"/>
              <a:t>Observe que los operadores de incremento y decremento pueden tener una notación prefija y </a:t>
            </a:r>
            <a:r>
              <a:rPr lang="es-419" sz="1600" dirty="0" smtClean="0"/>
              <a:t>postfija</a:t>
            </a:r>
            <a:r>
              <a:rPr lang="es-419" sz="1600" dirty="0"/>
              <a:t>, que aparentemente da lo mismo utilizar, pero no es así. La técnica que diferencia el uso </a:t>
            </a:r>
            <a:r>
              <a:rPr lang="es-419" sz="1600" dirty="0" smtClean="0"/>
              <a:t>de </a:t>
            </a:r>
            <a:r>
              <a:rPr lang="es-419" sz="1600" dirty="0"/>
              <a:t>esta notación en expresiones simples y complejas es la siguiente: </a:t>
            </a:r>
            <a:endParaRPr lang="es-419" sz="1600" dirty="0" smtClean="0"/>
          </a:p>
          <a:p>
            <a:endParaRPr lang="es-ES" sz="1600" dirty="0"/>
          </a:p>
          <a:p>
            <a:r>
              <a:rPr lang="es-419" sz="1600" dirty="0"/>
              <a:t>1. a++; significa que primero se utiliza el valor de la variable y luego se incrementa el valor de la variable en uno. </a:t>
            </a:r>
            <a:endParaRPr lang="es-419" sz="1600" dirty="0" smtClean="0"/>
          </a:p>
          <a:p>
            <a:endParaRPr lang="es-419" sz="1600" dirty="0" smtClean="0"/>
          </a:p>
          <a:p>
            <a:r>
              <a:rPr lang="es-419" sz="1600" dirty="0" smtClean="0"/>
              <a:t>2</a:t>
            </a:r>
            <a:r>
              <a:rPr lang="es-419" sz="1600" dirty="0"/>
              <a:t>. ++a; significa que primero se incrementa el valor de la variable en uno y luego se utiliza el valor de la variable</a:t>
            </a:r>
            <a:r>
              <a:rPr lang="es-419" sz="1600" dirty="0" smtClean="0"/>
              <a:t>.</a:t>
            </a:r>
          </a:p>
          <a:p>
            <a:endParaRPr lang="es-419" sz="1600" dirty="0" smtClean="0"/>
          </a:p>
          <a:p>
            <a:r>
              <a:rPr lang="es-419" sz="1600" dirty="0"/>
              <a:t>3. a--; significa que primero se utiliza el valor de la variable y luego se </a:t>
            </a:r>
            <a:r>
              <a:rPr lang="es-419" sz="1600" dirty="0" smtClean="0"/>
              <a:t>decremento </a:t>
            </a:r>
            <a:r>
              <a:rPr lang="es-419" sz="1600" dirty="0"/>
              <a:t>el valor de la variable en uno. </a:t>
            </a:r>
            <a:endParaRPr lang="es-419" sz="1600" dirty="0" smtClean="0"/>
          </a:p>
          <a:p>
            <a:endParaRPr lang="es-419" sz="1600" dirty="0" smtClean="0"/>
          </a:p>
          <a:p>
            <a:r>
              <a:rPr lang="es-419" sz="1600" dirty="0" smtClean="0"/>
              <a:t>4</a:t>
            </a:r>
            <a:r>
              <a:rPr lang="es-419" sz="1600" dirty="0"/>
              <a:t>. --a; significa que primero se </a:t>
            </a:r>
            <a:r>
              <a:rPr lang="es-419" sz="1600" dirty="0" smtClean="0"/>
              <a:t>decremento </a:t>
            </a:r>
            <a:r>
              <a:rPr lang="es-419" sz="1600" dirty="0"/>
              <a:t>el valor de la variable en uno y luego se utiliza el valor de la variable. </a:t>
            </a:r>
            <a:endParaRPr lang="es-ES" sz="14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9945" y="-331481"/>
            <a:ext cx="8229600" cy="1340768"/>
          </a:xfrm>
        </p:spPr>
        <p:txBody>
          <a:bodyPr/>
          <a:lstStyle/>
          <a:p>
            <a:pPr>
              <a:lnSpc>
                <a:spcPts val="4000"/>
              </a:lnSpc>
            </a:pPr>
            <a:r>
              <a:rPr lang="es-419" sz="2800" dirty="0"/>
              <a:t>Lenguaje C/C++. Problemas, Casos y Proyectos</a:t>
            </a:r>
            <a:endParaRPr lang="en-US" sz="2800" dirty="0"/>
          </a:p>
        </p:txBody>
      </p:sp>
    </p:spTree>
    <p:extLst>
      <p:ext uri="{BB962C8B-B14F-4D97-AF65-F5344CB8AC3E}">
        <p14:creationId xmlns:p14="http://schemas.microsoft.com/office/powerpoint/2010/main" val="2399486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2200" b="1" dirty="0">
                <a:solidFill>
                  <a:srgbClr val="FF0000"/>
                </a:solidFill>
              </a:rPr>
              <a:t>Problema 1.18. (Aplicación de los operadores aritméticos unarios utilizando </a:t>
            </a:r>
            <a:r>
              <a:rPr lang="es-419" sz="2200" b="1" dirty="0" err="1">
                <a:solidFill>
                  <a:srgbClr val="FF0000"/>
                </a:solidFill>
              </a:rPr>
              <a:t>cout</a:t>
            </a:r>
            <a:r>
              <a:rPr lang="es-419" sz="2200" b="1" dirty="0">
                <a:solidFill>
                  <a:srgbClr val="FF0000"/>
                </a:solidFill>
              </a:rPr>
              <a:t> y </a:t>
            </a:r>
            <a:r>
              <a:rPr lang="es-419" sz="2200" b="1" dirty="0" err="1">
                <a:solidFill>
                  <a:srgbClr val="FF0000"/>
                </a:solidFill>
              </a:rPr>
              <a:t>cin</a:t>
            </a:r>
            <a:r>
              <a:rPr lang="es-419" sz="2200" b="1" dirty="0">
                <a:solidFill>
                  <a:srgbClr val="FF0000"/>
                </a:solidFill>
              </a:rPr>
              <a:t>) </a:t>
            </a:r>
          </a:p>
          <a:p>
            <a:pPr lvl="1"/>
            <a:r>
              <a:rPr lang="es-419" sz="1800" dirty="0"/>
              <a:t>Prueba de Escritorio </a:t>
            </a:r>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Tree>
    <p:extLst>
      <p:ext uri="{BB962C8B-B14F-4D97-AF65-F5344CB8AC3E}">
        <p14:creationId xmlns:p14="http://schemas.microsoft.com/office/powerpoint/2010/main" val="4149111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1900" dirty="0" smtClean="0"/>
              <a:t>Escribir un programa que permita probar el uso de los operadores aritméticos unarios en expresiones matemáticas simples, utilizando las funciones ‘</a:t>
            </a:r>
            <a:r>
              <a:rPr lang="es-419" sz="1900" dirty="0" err="1" smtClean="0"/>
              <a:t>cout</a:t>
            </a:r>
            <a:r>
              <a:rPr lang="es-419" sz="1900" dirty="0" smtClean="0"/>
              <a:t>’ y ‘</a:t>
            </a:r>
            <a:r>
              <a:rPr lang="es-419" sz="1900" dirty="0" err="1" smtClean="0"/>
              <a:t>cin</a:t>
            </a:r>
            <a:r>
              <a:rPr lang="es-419" sz="1900" dirty="0" smtClean="0"/>
              <a:t>’. </a:t>
            </a:r>
          </a:p>
          <a:p>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sp>
        <p:nvSpPr>
          <p:cNvPr id="9" name="12 CuadroTexto"/>
          <p:cNvSpPr txBox="1"/>
          <p:nvPr/>
        </p:nvSpPr>
        <p:spPr>
          <a:xfrm>
            <a:off x="5148064" y="6070070"/>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12.</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sp>
        <p:nvSpPr>
          <p:cNvPr id="10" name="Rectángulo 9"/>
          <p:cNvSpPr/>
          <p:nvPr/>
        </p:nvSpPr>
        <p:spPr>
          <a:xfrm>
            <a:off x="600677" y="1613641"/>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pic>
        <p:nvPicPr>
          <p:cNvPr id="2" name="Imagen 1"/>
          <p:cNvPicPr>
            <a:picLocks noChangeAspect="1"/>
          </p:cNvPicPr>
          <p:nvPr/>
        </p:nvPicPr>
        <p:blipFill>
          <a:blip r:embed="rId2"/>
          <a:stretch>
            <a:fillRect/>
          </a:stretch>
        </p:blipFill>
        <p:spPr>
          <a:xfrm>
            <a:off x="5065583" y="1139744"/>
            <a:ext cx="3747558" cy="4874401"/>
          </a:xfrm>
          <a:prstGeom prst="rect">
            <a:avLst/>
          </a:prstGeom>
        </p:spPr>
      </p:pic>
      <p:pic>
        <p:nvPicPr>
          <p:cNvPr id="4" name="Imagen 3"/>
          <p:cNvPicPr>
            <a:picLocks noChangeAspect="1"/>
          </p:cNvPicPr>
          <p:nvPr/>
        </p:nvPicPr>
        <p:blipFill>
          <a:blip r:embed="rId3"/>
          <a:stretch>
            <a:fillRect/>
          </a:stretch>
        </p:blipFill>
        <p:spPr>
          <a:xfrm>
            <a:off x="484336" y="4371051"/>
            <a:ext cx="4043331" cy="1817710"/>
          </a:xfrm>
          <a:prstGeom prst="rect">
            <a:avLst/>
          </a:prstGeom>
        </p:spPr>
      </p:pic>
      <p:sp>
        <p:nvSpPr>
          <p:cNvPr id="7" name="Rectángulo 6"/>
          <p:cNvSpPr/>
          <p:nvPr/>
        </p:nvSpPr>
        <p:spPr>
          <a:xfrm>
            <a:off x="1303589" y="6188761"/>
            <a:ext cx="2404826" cy="276999"/>
          </a:xfrm>
          <a:prstGeom prst="rect">
            <a:avLst/>
          </a:prstGeom>
        </p:spPr>
        <p:txBody>
          <a:bodyPr wrap="none">
            <a:spAutoFit/>
          </a:bodyPr>
          <a:lstStyle/>
          <a:p>
            <a:pPr algn="ctr"/>
            <a:r>
              <a:rPr lang="es-ES" sz="1200" b="1" dirty="0">
                <a:solidFill>
                  <a:schemeClr val="tx1">
                    <a:lumMod val="50000"/>
                    <a:lumOff val="50000"/>
                  </a:schemeClr>
                </a:solidFill>
              </a:rPr>
              <a:t>Figura </a:t>
            </a:r>
            <a:r>
              <a:rPr lang="es-ES" sz="1200" b="1" dirty="0" smtClean="0">
                <a:solidFill>
                  <a:schemeClr val="tx1">
                    <a:lumMod val="50000"/>
                    <a:lumOff val="50000"/>
                  </a:schemeClr>
                </a:solidFill>
              </a:rPr>
              <a:t>13.</a:t>
            </a:r>
            <a:r>
              <a:rPr lang="es-ES" sz="1200" dirty="0" smtClean="0">
                <a:solidFill>
                  <a:schemeClr val="tx1">
                    <a:lumMod val="50000"/>
                    <a:lumOff val="50000"/>
                  </a:schemeClr>
                </a:solidFill>
              </a:rPr>
              <a:t> Salida </a:t>
            </a:r>
            <a:r>
              <a:rPr lang="es-ES" sz="1200" dirty="0">
                <a:solidFill>
                  <a:schemeClr val="tx1">
                    <a:lumMod val="50000"/>
                    <a:lumOff val="50000"/>
                  </a:schemeClr>
                </a:solidFill>
              </a:rPr>
              <a:t>del programa.  </a:t>
            </a:r>
            <a:endParaRPr lang="es-EC" sz="1200" dirty="0">
              <a:solidFill>
                <a:schemeClr val="tx1">
                  <a:lumMod val="50000"/>
                  <a:lumOff val="50000"/>
                </a:schemeClr>
              </a:solidFill>
            </a:endParaRPr>
          </a:p>
        </p:txBody>
      </p:sp>
    </p:spTree>
    <p:extLst>
      <p:ext uri="{BB962C8B-B14F-4D97-AF65-F5344CB8AC3E}">
        <p14:creationId xmlns:p14="http://schemas.microsoft.com/office/powerpoint/2010/main" val="32131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a:p>
        </p:txBody>
      </p:sp>
      <p:sp>
        <p:nvSpPr>
          <p:cNvPr id="9" name="12 CuadroTexto"/>
          <p:cNvSpPr txBox="1"/>
          <p:nvPr/>
        </p:nvSpPr>
        <p:spPr>
          <a:xfrm>
            <a:off x="2195736" y="4474150"/>
            <a:ext cx="446449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12.</a:t>
            </a:r>
            <a:r>
              <a:rPr lang="es-ES" sz="1200"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Prueba de escritorio manual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sp>
        <p:nvSpPr>
          <p:cNvPr id="10" name="Rectángulo 9"/>
          <p:cNvSpPr/>
          <p:nvPr/>
        </p:nvSpPr>
        <p:spPr>
          <a:xfrm>
            <a:off x="611560" y="2031077"/>
            <a:ext cx="2547492" cy="400110"/>
          </a:xfrm>
          <a:prstGeom prst="rect">
            <a:avLst/>
          </a:prstGeom>
        </p:spPr>
        <p:txBody>
          <a:bodyPr wrap="none">
            <a:spAutoFit/>
          </a:bodyPr>
          <a:lstStyle/>
          <a:p>
            <a:r>
              <a:rPr lang="es-ES" sz="2000" b="1" dirty="0" smtClean="0">
                <a:solidFill>
                  <a:schemeClr val="bg1">
                    <a:lumMod val="50000"/>
                  </a:schemeClr>
                </a:solidFill>
              </a:rPr>
              <a:t>Prueba de Escritorio</a:t>
            </a:r>
            <a:endParaRPr lang="es-EC" sz="2400" b="1" dirty="0">
              <a:solidFill>
                <a:schemeClr val="bg1">
                  <a:lumMod val="50000"/>
                </a:schemeClr>
              </a:solidFill>
            </a:endParaRPr>
          </a:p>
        </p:txBody>
      </p:sp>
      <p:pic>
        <p:nvPicPr>
          <p:cNvPr id="8" name="Imagen 7"/>
          <p:cNvPicPr>
            <a:picLocks noChangeAspect="1"/>
          </p:cNvPicPr>
          <p:nvPr/>
        </p:nvPicPr>
        <p:blipFill>
          <a:blip r:embed="rId2"/>
          <a:stretch>
            <a:fillRect/>
          </a:stretch>
        </p:blipFill>
        <p:spPr>
          <a:xfrm>
            <a:off x="1112712" y="2685983"/>
            <a:ext cx="6918576" cy="1678684"/>
          </a:xfrm>
          <a:prstGeom prst="rect">
            <a:avLst/>
          </a:prstGeom>
        </p:spPr>
      </p:pic>
    </p:spTree>
    <p:extLst>
      <p:ext uri="{BB962C8B-B14F-4D97-AF65-F5344CB8AC3E}">
        <p14:creationId xmlns:p14="http://schemas.microsoft.com/office/powerpoint/2010/main" val="4253596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2200" b="1" dirty="0" smtClean="0">
                <a:solidFill>
                  <a:srgbClr val="FF0000"/>
                </a:solidFill>
              </a:rPr>
              <a:t>Prueba de Escritorio </a:t>
            </a:r>
          </a:p>
          <a:p>
            <a:pPr lvl="1"/>
            <a:r>
              <a:rPr lang="es-419" sz="1800" dirty="0" smtClean="0"/>
              <a:t>Problema </a:t>
            </a:r>
            <a:r>
              <a:rPr lang="es-419" sz="1800" dirty="0"/>
              <a:t>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a:p>
        </p:txBody>
      </p:sp>
    </p:spTree>
    <p:extLst>
      <p:ext uri="{BB962C8B-B14F-4D97-AF65-F5344CB8AC3E}">
        <p14:creationId xmlns:p14="http://schemas.microsoft.com/office/powerpoint/2010/main" val="2741248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251520" y="1196752"/>
            <a:ext cx="4680520" cy="3744416"/>
          </a:xfrm>
        </p:spPr>
        <p:txBody>
          <a:bodyPr>
            <a:noAutofit/>
          </a:bodyPr>
          <a:lstStyle/>
          <a:p>
            <a:r>
              <a:rPr lang="es-419" sz="1600" dirty="0"/>
              <a:t>La prueba de escritorio es una técnica que permite controlar el flujo de los datos y ver los valores que van tomando las variables de un programa en el momento de la ejecución del mismo. En la Tabla 1.18 que forma parte del Problema 1.18 se presenta una prueba de escritorio manual donde en la primera columna está cada uno de los pasos que se cumplen desde el inicio del programa hasta la finalización del mismo y en las otras columnas los valores que van tomando cada una de las variables en cada uno de los pasos del </a:t>
            </a:r>
            <a:r>
              <a:rPr lang="es-419" sz="1600" dirty="0" err="1"/>
              <a:t>programa</a:t>
            </a:r>
            <a:r>
              <a:rPr lang="es-419" sz="1600" dirty="0" err="1" smtClean="0"/>
              <a:t>Tip</a:t>
            </a:r>
            <a:r>
              <a:rPr lang="es-419" sz="1600" dirty="0" smtClean="0"/>
              <a:t> </a:t>
            </a:r>
            <a:r>
              <a:rPr lang="es-419" sz="1600" dirty="0"/>
              <a:t>de Programación: El operador de incremento ++ utilizado en notación postfija del ejemplo anterior es equivalente a: 𝑥 = 𝑥 +1; mientras que el </a:t>
            </a:r>
            <a:r>
              <a:rPr lang="es-419" sz="1600" dirty="0" smtClean="0"/>
              <a:t>operad. </a:t>
            </a: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052" name="Picture 4" descr="Qué significa C++? Este es el origen del nombre del famoso lenguaje de  programación. - Azul Scho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40279" y="2492896"/>
            <a:ext cx="3938236" cy="196911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p:nvSpPr>
        <p:spPr>
          <a:xfrm>
            <a:off x="5292080" y="4581128"/>
            <a:ext cx="3384376" cy="830997"/>
          </a:xfrm>
          <a:prstGeom prst="rect">
            <a:avLst/>
          </a:prstGeom>
        </p:spPr>
        <p:txBody>
          <a:bodyPr wrap="square">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14. </a:t>
            </a:r>
            <a:r>
              <a:rPr lang="es-ES" sz="1200" dirty="0">
                <a:solidFill>
                  <a:schemeClr val="tx1">
                    <a:lumMod val="50000"/>
                    <a:lumOff val="50000"/>
                  </a:schemeClr>
                </a:solidFill>
                <a:latin typeface="+mj-lt"/>
              </a:rPr>
              <a:t>Código del programa</a:t>
            </a:r>
            <a:r>
              <a:rPr lang="es-ES" sz="1200" dirty="0" smtClean="0">
                <a:solidFill>
                  <a:schemeClr val="tx1">
                    <a:lumMod val="50000"/>
                    <a:lumOff val="50000"/>
                  </a:schemeClr>
                </a:solidFill>
                <a:latin typeface="+mj-lt"/>
              </a:rPr>
              <a:t>.</a:t>
            </a:r>
          </a:p>
          <a:p>
            <a:pPr algn="ctr"/>
            <a:r>
              <a:rPr lang="es-ES" sz="1200" dirty="0">
                <a:solidFill>
                  <a:schemeClr val="tx1">
                    <a:lumMod val="50000"/>
                    <a:lumOff val="50000"/>
                  </a:schemeClr>
                </a:solidFill>
                <a:latin typeface="+mj-lt"/>
              </a:rPr>
              <a:t>Fuente: https://azulschool.net/que-significa-c-este-es-el-origen-del-nombre-del-famoso-lenguaje-de-programacion/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258147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7" y="1792004"/>
            <a:ext cx="3816918" cy="3725685"/>
          </a:xfrm>
        </p:spPr>
        <p:txBody>
          <a:bodyPr>
            <a:noAutofit/>
          </a:bodyPr>
          <a:lstStyle/>
          <a:p>
            <a:r>
              <a:rPr lang="es-419" sz="1900" dirty="0"/>
              <a:t>Se puede realizar también la prueba de escritorio con la computadora, para lo cual se utiliza una de las herramientas de depuración (Depurar) de Visual C++ 2021, la cual la encontramos en la barra de menús y la activamos con la tecla F10 que permite hacer una prueba de escritorio paso a paso por procedimientos, como se muestra en la Figura </a:t>
            </a:r>
            <a:r>
              <a:rPr lang="es-419" sz="1900" dirty="0" smtClean="0"/>
              <a:t>15.</a:t>
            </a:r>
            <a:endParaRPr lang="es-ES" sz="19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4283968" y="1988840"/>
            <a:ext cx="4683113" cy="3024336"/>
          </a:xfrm>
          <a:prstGeom prst="rect">
            <a:avLst/>
          </a:prstGeom>
        </p:spPr>
      </p:pic>
      <p:sp>
        <p:nvSpPr>
          <p:cNvPr id="4" name="Rectángulo 3"/>
          <p:cNvSpPr/>
          <p:nvPr/>
        </p:nvSpPr>
        <p:spPr>
          <a:xfrm>
            <a:off x="4395081" y="4984685"/>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15. </a:t>
            </a:r>
            <a:r>
              <a:rPr lang="es-419" sz="1200" dirty="0">
                <a:solidFill>
                  <a:schemeClr val="tx1">
                    <a:lumMod val="50000"/>
                    <a:lumOff val="50000"/>
                  </a:schemeClr>
                </a:solidFill>
                <a:latin typeface="+mj-lt"/>
              </a:rPr>
              <a:t>Herramienta de depuración.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97018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sp>
        <p:nvSpPr>
          <p:cNvPr id="4" name="Rectángulo 3"/>
          <p:cNvSpPr/>
          <p:nvPr/>
        </p:nvSpPr>
        <p:spPr>
          <a:xfrm>
            <a:off x="4395081" y="4984685"/>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15. </a:t>
            </a:r>
            <a:r>
              <a:rPr lang="es-419" sz="1200" dirty="0">
                <a:solidFill>
                  <a:schemeClr val="tx1">
                    <a:lumMod val="50000"/>
                    <a:lumOff val="50000"/>
                  </a:schemeClr>
                </a:solidFill>
                <a:latin typeface="+mj-lt"/>
              </a:rPr>
              <a:t>Herramienta de depuración. </a:t>
            </a:r>
            <a:endParaRPr lang="es-EC" sz="1200" dirty="0">
              <a:solidFill>
                <a:schemeClr val="tx1">
                  <a:lumMod val="50000"/>
                  <a:lumOff val="50000"/>
                </a:schemeClr>
              </a:solidFill>
              <a:latin typeface="+mj-lt"/>
            </a:endParaRPr>
          </a:p>
        </p:txBody>
      </p:sp>
      <p:pic>
        <p:nvPicPr>
          <p:cNvPr id="7" name="Imagen 6"/>
          <p:cNvPicPr>
            <a:picLocks noChangeAspect="1"/>
          </p:cNvPicPr>
          <p:nvPr/>
        </p:nvPicPr>
        <p:blipFill>
          <a:blip r:embed="rId2"/>
          <a:stretch>
            <a:fillRect/>
          </a:stretch>
        </p:blipFill>
        <p:spPr>
          <a:xfrm>
            <a:off x="4395081" y="3595942"/>
            <a:ext cx="4353383" cy="2832039"/>
          </a:xfrm>
          <a:prstGeom prst="rect">
            <a:avLst/>
          </a:prstGeom>
        </p:spPr>
      </p:pic>
      <p:sp>
        <p:nvSpPr>
          <p:cNvPr id="8" name="Marcador de contenido 7"/>
          <p:cNvSpPr>
            <a:spLocks noGrp="1"/>
          </p:cNvSpPr>
          <p:nvPr>
            <p:ph idx="1"/>
          </p:nvPr>
        </p:nvSpPr>
        <p:spPr>
          <a:xfrm>
            <a:off x="457200" y="1600201"/>
            <a:ext cx="5770984" cy="2764904"/>
          </a:xfrm>
        </p:spPr>
        <p:txBody>
          <a:bodyPr/>
          <a:lstStyle/>
          <a:p>
            <a:pPr marL="0" indent="0">
              <a:buNone/>
            </a:pPr>
            <a:endParaRPr lang="es-419" dirty="0"/>
          </a:p>
        </p:txBody>
      </p:sp>
      <p:pic>
        <p:nvPicPr>
          <p:cNvPr id="9" name="Imagen 8"/>
          <p:cNvPicPr>
            <a:picLocks noChangeAspect="1"/>
          </p:cNvPicPr>
          <p:nvPr/>
        </p:nvPicPr>
        <p:blipFill>
          <a:blip r:embed="rId3"/>
          <a:stretch>
            <a:fillRect/>
          </a:stretch>
        </p:blipFill>
        <p:spPr>
          <a:xfrm>
            <a:off x="459759" y="1103679"/>
            <a:ext cx="4410104" cy="2872061"/>
          </a:xfrm>
          <a:prstGeom prst="rect">
            <a:avLst/>
          </a:prstGeom>
        </p:spPr>
      </p:pic>
      <p:sp>
        <p:nvSpPr>
          <p:cNvPr id="10" name="Rectángulo 9"/>
          <p:cNvSpPr/>
          <p:nvPr/>
        </p:nvSpPr>
        <p:spPr>
          <a:xfrm>
            <a:off x="4869863" y="2797755"/>
            <a:ext cx="4370107" cy="276999"/>
          </a:xfrm>
          <a:prstGeom prst="rect">
            <a:avLst/>
          </a:prstGeom>
        </p:spPr>
        <p:txBody>
          <a:bodyPr wrap="none">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16. </a:t>
            </a:r>
            <a:r>
              <a:rPr lang="es-419" sz="1200" b="1" dirty="0">
                <a:solidFill>
                  <a:schemeClr val="tx1">
                    <a:lumMod val="50000"/>
                    <a:lumOff val="50000"/>
                  </a:schemeClr>
                </a:solidFill>
                <a:latin typeface="+mj-lt"/>
              </a:rPr>
              <a:t>Depuración paso a paso por procedimientos. </a:t>
            </a:r>
            <a:endParaRPr lang="es-EC" sz="1200" b="1" dirty="0">
              <a:solidFill>
                <a:schemeClr val="tx1">
                  <a:lumMod val="50000"/>
                  <a:lumOff val="50000"/>
                </a:schemeClr>
              </a:solidFill>
              <a:latin typeface="+mj-lt"/>
            </a:endParaRPr>
          </a:p>
        </p:txBody>
      </p:sp>
      <p:sp>
        <p:nvSpPr>
          <p:cNvPr id="11" name="Rectángulo 10"/>
          <p:cNvSpPr/>
          <p:nvPr/>
        </p:nvSpPr>
        <p:spPr>
          <a:xfrm>
            <a:off x="286264" y="4397895"/>
            <a:ext cx="4108817" cy="276999"/>
          </a:xfrm>
          <a:prstGeom prst="rect">
            <a:avLst/>
          </a:prstGeom>
        </p:spPr>
        <p:txBody>
          <a:bodyPr wrap="none">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17. </a:t>
            </a:r>
            <a:r>
              <a:rPr lang="es-419" sz="1200" b="1" dirty="0">
                <a:solidFill>
                  <a:schemeClr val="tx1">
                    <a:lumMod val="50000"/>
                    <a:lumOff val="50000"/>
                  </a:schemeClr>
                </a:solidFill>
                <a:latin typeface="+mj-lt"/>
              </a:rPr>
              <a:t>Prueba de escritorio con la computadora. </a:t>
            </a:r>
            <a:endParaRPr lang="es-EC" sz="1200" b="1" dirty="0">
              <a:solidFill>
                <a:schemeClr val="tx1">
                  <a:lumMod val="50000"/>
                  <a:lumOff val="50000"/>
                </a:schemeClr>
              </a:solidFill>
              <a:latin typeface="+mj-lt"/>
            </a:endParaRPr>
          </a:p>
        </p:txBody>
      </p:sp>
    </p:spTree>
    <p:extLst>
      <p:ext uri="{BB962C8B-B14F-4D97-AF65-F5344CB8AC3E}">
        <p14:creationId xmlns:p14="http://schemas.microsoft.com/office/powerpoint/2010/main" val="1218939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6" y="1792004"/>
            <a:ext cx="8059206" cy="3725685"/>
          </a:xfrm>
        </p:spPr>
        <p:txBody>
          <a:bodyPr>
            <a:noAutofit/>
          </a:bodyPr>
          <a:lstStyle/>
          <a:p>
            <a:r>
              <a:rPr lang="es-419" sz="1600" dirty="0"/>
              <a:t>La opción de depuración de paso a paso por procedimientos, permite que el compilador ejecute paso a paso el programa desde el inicio hasta el final del mismo, presionando cada vez la tecla F10 sin entrar al detalle de las funciones, como se muestra en la Figura 1.23. Existe también la opción de paso a paso por instrucciones que se activa presionando la tecla F11, la cual hace lo mismo que la opción anterior, pero entrando a ver el detalle de cada una de las funciones, lo cual servirá cuando se estudie el capítulo correspondiente a funciones. Una vez que se haya activado la opción de depuración de paso a paso por procedimientos, se puede hacer una prueba de escritorio utilizando la computadora, presionando F10 para pasar de una instrucción a otra, pero por procedimiento, donde en una ventana de depuración se puede ver los diferentes valores que van tomando las variables del programa, tal como se lo hace en la prueba de escritorio manual. La Figura </a:t>
            </a:r>
            <a:r>
              <a:rPr lang="es-419" sz="1600" dirty="0" smtClean="0"/>
              <a:t>17 </a:t>
            </a:r>
            <a:r>
              <a:rPr lang="es-419" sz="1600" dirty="0"/>
              <a:t>muestra los valores de las variables en el “Paso 6” de la prueba de escritorio con la computadora. </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spTree>
    <p:extLst>
      <p:ext uri="{BB962C8B-B14F-4D97-AF65-F5344CB8AC3E}">
        <p14:creationId xmlns:p14="http://schemas.microsoft.com/office/powerpoint/2010/main" val="809252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1800" dirty="0"/>
              <a:t>Prueba de Escritorio </a:t>
            </a:r>
          </a:p>
          <a:p>
            <a:pPr lvl="1"/>
            <a:r>
              <a:rPr lang="es-419" sz="2200" b="1" dirty="0">
                <a:solidFill>
                  <a:srgbClr val="FF0000"/>
                </a:solidFill>
              </a:rPr>
              <a:t>Problema 1.19. (Aplicación de los operadores aritméticos unarios utilizando </a:t>
            </a:r>
            <a:r>
              <a:rPr lang="es-419" sz="2200" b="1" dirty="0" err="1">
                <a:solidFill>
                  <a:srgbClr val="FF0000"/>
                </a:solidFill>
              </a:rPr>
              <a:t>printf</a:t>
            </a:r>
            <a:r>
              <a:rPr lang="es-419" sz="2200" b="1" dirty="0">
                <a:solidFill>
                  <a:srgbClr val="FF0000"/>
                </a:solidFill>
              </a:rPr>
              <a:t> y </a:t>
            </a:r>
            <a:r>
              <a:rPr lang="es-419" sz="2200" b="1" dirty="0" err="1">
                <a:solidFill>
                  <a:srgbClr val="FF0000"/>
                </a:solidFill>
              </a:rPr>
              <a:t>scanf</a:t>
            </a:r>
            <a:r>
              <a:rPr lang="es-419" sz="2200" b="1" dirty="0">
                <a:solidFill>
                  <a:srgbClr val="FF0000"/>
                </a:solidFill>
              </a:rPr>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a:p>
        </p:txBody>
      </p:sp>
    </p:spTree>
    <p:extLst>
      <p:ext uri="{BB962C8B-B14F-4D97-AF65-F5344CB8AC3E}">
        <p14:creationId xmlns:p14="http://schemas.microsoft.com/office/powerpoint/2010/main" val="3507650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7" y="1792004"/>
            <a:ext cx="3816918" cy="3725685"/>
          </a:xfrm>
        </p:spPr>
        <p:txBody>
          <a:bodyPr>
            <a:noAutofit/>
          </a:bodyPr>
          <a:lstStyle/>
          <a:p>
            <a:r>
              <a:rPr lang="es-419" sz="1900" dirty="0"/>
              <a:t>Escribir un programa que permita probar el uso de los operadores aritméticos unarios en expresiones matemáticas simples, utilizando las funciones ‘</a:t>
            </a:r>
            <a:r>
              <a:rPr lang="es-419" sz="1900" dirty="0" err="1"/>
              <a:t>printf</a:t>
            </a:r>
            <a:r>
              <a:rPr lang="es-419" sz="1900" dirty="0"/>
              <a:t>’ y ‘</a:t>
            </a:r>
            <a:r>
              <a:rPr lang="es-419" sz="1900" dirty="0" err="1"/>
              <a:t>scanf</a:t>
            </a:r>
            <a:r>
              <a:rPr lang="es-419" sz="1900" dirty="0"/>
              <a:t>’.</a:t>
            </a:r>
            <a:endParaRPr lang="es-ES" sz="19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31</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sp>
        <p:nvSpPr>
          <p:cNvPr id="4" name="Rectángulo 3"/>
          <p:cNvSpPr/>
          <p:nvPr/>
        </p:nvSpPr>
        <p:spPr>
          <a:xfrm>
            <a:off x="4161759" y="6079350"/>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18. </a:t>
            </a:r>
            <a:r>
              <a:rPr lang="es-419"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pic>
        <p:nvPicPr>
          <p:cNvPr id="7" name="Imagen 6"/>
          <p:cNvPicPr>
            <a:picLocks noChangeAspect="1"/>
          </p:cNvPicPr>
          <p:nvPr/>
        </p:nvPicPr>
        <p:blipFill>
          <a:blip r:embed="rId2"/>
          <a:stretch>
            <a:fillRect/>
          </a:stretch>
        </p:blipFill>
        <p:spPr>
          <a:xfrm>
            <a:off x="4475127" y="1101931"/>
            <a:ext cx="3776439" cy="1724311"/>
          </a:xfrm>
          <a:prstGeom prst="rect">
            <a:avLst/>
          </a:prstGeom>
        </p:spPr>
      </p:pic>
      <p:pic>
        <p:nvPicPr>
          <p:cNvPr id="8" name="Imagen 7"/>
          <p:cNvPicPr>
            <a:picLocks noChangeAspect="1"/>
          </p:cNvPicPr>
          <p:nvPr/>
        </p:nvPicPr>
        <p:blipFill>
          <a:blip r:embed="rId3"/>
          <a:stretch>
            <a:fillRect/>
          </a:stretch>
        </p:blipFill>
        <p:spPr>
          <a:xfrm>
            <a:off x="4475127" y="2826242"/>
            <a:ext cx="3945264" cy="3210629"/>
          </a:xfrm>
          <a:prstGeom prst="rect">
            <a:avLst/>
          </a:prstGeom>
        </p:spPr>
      </p:pic>
      <p:pic>
        <p:nvPicPr>
          <p:cNvPr id="9" name="Imagen 8"/>
          <p:cNvPicPr>
            <a:picLocks noChangeAspect="1"/>
          </p:cNvPicPr>
          <p:nvPr/>
        </p:nvPicPr>
        <p:blipFill>
          <a:blip r:embed="rId4"/>
          <a:stretch>
            <a:fillRect/>
          </a:stretch>
        </p:blipFill>
        <p:spPr>
          <a:xfrm>
            <a:off x="246253" y="3992190"/>
            <a:ext cx="4094828" cy="1806330"/>
          </a:xfrm>
          <a:prstGeom prst="rect">
            <a:avLst/>
          </a:prstGeom>
        </p:spPr>
      </p:pic>
      <p:sp>
        <p:nvSpPr>
          <p:cNvPr id="11" name="Rectángulo 10"/>
          <p:cNvSpPr/>
          <p:nvPr/>
        </p:nvSpPr>
        <p:spPr>
          <a:xfrm>
            <a:off x="-96873" y="5802350"/>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19. </a:t>
            </a:r>
            <a:r>
              <a:rPr lang="es-419" sz="1200" dirty="0">
                <a:solidFill>
                  <a:schemeClr val="tx1">
                    <a:lumMod val="50000"/>
                    <a:lumOff val="50000"/>
                  </a:schemeClr>
                </a:solidFill>
                <a:latin typeface="+mj-lt"/>
              </a:rPr>
              <a:t>Salida del programa.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64475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2564904"/>
            <a:ext cx="3309117" cy="3315300"/>
          </a:xfrm>
        </p:spPr>
        <p:txBody>
          <a:bodyPr>
            <a:normAutofit/>
          </a:bodyPr>
          <a:lstStyle/>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32</a:t>
            </a:fld>
            <a:endParaRPr lang="es-EC"/>
          </a:p>
        </p:txBody>
      </p:sp>
      <p:sp>
        <p:nvSpPr>
          <p:cNvPr id="9" name="12 CuadroTexto"/>
          <p:cNvSpPr txBox="1"/>
          <p:nvPr/>
        </p:nvSpPr>
        <p:spPr>
          <a:xfrm>
            <a:off x="4572000" y="6104329"/>
            <a:ext cx="3744416" cy="276999"/>
          </a:xfrm>
          <a:prstGeom prst="rect">
            <a:avLst/>
          </a:prstGeom>
          <a:noFill/>
        </p:spPr>
        <p:txBody>
          <a:bodyPr wrap="square" rtlCol="0">
            <a:spAutoFit/>
          </a:bodyPr>
          <a:lstStyle/>
          <a:p>
            <a:pPr algn="ctr"/>
            <a:r>
              <a:rPr lang="es-ES" sz="1200" b="1" dirty="0">
                <a:solidFill>
                  <a:schemeClr val="bg1">
                    <a:lumMod val="50000"/>
                  </a:schemeClr>
                </a:solidFill>
                <a:latin typeface="+mj-lt"/>
              </a:rPr>
              <a:t>Figura 1.3.</a:t>
            </a:r>
            <a:r>
              <a:rPr lang="es-ES" sz="1200" dirty="0">
                <a:solidFill>
                  <a:schemeClr val="tx1">
                    <a:lumMod val="50000"/>
                    <a:lumOff val="50000"/>
                  </a:schemeClr>
                </a:solidFill>
                <a:latin typeface="+mj-lt"/>
              </a:rPr>
              <a:t> Tareas iniciales de Visual Studio.</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131255"/>
            <a:ext cx="8229600" cy="1340768"/>
          </a:xfrm>
        </p:spPr>
        <p:txBody>
          <a:bodyPr/>
          <a:lstStyle/>
          <a:p>
            <a:pPr>
              <a:lnSpc>
                <a:spcPts val="4000"/>
              </a:lnSpc>
            </a:pPr>
            <a:r>
              <a:rPr lang="es-419" sz="2800" dirty="0"/>
              <a:t>Lenguaje C/C++. Problemas, Casos y Proyectos</a:t>
            </a:r>
            <a:endParaRPr lang="en-US" sz="28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825660"/>
            <a:ext cx="8003726" cy="523220"/>
          </a:xfrm>
          <a:prstGeom prst="rect">
            <a:avLst/>
          </a:prstGeom>
          <a:noFill/>
        </p:spPr>
        <p:txBody>
          <a:bodyPr wrap="square" rtlCol="0">
            <a:spAutoFit/>
          </a:bodyPr>
          <a:lstStyle/>
          <a:p>
            <a:r>
              <a:rPr lang="es-ES" sz="2800" dirty="0" smtClean="0">
                <a:solidFill>
                  <a:schemeClr val="bg1">
                    <a:lumMod val="50000"/>
                  </a:schemeClr>
                </a:solidFill>
              </a:rPr>
              <a:t>Prueba de escritorio manual</a:t>
            </a:r>
            <a:endParaRPr lang="es-EC" sz="2800" dirty="0">
              <a:solidFill>
                <a:schemeClr val="bg1">
                  <a:lumMod val="50000"/>
                </a:schemeClr>
              </a:solidFill>
            </a:endParaRPr>
          </a:p>
        </p:txBody>
      </p:sp>
      <p:pic>
        <p:nvPicPr>
          <p:cNvPr id="4" name="Imagen 3"/>
          <p:cNvPicPr>
            <a:picLocks noChangeAspect="1"/>
          </p:cNvPicPr>
          <p:nvPr/>
        </p:nvPicPr>
        <p:blipFill>
          <a:blip r:embed="rId2"/>
          <a:stretch>
            <a:fillRect/>
          </a:stretch>
        </p:blipFill>
        <p:spPr>
          <a:xfrm>
            <a:off x="1403648" y="2689083"/>
            <a:ext cx="6577774" cy="1584176"/>
          </a:xfrm>
          <a:prstGeom prst="rect">
            <a:avLst/>
          </a:prstGeom>
        </p:spPr>
      </p:pic>
      <p:sp>
        <p:nvSpPr>
          <p:cNvPr id="10" name="Rectángulo 9"/>
          <p:cNvSpPr/>
          <p:nvPr/>
        </p:nvSpPr>
        <p:spPr>
          <a:xfrm>
            <a:off x="2286000" y="4542188"/>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19. </a:t>
            </a:r>
            <a:r>
              <a:rPr lang="es-419" sz="1200" dirty="0">
                <a:solidFill>
                  <a:schemeClr val="tx1">
                    <a:lumMod val="50000"/>
                    <a:lumOff val="50000"/>
                  </a:schemeClr>
                </a:solidFill>
                <a:latin typeface="+mj-lt"/>
              </a:rPr>
              <a:t>Prueba de escritorio manual del programa.</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270852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1800" dirty="0"/>
              <a:t>Prueba de Escritorio </a:t>
            </a:r>
          </a:p>
          <a:p>
            <a:pPr lvl="1"/>
            <a:r>
              <a:rPr lang="es-419" sz="1900" dirty="0"/>
              <a:t>Problema 1.19. (Aplicación de los operadores aritméticos unarios utilizando </a:t>
            </a:r>
            <a:r>
              <a:rPr lang="es-419" sz="1900" dirty="0" err="1"/>
              <a:t>printf</a:t>
            </a:r>
            <a:r>
              <a:rPr lang="es-419" sz="1900" dirty="0"/>
              <a:t> y </a:t>
            </a:r>
            <a:r>
              <a:rPr lang="es-419" sz="1900" dirty="0" err="1"/>
              <a:t>scanf</a:t>
            </a:r>
            <a:r>
              <a:rPr lang="es-419" sz="1900" dirty="0"/>
              <a:t>)</a:t>
            </a:r>
          </a:p>
          <a:p>
            <a:pPr lvl="1"/>
            <a:r>
              <a:rPr lang="es-419" sz="2100" b="1" dirty="0">
                <a:solidFill>
                  <a:srgbClr val="FF0000"/>
                </a:solidFill>
              </a:rPr>
              <a:t>Precedencia de Operadores 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33</a:t>
            </a:fld>
            <a:endParaRPr lang="es-EC"/>
          </a:p>
        </p:txBody>
      </p:sp>
    </p:spTree>
    <p:extLst>
      <p:ext uri="{BB962C8B-B14F-4D97-AF65-F5344CB8AC3E}">
        <p14:creationId xmlns:p14="http://schemas.microsoft.com/office/powerpoint/2010/main" val="1052237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6" y="1792004"/>
            <a:ext cx="8502363" cy="3725685"/>
          </a:xfrm>
        </p:spPr>
        <p:txBody>
          <a:bodyPr>
            <a:noAutofit/>
          </a:bodyPr>
          <a:lstStyle/>
          <a:p>
            <a:r>
              <a:rPr lang="es-419" sz="1600" dirty="0">
                <a:solidFill>
                  <a:srgbClr val="FF0000"/>
                </a:solidFill>
              </a:rPr>
              <a:t>Considere la siguiente sentencia: </a:t>
            </a:r>
            <a:endParaRPr lang="es-419" sz="1600" dirty="0" smtClean="0">
              <a:solidFill>
                <a:srgbClr val="FF0000"/>
              </a:solidFill>
            </a:endParaRPr>
          </a:p>
          <a:p>
            <a:endParaRPr lang="es-ES" sz="1600" dirty="0" smtClean="0">
              <a:solidFill>
                <a:srgbClr val="FF0000"/>
              </a:solidFill>
            </a:endParaRPr>
          </a:p>
          <a:p>
            <a:endParaRPr lang="es-419" sz="1600" dirty="0">
              <a:solidFill>
                <a:srgbClr val="FF0000"/>
              </a:solidFill>
            </a:endParaRPr>
          </a:p>
          <a:p>
            <a:r>
              <a:rPr lang="es-419" sz="1600" dirty="0" smtClean="0"/>
              <a:t>En </a:t>
            </a:r>
            <a:r>
              <a:rPr lang="es-419" sz="1600" dirty="0"/>
              <a:t>este punto surge una pregunta: ¿En qué orden el compilador ejecuta las varias operaciones aritméticas? En el lenguaje C/C++ cada operador tiene definida un nivel de precedencia, y los operadores son evaluados en un orden de mayor precedencia a menor precedencia. Las operaciones de multiplicación, división y módulo tienen el mismo nivel de precedencia. De manera similar la operación de suma y de resta, tienen el mismo nivel de precedencia. Por lo tanto, las operaciones de multiplicación, división y módulo tienen mayor precedencia que la suma y la resta, lo que implica que las operaciones de multiplicación, división y módulo siempre ocurrirán antes que la suma y la resta (</a:t>
            </a:r>
            <a:r>
              <a:rPr lang="es-419" sz="1600" dirty="0" err="1"/>
              <a:t>Deitel</a:t>
            </a:r>
            <a:r>
              <a:rPr lang="es-419" sz="1600" dirty="0"/>
              <a:t>, H., </a:t>
            </a:r>
            <a:r>
              <a:rPr lang="es-419" sz="1600" dirty="0" err="1"/>
              <a:t>Deitel</a:t>
            </a:r>
            <a:r>
              <a:rPr lang="es-419" sz="1600" dirty="0"/>
              <a:t>, P., 2003). Entonces, la expresión anterior será evaluada de la siguiente forma: </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3275856" y="2204864"/>
            <a:ext cx="2713159" cy="360040"/>
          </a:xfrm>
          <a:prstGeom prst="rect">
            <a:avLst/>
          </a:prstGeom>
        </p:spPr>
      </p:pic>
      <p:pic>
        <p:nvPicPr>
          <p:cNvPr id="13" name="Imagen 12"/>
          <p:cNvPicPr>
            <a:picLocks noChangeAspect="1"/>
          </p:cNvPicPr>
          <p:nvPr/>
        </p:nvPicPr>
        <p:blipFill>
          <a:blip r:embed="rId3"/>
          <a:stretch>
            <a:fillRect/>
          </a:stretch>
        </p:blipFill>
        <p:spPr>
          <a:xfrm>
            <a:off x="3537060" y="5517689"/>
            <a:ext cx="2190750" cy="723900"/>
          </a:xfrm>
          <a:prstGeom prst="rect">
            <a:avLst/>
          </a:prstGeom>
        </p:spPr>
      </p:pic>
    </p:spTree>
    <p:extLst>
      <p:ext uri="{BB962C8B-B14F-4D97-AF65-F5344CB8AC3E}">
        <p14:creationId xmlns:p14="http://schemas.microsoft.com/office/powerpoint/2010/main" val="2244068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6" y="1792004"/>
            <a:ext cx="8502363" cy="3725685"/>
          </a:xfrm>
        </p:spPr>
        <p:txBody>
          <a:bodyPr>
            <a:noAutofit/>
          </a:bodyPr>
          <a:lstStyle/>
          <a:p>
            <a:pPr marL="0" indent="0">
              <a:buNone/>
            </a:pPr>
            <a:endParaRPr lang="es-419" sz="1600" dirty="0">
              <a:solidFill>
                <a:srgbClr val="FF0000"/>
              </a:solidFill>
            </a:endParaRPr>
          </a:p>
          <a:p>
            <a:r>
              <a:rPr lang="es-419" sz="1600" dirty="0"/>
              <a:t>Nótese que los operadores con el mismo nivel de precedencia son evaluados de izquierda a derecha. Algunas veces se requiere forzar a que una operación ocurra primero. Por ejemplo, en la expresión anterior, se pudo haber querido que la suma entre 7 y 2 y la resta entre 3 y 1 se realice primero. Así como está la expresión, no se puede cumplir con este caso, pero si encerramos entre paréntesis las expresiones que queremos que se evalúen primero, el problema está resuelto. Entonces se puede forzar la evaluación de operadores de menor precedencia como la suma y la resta sobre operadores de mayor precedencia como la multiplicación, la división y el módulo, utilizando paréntesis. Así entonces, tenemos reformulada la expresión matemática anterior, de la siguiente manera: </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35</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4" name="Imagen 3"/>
          <p:cNvPicPr>
            <a:picLocks noChangeAspect="1"/>
          </p:cNvPicPr>
          <p:nvPr/>
        </p:nvPicPr>
        <p:blipFill>
          <a:blip r:embed="rId2"/>
          <a:stretch>
            <a:fillRect/>
          </a:stretch>
        </p:blipFill>
        <p:spPr>
          <a:xfrm>
            <a:off x="3309529" y="5117638"/>
            <a:ext cx="2700189" cy="903649"/>
          </a:xfrm>
          <a:prstGeom prst="rect">
            <a:avLst/>
          </a:prstGeom>
        </p:spPr>
      </p:pic>
    </p:spTree>
    <p:extLst>
      <p:ext uri="{BB962C8B-B14F-4D97-AF65-F5344CB8AC3E}">
        <p14:creationId xmlns:p14="http://schemas.microsoft.com/office/powerpoint/2010/main" val="1138880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7" y="1412776"/>
            <a:ext cx="8502363" cy="3725685"/>
          </a:xfrm>
        </p:spPr>
        <p:txBody>
          <a:bodyPr>
            <a:noAutofit/>
          </a:bodyPr>
          <a:lstStyle/>
          <a:p>
            <a:pPr marL="0" indent="0">
              <a:buNone/>
            </a:pPr>
            <a:endParaRPr lang="es-419" sz="1600" dirty="0">
              <a:solidFill>
                <a:srgbClr val="FF0000"/>
              </a:solidFill>
            </a:endParaRPr>
          </a:p>
          <a:p>
            <a:r>
              <a:rPr lang="es-419" sz="1600" dirty="0"/>
              <a:t>Los paréntesis también pueden estar anidados en una expresión matemática, donde usted puede especificar el grupo de expresiones que quiere que se evalúe primero, luego las que van en segundo lugar y después las que van en tercer lugar, etc. En una expresión con paréntesis anidados, las operaciones son evaluadas en cierto orden, desde el grupo de paréntesis más interno hasta el grupo de paréntesis más externo. El siguiente ejemplo muestra lo </a:t>
            </a:r>
            <a:r>
              <a:rPr lang="es-419" sz="1600" dirty="0" smtClean="0"/>
              <a:t>indicado:</a:t>
            </a:r>
          </a:p>
          <a:p>
            <a:endParaRPr lang="es-419" sz="1600" dirty="0"/>
          </a:p>
          <a:p>
            <a:endParaRPr lang="es-419" sz="1600" dirty="0" smtClean="0"/>
          </a:p>
          <a:p>
            <a:endParaRPr lang="es-419" sz="1600" dirty="0"/>
          </a:p>
          <a:p>
            <a:pPr marL="0" indent="0">
              <a:buNone/>
            </a:pPr>
            <a:endParaRPr lang="es-419" sz="1600" dirty="0"/>
          </a:p>
          <a:p>
            <a:r>
              <a:rPr lang="es-419" sz="1600" dirty="0" err="1">
                <a:solidFill>
                  <a:srgbClr val="FF0000"/>
                </a:solidFill>
              </a:rPr>
              <a:t>Tips</a:t>
            </a:r>
            <a:r>
              <a:rPr lang="es-419" sz="1600" dirty="0">
                <a:solidFill>
                  <a:srgbClr val="FF0000"/>
                </a:solidFill>
              </a:rPr>
              <a:t> de Programación: </a:t>
            </a:r>
            <a:r>
              <a:rPr lang="es-419" sz="1600" dirty="0"/>
              <a:t>Observe que los operadores aritméticos se utilizan para evaluar un valor numérico, que se conoce como expresión numérica. Generalizando, algo que evalúa a algo más se considera una expresión. En el siguiente capítulo veremos que también existen expresiones lógicas (expresiones con operadores lógicos), las cuales evalúan valores de veracidad o falsedad. </a:t>
            </a:r>
          </a:p>
          <a:p>
            <a:r>
              <a:rPr lang="es-419" sz="1600" dirty="0">
                <a:solidFill>
                  <a:srgbClr val="FF0000"/>
                </a:solidFill>
              </a:rPr>
              <a:t>Los siguientes programas ilustran cómo trabaja la precedencia de operadores con expresiones numéricas. </a:t>
            </a:r>
            <a:endParaRPr lang="es-ES" sz="1600" dirty="0">
              <a:solidFill>
                <a:srgbClr val="FF0000"/>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2550560" y="3356992"/>
            <a:ext cx="4181475" cy="981075"/>
          </a:xfrm>
          <a:prstGeom prst="rect">
            <a:avLst/>
          </a:prstGeom>
        </p:spPr>
      </p:pic>
    </p:spTree>
    <p:extLst>
      <p:ext uri="{BB962C8B-B14F-4D97-AF65-F5344CB8AC3E}">
        <p14:creationId xmlns:p14="http://schemas.microsoft.com/office/powerpoint/2010/main" val="585322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1800" dirty="0"/>
              <a:t>Prueba de Escritorio </a:t>
            </a:r>
          </a:p>
          <a:p>
            <a:pPr lvl="1"/>
            <a:r>
              <a:rPr lang="es-419" sz="1900" dirty="0"/>
              <a:t>Problema 1.19. (Aplicación de los operadores aritméticos unarios utilizando </a:t>
            </a:r>
            <a:r>
              <a:rPr lang="es-419" sz="1900" dirty="0" err="1"/>
              <a:t>printf</a:t>
            </a:r>
            <a:r>
              <a:rPr lang="es-419" sz="1900" dirty="0"/>
              <a:t> y </a:t>
            </a:r>
            <a:r>
              <a:rPr lang="es-419" sz="1900" dirty="0" err="1"/>
              <a:t>scanf</a:t>
            </a:r>
            <a:r>
              <a:rPr lang="es-419" sz="1900" dirty="0"/>
              <a:t>)</a:t>
            </a:r>
          </a:p>
          <a:p>
            <a:pPr lvl="1"/>
            <a:r>
              <a:rPr lang="es-419" sz="1900" dirty="0"/>
              <a:t>Precedencia de Operadores Aritméticos</a:t>
            </a:r>
          </a:p>
          <a:p>
            <a:pPr lvl="1"/>
            <a:r>
              <a:rPr lang="es-419" sz="2100" b="1" dirty="0">
                <a:solidFill>
                  <a:srgbClr val="FF0000"/>
                </a:solidFill>
              </a:rPr>
              <a:t>Problema 1.22. (Aplicación del uso de precedencia de operadores aritméticos con las funciones </a:t>
            </a:r>
            <a:r>
              <a:rPr lang="es-419" sz="2100" b="1" dirty="0" err="1">
                <a:solidFill>
                  <a:srgbClr val="FF0000"/>
                </a:solidFill>
              </a:rPr>
              <a:t>cout</a:t>
            </a:r>
            <a:r>
              <a:rPr lang="es-419" sz="2100" b="1" dirty="0">
                <a:solidFill>
                  <a:srgbClr val="FF0000"/>
                </a:solidFill>
              </a:rPr>
              <a:t> y </a:t>
            </a:r>
            <a:r>
              <a:rPr lang="es-419" sz="2100" b="1" dirty="0" err="1">
                <a:solidFill>
                  <a:srgbClr val="FF0000"/>
                </a:solidFill>
              </a:rPr>
              <a:t>cin</a:t>
            </a:r>
            <a:r>
              <a:rPr lang="es-419" sz="2100" b="1" dirty="0">
                <a:solidFill>
                  <a:srgbClr val="FF0000"/>
                </a:solidFill>
              </a:rPr>
              <a:t>) </a:t>
            </a:r>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37</a:t>
            </a:fld>
            <a:endParaRPr lang="es-EC"/>
          </a:p>
        </p:txBody>
      </p:sp>
    </p:spTree>
    <p:extLst>
      <p:ext uri="{BB962C8B-B14F-4D97-AF65-F5344CB8AC3E}">
        <p14:creationId xmlns:p14="http://schemas.microsoft.com/office/powerpoint/2010/main" val="3047714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2564904"/>
            <a:ext cx="3309117" cy="3315300"/>
          </a:xfrm>
        </p:spPr>
        <p:txBody>
          <a:bodyPr>
            <a:normAutofit/>
          </a:bodyPr>
          <a:lstStyle/>
          <a:p>
            <a:r>
              <a:rPr lang="es-419" sz="1800" dirty="0"/>
              <a:t>Escribir un programa que permita probar el uso de la precedencia de operadores con las expresiones numéricas expuestas en la sección 1.5, utilizando las funciones ‘</a:t>
            </a:r>
            <a:r>
              <a:rPr lang="es-419" sz="1800" dirty="0" err="1"/>
              <a:t>cout</a:t>
            </a:r>
            <a:r>
              <a:rPr lang="es-419" sz="1800" dirty="0"/>
              <a:t>’ y ‘</a:t>
            </a:r>
            <a:r>
              <a:rPr lang="es-419" sz="1800" dirty="0" err="1"/>
              <a:t>cin</a:t>
            </a:r>
            <a:r>
              <a:rPr lang="es-419" sz="1800" dirty="0"/>
              <a:t>’. </a:t>
            </a:r>
            <a:endParaRPr lang="es-ES" sz="18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67544" y="-293504"/>
            <a:ext cx="8229600" cy="1340768"/>
          </a:xfrm>
        </p:spPr>
        <p:txBody>
          <a:bodyPr/>
          <a:lstStyle/>
          <a:p>
            <a:pPr>
              <a:lnSpc>
                <a:spcPts val="4000"/>
              </a:lnSpc>
            </a:pPr>
            <a:r>
              <a:rPr lang="es-419" sz="2800" dirty="0"/>
              <a:t>Lenguaje C/C++. Problemas, Casos y Proyectos</a:t>
            </a:r>
            <a:endParaRPr lang="en-US" sz="28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825660"/>
            <a:ext cx="8003726" cy="523220"/>
          </a:xfrm>
          <a:prstGeom prst="rect">
            <a:avLst/>
          </a:prstGeom>
          <a:noFill/>
        </p:spPr>
        <p:txBody>
          <a:bodyPr wrap="square" rtlCol="0">
            <a:spAutoFit/>
          </a:bodyPr>
          <a:lstStyle/>
          <a:p>
            <a:r>
              <a:rPr lang="es-ES" sz="2800" dirty="0" smtClean="0">
                <a:solidFill>
                  <a:schemeClr val="bg1">
                    <a:lumMod val="50000"/>
                  </a:schemeClr>
                </a:solidFill>
              </a:rPr>
              <a:t>Problema</a:t>
            </a:r>
            <a:endParaRPr lang="es-EC" sz="2800" dirty="0">
              <a:solidFill>
                <a:schemeClr val="bg1">
                  <a:lumMod val="50000"/>
                </a:schemeClr>
              </a:solidFill>
            </a:endParaRPr>
          </a:p>
        </p:txBody>
      </p:sp>
      <p:pic>
        <p:nvPicPr>
          <p:cNvPr id="4" name="Imagen 3"/>
          <p:cNvPicPr>
            <a:picLocks noChangeAspect="1"/>
          </p:cNvPicPr>
          <p:nvPr/>
        </p:nvPicPr>
        <p:blipFill>
          <a:blip r:embed="rId2"/>
          <a:stretch>
            <a:fillRect/>
          </a:stretch>
        </p:blipFill>
        <p:spPr>
          <a:xfrm>
            <a:off x="4255782" y="1291519"/>
            <a:ext cx="4406420" cy="1653356"/>
          </a:xfrm>
          <a:prstGeom prst="rect">
            <a:avLst/>
          </a:prstGeom>
        </p:spPr>
      </p:pic>
      <p:pic>
        <p:nvPicPr>
          <p:cNvPr id="7" name="Imagen 6"/>
          <p:cNvPicPr>
            <a:picLocks noChangeAspect="1"/>
          </p:cNvPicPr>
          <p:nvPr/>
        </p:nvPicPr>
        <p:blipFill>
          <a:blip r:embed="rId3"/>
          <a:stretch>
            <a:fillRect/>
          </a:stretch>
        </p:blipFill>
        <p:spPr>
          <a:xfrm>
            <a:off x="4108249" y="2988544"/>
            <a:ext cx="4716016" cy="1662068"/>
          </a:xfrm>
          <a:prstGeom prst="rect">
            <a:avLst/>
          </a:prstGeom>
        </p:spPr>
      </p:pic>
      <p:sp>
        <p:nvSpPr>
          <p:cNvPr id="13" name="Rectángulo 12"/>
          <p:cNvSpPr/>
          <p:nvPr/>
        </p:nvSpPr>
        <p:spPr>
          <a:xfrm>
            <a:off x="4108249" y="4694281"/>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20. </a:t>
            </a:r>
            <a:r>
              <a:rPr lang="es-419"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pic>
        <p:nvPicPr>
          <p:cNvPr id="8" name="Imagen 7"/>
          <p:cNvPicPr>
            <a:picLocks noChangeAspect="1"/>
          </p:cNvPicPr>
          <p:nvPr/>
        </p:nvPicPr>
        <p:blipFill>
          <a:blip r:embed="rId4"/>
          <a:stretch>
            <a:fillRect/>
          </a:stretch>
        </p:blipFill>
        <p:spPr>
          <a:xfrm>
            <a:off x="4216384" y="5014949"/>
            <a:ext cx="4607881" cy="675147"/>
          </a:xfrm>
          <a:prstGeom prst="rect">
            <a:avLst/>
          </a:prstGeom>
        </p:spPr>
      </p:pic>
      <p:sp>
        <p:nvSpPr>
          <p:cNvPr id="14" name="Rectángulo 13"/>
          <p:cNvSpPr/>
          <p:nvPr/>
        </p:nvSpPr>
        <p:spPr>
          <a:xfrm>
            <a:off x="4311632" y="5726234"/>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21. </a:t>
            </a:r>
            <a:r>
              <a:rPr lang="es-419" sz="1200" dirty="0">
                <a:solidFill>
                  <a:schemeClr val="tx1">
                    <a:lumMod val="50000"/>
                    <a:lumOff val="50000"/>
                  </a:schemeClr>
                </a:solidFill>
                <a:latin typeface="+mj-lt"/>
              </a:rPr>
              <a:t>Salida del programa. </a:t>
            </a:r>
            <a:r>
              <a:rPr lang="es-419" sz="1200" dirty="0" smtClean="0">
                <a:solidFill>
                  <a:schemeClr val="tx1">
                    <a:lumMod val="50000"/>
                    <a:lumOff val="50000"/>
                  </a:schemeClr>
                </a:solidFill>
                <a:latin typeface="+mj-lt"/>
              </a:rPr>
              <a:t>.</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929957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ES" sz="2800" dirty="0"/>
              <a:t>Creación de un Programa en Lenguaje C/C++ utilizando Visual C++ .NET de Microsoft</a:t>
            </a:r>
            <a:endParaRPr lang="en-US" sz="28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489276" y="1652747"/>
            <a:ext cx="8003726" cy="523220"/>
          </a:xfrm>
          <a:prstGeom prst="rect">
            <a:avLst/>
          </a:prstGeom>
          <a:noFill/>
        </p:spPr>
        <p:txBody>
          <a:bodyPr wrap="square" rtlCol="0">
            <a:spAutoFit/>
          </a:bodyPr>
          <a:lstStyle/>
          <a:p>
            <a:r>
              <a:rPr lang="es-ES" sz="2800" dirty="0" smtClean="0">
                <a:solidFill>
                  <a:schemeClr val="bg1">
                    <a:lumMod val="50000"/>
                  </a:schemeClr>
                </a:solidFill>
              </a:rPr>
              <a:t>Problema</a:t>
            </a:r>
            <a:endParaRPr lang="es-EC" sz="2800" dirty="0">
              <a:solidFill>
                <a:schemeClr val="bg1">
                  <a:lumMod val="50000"/>
                </a:schemeClr>
              </a:solidFill>
            </a:endParaRPr>
          </a:p>
        </p:txBody>
      </p:sp>
      <p:sp>
        <p:nvSpPr>
          <p:cNvPr id="9" name="4 Marcador de contenido">
            <a:extLst>
              <a:ext uri="{FF2B5EF4-FFF2-40B4-BE49-F238E27FC236}">
                <a16:creationId xmlns:a16="http://schemas.microsoft.com/office/drawing/2014/main" id="{C45A9866-52DC-1954-E135-0625512039DA}"/>
              </a:ext>
            </a:extLst>
          </p:cNvPr>
          <p:cNvSpPr>
            <a:spLocks noGrp="1"/>
          </p:cNvSpPr>
          <p:nvPr>
            <p:ph idx="1"/>
          </p:nvPr>
        </p:nvSpPr>
        <p:spPr>
          <a:xfrm>
            <a:off x="107505" y="2347849"/>
            <a:ext cx="3240359" cy="3529423"/>
          </a:xfrm>
        </p:spPr>
        <p:txBody>
          <a:bodyPr>
            <a:normAutofit/>
          </a:bodyPr>
          <a:lstStyle/>
          <a:p>
            <a:r>
              <a:rPr lang="es-419" sz="1800" dirty="0"/>
              <a:t>Escribir un programa que permita probar el uso de la precedencia de operadores con las expresiones numéricas expuestas en la sección 1.5, utilizando las funciones ‘</a:t>
            </a:r>
            <a:r>
              <a:rPr lang="es-419" sz="1800" dirty="0" err="1"/>
              <a:t>printf</a:t>
            </a:r>
            <a:r>
              <a:rPr lang="es-419" sz="1800" dirty="0"/>
              <a:t>’ y ‘</a:t>
            </a:r>
            <a:r>
              <a:rPr lang="es-419" sz="1800" dirty="0" err="1"/>
              <a:t>scanf</a:t>
            </a:r>
            <a:r>
              <a:rPr lang="es-419" sz="1800" dirty="0"/>
              <a:t>’. </a:t>
            </a:r>
            <a:endParaRPr lang="es-ES" sz="1800" dirty="0">
              <a:solidFill>
                <a:schemeClr val="bg1">
                  <a:lumMod val="50000"/>
                </a:schemeClr>
              </a:solidFill>
            </a:endParaRPr>
          </a:p>
        </p:txBody>
      </p:sp>
      <p:sp>
        <p:nvSpPr>
          <p:cNvPr id="10" name="12 CuadroTexto">
            <a:extLst>
              <a:ext uri="{FF2B5EF4-FFF2-40B4-BE49-F238E27FC236}">
                <a16:creationId xmlns:a16="http://schemas.microsoft.com/office/drawing/2014/main" id="{8E3C816D-ED4D-3FC3-3634-40794848EA47}"/>
              </a:ext>
            </a:extLst>
          </p:cNvPr>
          <p:cNvSpPr txBox="1"/>
          <p:nvPr/>
        </p:nvSpPr>
        <p:spPr>
          <a:xfrm>
            <a:off x="4488471" y="4570833"/>
            <a:ext cx="3744416" cy="461665"/>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22.</a:t>
            </a:r>
            <a:r>
              <a:rPr lang="es-ES" sz="1200"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pic>
        <p:nvPicPr>
          <p:cNvPr id="4" name="Imagen 3"/>
          <p:cNvPicPr>
            <a:picLocks noChangeAspect="1"/>
          </p:cNvPicPr>
          <p:nvPr/>
        </p:nvPicPr>
        <p:blipFill>
          <a:blip r:embed="rId2"/>
          <a:stretch>
            <a:fillRect/>
          </a:stretch>
        </p:blipFill>
        <p:spPr>
          <a:xfrm>
            <a:off x="3995936" y="1652747"/>
            <a:ext cx="4392488" cy="2918086"/>
          </a:xfrm>
          <a:prstGeom prst="rect">
            <a:avLst/>
          </a:prstGeom>
        </p:spPr>
      </p:pic>
      <p:pic>
        <p:nvPicPr>
          <p:cNvPr id="5" name="Imagen 4"/>
          <p:cNvPicPr>
            <a:picLocks noChangeAspect="1"/>
          </p:cNvPicPr>
          <p:nvPr/>
        </p:nvPicPr>
        <p:blipFill>
          <a:blip r:embed="rId3"/>
          <a:stretch>
            <a:fillRect/>
          </a:stretch>
        </p:blipFill>
        <p:spPr>
          <a:xfrm>
            <a:off x="3878110" y="4882812"/>
            <a:ext cx="4970473" cy="741052"/>
          </a:xfrm>
          <a:prstGeom prst="rect">
            <a:avLst/>
          </a:prstGeom>
        </p:spPr>
      </p:pic>
      <p:sp>
        <p:nvSpPr>
          <p:cNvPr id="11" name="Rectángulo 10"/>
          <p:cNvSpPr/>
          <p:nvPr/>
        </p:nvSpPr>
        <p:spPr>
          <a:xfrm>
            <a:off x="4114800" y="5666194"/>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23. </a:t>
            </a:r>
            <a:r>
              <a:rPr lang="es-419" sz="1200" dirty="0">
                <a:solidFill>
                  <a:schemeClr val="tx1">
                    <a:lumMod val="50000"/>
                    <a:lumOff val="50000"/>
                  </a:schemeClr>
                </a:solidFill>
                <a:latin typeface="+mj-lt"/>
              </a:rPr>
              <a:t>Salida del programa. </a:t>
            </a:r>
            <a:r>
              <a:rPr lang="es-419" sz="1200" dirty="0" smtClean="0">
                <a:solidFill>
                  <a:schemeClr val="tx1">
                    <a:lumMod val="50000"/>
                    <a:lumOff val="50000"/>
                  </a:schemeClr>
                </a:solidFill>
                <a:latin typeface="+mj-lt"/>
              </a:rPr>
              <a:t>.</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808670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06385" y="3004125"/>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40</a:t>
            </a:fld>
            <a:endParaRPr lang="es-EC"/>
          </a:p>
        </p:txBody>
      </p:sp>
      <p:sp>
        <p:nvSpPr>
          <p:cNvPr id="8" name="7 CuadroTexto"/>
          <p:cNvSpPr txBox="1"/>
          <p:nvPr/>
        </p:nvSpPr>
        <p:spPr>
          <a:xfrm>
            <a:off x="106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4246878" y="5105587"/>
            <a:ext cx="458974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Figura 4.</a:t>
            </a:r>
            <a:r>
              <a:rPr lang="es-ES_tradnl" sz="1200" dirty="0">
                <a:solidFill>
                  <a:schemeClr val="tx1">
                    <a:lumMod val="50000"/>
                    <a:lumOff val="50000"/>
                  </a:schemeClr>
                </a:solidFill>
                <a:latin typeface="+mj-lt"/>
              </a:rPr>
              <a:t> </a:t>
            </a:r>
            <a:r>
              <a:rPr lang="es-EC" sz="1200" dirty="0">
                <a:solidFill>
                  <a:schemeClr val="tx1">
                    <a:lumMod val="50000"/>
                    <a:lumOff val="50000"/>
                  </a:schemeClr>
                </a:solidFill>
                <a:latin typeface="+mj-lt"/>
              </a:rPr>
              <a:t>Steve Jobs, fundador de la empresa Apple </a:t>
            </a:r>
            <a:r>
              <a:rPr lang="es-EC" sz="1200" dirty="0" err="1">
                <a:solidFill>
                  <a:schemeClr val="tx1">
                    <a:lumMod val="50000"/>
                    <a:lumOff val="50000"/>
                  </a:schemeClr>
                </a:solidFill>
                <a:latin typeface="+mj-lt"/>
              </a:rPr>
              <a:t>Inc</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6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41</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861338"/>
          </a:xfrm>
        </p:spPr>
        <p:txBody>
          <a:bodyPr/>
          <a:lstStyle/>
          <a:p>
            <a:pPr>
              <a:lnSpc>
                <a:spcPts val="4000"/>
              </a:lnSpc>
            </a:pPr>
            <a:r>
              <a:rPr lang="es-EC" sz="4800" b="1" dirty="0"/>
              <a:t>Créditos</a:t>
            </a:r>
            <a:endParaRPr lang="en-US" sz="4800" b="1"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340768"/>
            <a:ext cx="8003726" cy="830997"/>
          </a:xfrm>
          <a:prstGeom prst="rect">
            <a:avLst/>
          </a:prstGeom>
          <a:noFill/>
        </p:spPr>
        <p:txBody>
          <a:bodyPr wrap="square" rtlCol="0">
            <a:spAutoFit/>
          </a:bodyPr>
          <a:lstStyle/>
          <a:p>
            <a:r>
              <a:rPr lang="es-ES" sz="2400" dirty="0">
                <a:solidFill>
                  <a:schemeClr val="bg1">
                    <a:lumMod val="50000"/>
                  </a:schemeClr>
                </a:solidFill>
              </a:rPr>
              <a:t>Universidad de las Fuerzas Armadas – ESPE (Quito-Ecuador)</a:t>
            </a:r>
            <a:endParaRPr lang="es-EC" sz="2400" dirty="0">
              <a:solidFill>
                <a:schemeClr val="bg1">
                  <a:lumMod val="50000"/>
                </a:schemeClr>
              </a:solidFill>
            </a:endParaRPr>
          </a:p>
        </p:txBody>
      </p:sp>
      <p:sp>
        <p:nvSpPr>
          <p:cNvPr id="9" name="4 Marcador de contenido">
            <a:extLst>
              <a:ext uri="{FF2B5EF4-FFF2-40B4-BE49-F238E27FC236}">
                <a16:creationId xmlns:a16="http://schemas.microsoft.com/office/drawing/2014/main" id="{C45A9866-52DC-1954-E135-0625512039DA}"/>
              </a:ext>
            </a:extLst>
          </p:cNvPr>
          <p:cNvSpPr>
            <a:spLocks noGrp="1"/>
          </p:cNvSpPr>
          <p:nvPr>
            <p:ph idx="1"/>
          </p:nvPr>
        </p:nvSpPr>
        <p:spPr>
          <a:xfrm>
            <a:off x="486941" y="2200508"/>
            <a:ext cx="7824103" cy="954107"/>
          </a:xfrm>
        </p:spPr>
        <p:txBody>
          <a:bodyPr>
            <a:normAutofit fontScale="85000" lnSpcReduction="10000"/>
          </a:bodyPr>
          <a:lstStyle/>
          <a:p>
            <a:r>
              <a:rPr lang="es-ES" sz="1800" dirty="0"/>
              <a:t>Margarita Zambrano, César Villacís, David Alvarado, Luis García, Kevin Topón</a:t>
            </a:r>
          </a:p>
          <a:p>
            <a:r>
              <a:rPr lang="es-ES" sz="1800" dirty="0">
                <a:solidFill>
                  <a:srgbClr val="0070C0"/>
                </a:solidFill>
              </a:rPr>
              <a:t>e-mail: {</a:t>
            </a:r>
            <a:r>
              <a:rPr lang="es-ES" sz="1800" dirty="0" err="1">
                <a:solidFill>
                  <a:srgbClr val="0070C0"/>
                </a:solidFill>
              </a:rPr>
              <a:t>mezambrano</a:t>
            </a:r>
            <a:r>
              <a:rPr lang="es-ES" sz="1800" dirty="0">
                <a:solidFill>
                  <a:srgbClr val="0070C0"/>
                </a:solidFill>
              </a:rPr>
              <a:t>, </a:t>
            </a:r>
            <a:r>
              <a:rPr lang="es-ES" sz="1800" dirty="0" err="1">
                <a:solidFill>
                  <a:srgbClr val="0070C0"/>
                </a:solidFill>
              </a:rPr>
              <a:t>cjvillacis</a:t>
            </a:r>
            <a:r>
              <a:rPr lang="es-ES" sz="1800" dirty="0">
                <a:solidFill>
                  <a:srgbClr val="0070C0"/>
                </a:solidFill>
              </a:rPr>
              <a:t>, </a:t>
            </a:r>
            <a:r>
              <a:rPr lang="es-ES" sz="1800">
                <a:solidFill>
                  <a:srgbClr val="0070C0"/>
                </a:solidFill>
              </a:rPr>
              <a:t>fdalvarado, </a:t>
            </a:r>
            <a:r>
              <a:rPr lang="es-ES" sz="1800" dirty="0">
                <a:solidFill>
                  <a:srgbClr val="0070C0"/>
                </a:solidFill>
              </a:rPr>
              <a:t>lfgarcia1, </a:t>
            </a:r>
            <a:r>
              <a:rPr lang="es-ES" sz="1800" dirty="0" err="1">
                <a:solidFill>
                  <a:srgbClr val="0070C0"/>
                </a:solidFill>
              </a:rPr>
              <a:t>kdtopon</a:t>
            </a:r>
            <a:r>
              <a:rPr lang="es-ES" sz="1800" dirty="0">
                <a:solidFill>
                  <a:srgbClr val="0070C0"/>
                </a:solidFill>
              </a:rPr>
              <a:t>}@espe.edu.ec</a:t>
            </a:r>
            <a:endParaRPr lang="en-US" sz="1800" b="1" dirty="0">
              <a:solidFill>
                <a:srgbClr val="0070C0"/>
              </a:solidFill>
            </a:endParaRPr>
          </a:p>
          <a:p>
            <a:endParaRPr lang="es-ES" sz="1800" dirty="0">
              <a:solidFill>
                <a:schemeClr val="bg1">
                  <a:lumMod val="50000"/>
                </a:schemeClr>
              </a:solidFill>
            </a:endParaRPr>
          </a:p>
          <a:p>
            <a:endParaRPr lang="es-ES" sz="1800" dirty="0">
              <a:solidFill>
                <a:schemeClr val="bg1">
                  <a:lumMod val="50000"/>
                </a:schemeClr>
              </a:solidFill>
            </a:endParaRPr>
          </a:p>
          <a:p>
            <a:endParaRPr lang="es-ES" sz="1800" dirty="0">
              <a:solidFill>
                <a:schemeClr val="bg1">
                  <a:lumMod val="50000"/>
                </a:schemeClr>
              </a:solidFill>
            </a:endParaRPr>
          </a:p>
        </p:txBody>
      </p:sp>
      <p:sp>
        <p:nvSpPr>
          <p:cNvPr id="4" name="7 CuadroTexto">
            <a:extLst>
              <a:ext uri="{FF2B5EF4-FFF2-40B4-BE49-F238E27FC236}">
                <a16:creationId xmlns:a16="http://schemas.microsoft.com/office/drawing/2014/main" id="{E968CE6D-3F16-C180-F548-F55980D18169}"/>
              </a:ext>
            </a:extLst>
          </p:cNvPr>
          <p:cNvSpPr txBox="1"/>
          <p:nvPr/>
        </p:nvSpPr>
        <p:spPr>
          <a:xfrm>
            <a:off x="307319" y="4437112"/>
            <a:ext cx="8003726" cy="461665"/>
          </a:xfrm>
          <a:prstGeom prst="rect">
            <a:avLst/>
          </a:prstGeom>
          <a:noFill/>
        </p:spPr>
        <p:txBody>
          <a:bodyPr wrap="square" rtlCol="0">
            <a:spAutoFit/>
          </a:bodyPr>
          <a:lstStyle/>
          <a:p>
            <a:r>
              <a:rPr lang="es-ES" sz="2400" dirty="0">
                <a:solidFill>
                  <a:schemeClr val="bg1">
                    <a:lumMod val="50000"/>
                  </a:schemeClr>
                </a:solidFill>
              </a:rPr>
              <a:t>Universidad Rey Juan Carlos – URJC (Madrid-España)</a:t>
            </a:r>
            <a:endParaRPr lang="es-EC" sz="2400" dirty="0">
              <a:solidFill>
                <a:schemeClr val="bg1">
                  <a:lumMod val="50000"/>
                </a:schemeClr>
              </a:solidFill>
            </a:endParaRPr>
          </a:p>
        </p:txBody>
      </p:sp>
      <p:sp>
        <p:nvSpPr>
          <p:cNvPr id="5" name="4 Marcador de contenido">
            <a:extLst>
              <a:ext uri="{FF2B5EF4-FFF2-40B4-BE49-F238E27FC236}">
                <a16:creationId xmlns:a16="http://schemas.microsoft.com/office/drawing/2014/main" id="{241695AF-F320-FCD5-5948-B263AA1F6BB7}"/>
              </a:ext>
            </a:extLst>
          </p:cNvPr>
          <p:cNvSpPr txBox="1">
            <a:spLocks/>
          </p:cNvSpPr>
          <p:nvPr/>
        </p:nvSpPr>
        <p:spPr>
          <a:xfrm>
            <a:off x="486942" y="5013176"/>
            <a:ext cx="7541442" cy="12971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s-ES" sz="1800" dirty="0"/>
              <a:t>Sofía Bayona, Luis Pastor</a:t>
            </a:r>
          </a:p>
          <a:p>
            <a:r>
              <a:rPr lang="es-ES" sz="1800" dirty="0">
                <a:solidFill>
                  <a:srgbClr val="0070C0"/>
                </a:solidFill>
              </a:rPr>
              <a:t>e-mail: {</a:t>
            </a:r>
            <a:r>
              <a:rPr lang="es-ES" sz="1800" dirty="0" err="1">
                <a:solidFill>
                  <a:srgbClr val="0070C0"/>
                </a:solidFill>
              </a:rPr>
              <a:t>sofia.bayona</a:t>
            </a:r>
            <a:r>
              <a:rPr lang="es-ES" sz="1800" dirty="0">
                <a:solidFill>
                  <a:srgbClr val="0070C0"/>
                </a:solidFill>
              </a:rPr>
              <a:t>, </a:t>
            </a:r>
            <a:r>
              <a:rPr lang="es-ES" sz="1800" dirty="0" err="1">
                <a:solidFill>
                  <a:srgbClr val="0070C0"/>
                </a:solidFill>
              </a:rPr>
              <a:t>luis.pastor</a:t>
            </a:r>
            <a:r>
              <a:rPr lang="en-US" sz="1800" dirty="0">
                <a:solidFill>
                  <a:srgbClr val="0070C0"/>
                </a:solidFill>
              </a:rPr>
              <a:t>}</a:t>
            </a:r>
            <a:r>
              <a:rPr lang="es-ES" sz="1800" dirty="0">
                <a:solidFill>
                  <a:srgbClr val="0070C0"/>
                </a:solidFill>
              </a:rPr>
              <a:t>@urjc.es</a:t>
            </a:r>
            <a:endParaRPr lang="es-ES" sz="1800" dirty="0">
              <a:solidFill>
                <a:schemeClr val="bg1">
                  <a:lumMod val="50000"/>
                </a:schemeClr>
              </a:solidFill>
            </a:endParaRPr>
          </a:p>
          <a:p>
            <a:endParaRPr lang="es-ES" sz="1800" dirty="0">
              <a:solidFill>
                <a:schemeClr val="bg1">
                  <a:lumMod val="50000"/>
                </a:schemeClr>
              </a:solidFill>
            </a:endParaRPr>
          </a:p>
        </p:txBody>
      </p:sp>
      <p:sp>
        <p:nvSpPr>
          <p:cNvPr id="7" name="7 CuadroTexto">
            <a:extLst>
              <a:ext uri="{FF2B5EF4-FFF2-40B4-BE49-F238E27FC236}">
                <a16:creationId xmlns:a16="http://schemas.microsoft.com/office/drawing/2014/main" id="{6AC5F34F-7347-CA5E-D59D-7C19BBFB3AF1}"/>
              </a:ext>
            </a:extLst>
          </p:cNvPr>
          <p:cNvSpPr txBox="1"/>
          <p:nvPr/>
        </p:nvSpPr>
        <p:spPr>
          <a:xfrm>
            <a:off x="307319" y="3212976"/>
            <a:ext cx="8003726" cy="461665"/>
          </a:xfrm>
          <a:prstGeom prst="rect">
            <a:avLst/>
          </a:prstGeom>
          <a:noFill/>
        </p:spPr>
        <p:txBody>
          <a:bodyPr wrap="square" rtlCol="0">
            <a:spAutoFit/>
          </a:bodyPr>
          <a:lstStyle/>
          <a:p>
            <a:r>
              <a:rPr lang="es-ES" sz="2400" dirty="0">
                <a:solidFill>
                  <a:schemeClr val="bg1">
                    <a:lumMod val="50000"/>
                  </a:schemeClr>
                </a:solidFill>
              </a:rPr>
              <a:t>Universidad Politécnica Salesiana – UPS (Quito-Ecuador)</a:t>
            </a:r>
            <a:endParaRPr lang="es-EC" sz="2400" dirty="0">
              <a:solidFill>
                <a:schemeClr val="bg1">
                  <a:lumMod val="50000"/>
                </a:schemeClr>
              </a:solidFill>
            </a:endParaRPr>
          </a:p>
        </p:txBody>
      </p:sp>
      <p:sp>
        <p:nvSpPr>
          <p:cNvPr id="11" name="4 Marcador de contenido">
            <a:extLst>
              <a:ext uri="{FF2B5EF4-FFF2-40B4-BE49-F238E27FC236}">
                <a16:creationId xmlns:a16="http://schemas.microsoft.com/office/drawing/2014/main" id="{8FA5FDA6-44CA-7AFA-989B-C34B95139A59}"/>
              </a:ext>
            </a:extLst>
          </p:cNvPr>
          <p:cNvSpPr txBox="1">
            <a:spLocks/>
          </p:cNvSpPr>
          <p:nvPr/>
        </p:nvSpPr>
        <p:spPr>
          <a:xfrm>
            <a:off x="486942" y="3731897"/>
            <a:ext cx="7541442" cy="505087"/>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s-ES" sz="1800" dirty="0"/>
              <a:t>Margarita Villacís</a:t>
            </a:r>
          </a:p>
          <a:p>
            <a:r>
              <a:rPr lang="es-ES" sz="1800" dirty="0">
                <a:solidFill>
                  <a:srgbClr val="0070C0"/>
                </a:solidFill>
              </a:rPr>
              <a:t>e-mail: {</a:t>
            </a:r>
            <a:r>
              <a:rPr lang="es-ES" sz="1800" dirty="0" err="1">
                <a:solidFill>
                  <a:srgbClr val="0070C0"/>
                </a:solidFill>
              </a:rPr>
              <a:t>dmvillacis</a:t>
            </a:r>
            <a:r>
              <a:rPr lang="es-ES" sz="1800" dirty="0">
                <a:solidFill>
                  <a:srgbClr val="0070C0"/>
                </a:solidFill>
              </a:rPr>
              <a:t>}@ups.edu.ec</a:t>
            </a:r>
            <a:endParaRPr lang="en-US" sz="1800" b="1" dirty="0">
              <a:solidFill>
                <a:srgbClr val="0070C0"/>
              </a:solidFill>
            </a:endParaRPr>
          </a:p>
          <a:p>
            <a:endParaRPr lang="es-ES" sz="1800" dirty="0">
              <a:solidFill>
                <a:schemeClr val="bg1">
                  <a:lumMod val="50000"/>
                </a:schemeClr>
              </a:solidFill>
            </a:endParaRPr>
          </a:p>
          <a:p>
            <a:endParaRPr lang="es-ES" sz="1800" dirty="0">
              <a:solidFill>
                <a:schemeClr val="bg1">
                  <a:lumMod val="50000"/>
                </a:schemeClr>
              </a:solidFill>
            </a:endParaRPr>
          </a:p>
          <a:p>
            <a:endParaRPr lang="es-ES" sz="1800" dirty="0">
              <a:solidFill>
                <a:schemeClr val="bg1">
                  <a:lumMod val="50000"/>
                </a:schemeClr>
              </a:solidFill>
            </a:endParaRPr>
          </a:p>
        </p:txBody>
      </p:sp>
    </p:spTree>
    <p:extLst>
      <p:ext uri="{BB962C8B-B14F-4D97-AF65-F5344CB8AC3E}">
        <p14:creationId xmlns:p14="http://schemas.microsoft.com/office/powerpoint/2010/main" val="2565362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7458</TotalTime>
  <Words>3994</Words>
  <Application>Microsoft Office PowerPoint</Application>
  <PresentationFormat>Presentación en pantalla (4:3)</PresentationFormat>
  <Paragraphs>403</Paragraphs>
  <Slides>41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41</vt:i4>
      </vt:variant>
    </vt:vector>
  </HeadingPairs>
  <TitlesOfParts>
    <vt:vector size="47" baseType="lpstr">
      <vt:lpstr>Arial</vt:lpstr>
      <vt:lpstr>Calibri</vt:lpstr>
      <vt:lpstr>Century Gothic</vt:lpstr>
      <vt:lpstr>Courier New</vt:lpstr>
      <vt:lpstr>Palatino Linotype</vt:lpstr>
      <vt:lpstr>Ejecutivo</vt:lpstr>
      <vt:lpstr>Presentación de PowerPoint</vt:lpstr>
      <vt:lpstr>Contenido</vt:lpstr>
      <vt:lpstr>Introducción</vt:lpstr>
      <vt:lpstr>Contenido</vt:lpstr>
      <vt:lpstr>Lenguaje C/C++. Problemas, Casos y Proyectos</vt:lpstr>
      <vt:lpstr>Lenguaje C/C++. Problemas, Casos y Proyectos</vt:lpstr>
      <vt:lpstr>Contenido</vt:lpstr>
      <vt:lpstr>Lenguaje C/C++. Problemas, Casos y Proyectos</vt:lpstr>
      <vt:lpstr>Lenguaje C/C++. Problemas, Casos y Proyectos</vt:lpstr>
      <vt:lpstr>Lenguaje C/C++. Problemas, Casos y Proyectos</vt:lpstr>
      <vt:lpstr>Contenido</vt:lpstr>
      <vt:lpstr>Lenguaje C/C++. Problemas, Casos y Proyectos</vt:lpstr>
      <vt:lpstr>Contenido</vt:lpstr>
      <vt:lpstr>Lenguaje C/C++. Problemas, Casos y Proyectos</vt:lpstr>
      <vt:lpstr>Contenido</vt:lpstr>
      <vt:lpstr>Lenguaje C/C++. Problemas, Casos y Proyectos</vt:lpstr>
      <vt:lpstr>Contenido</vt:lpstr>
      <vt:lpstr>Lenguaje C/C++. Problemas, Casos y Proyectos</vt:lpstr>
      <vt:lpstr>Contenido</vt:lpstr>
      <vt:lpstr>Lenguaje C/C++. Problemas, Casos y Proyectos</vt:lpstr>
      <vt:lpstr>Lenguaje C/C++. Problemas, Casos y Proyectos</vt:lpstr>
      <vt:lpstr>Contenido</vt:lpstr>
      <vt:lpstr>Lenguaje C/C++. Problemas, Casos y Proyectos</vt:lpstr>
      <vt:lpstr>Lenguaje C/C++. Problemas, Casos y Proyectos</vt:lpstr>
      <vt:lpstr>Contenido</vt:lpstr>
      <vt:lpstr>Lenguaje C/C++. Problemas, Casos y Proyectos</vt:lpstr>
      <vt:lpstr>Lenguaje C/C++. Problemas, Casos y Proyectos</vt:lpstr>
      <vt:lpstr>Lenguaje C/C++. Problemas, Casos y Proyectos</vt:lpstr>
      <vt:lpstr>Lenguaje C/C++. Problemas, Casos y Proyectos</vt:lpstr>
      <vt:lpstr>Contenido</vt:lpstr>
      <vt:lpstr>Lenguaje C/C++. Problemas, Casos y Proyectos</vt:lpstr>
      <vt:lpstr>Lenguaje C/C++. Problemas, Casos y Proyectos</vt:lpstr>
      <vt:lpstr>Contenido</vt:lpstr>
      <vt:lpstr>Lenguaje C/C++. Problemas, Casos y Proyectos</vt:lpstr>
      <vt:lpstr>Lenguaje C/C++. Problemas, Casos y Proyectos</vt:lpstr>
      <vt:lpstr>Lenguaje C/C++. Problemas, Casos y Proyectos</vt:lpstr>
      <vt:lpstr>Contenido</vt:lpstr>
      <vt:lpstr>Lenguaje C/C++. Problemas, Casos y Proyectos</vt:lpstr>
      <vt:lpstr>Creación de un Programa en Lenguaje C/C++ utilizando Visual C++ .NET de Microsoft</vt:lpstr>
      <vt:lpstr>Pensamiento</vt:lpstr>
      <vt:lpstr>Créditos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Luis</cp:lastModifiedBy>
  <cp:revision>335</cp:revision>
  <cp:lastPrinted>2014-11-12T14:27:29Z</cp:lastPrinted>
  <dcterms:created xsi:type="dcterms:W3CDTF">2014-09-28T12:26:51Z</dcterms:created>
  <dcterms:modified xsi:type="dcterms:W3CDTF">2025-10-08T16:02:53Z</dcterms:modified>
</cp:coreProperties>
</file>