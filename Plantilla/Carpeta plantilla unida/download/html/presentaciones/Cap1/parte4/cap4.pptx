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311" r:id="rId3"/>
    <p:sldId id="312" r:id="rId4"/>
    <p:sldId id="278" r:id="rId5"/>
    <p:sldId id="313" r:id="rId6"/>
    <p:sldId id="314" r:id="rId7"/>
    <p:sldId id="358" r:id="rId8"/>
    <p:sldId id="315" r:id="rId9"/>
    <p:sldId id="359" r:id="rId10"/>
    <p:sldId id="360" r:id="rId11"/>
    <p:sldId id="317" r:id="rId12"/>
    <p:sldId id="361" r:id="rId13"/>
    <p:sldId id="318" r:id="rId14"/>
    <p:sldId id="362" r:id="rId15"/>
    <p:sldId id="363" r:id="rId16"/>
    <p:sldId id="365" r:id="rId17"/>
    <p:sldId id="366" r:id="rId18"/>
    <p:sldId id="368" r:id="rId19"/>
    <p:sldId id="367" r:id="rId20"/>
    <p:sldId id="369" r:id="rId21"/>
    <p:sldId id="319" r:id="rId22"/>
    <p:sldId id="370" r:id="rId23"/>
    <p:sldId id="371" r:id="rId24"/>
    <p:sldId id="364" r:id="rId25"/>
    <p:sldId id="372" r:id="rId26"/>
    <p:sldId id="373" r:id="rId27"/>
    <p:sldId id="374" r:id="rId28"/>
    <p:sldId id="375" r:id="rId29"/>
    <p:sldId id="376" r:id="rId30"/>
    <p:sldId id="377" r:id="rId31"/>
    <p:sldId id="378" r:id="rId32"/>
    <p:sldId id="320" r:id="rId33"/>
    <p:sldId id="379" r:id="rId34"/>
    <p:sldId id="393" r:id="rId35"/>
    <p:sldId id="275" r:id="rId36"/>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p:cViewPr>
        <p:scale>
          <a:sx n="75" d="100"/>
          <a:sy n="75" d="100"/>
        </p:scale>
        <p:origin x="811"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2591D1-3600-4AD1-BD94-B0D8178A6C7D}" type="datetimeFigureOut">
              <a:rPr lang="es-EC" smtClean="0"/>
              <a:t>8/10/2025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1BE70-A7F9-42F2-A6EF-E7B3517F9005}" type="slidenum">
              <a:rPr lang="es-EC" smtClean="0"/>
              <a:t>‹Nº›</a:t>
            </a:fld>
            <a:endParaRPr lang="es-EC"/>
          </a:p>
        </p:txBody>
      </p:sp>
    </p:spTree>
    <p:extLst>
      <p:ext uri="{BB962C8B-B14F-4D97-AF65-F5344CB8AC3E}">
        <p14:creationId xmlns:p14="http://schemas.microsoft.com/office/powerpoint/2010/main" val="3637474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3</a:t>
            </a:fld>
            <a:endParaRPr lang="es-EC"/>
          </a:p>
        </p:txBody>
      </p:sp>
    </p:spTree>
    <p:extLst>
      <p:ext uri="{BB962C8B-B14F-4D97-AF65-F5344CB8AC3E}">
        <p14:creationId xmlns:p14="http://schemas.microsoft.com/office/powerpoint/2010/main" val="52793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4</a:t>
            </a:fld>
            <a:endParaRPr lang="es-EC"/>
          </a:p>
        </p:txBody>
      </p:sp>
    </p:spTree>
    <p:extLst>
      <p:ext uri="{BB962C8B-B14F-4D97-AF65-F5344CB8AC3E}">
        <p14:creationId xmlns:p14="http://schemas.microsoft.com/office/powerpoint/2010/main" val="2226823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1CE168-2D34-4763-AFF5-8CCC19C217D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FDB246B-4418-4385-B099-DCB6116B40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ED0FD1ED-7A93-4600-B142-F3E51FC45870}"/>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5" name="Marcador de pie de página 4">
            <a:extLst>
              <a:ext uri="{FF2B5EF4-FFF2-40B4-BE49-F238E27FC236}">
                <a16:creationId xmlns:a16="http://schemas.microsoft.com/office/drawing/2014/main" id="{0494485C-1A25-4E6F-ADDB-A15B512F814B}"/>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BAF57668-0390-43C9-9BAC-59BC0CA2C011}"/>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1707626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D1532D-252D-495F-AE5D-22ECA366AC20}"/>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00393DA5-35E8-4893-BA97-F4B85E8A65C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56739823-15C2-42DB-BBAE-9C379DBB7639}"/>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5" name="Marcador de pie de página 4">
            <a:extLst>
              <a:ext uri="{FF2B5EF4-FFF2-40B4-BE49-F238E27FC236}">
                <a16:creationId xmlns:a16="http://schemas.microsoft.com/office/drawing/2014/main" id="{DECDC4E0-17CB-499F-8F03-CD91773ED0A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E96DBBBB-2B78-4D39-A397-5B6FCDAACD63}"/>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2288463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FEE78-514B-42EB-A8D3-2429F218C5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6EC6394-C085-4843-9260-E0481DD7ED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C9667B9-E6BC-48F5-8E6D-0FAF05C471B4}"/>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5" name="Marcador de pie de página 4">
            <a:extLst>
              <a:ext uri="{FF2B5EF4-FFF2-40B4-BE49-F238E27FC236}">
                <a16:creationId xmlns:a16="http://schemas.microsoft.com/office/drawing/2014/main" id="{8B29F843-ED00-43E6-B83B-4679C441CC64}"/>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B6CB8BF8-C39D-4640-B307-E5C8B871C4BD}"/>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196997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4A8C52-77A9-42C7-848B-75B1F41DBB6F}"/>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9F6341-D38B-4D79-ACDC-67AC8B8815F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A06FECED-0370-4451-A79C-D1C617E39CD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4766E04B-0C50-4ED3-92AE-9BA9CD242304}"/>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6" name="Marcador de pie de página 5">
            <a:extLst>
              <a:ext uri="{FF2B5EF4-FFF2-40B4-BE49-F238E27FC236}">
                <a16:creationId xmlns:a16="http://schemas.microsoft.com/office/drawing/2014/main" id="{53203399-134C-4C2D-A6E8-B7F19B7CD927}"/>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B28CD93C-A835-4EE9-A5DD-544607489902}"/>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1810522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445C41-DDEC-4AC0-AA20-F7AC9781BE6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5AE05D6-63A5-48FE-ACD0-1B4045F187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D2F679F-F001-44FE-986D-C8DD04A63AC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52B8503-AB04-4A4B-87B2-26C879216A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C0B51C1-26C4-42BB-936E-7B9B6DEF40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B621E959-D60F-4065-95C9-74A3F1A79682}"/>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8" name="Marcador de pie de página 7">
            <a:extLst>
              <a:ext uri="{FF2B5EF4-FFF2-40B4-BE49-F238E27FC236}">
                <a16:creationId xmlns:a16="http://schemas.microsoft.com/office/drawing/2014/main" id="{C8CD3293-E7B3-4706-B7E9-2AF7B10EAAE4}"/>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35DC3EFA-1E13-45C0-B339-F5A2E5B7B69F}"/>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870395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594368-EC33-480F-B111-FD3C3530BF7E}"/>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6E46EBAC-2643-423A-8EEC-E542B8729C3D}"/>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4" name="Marcador de pie de página 3">
            <a:extLst>
              <a:ext uri="{FF2B5EF4-FFF2-40B4-BE49-F238E27FC236}">
                <a16:creationId xmlns:a16="http://schemas.microsoft.com/office/drawing/2014/main" id="{DBE5DA59-7DDB-4178-B901-C06661587901}"/>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0A1967B8-F041-4543-8B97-2139EB5D70E1}"/>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315802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C8FFDDD-693C-40D9-88D1-21CA33129AFF}"/>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3" name="Marcador de pie de página 2">
            <a:extLst>
              <a:ext uri="{FF2B5EF4-FFF2-40B4-BE49-F238E27FC236}">
                <a16:creationId xmlns:a16="http://schemas.microsoft.com/office/drawing/2014/main" id="{5747A414-E686-4F97-93AE-EB8F15AC9E2C}"/>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4B2EB3BB-A6AD-43BC-98E4-F8CE9FBDB872}"/>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3340285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A36353-0363-486E-BD1F-D80C0731FC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2CE0CF8B-9368-4349-95D4-BAE9BA7745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9951C3FE-CF28-4FBD-BB09-FACBC8A5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ECA0D2-4AF2-4D6F-A29B-6AAA0434748C}"/>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6" name="Marcador de pie de página 5">
            <a:extLst>
              <a:ext uri="{FF2B5EF4-FFF2-40B4-BE49-F238E27FC236}">
                <a16:creationId xmlns:a16="http://schemas.microsoft.com/office/drawing/2014/main" id="{551AAD24-AF02-4F3F-AEA3-34BC6F8B711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BD558C58-60CC-47AA-8951-BAE05FA0A29C}"/>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163931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14781-0AFB-4980-9BA1-2978C08AB6A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7C9F1FB7-287C-491A-8ED6-18B9C1E4A4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A821ECA5-B6B4-40C6-B057-DED261210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4469B6-2A0E-43F6-B9AF-F3F9E463BB9F}"/>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6" name="Marcador de pie de página 5">
            <a:extLst>
              <a:ext uri="{FF2B5EF4-FFF2-40B4-BE49-F238E27FC236}">
                <a16:creationId xmlns:a16="http://schemas.microsoft.com/office/drawing/2014/main" id="{186C65E7-51B9-40CC-9082-4B8ACA216F2C}"/>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5C4EDD3-71FB-4A70-99EF-7507B4A071A3}"/>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1296298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982FCD-C2DE-4675-8592-C145274B2485}"/>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939CAFFC-785A-4FD0-94BA-28FD79614F6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3CAA473-EA2C-4B12-B00E-77C618117CFF}"/>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5" name="Marcador de pie de página 4">
            <a:extLst>
              <a:ext uri="{FF2B5EF4-FFF2-40B4-BE49-F238E27FC236}">
                <a16:creationId xmlns:a16="http://schemas.microsoft.com/office/drawing/2014/main" id="{1F4DAC28-9036-400E-9DA8-4811E4D59B1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82E00339-36E4-4722-B894-571402E97759}"/>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2621811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3E8E54F-D147-467F-9C82-C4BBABC9C72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4B669B99-D79A-4BC2-A594-50AE7C92D5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E027849-22AC-4E52-B63F-2D32D8500D10}"/>
              </a:ext>
            </a:extLst>
          </p:cNvPr>
          <p:cNvSpPr>
            <a:spLocks noGrp="1"/>
          </p:cNvSpPr>
          <p:nvPr>
            <p:ph type="dt" sz="half" idx="10"/>
          </p:nvPr>
        </p:nvSpPr>
        <p:spPr/>
        <p:txBody>
          <a:bodyPr/>
          <a:lstStyle/>
          <a:p>
            <a:fld id="{4A71E250-D8DE-417A-8EB3-FC9BF0011A4E}" type="datetimeFigureOut">
              <a:rPr lang="es-EC" smtClean="0"/>
              <a:t>8/10/2025</a:t>
            </a:fld>
            <a:endParaRPr lang="es-EC"/>
          </a:p>
        </p:txBody>
      </p:sp>
      <p:sp>
        <p:nvSpPr>
          <p:cNvPr id="5" name="Marcador de pie de página 4">
            <a:extLst>
              <a:ext uri="{FF2B5EF4-FFF2-40B4-BE49-F238E27FC236}">
                <a16:creationId xmlns:a16="http://schemas.microsoft.com/office/drawing/2014/main" id="{A4903B1C-411C-4E90-B9D1-FE34C9FFB5A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B2A3E479-4571-4049-B79B-FBF79A03804E}"/>
              </a:ext>
            </a:extLst>
          </p:cNvPr>
          <p:cNvSpPr>
            <a:spLocks noGrp="1"/>
          </p:cNvSpPr>
          <p:nvPr>
            <p:ph type="sldNum" sz="quarter" idx="12"/>
          </p:nvPr>
        </p:nvSpPr>
        <p:spPr/>
        <p:txBody>
          <a:bodyPr/>
          <a:lstStyle/>
          <a:p>
            <a:fld id="{88F705D0-807A-437C-AF45-DB78FC22C0A8}" type="slidenum">
              <a:rPr lang="es-EC" smtClean="0"/>
              <a:t>‹Nº›</a:t>
            </a:fld>
            <a:endParaRPr lang="es-EC"/>
          </a:p>
        </p:txBody>
      </p:sp>
    </p:spTree>
    <p:extLst>
      <p:ext uri="{BB962C8B-B14F-4D97-AF65-F5344CB8AC3E}">
        <p14:creationId xmlns:p14="http://schemas.microsoft.com/office/powerpoint/2010/main" val="4281610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6/10/2025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43052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222662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282089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316447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6/10/2025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709032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6/10/2025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1100270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6/10/2025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619809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2232360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7742203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23037031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43379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115375F-41D2-4031-B3C1-AAE8B99A83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63A23035-EA23-4961-85F1-FD772FAF45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B7FD50B-A452-44CB-88B5-DDD33A3E14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71E250-D8DE-417A-8EB3-FC9BF0011A4E}" type="datetimeFigureOut">
              <a:rPr lang="es-EC" smtClean="0"/>
              <a:t>8/10/2025</a:t>
            </a:fld>
            <a:endParaRPr lang="es-EC"/>
          </a:p>
        </p:txBody>
      </p:sp>
      <p:sp>
        <p:nvSpPr>
          <p:cNvPr id="5" name="Marcador de pie de página 4">
            <a:extLst>
              <a:ext uri="{FF2B5EF4-FFF2-40B4-BE49-F238E27FC236}">
                <a16:creationId xmlns:a16="http://schemas.microsoft.com/office/drawing/2014/main" id="{49B28E82-281D-4359-8D7D-A3617A1FDC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6FE94BE4-E9C6-440B-BE79-177D5F026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F705D0-807A-437C-AF45-DB78FC22C0A8}" type="slidenum">
              <a:rPr lang="es-EC" smtClean="0"/>
              <a:t>‹Nº›</a:t>
            </a:fld>
            <a:endParaRPr lang="es-EC"/>
          </a:p>
        </p:txBody>
      </p:sp>
    </p:spTree>
    <p:extLst>
      <p:ext uri="{BB962C8B-B14F-4D97-AF65-F5344CB8AC3E}">
        <p14:creationId xmlns:p14="http://schemas.microsoft.com/office/powerpoint/2010/main" val="2609999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6/10/2025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886117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559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1: FUNDAMENTOS DEL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135560" y="4293096"/>
            <a:ext cx="8280400" cy="1814206"/>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César Villacís, Margarita Zambrano, Sofía Bayona, Luis Pastor, David Alvarado, Luis García, Kevin Topón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endParaRPr lang="es-EC" sz="1800" dirty="0"/>
          </a:p>
          <a:p>
            <a:r>
              <a:rPr lang="es-ES" sz="1800" dirty="0">
                <a:solidFill>
                  <a:srgbClr val="0070C0"/>
                </a:solidFill>
              </a:rPr>
              <a:t>e-mail: {cjvillacis, mezambrano,kdtopon,lfgarcia}@espe.edu.ec</a:t>
            </a:r>
            <a:endParaRPr lang="en-US" sz="1800" b="1" dirty="0">
              <a:solidFill>
                <a:srgbClr val="0070C0"/>
              </a:solidFill>
            </a:endParaRPr>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r>
              <a:rPr lang="es-MX" sz="3400" b="1" dirty="0">
                <a:solidFill>
                  <a:srgbClr val="FF0000"/>
                </a:solidFill>
              </a:rPr>
              <a:t>Variables </a:t>
            </a:r>
            <a:r>
              <a:rPr lang="es-MX" sz="3600" dirty="0"/>
              <a:t>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506737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1847528" y="1717052"/>
            <a:ext cx="8229600" cy="4156572"/>
          </a:xfrm>
        </p:spPr>
        <p:txBody>
          <a:bodyPr>
            <a:normAutofit/>
          </a:bodyPr>
          <a:lstStyle/>
          <a:p>
            <a:r>
              <a:rPr lang="es-MX" sz="1600" dirty="0"/>
              <a:t>En el programa 1.7, le pedimos al usuario que ingrese su nombre. Luego el programa dice “Hola, ” a aquel usuario, escribiendo su nombre. La computadora sabe a qué nombre debe decirle “Hola, ” debido a que nosotros guardamos el nombre del usuario con la siguiente instrucción: </a:t>
            </a:r>
            <a:endParaRPr lang="es-ES" sz="1600" dirty="0"/>
          </a:p>
          <a:p>
            <a:endParaRPr lang="es-EC" sz="1600" dirty="0"/>
          </a:p>
          <a:p>
            <a:pPr marL="0" indent="0">
              <a:buNone/>
            </a:pPr>
            <a:r>
              <a:rPr lang="es-EC" sz="1600" b="1" dirty="0"/>
              <a:t>        </a:t>
            </a:r>
            <a:r>
              <a:rPr lang="es-EC" sz="1600" b="1" dirty="0" err="1"/>
              <a:t>cin</a:t>
            </a:r>
            <a:r>
              <a:rPr lang="es-EC" sz="1600" b="1" dirty="0"/>
              <a:t> &gt;&gt; </a:t>
            </a:r>
            <a:r>
              <a:rPr lang="es-EC" sz="1600" b="1" dirty="0" err="1"/>
              <a:t>primerNombre</a:t>
            </a:r>
            <a:r>
              <a:rPr lang="es-EC" sz="1600" b="1" dirty="0"/>
              <a:t>;</a:t>
            </a:r>
          </a:p>
          <a:p>
            <a:pPr marL="0" indent="0">
              <a:buNone/>
            </a:pPr>
            <a:endParaRPr lang="es-EC" sz="1600" b="1" dirty="0"/>
          </a:p>
          <a:p>
            <a:r>
              <a:rPr lang="es-MX" sz="1600" dirty="0"/>
              <a:t>El comando cin &gt;&gt; espera que el usuario ingrese un texto que corresponde a su nombre y luego el programa guarda en una variable de tipo string llamada primerNombre. Debido a que el nombre del usuario fue guardado en una variable, nosotros podemos desplegar el valor de la variable que contiene un nombre con la siguiente línea de código:</a:t>
            </a:r>
          </a:p>
          <a:p>
            <a:pPr marL="0" indent="0">
              <a:buNone/>
            </a:pPr>
            <a:r>
              <a:rPr lang="es-MX" sz="1600" dirty="0"/>
              <a:t>  </a:t>
            </a:r>
            <a:endParaRPr lang="es-MX" sz="1600" b="1" dirty="0"/>
          </a:p>
          <a:p>
            <a:pPr marL="0" indent="0">
              <a:buNone/>
            </a:pPr>
            <a:r>
              <a:rPr lang="es-MX" sz="1600" b="1" dirty="0"/>
              <a:t>       </a:t>
            </a:r>
            <a:r>
              <a:rPr lang="es-EC" sz="1600" b="1" dirty="0" err="1"/>
              <a:t>cout</a:t>
            </a:r>
            <a:r>
              <a:rPr lang="es-EC" sz="1600" b="1" dirty="0"/>
              <a:t> &lt;&lt; </a:t>
            </a:r>
            <a:r>
              <a:rPr lang="es-EC" sz="1600" b="1" dirty="0">
                <a:solidFill>
                  <a:srgbClr val="FF0000"/>
                </a:solidFill>
              </a:rPr>
              <a:t>"Hola, " </a:t>
            </a:r>
            <a:r>
              <a:rPr lang="es-EC" sz="1600" b="1" dirty="0"/>
              <a:t>&lt;&lt; </a:t>
            </a:r>
            <a:r>
              <a:rPr lang="es-EC" sz="1600" b="1" dirty="0" err="1"/>
              <a:t>primerNombre</a:t>
            </a:r>
            <a:r>
              <a:rPr lang="es-EC" sz="1600" b="1" dirty="0"/>
              <a:t> &lt;&lt; </a:t>
            </a:r>
            <a:r>
              <a:rPr lang="es-EC" sz="1600" b="1" dirty="0" err="1"/>
              <a:t>endl</a:t>
            </a:r>
            <a:r>
              <a:rPr lang="es-EC" sz="1600" b="1" dirty="0"/>
              <a:t>;</a:t>
            </a:r>
          </a:p>
          <a:p>
            <a:endParaRPr lang="es-MX"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8" name="7 CuadroTexto"/>
          <p:cNvSpPr txBox="1"/>
          <p:nvPr/>
        </p:nvSpPr>
        <p:spPr>
          <a:xfrm>
            <a:off x="2207074" y="1087280"/>
            <a:ext cx="8003726" cy="523220"/>
          </a:xfrm>
          <a:prstGeom prst="rect">
            <a:avLst/>
          </a:prstGeom>
          <a:noFill/>
        </p:spPr>
        <p:txBody>
          <a:bodyPr wrap="square" rtlCol="0">
            <a:spAutoFit/>
          </a:bodyPr>
          <a:lstStyle/>
          <a:p>
            <a:r>
              <a:rPr lang="es-ES" sz="2800" dirty="0">
                <a:solidFill>
                  <a:schemeClr val="bg1">
                    <a:lumMod val="50000"/>
                  </a:schemeClr>
                </a:solidFill>
              </a:rPr>
              <a:t>Importancia</a:t>
            </a:r>
            <a:endParaRPr lang="es-EC" sz="2800" dirty="0">
              <a:solidFill>
                <a:schemeClr val="bg1">
                  <a:lumMod val="50000"/>
                </a:schemeClr>
              </a:solidFill>
            </a:endParaRPr>
          </a:p>
        </p:txBody>
      </p:sp>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1847528" y="1717052"/>
            <a:ext cx="8229600" cy="4156572"/>
          </a:xfrm>
        </p:spPr>
        <p:txBody>
          <a:bodyPr>
            <a:normAutofit/>
          </a:bodyPr>
          <a:lstStyle/>
          <a:p>
            <a:r>
              <a:rPr lang="es-MX" sz="1600" dirty="0"/>
              <a:t>En el programa 1.9, le pedimos al usuario que ingrese una letra. Luego el programa dice “La letra ingresada fue: ” al usuario, escribiendo una letra. La computadora sabe qué letra ingresó el usuario, debido a que nosotros guardamos la letra en una variable con la siguiente instrucción:</a:t>
            </a:r>
            <a:endParaRPr lang="es-ES" sz="1600" dirty="0"/>
          </a:p>
          <a:p>
            <a:endParaRPr lang="es-EC" sz="1600" dirty="0"/>
          </a:p>
          <a:p>
            <a:pPr marL="0" indent="0">
              <a:buNone/>
            </a:pPr>
            <a:r>
              <a:rPr lang="es-EC" sz="1600" b="1" dirty="0"/>
              <a:t>         scanf_s(</a:t>
            </a:r>
            <a:r>
              <a:rPr lang="es-EC" sz="1600" b="1" dirty="0">
                <a:solidFill>
                  <a:srgbClr val="FF0000"/>
                </a:solidFill>
              </a:rPr>
              <a:t>"%c", </a:t>
            </a:r>
            <a:r>
              <a:rPr lang="es-EC" sz="1600" b="1" dirty="0"/>
              <a:t>&amp;letra);</a:t>
            </a:r>
          </a:p>
          <a:p>
            <a:pPr marL="0" indent="0">
              <a:buNone/>
            </a:pPr>
            <a:endParaRPr lang="es-EC" sz="1600" b="1" dirty="0"/>
          </a:p>
          <a:p>
            <a:r>
              <a:rPr lang="es-MX" sz="1600" dirty="0"/>
              <a:t>El comando scanf espera que el usuario ingrese una letra y luego el programa guarda un valor en una variable de tipo char llamada letra. Debido a que la letra que ingresó el usuario fue guardada en una variable, nosotros podemos desplegar el valor de la variable que contiene la letra con la siguiente línea de código:</a:t>
            </a:r>
          </a:p>
          <a:p>
            <a:pPr marL="0" indent="0">
              <a:buNone/>
            </a:pPr>
            <a:r>
              <a:rPr lang="es-MX" sz="1600" dirty="0"/>
              <a:t>  </a:t>
            </a:r>
            <a:endParaRPr lang="es-MX" sz="1600" b="1" dirty="0"/>
          </a:p>
          <a:p>
            <a:pPr marL="0" indent="0">
              <a:buNone/>
            </a:pPr>
            <a:r>
              <a:rPr lang="es-MX" sz="1600" b="1" dirty="0"/>
              <a:t>       printf(</a:t>
            </a:r>
            <a:r>
              <a:rPr lang="es-MX" sz="1600" b="1" dirty="0">
                <a:solidFill>
                  <a:srgbClr val="FF0000"/>
                </a:solidFill>
              </a:rPr>
              <a:t>"La letra ingresada fue: %c\n", </a:t>
            </a:r>
            <a:r>
              <a:rPr lang="es-MX" sz="1600" b="1" dirty="0"/>
              <a:t>letra); </a:t>
            </a:r>
            <a:endParaRPr lang="es-MX"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sp>
        <p:nvSpPr>
          <p:cNvPr id="8" name="7 CuadroTexto"/>
          <p:cNvSpPr txBox="1"/>
          <p:nvPr/>
        </p:nvSpPr>
        <p:spPr>
          <a:xfrm>
            <a:off x="2207074" y="1087280"/>
            <a:ext cx="8003726" cy="523220"/>
          </a:xfrm>
          <a:prstGeom prst="rect">
            <a:avLst/>
          </a:prstGeom>
          <a:noFill/>
        </p:spPr>
        <p:txBody>
          <a:bodyPr wrap="square" rtlCol="0">
            <a:spAutoFit/>
          </a:bodyPr>
          <a:lstStyle/>
          <a:p>
            <a:r>
              <a:rPr lang="es-ES" sz="2800" dirty="0">
                <a:solidFill>
                  <a:schemeClr val="bg1">
                    <a:lumMod val="50000"/>
                  </a:schemeClr>
                </a:solidFill>
              </a:rPr>
              <a:t>Importancia</a:t>
            </a:r>
            <a:endParaRPr lang="es-EC" sz="2800" dirty="0">
              <a:solidFill>
                <a:schemeClr val="bg1">
                  <a:lumMod val="50000"/>
                </a:schemeClr>
              </a:solidFill>
            </a:endParaRPr>
          </a:p>
        </p:txBody>
      </p:sp>
    </p:spTree>
    <p:extLst>
      <p:ext uri="{BB962C8B-B14F-4D97-AF65-F5344CB8AC3E}">
        <p14:creationId xmlns:p14="http://schemas.microsoft.com/office/powerpoint/2010/main" val="2595712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b="1" dirty="0">
                <a:solidFill>
                  <a:srgbClr val="FF0000"/>
                </a:solidFill>
              </a:rPr>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509371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925975" y="1841017"/>
            <a:ext cx="6921659" cy="4515333"/>
          </a:xfrm>
        </p:spPr>
        <p:txBody>
          <a:bodyPr>
            <a:normAutofit fontScale="92500" lnSpcReduction="10000"/>
          </a:bodyPr>
          <a:lstStyle/>
          <a:p>
            <a:r>
              <a:rPr lang="es-MX" sz="2000" dirty="0"/>
              <a:t>Una variable se define como un elemento que ocupa una región física del sistema de memoria de acceso aleatorio (RAM) y almacena un valor de algún tipo (Ceballos, F.J., 2007). En el lenguaje C/C++ se debe declarar las variables previamente antes de usarlas, porque en la compilación del programa se asigna el espacio de memoria a las variables de acuerdo a su tipo de dato. La dirección de memoria donde se ubica una variable se representa en formato hexadecimal (</a:t>
            </a:r>
            <a:r>
              <a:rPr lang="es-MX" sz="2000" dirty="0" err="1"/>
              <a:t>hex</a:t>
            </a:r>
            <a:r>
              <a:rPr lang="es-MX" sz="2000" dirty="0"/>
              <a:t>). Por cuestiones didácticas vamos a utilizar valores en formato decimal (</a:t>
            </a:r>
            <a:r>
              <a:rPr lang="es-MX" sz="2000" dirty="0" err="1"/>
              <a:t>dec</a:t>
            </a:r>
            <a:r>
              <a:rPr lang="es-MX" sz="2000" dirty="0"/>
              <a:t>) para representar las direcciones de memoria de las variables. En la Figura 1.16 se muestra un ejemplo de una variable llamada ‘c’ de tipo entero, cuyo valor almacenado es el número ‘7’ en la dirección de memoria </a:t>
            </a:r>
            <a:r>
              <a:rPr lang="es-MX" sz="2000" dirty="0" err="1"/>
              <a:t>hex</a:t>
            </a:r>
            <a:r>
              <a:rPr lang="es-MX" sz="2000" dirty="0"/>
              <a:t> 1000. </a:t>
            </a:r>
            <a:endParaRPr lang="es-ES" sz="20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sp>
        <p:nvSpPr>
          <p:cNvPr id="9" name="12 CuadroTexto"/>
          <p:cNvSpPr txBox="1"/>
          <p:nvPr/>
        </p:nvSpPr>
        <p:spPr>
          <a:xfrm>
            <a:off x="8002905" y="4841582"/>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Figura 1.16</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Representación gráfica de la variable ‘c’.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0"/>
            <a:ext cx="8229600" cy="1340768"/>
          </a:xfrm>
        </p:spPr>
        <p:txBody>
          <a:bodyPr/>
          <a:lstStyle/>
          <a:p>
            <a:pPr>
              <a:lnSpc>
                <a:spcPts val="4000"/>
              </a:lnSpc>
            </a:pPr>
            <a:r>
              <a:rPr lang="es-ES" dirty="0"/>
              <a:t>Definición de Variable </a:t>
            </a:r>
            <a:endParaRPr lang="en-US" dirty="0"/>
          </a:p>
        </p:txBody>
      </p:sp>
      <p:pic>
        <p:nvPicPr>
          <p:cNvPr id="4" name="Imagen 3">
            <a:extLst>
              <a:ext uri="{FF2B5EF4-FFF2-40B4-BE49-F238E27FC236}">
                <a16:creationId xmlns:a16="http://schemas.microsoft.com/office/drawing/2014/main" id="{C114BB68-F64B-47B6-A5EC-DE6724FFA642}"/>
              </a:ext>
            </a:extLst>
          </p:cNvPr>
          <p:cNvPicPr>
            <a:picLocks noChangeAspect="1"/>
          </p:cNvPicPr>
          <p:nvPr/>
        </p:nvPicPr>
        <p:blipFill>
          <a:blip r:embed="rId2"/>
          <a:stretch>
            <a:fillRect/>
          </a:stretch>
        </p:blipFill>
        <p:spPr>
          <a:xfrm>
            <a:off x="7898850" y="2442258"/>
            <a:ext cx="3153215" cy="2152891"/>
          </a:xfrm>
          <a:prstGeom prst="rect">
            <a:avLst/>
          </a:prstGeom>
        </p:spPr>
      </p:pic>
    </p:spTree>
    <p:extLst>
      <p:ext uri="{BB962C8B-B14F-4D97-AF65-F5344CB8AC3E}">
        <p14:creationId xmlns:p14="http://schemas.microsoft.com/office/powerpoint/2010/main" val="50248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b="1" dirty="0">
                <a:solidFill>
                  <a:srgbClr val="FF0000"/>
                </a:solidFill>
              </a:rPr>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6431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585732" y="1687331"/>
            <a:ext cx="6412374" cy="3483337"/>
          </a:xfrm>
        </p:spPr>
        <p:txBody>
          <a:bodyPr>
            <a:normAutofit/>
          </a:bodyPr>
          <a:lstStyle/>
          <a:p>
            <a:r>
              <a:rPr lang="es-MX" sz="2000" dirty="0"/>
              <a:t>El tipo de dato define un conjunto de valores que puede tener una variable, junto con un conjunto de operaciones que se pueden realizar sobre esa variable (Granizo, E., 2016). Los tipos de datos comunes son los enteros, números reales y caracteres alfanuméricos. La Tabla 1.2 resume todos los tipos de datos que soporta el lenguaje C/C++.</a:t>
            </a:r>
            <a:endParaRPr lang="es-ES" sz="28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245857" y="736414"/>
            <a:ext cx="8229600" cy="1340768"/>
          </a:xfrm>
        </p:spPr>
        <p:txBody>
          <a:bodyPr/>
          <a:lstStyle/>
          <a:p>
            <a:pPr>
              <a:lnSpc>
                <a:spcPts val="4000"/>
              </a:lnSpc>
            </a:pPr>
            <a:r>
              <a:rPr lang="es-ES" dirty="0"/>
              <a:t> </a:t>
            </a:r>
            <a:r>
              <a:rPr lang="es-MX" dirty="0"/>
              <a:t>Tipos de Datos en C/C++ </a:t>
            </a:r>
            <a:br>
              <a:rPr lang="es-MX" dirty="0"/>
            </a:br>
            <a:r>
              <a:rPr lang="es-ES" dirty="0"/>
              <a:t> </a:t>
            </a:r>
            <a:endParaRPr lang="en-US" dirty="0"/>
          </a:p>
        </p:txBody>
      </p:sp>
      <p:pic>
        <p:nvPicPr>
          <p:cNvPr id="7" name="Imagen 6">
            <a:extLst>
              <a:ext uri="{FF2B5EF4-FFF2-40B4-BE49-F238E27FC236}">
                <a16:creationId xmlns:a16="http://schemas.microsoft.com/office/drawing/2014/main" id="{C9824C64-F334-4072-84C6-E6B933C114B8}"/>
              </a:ext>
            </a:extLst>
          </p:cNvPr>
          <p:cNvPicPr>
            <a:picLocks noChangeAspect="1"/>
          </p:cNvPicPr>
          <p:nvPr/>
        </p:nvPicPr>
        <p:blipFill>
          <a:blip r:embed="rId2"/>
          <a:stretch>
            <a:fillRect/>
          </a:stretch>
        </p:blipFill>
        <p:spPr>
          <a:xfrm>
            <a:off x="1721025" y="4221935"/>
            <a:ext cx="7754432" cy="1897465"/>
          </a:xfrm>
          <a:prstGeom prst="rect">
            <a:avLst/>
          </a:prstGeom>
        </p:spPr>
      </p:pic>
    </p:spTree>
    <p:extLst>
      <p:ext uri="{BB962C8B-B14F-4D97-AF65-F5344CB8AC3E}">
        <p14:creationId xmlns:p14="http://schemas.microsoft.com/office/powerpoint/2010/main" val="3560387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292156" y="280997"/>
            <a:ext cx="8229600" cy="1340768"/>
          </a:xfrm>
        </p:spPr>
        <p:txBody>
          <a:bodyPr/>
          <a:lstStyle/>
          <a:p>
            <a:pPr>
              <a:lnSpc>
                <a:spcPts val="4000"/>
              </a:lnSpc>
            </a:pPr>
            <a:r>
              <a:rPr lang="es-ES" dirty="0"/>
              <a:t> </a:t>
            </a:r>
            <a:r>
              <a:rPr lang="es-MX" dirty="0"/>
              <a:t>Tipos de Datos en C/C++ </a:t>
            </a:r>
            <a:br>
              <a:rPr lang="es-MX" dirty="0"/>
            </a:br>
            <a:r>
              <a:rPr lang="es-ES" dirty="0"/>
              <a:t> </a:t>
            </a:r>
            <a:endParaRPr lang="en-US" dirty="0"/>
          </a:p>
        </p:txBody>
      </p:sp>
      <p:pic>
        <p:nvPicPr>
          <p:cNvPr id="9" name="Imagen 8">
            <a:extLst>
              <a:ext uri="{FF2B5EF4-FFF2-40B4-BE49-F238E27FC236}">
                <a16:creationId xmlns:a16="http://schemas.microsoft.com/office/drawing/2014/main" id="{0E6BCFB3-34DD-4F4F-863B-EE66631530E5}"/>
              </a:ext>
            </a:extLst>
          </p:cNvPr>
          <p:cNvPicPr>
            <a:picLocks noChangeAspect="1"/>
          </p:cNvPicPr>
          <p:nvPr/>
        </p:nvPicPr>
        <p:blipFill>
          <a:blip r:embed="rId2"/>
          <a:stretch>
            <a:fillRect/>
          </a:stretch>
        </p:blipFill>
        <p:spPr>
          <a:xfrm>
            <a:off x="1779889" y="1228226"/>
            <a:ext cx="8632221" cy="4734586"/>
          </a:xfrm>
          <a:prstGeom prst="rect">
            <a:avLst/>
          </a:prstGeom>
        </p:spPr>
      </p:pic>
      <p:sp>
        <p:nvSpPr>
          <p:cNvPr id="11" name="12 CuadroTexto">
            <a:extLst>
              <a:ext uri="{FF2B5EF4-FFF2-40B4-BE49-F238E27FC236}">
                <a16:creationId xmlns:a16="http://schemas.microsoft.com/office/drawing/2014/main" id="{EA7F30AA-3D94-4A5A-9E36-4FE07700598C}"/>
              </a:ext>
            </a:extLst>
          </p:cNvPr>
          <p:cNvSpPr txBox="1"/>
          <p:nvPr/>
        </p:nvSpPr>
        <p:spPr>
          <a:xfrm>
            <a:off x="1937771" y="6033185"/>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Tabla 1.2</a:t>
            </a:r>
            <a:r>
              <a:rPr lang="es-ES" sz="1200" dirty="0">
                <a:solidFill>
                  <a:schemeClr val="tx1">
                    <a:lumMod val="50000"/>
                    <a:lumOff val="50000"/>
                  </a:schemeClr>
                </a:solidFill>
                <a:latin typeface="+mj-lt"/>
              </a:rPr>
              <a:t>. Tipo de Datos</a:t>
            </a:r>
            <a:r>
              <a:rPr lang="es-MX"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75605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b="1" dirty="0">
                <a:solidFill>
                  <a:srgbClr val="FF0000"/>
                </a:solidFill>
              </a:rPr>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411125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345092" y="791268"/>
            <a:ext cx="9804924" cy="4561954"/>
          </a:xfrm>
        </p:spPr>
        <p:txBody>
          <a:bodyPr>
            <a:noAutofit/>
          </a:bodyPr>
          <a:lstStyle/>
          <a:p>
            <a:r>
              <a:rPr lang="es-MX" sz="2000" dirty="0"/>
              <a:t>Una variable se declara de acuerdo con la siguiente sintaxis: </a:t>
            </a:r>
          </a:p>
          <a:p>
            <a:pPr marL="0" indent="0">
              <a:buNone/>
            </a:pPr>
            <a:r>
              <a:rPr lang="es-MX" sz="2000" b="1" dirty="0"/>
              <a:t>     Sintaxis: </a:t>
            </a:r>
          </a:p>
          <a:p>
            <a:pPr marL="0" indent="0">
              <a:buNone/>
            </a:pPr>
            <a:r>
              <a:rPr lang="es-MX" sz="2000" dirty="0"/>
              <a:t>     Tipo_de_Dato Nombre_de_la_Variable; </a:t>
            </a:r>
          </a:p>
          <a:p>
            <a:pPr marL="0" indent="0">
              <a:buNone/>
            </a:pPr>
            <a:r>
              <a:rPr lang="es-MX" sz="2000" dirty="0"/>
              <a:t>     Tipo_de_Dato Tipo de dato definido por el lenguaje C/C++. </a:t>
            </a:r>
          </a:p>
          <a:p>
            <a:pPr marL="0" indent="0">
              <a:buNone/>
            </a:pPr>
            <a:r>
              <a:rPr lang="es-MX" sz="2000" dirty="0"/>
              <a:t>     Nombre_de_la_Variable Identificador de la variable.</a:t>
            </a:r>
          </a:p>
          <a:p>
            <a:pPr marL="0" indent="0">
              <a:buNone/>
            </a:pPr>
            <a:endParaRPr lang="es-MX" sz="2000" dirty="0"/>
          </a:p>
          <a:p>
            <a:pPr marL="0" indent="0">
              <a:buNone/>
            </a:pPr>
            <a:r>
              <a:rPr lang="es-MX" sz="2000" dirty="0"/>
              <a:t>     </a:t>
            </a:r>
            <a:r>
              <a:rPr lang="es-MX" sz="2000" b="1" dirty="0"/>
              <a:t>Por ejemplo: char letra; </a:t>
            </a:r>
          </a:p>
          <a:p>
            <a:pPr marL="0" indent="0">
              <a:buNone/>
            </a:pPr>
            <a:r>
              <a:rPr lang="es-MX" sz="2000" b="1" dirty="0"/>
              <a:t>                            int num_entero; </a:t>
            </a:r>
          </a:p>
          <a:p>
            <a:pPr marL="0" indent="0">
              <a:buNone/>
            </a:pPr>
            <a:r>
              <a:rPr lang="es-MX" sz="2000" b="1" dirty="0"/>
              <a:t>                            float num_flotante; </a:t>
            </a:r>
          </a:p>
          <a:p>
            <a:pPr marL="0" indent="0">
              <a:buNone/>
            </a:pPr>
            <a:endParaRPr lang="es-MX" sz="2000" dirty="0"/>
          </a:p>
          <a:p>
            <a:r>
              <a:rPr lang="es-MX" sz="2000" dirty="0"/>
              <a:t>Conforme a este ejemplo se puede ver que se han declarado tres variables, cada una con un nombre específico y con un tipo de dato. Sin embargo, estas variables que han sido declaradas no están definidas, es decir, el valor de almacenamiento de cada una de ellas es desconocido. Consecuentemente, es común decir que estas variables contienen basura (garbage). </a:t>
            </a:r>
            <a:endParaRPr lang="es-ES" sz="20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970649"/>
            <a:ext cx="8229600" cy="1340768"/>
          </a:xfrm>
        </p:spPr>
        <p:txBody>
          <a:bodyPr/>
          <a:lstStyle/>
          <a:p>
            <a:pPr>
              <a:lnSpc>
                <a:spcPts val="4000"/>
              </a:lnSpc>
            </a:pPr>
            <a:r>
              <a:rPr lang="es-ES" dirty="0"/>
              <a:t> </a:t>
            </a:r>
            <a:r>
              <a:rPr lang="es-MX" sz="3600" dirty="0"/>
              <a:t>Declaración y Definición de Variables </a:t>
            </a:r>
            <a:br>
              <a:rPr lang="es-MX" dirty="0"/>
            </a:br>
            <a:br>
              <a:rPr lang="es-MX" dirty="0"/>
            </a:br>
            <a:br>
              <a:rPr lang="es-MX" dirty="0"/>
            </a:br>
            <a:r>
              <a:rPr lang="es-ES" dirty="0"/>
              <a:t> </a:t>
            </a:r>
            <a:endParaRPr lang="en-US" dirty="0"/>
          </a:p>
        </p:txBody>
      </p:sp>
    </p:spTree>
    <p:extLst>
      <p:ext uri="{BB962C8B-B14F-4D97-AF65-F5344CB8AC3E}">
        <p14:creationId xmlns:p14="http://schemas.microsoft.com/office/powerpoint/2010/main" val="2980328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b="1" dirty="0">
                <a:solidFill>
                  <a:srgbClr val="FF0000"/>
                </a:solidFill>
              </a:rPr>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927287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407903" y="868540"/>
            <a:ext cx="8229600" cy="1340768"/>
          </a:xfrm>
        </p:spPr>
        <p:txBody>
          <a:bodyPr/>
          <a:lstStyle/>
          <a:p>
            <a:pPr>
              <a:lnSpc>
                <a:spcPts val="4000"/>
              </a:lnSpc>
            </a:pPr>
            <a:r>
              <a:rPr lang="es-MX" sz="4000" dirty="0"/>
              <a:t>Aplicación del uso de variables con las funciones cout y cin</a:t>
            </a:r>
            <a:br>
              <a:rPr lang="es-MX" sz="4000" dirty="0"/>
            </a:br>
            <a:r>
              <a:rPr lang="es-MX" sz="4000" dirty="0"/>
              <a:t> </a:t>
            </a:r>
            <a:br>
              <a:rPr lang="es-MX" sz="6600" dirty="0"/>
            </a:br>
            <a:r>
              <a:rPr lang="es-ES" sz="6600" dirty="0"/>
              <a:t> </a:t>
            </a:r>
            <a:endParaRPr lang="en-US" sz="6600" dirty="0"/>
          </a:p>
        </p:txBody>
      </p:sp>
      <p:sp>
        <p:nvSpPr>
          <p:cNvPr id="11" name="12 CuadroTexto">
            <a:extLst>
              <a:ext uri="{FF2B5EF4-FFF2-40B4-BE49-F238E27FC236}">
                <a16:creationId xmlns:a16="http://schemas.microsoft.com/office/drawing/2014/main" id="{EA7F30AA-3D94-4A5A-9E36-4FE07700598C}"/>
              </a:ext>
            </a:extLst>
          </p:cNvPr>
          <p:cNvSpPr txBox="1"/>
          <p:nvPr/>
        </p:nvSpPr>
        <p:spPr>
          <a:xfrm>
            <a:off x="4740047" y="5495465"/>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Programa 1.10</a:t>
            </a:r>
            <a:r>
              <a:rPr lang="es-ES" sz="1200" dirty="0">
                <a:solidFill>
                  <a:schemeClr val="tx1">
                    <a:lumMod val="50000"/>
                    <a:lumOff val="50000"/>
                  </a:schemeClr>
                </a:solidFill>
                <a:latin typeface="+mj-lt"/>
              </a:rPr>
              <a:t>. Código del </a:t>
            </a:r>
            <a:r>
              <a:rPr lang="es-ES" sz="1200" dirty="0" err="1">
                <a:solidFill>
                  <a:schemeClr val="tx1">
                    <a:lumMod val="50000"/>
                    <a:lumOff val="50000"/>
                  </a:schemeClr>
                </a:solidFill>
                <a:latin typeface="+mj-lt"/>
              </a:rPr>
              <a:t>Programa.Fuente</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
        <p:nvSpPr>
          <p:cNvPr id="7" name="4 Marcador de contenido">
            <a:extLst>
              <a:ext uri="{FF2B5EF4-FFF2-40B4-BE49-F238E27FC236}">
                <a16:creationId xmlns:a16="http://schemas.microsoft.com/office/drawing/2014/main" id="{05CCC5EB-25A4-45A9-B002-C45B052551A0}"/>
              </a:ext>
            </a:extLst>
          </p:cNvPr>
          <p:cNvSpPr>
            <a:spLocks noGrp="1"/>
          </p:cNvSpPr>
          <p:nvPr>
            <p:ph idx="1"/>
          </p:nvPr>
        </p:nvSpPr>
        <p:spPr>
          <a:xfrm>
            <a:off x="972274" y="1733630"/>
            <a:ext cx="3912243" cy="2120740"/>
          </a:xfrm>
        </p:spPr>
        <p:txBody>
          <a:bodyPr>
            <a:normAutofit fontScale="85000" lnSpcReduction="10000"/>
          </a:bodyPr>
          <a:lstStyle/>
          <a:p>
            <a:r>
              <a:rPr lang="es-MX" sz="2000" dirty="0"/>
              <a:t>Escribir un programa que permita declarar tres variables, una de tipo caracter, otra de tipo entero y otra de tipo flotante; y luego se imprima el valor asignado por defecto a esas variables, utilizando las funciones ‘cout’ y ‘cin’.</a:t>
            </a:r>
            <a:endParaRPr lang="es-ES" sz="2800" dirty="0">
              <a:solidFill>
                <a:schemeClr val="bg1">
                  <a:lumMod val="50000"/>
                </a:schemeClr>
              </a:solidFill>
            </a:endParaRPr>
          </a:p>
        </p:txBody>
      </p:sp>
      <p:pic>
        <p:nvPicPr>
          <p:cNvPr id="4" name="Imagen 3">
            <a:extLst>
              <a:ext uri="{FF2B5EF4-FFF2-40B4-BE49-F238E27FC236}">
                <a16:creationId xmlns:a16="http://schemas.microsoft.com/office/drawing/2014/main" id="{7197712D-E6C1-45A8-AB8C-605D3EFA28AB}"/>
              </a:ext>
            </a:extLst>
          </p:cNvPr>
          <p:cNvPicPr>
            <a:picLocks noChangeAspect="1"/>
          </p:cNvPicPr>
          <p:nvPr/>
        </p:nvPicPr>
        <p:blipFill rotWithShape="1">
          <a:blip r:embed="rId2"/>
          <a:srcRect l="-1" r="2099"/>
          <a:stretch/>
        </p:blipFill>
        <p:spPr>
          <a:xfrm>
            <a:off x="4573841" y="1110661"/>
            <a:ext cx="6645885" cy="4341015"/>
          </a:xfrm>
          <a:prstGeom prst="rect">
            <a:avLst/>
          </a:prstGeom>
        </p:spPr>
      </p:pic>
    </p:spTree>
    <p:extLst>
      <p:ext uri="{BB962C8B-B14F-4D97-AF65-F5344CB8AC3E}">
        <p14:creationId xmlns:p14="http://schemas.microsoft.com/office/powerpoint/2010/main" val="3718271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407903" y="868540"/>
            <a:ext cx="8229600" cy="1340768"/>
          </a:xfrm>
        </p:spPr>
        <p:txBody>
          <a:bodyPr/>
          <a:lstStyle/>
          <a:p>
            <a:pPr>
              <a:lnSpc>
                <a:spcPts val="4000"/>
              </a:lnSpc>
            </a:pPr>
            <a:r>
              <a:rPr lang="es-MX" sz="4000" dirty="0"/>
              <a:t>Aplicación del uso de variables con las funciones cout y cin</a:t>
            </a:r>
            <a:br>
              <a:rPr lang="es-MX" sz="4000" dirty="0"/>
            </a:br>
            <a:r>
              <a:rPr lang="es-MX" sz="4000" dirty="0"/>
              <a:t> </a:t>
            </a:r>
            <a:br>
              <a:rPr lang="es-MX" sz="6600" dirty="0"/>
            </a:br>
            <a:r>
              <a:rPr lang="es-ES" sz="6600" dirty="0"/>
              <a:t> </a:t>
            </a:r>
            <a:endParaRPr lang="en-US" sz="6600" dirty="0"/>
          </a:p>
        </p:txBody>
      </p:sp>
      <p:sp>
        <p:nvSpPr>
          <p:cNvPr id="11" name="12 CuadroTexto">
            <a:extLst>
              <a:ext uri="{FF2B5EF4-FFF2-40B4-BE49-F238E27FC236}">
                <a16:creationId xmlns:a16="http://schemas.microsoft.com/office/drawing/2014/main" id="{EA7F30AA-3D94-4A5A-9E36-4FE07700598C}"/>
              </a:ext>
            </a:extLst>
          </p:cNvPr>
          <p:cNvSpPr txBox="1"/>
          <p:nvPr/>
        </p:nvSpPr>
        <p:spPr>
          <a:xfrm>
            <a:off x="2090171" y="5154522"/>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Salida 1.10</a:t>
            </a:r>
            <a:r>
              <a:rPr lang="es-ES" sz="1200" dirty="0">
                <a:solidFill>
                  <a:schemeClr val="tx1">
                    <a:lumMod val="50000"/>
                    <a:lumOff val="50000"/>
                  </a:schemeClr>
                </a:solidFill>
                <a:latin typeface="+mj-lt"/>
              </a:rPr>
              <a:t>. Salida </a:t>
            </a:r>
            <a:r>
              <a:rPr lang="es-ES" sz="1200" dirty="0" err="1">
                <a:solidFill>
                  <a:schemeClr val="tx1">
                    <a:lumMod val="50000"/>
                    <a:lumOff val="50000"/>
                  </a:schemeClr>
                </a:solidFill>
                <a:latin typeface="+mj-lt"/>
              </a:rPr>
              <a:t>Programa.Fuente</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
        <p:nvSpPr>
          <p:cNvPr id="7" name="4 Marcador de contenido">
            <a:extLst>
              <a:ext uri="{FF2B5EF4-FFF2-40B4-BE49-F238E27FC236}">
                <a16:creationId xmlns:a16="http://schemas.microsoft.com/office/drawing/2014/main" id="{05CCC5EB-25A4-45A9-B002-C45B052551A0}"/>
              </a:ext>
            </a:extLst>
          </p:cNvPr>
          <p:cNvSpPr>
            <a:spLocks noGrp="1"/>
          </p:cNvSpPr>
          <p:nvPr>
            <p:ph idx="1"/>
          </p:nvPr>
        </p:nvSpPr>
        <p:spPr>
          <a:xfrm>
            <a:off x="1701479" y="1477967"/>
            <a:ext cx="7144857" cy="2120740"/>
          </a:xfrm>
        </p:spPr>
        <p:txBody>
          <a:bodyPr>
            <a:normAutofit lnSpcReduction="10000"/>
          </a:bodyPr>
          <a:lstStyle/>
          <a:p>
            <a:r>
              <a:rPr lang="es-MX" sz="2000" dirty="0"/>
              <a:t>En el programa 1.10 se utiliza la función ‘cout’ que como se indicó en la sección 1.3.1, sirve para imprimir mensajes de texto y datos (salida por consola). En este caso para imprimir los contenidos de las variables que tienen valores por defecto, después de haber sido declaradas e inicializadas, se utiliza el operador de inserción ‘&lt;</a:t>
            </a:r>
            <a:endParaRPr lang="es-ES" sz="2800" dirty="0">
              <a:solidFill>
                <a:schemeClr val="bg1">
                  <a:lumMod val="50000"/>
                </a:schemeClr>
              </a:solidFill>
            </a:endParaRPr>
          </a:p>
        </p:txBody>
      </p:sp>
      <p:pic>
        <p:nvPicPr>
          <p:cNvPr id="9" name="Imagen 8">
            <a:extLst>
              <a:ext uri="{FF2B5EF4-FFF2-40B4-BE49-F238E27FC236}">
                <a16:creationId xmlns:a16="http://schemas.microsoft.com/office/drawing/2014/main" id="{B88A9501-F22B-4349-8A8C-84337A9F5436}"/>
              </a:ext>
            </a:extLst>
          </p:cNvPr>
          <p:cNvPicPr>
            <a:picLocks noChangeAspect="1"/>
          </p:cNvPicPr>
          <p:nvPr/>
        </p:nvPicPr>
        <p:blipFill>
          <a:blip r:embed="rId2"/>
          <a:stretch>
            <a:fillRect/>
          </a:stretch>
        </p:blipFill>
        <p:spPr>
          <a:xfrm>
            <a:off x="1896823" y="3660369"/>
            <a:ext cx="6754168" cy="1432491"/>
          </a:xfrm>
          <a:prstGeom prst="rect">
            <a:avLst/>
          </a:prstGeom>
        </p:spPr>
      </p:pic>
    </p:spTree>
    <p:extLst>
      <p:ext uri="{BB962C8B-B14F-4D97-AF65-F5344CB8AC3E}">
        <p14:creationId xmlns:p14="http://schemas.microsoft.com/office/powerpoint/2010/main" val="1845652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b="1" dirty="0">
                <a:solidFill>
                  <a:srgbClr val="FF0000"/>
                </a:solidFill>
              </a:rPr>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817848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407903" y="868540"/>
            <a:ext cx="8229600" cy="1340768"/>
          </a:xfrm>
        </p:spPr>
        <p:txBody>
          <a:bodyPr/>
          <a:lstStyle/>
          <a:p>
            <a:pPr>
              <a:lnSpc>
                <a:spcPts val="4000"/>
              </a:lnSpc>
            </a:pPr>
            <a:r>
              <a:rPr lang="es-MX" sz="4000" dirty="0"/>
              <a:t>Aplicación del uso de variables con las funciones printf y scanf</a:t>
            </a:r>
            <a:br>
              <a:rPr lang="es-MX" sz="4000" dirty="0"/>
            </a:br>
            <a:r>
              <a:rPr lang="es-MX" sz="4000" dirty="0"/>
              <a:t> </a:t>
            </a:r>
            <a:br>
              <a:rPr lang="es-MX" sz="6600" dirty="0"/>
            </a:br>
            <a:r>
              <a:rPr lang="es-ES" sz="6600" dirty="0"/>
              <a:t> </a:t>
            </a:r>
            <a:endParaRPr lang="en-US" sz="6600" dirty="0"/>
          </a:p>
        </p:txBody>
      </p:sp>
      <p:sp>
        <p:nvSpPr>
          <p:cNvPr id="11" name="12 CuadroTexto">
            <a:extLst>
              <a:ext uri="{FF2B5EF4-FFF2-40B4-BE49-F238E27FC236}">
                <a16:creationId xmlns:a16="http://schemas.microsoft.com/office/drawing/2014/main" id="{EA7F30AA-3D94-4A5A-9E36-4FE07700598C}"/>
              </a:ext>
            </a:extLst>
          </p:cNvPr>
          <p:cNvSpPr txBox="1"/>
          <p:nvPr/>
        </p:nvSpPr>
        <p:spPr>
          <a:xfrm>
            <a:off x="5109433" y="5587559"/>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Programa 1.11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
        <p:nvSpPr>
          <p:cNvPr id="7" name="4 Marcador de contenido">
            <a:extLst>
              <a:ext uri="{FF2B5EF4-FFF2-40B4-BE49-F238E27FC236}">
                <a16:creationId xmlns:a16="http://schemas.microsoft.com/office/drawing/2014/main" id="{05CCC5EB-25A4-45A9-B002-C45B052551A0}"/>
              </a:ext>
            </a:extLst>
          </p:cNvPr>
          <p:cNvSpPr>
            <a:spLocks noGrp="1"/>
          </p:cNvSpPr>
          <p:nvPr>
            <p:ph idx="1"/>
          </p:nvPr>
        </p:nvSpPr>
        <p:spPr>
          <a:xfrm>
            <a:off x="972274" y="1733630"/>
            <a:ext cx="3912243" cy="2120740"/>
          </a:xfrm>
        </p:spPr>
        <p:txBody>
          <a:bodyPr>
            <a:normAutofit fontScale="85000" lnSpcReduction="10000"/>
          </a:bodyPr>
          <a:lstStyle/>
          <a:p>
            <a:r>
              <a:rPr lang="es-MX" sz="2000" dirty="0"/>
              <a:t>Escribir un programa que permita declarar tres variables, una de tipo caracter, otra de tipo entero y otra de tipo flotante; y luego se imprima el valor asignado por defecto a esas variables, utilizando las funciones printf y scanf.</a:t>
            </a:r>
            <a:endParaRPr lang="es-ES" sz="2800" dirty="0">
              <a:solidFill>
                <a:schemeClr val="bg1">
                  <a:lumMod val="50000"/>
                </a:schemeClr>
              </a:solidFill>
            </a:endParaRPr>
          </a:p>
        </p:txBody>
      </p:sp>
      <p:pic>
        <p:nvPicPr>
          <p:cNvPr id="5" name="Imagen 4">
            <a:extLst>
              <a:ext uri="{FF2B5EF4-FFF2-40B4-BE49-F238E27FC236}">
                <a16:creationId xmlns:a16="http://schemas.microsoft.com/office/drawing/2014/main" id="{E817A71B-3ADD-42F7-AB75-8CCD6907547B}"/>
              </a:ext>
            </a:extLst>
          </p:cNvPr>
          <p:cNvPicPr>
            <a:picLocks noChangeAspect="1"/>
          </p:cNvPicPr>
          <p:nvPr/>
        </p:nvPicPr>
        <p:blipFill rotWithShape="1">
          <a:blip r:embed="rId2"/>
          <a:srcRect r="27260"/>
          <a:stretch/>
        </p:blipFill>
        <p:spPr>
          <a:xfrm>
            <a:off x="5066046" y="1197242"/>
            <a:ext cx="4809067" cy="2238687"/>
          </a:xfrm>
          <a:prstGeom prst="rect">
            <a:avLst/>
          </a:prstGeom>
        </p:spPr>
      </p:pic>
      <p:pic>
        <p:nvPicPr>
          <p:cNvPr id="9" name="Imagen 8">
            <a:extLst>
              <a:ext uri="{FF2B5EF4-FFF2-40B4-BE49-F238E27FC236}">
                <a16:creationId xmlns:a16="http://schemas.microsoft.com/office/drawing/2014/main" id="{6451A81C-7B2B-4717-90D1-C2F9BE10FB98}"/>
              </a:ext>
            </a:extLst>
          </p:cNvPr>
          <p:cNvPicPr>
            <a:picLocks noChangeAspect="1"/>
          </p:cNvPicPr>
          <p:nvPr/>
        </p:nvPicPr>
        <p:blipFill>
          <a:blip r:embed="rId3"/>
          <a:stretch>
            <a:fillRect/>
          </a:stretch>
        </p:blipFill>
        <p:spPr>
          <a:xfrm>
            <a:off x="4588548" y="3501293"/>
            <a:ext cx="5048955" cy="2086266"/>
          </a:xfrm>
          <a:prstGeom prst="rect">
            <a:avLst/>
          </a:prstGeom>
        </p:spPr>
      </p:pic>
    </p:spTree>
    <p:extLst>
      <p:ext uri="{BB962C8B-B14F-4D97-AF65-F5344CB8AC3E}">
        <p14:creationId xmlns:p14="http://schemas.microsoft.com/office/powerpoint/2010/main" val="690396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407903" y="868540"/>
            <a:ext cx="8229600" cy="1340768"/>
          </a:xfrm>
        </p:spPr>
        <p:txBody>
          <a:bodyPr/>
          <a:lstStyle/>
          <a:p>
            <a:pPr>
              <a:lnSpc>
                <a:spcPts val="4000"/>
              </a:lnSpc>
            </a:pPr>
            <a:r>
              <a:rPr lang="es-MX" sz="4000" dirty="0"/>
              <a:t>Aplicación del uso de variables con las funciones cout y cin</a:t>
            </a:r>
            <a:br>
              <a:rPr lang="es-MX" sz="4000" dirty="0"/>
            </a:br>
            <a:r>
              <a:rPr lang="es-MX" sz="4000" dirty="0"/>
              <a:t> </a:t>
            </a:r>
            <a:br>
              <a:rPr lang="es-MX" sz="6600" dirty="0"/>
            </a:br>
            <a:r>
              <a:rPr lang="es-ES" sz="6600" dirty="0"/>
              <a:t> </a:t>
            </a:r>
            <a:endParaRPr lang="en-US" sz="6600" dirty="0"/>
          </a:p>
        </p:txBody>
      </p:sp>
      <p:sp>
        <p:nvSpPr>
          <p:cNvPr id="11" name="12 CuadroTexto">
            <a:extLst>
              <a:ext uri="{FF2B5EF4-FFF2-40B4-BE49-F238E27FC236}">
                <a16:creationId xmlns:a16="http://schemas.microsoft.com/office/drawing/2014/main" id="{EA7F30AA-3D94-4A5A-9E36-4FE07700598C}"/>
              </a:ext>
            </a:extLst>
          </p:cNvPr>
          <p:cNvSpPr txBox="1"/>
          <p:nvPr/>
        </p:nvSpPr>
        <p:spPr>
          <a:xfrm>
            <a:off x="2069851" y="2227817"/>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Salida 1.11</a:t>
            </a:r>
            <a:r>
              <a:rPr lang="es-ES" sz="1200" dirty="0">
                <a:solidFill>
                  <a:schemeClr val="tx1">
                    <a:lumMod val="50000"/>
                    <a:lumOff val="50000"/>
                  </a:schemeClr>
                </a:solidFill>
                <a:latin typeface="+mj-lt"/>
              </a:rPr>
              <a:t>. Salida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
        <p:nvSpPr>
          <p:cNvPr id="7" name="4 Marcador de contenido">
            <a:extLst>
              <a:ext uri="{FF2B5EF4-FFF2-40B4-BE49-F238E27FC236}">
                <a16:creationId xmlns:a16="http://schemas.microsoft.com/office/drawing/2014/main" id="{05CCC5EB-25A4-45A9-B002-C45B052551A0}"/>
              </a:ext>
            </a:extLst>
          </p:cNvPr>
          <p:cNvSpPr>
            <a:spLocks noGrp="1"/>
          </p:cNvSpPr>
          <p:nvPr>
            <p:ph idx="1"/>
          </p:nvPr>
        </p:nvSpPr>
        <p:spPr>
          <a:xfrm>
            <a:off x="1610329" y="2734203"/>
            <a:ext cx="7144857" cy="2699586"/>
          </a:xfrm>
        </p:spPr>
        <p:txBody>
          <a:bodyPr>
            <a:normAutofit lnSpcReduction="10000"/>
          </a:bodyPr>
          <a:lstStyle/>
          <a:p>
            <a:r>
              <a:rPr lang="es-MX" sz="1800" dirty="0"/>
              <a:t>En el programa 1.11 se utiliza la función printf() que como se indicó en la sección 1.3.3, sirve para imprimir mensajes de texto y datos (salida por consola). En este caso para imprimir los contenidos de las variables que tienen valores por defecto, después de haber sido declaradas e inicializadas, se utilizan especificadores de formato, para imprimir cada tipo de dato (char, int, float), que como se muestra en la Figura 1.17, el especificador de formato correspondiente a un tipo de dato específico, se reemplaza por el valor almacenado en una variable.</a:t>
            </a:r>
            <a:endParaRPr lang="es-ES" sz="3200" dirty="0">
              <a:solidFill>
                <a:schemeClr val="bg1">
                  <a:lumMod val="50000"/>
                </a:schemeClr>
              </a:solidFill>
            </a:endParaRPr>
          </a:p>
        </p:txBody>
      </p:sp>
      <p:pic>
        <p:nvPicPr>
          <p:cNvPr id="4" name="Imagen 3">
            <a:extLst>
              <a:ext uri="{FF2B5EF4-FFF2-40B4-BE49-F238E27FC236}">
                <a16:creationId xmlns:a16="http://schemas.microsoft.com/office/drawing/2014/main" id="{E2879A58-96EC-45DB-8EF2-1EE1BAA03A8A}"/>
              </a:ext>
            </a:extLst>
          </p:cNvPr>
          <p:cNvPicPr>
            <a:picLocks noChangeAspect="1"/>
          </p:cNvPicPr>
          <p:nvPr/>
        </p:nvPicPr>
        <p:blipFill>
          <a:blip r:embed="rId2"/>
          <a:stretch>
            <a:fillRect/>
          </a:stretch>
        </p:blipFill>
        <p:spPr>
          <a:xfrm>
            <a:off x="1943806" y="687197"/>
            <a:ext cx="6477904" cy="1433486"/>
          </a:xfrm>
          <a:prstGeom prst="rect">
            <a:avLst/>
          </a:prstGeom>
        </p:spPr>
      </p:pic>
    </p:spTree>
    <p:extLst>
      <p:ext uri="{BB962C8B-B14F-4D97-AF65-F5344CB8AC3E}">
        <p14:creationId xmlns:p14="http://schemas.microsoft.com/office/powerpoint/2010/main" val="341394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407903" y="868540"/>
            <a:ext cx="8229600" cy="1340768"/>
          </a:xfrm>
        </p:spPr>
        <p:txBody>
          <a:bodyPr/>
          <a:lstStyle/>
          <a:p>
            <a:pPr>
              <a:lnSpc>
                <a:spcPts val="4000"/>
              </a:lnSpc>
            </a:pPr>
            <a:r>
              <a:rPr lang="es-MX" sz="4000" dirty="0"/>
              <a:t>Aplicación del uso de variables con las funciones cout y cin</a:t>
            </a:r>
            <a:br>
              <a:rPr lang="es-MX" sz="4000" dirty="0"/>
            </a:br>
            <a:r>
              <a:rPr lang="es-MX" sz="4000" dirty="0"/>
              <a:t> </a:t>
            </a:r>
            <a:br>
              <a:rPr lang="es-MX" sz="6600" dirty="0"/>
            </a:br>
            <a:r>
              <a:rPr lang="es-ES" sz="6600" dirty="0"/>
              <a:t> </a:t>
            </a:r>
            <a:endParaRPr lang="en-US" sz="6600" dirty="0"/>
          </a:p>
        </p:txBody>
      </p:sp>
      <p:sp>
        <p:nvSpPr>
          <p:cNvPr id="11" name="12 CuadroTexto">
            <a:extLst>
              <a:ext uri="{FF2B5EF4-FFF2-40B4-BE49-F238E27FC236}">
                <a16:creationId xmlns:a16="http://schemas.microsoft.com/office/drawing/2014/main" id="{EA7F30AA-3D94-4A5A-9E36-4FE07700598C}"/>
              </a:ext>
            </a:extLst>
          </p:cNvPr>
          <p:cNvSpPr txBox="1"/>
          <p:nvPr/>
        </p:nvSpPr>
        <p:spPr>
          <a:xfrm>
            <a:off x="2347247" y="5078774"/>
            <a:ext cx="3744416" cy="830997"/>
          </a:xfrm>
          <a:prstGeom prst="rect">
            <a:avLst/>
          </a:prstGeom>
          <a:noFill/>
        </p:spPr>
        <p:txBody>
          <a:bodyPr wrap="square" rtlCol="0">
            <a:spAutoFit/>
          </a:bodyPr>
          <a:lstStyle/>
          <a:p>
            <a:r>
              <a:rPr lang="es-ES" sz="1200" b="1" dirty="0">
                <a:solidFill>
                  <a:schemeClr val="tx1">
                    <a:lumMod val="50000"/>
                    <a:lumOff val="50000"/>
                  </a:schemeClr>
                </a:solidFill>
                <a:latin typeface="+mj-lt"/>
              </a:rPr>
              <a:t>Figura 1.17</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Utilización de especificadores de formato en la función printf().Fuente </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pic>
        <p:nvPicPr>
          <p:cNvPr id="16" name="Imagen 15">
            <a:extLst>
              <a:ext uri="{FF2B5EF4-FFF2-40B4-BE49-F238E27FC236}">
                <a16:creationId xmlns:a16="http://schemas.microsoft.com/office/drawing/2014/main" id="{1DC0EC1A-411C-4987-AC34-A190C3B460F9}"/>
              </a:ext>
            </a:extLst>
          </p:cNvPr>
          <p:cNvPicPr>
            <a:picLocks noChangeAspect="1"/>
          </p:cNvPicPr>
          <p:nvPr/>
        </p:nvPicPr>
        <p:blipFill>
          <a:blip r:embed="rId2"/>
          <a:stretch>
            <a:fillRect/>
          </a:stretch>
        </p:blipFill>
        <p:spPr>
          <a:xfrm>
            <a:off x="2221123" y="1363727"/>
            <a:ext cx="6954220" cy="3485082"/>
          </a:xfrm>
          <a:prstGeom prst="rect">
            <a:avLst/>
          </a:prstGeom>
        </p:spPr>
      </p:pic>
    </p:spTree>
    <p:extLst>
      <p:ext uri="{BB962C8B-B14F-4D97-AF65-F5344CB8AC3E}">
        <p14:creationId xmlns:p14="http://schemas.microsoft.com/office/powerpoint/2010/main" val="3780976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407903" y="868540"/>
            <a:ext cx="8229600" cy="1340768"/>
          </a:xfrm>
        </p:spPr>
        <p:txBody>
          <a:bodyPr/>
          <a:lstStyle/>
          <a:p>
            <a:pPr>
              <a:lnSpc>
                <a:spcPts val="4000"/>
              </a:lnSpc>
            </a:pPr>
            <a:r>
              <a:rPr lang="es-MX" sz="4000" dirty="0"/>
              <a:t>Aplicación del uso de variables con las funciones cout y cin</a:t>
            </a:r>
            <a:br>
              <a:rPr lang="es-MX" sz="4000" dirty="0"/>
            </a:br>
            <a:r>
              <a:rPr lang="es-MX" sz="4000" dirty="0"/>
              <a:t> </a:t>
            </a:r>
            <a:br>
              <a:rPr lang="es-MX" sz="6600" dirty="0"/>
            </a:br>
            <a:r>
              <a:rPr lang="es-ES" sz="6600" dirty="0"/>
              <a:t> </a:t>
            </a:r>
            <a:endParaRPr lang="en-US" sz="6600" dirty="0"/>
          </a:p>
        </p:txBody>
      </p:sp>
      <p:sp>
        <p:nvSpPr>
          <p:cNvPr id="11" name="12 CuadroTexto">
            <a:extLst>
              <a:ext uri="{FF2B5EF4-FFF2-40B4-BE49-F238E27FC236}">
                <a16:creationId xmlns:a16="http://schemas.microsoft.com/office/drawing/2014/main" id="{EA7F30AA-3D94-4A5A-9E36-4FE07700598C}"/>
              </a:ext>
            </a:extLst>
          </p:cNvPr>
          <p:cNvSpPr txBox="1"/>
          <p:nvPr/>
        </p:nvSpPr>
        <p:spPr>
          <a:xfrm>
            <a:off x="8036561" y="3575759"/>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Figura 1.18</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Representación gráfica de tres variables. .Fuente </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E0748AB1-C086-44AA-BBB9-AD85C9D52BEB}"/>
              </a:ext>
            </a:extLst>
          </p:cNvPr>
          <p:cNvPicPr>
            <a:picLocks noChangeAspect="1"/>
          </p:cNvPicPr>
          <p:nvPr/>
        </p:nvPicPr>
        <p:blipFill>
          <a:blip r:embed="rId2"/>
          <a:stretch>
            <a:fillRect/>
          </a:stretch>
        </p:blipFill>
        <p:spPr>
          <a:xfrm>
            <a:off x="7974445" y="1538924"/>
            <a:ext cx="2724530" cy="1743318"/>
          </a:xfrm>
          <a:prstGeom prst="rect">
            <a:avLst/>
          </a:prstGeom>
        </p:spPr>
      </p:pic>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1229545" y="1430071"/>
            <a:ext cx="6354712" cy="4937706"/>
          </a:xfrm>
        </p:spPr>
        <p:txBody>
          <a:bodyPr>
            <a:normAutofit/>
          </a:bodyPr>
          <a:lstStyle/>
          <a:p>
            <a:r>
              <a:rPr lang="es-MX" sz="1800" dirty="0"/>
              <a:t>Cuando se asigna un valor a una variable, se dice que estamos definiendo o inicializando la variable. Por ejemplo: </a:t>
            </a:r>
          </a:p>
          <a:p>
            <a:pPr marL="0" indent="0">
              <a:buNone/>
            </a:pPr>
            <a:r>
              <a:rPr lang="es-MX" sz="1800" dirty="0"/>
              <a:t>      </a:t>
            </a:r>
            <a:r>
              <a:rPr lang="es-MX" sz="1800" b="1" dirty="0"/>
              <a:t>letra = 'M’; </a:t>
            </a:r>
          </a:p>
          <a:p>
            <a:pPr marL="0" indent="0">
              <a:buNone/>
            </a:pPr>
            <a:r>
              <a:rPr lang="es-MX" sz="1800" b="1" dirty="0"/>
              <a:t>      num_entero = 20; </a:t>
            </a:r>
          </a:p>
          <a:p>
            <a:pPr marL="0" indent="0">
              <a:buNone/>
            </a:pPr>
            <a:r>
              <a:rPr lang="es-MX" sz="1800" b="1" dirty="0"/>
              <a:t>      num_flotante = 17.23; </a:t>
            </a:r>
          </a:p>
          <a:p>
            <a:r>
              <a:rPr lang="es-MX" sz="1800" dirty="0"/>
              <a:t>La representación gráfica de cada una estas tres variables en la memoria RAM se muestra en la Figura 1.18, como son: a) variable ‘letra’ de tipo ‘char’, cuyo valor almacenado es el caracter ‘M’ en la dirección de memoria </a:t>
            </a:r>
            <a:r>
              <a:rPr lang="es-MX" sz="1800" dirty="0" err="1"/>
              <a:t>hex</a:t>
            </a:r>
            <a:r>
              <a:rPr lang="es-MX" sz="1800" dirty="0"/>
              <a:t> 2000; b) variable ‘num_entero’ de tipo ‘int’, cuyo valor almacenado es el numero ‘20’ en la dirección de memoria </a:t>
            </a:r>
            <a:r>
              <a:rPr lang="es-MX" sz="1800" dirty="0" err="1"/>
              <a:t>hex</a:t>
            </a:r>
            <a:r>
              <a:rPr lang="es-MX" sz="1800" dirty="0"/>
              <a:t> 3000; c) variable ‘num_flotante’ de tipo ‘float’, cuyo valor almacenado es el número real ‘17.23’ en la dirección de memoria </a:t>
            </a:r>
            <a:r>
              <a:rPr lang="es-MX" sz="1800" dirty="0" err="1"/>
              <a:t>hex</a:t>
            </a:r>
            <a:r>
              <a:rPr lang="es-MX" sz="1800" dirty="0"/>
              <a:t> 4000</a:t>
            </a:r>
            <a:r>
              <a:rPr lang="es-MX" sz="1400" dirty="0"/>
              <a:t>.</a:t>
            </a:r>
            <a:endParaRPr lang="es-ES" sz="1800" dirty="0">
              <a:solidFill>
                <a:schemeClr val="bg1">
                  <a:lumMod val="50000"/>
                </a:schemeClr>
              </a:solidFill>
            </a:endParaRPr>
          </a:p>
        </p:txBody>
      </p:sp>
    </p:spTree>
    <p:extLst>
      <p:ext uri="{BB962C8B-B14F-4D97-AF65-F5344CB8AC3E}">
        <p14:creationId xmlns:p14="http://schemas.microsoft.com/office/powerpoint/2010/main" val="775218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b="1" dirty="0">
                <a:solidFill>
                  <a:srgbClr val="FF0000"/>
                </a:solidFill>
              </a:rPr>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597900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679169" y="1620380"/>
            <a:ext cx="8229600" cy="1340768"/>
          </a:xfrm>
        </p:spPr>
        <p:txBody>
          <a:bodyPr/>
          <a:lstStyle/>
          <a:p>
            <a:pPr>
              <a:lnSpc>
                <a:spcPts val="4000"/>
              </a:lnSpc>
            </a:pPr>
            <a:r>
              <a:rPr lang="es-MX" b="1" dirty="0"/>
              <a:t>Operador de Asignación Igual (=) </a:t>
            </a:r>
            <a:br>
              <a:rPr lang="es-MX" sz="4000" b="1" dirty="0">
                <a:solidFill>
                  <a:srgbClr val="FF0000"/>
                </a:solidFill>
              </a:rPr>
            </a:br>
            <a:br>
              <a:rPr lang="es-MX" sz="4000" dirty="0"/>
            </a:br>
            <a:r>
              <a:rPr lang="es-MX" sz="4000" dirty="0"/>
              <a:t> </a:t>
            </a:r>
            <a:br>
              <a:rPr lang="es-MX" sz="6600" dirty="0"/>
            </a:br>
            <a:r>
              <a:rPr lang="es-ES" sz="6600" dirty="0"/>
              <a:t> </a:t>
            </a:r>
            <a:endParaRPr lang="en-US" sz="6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1229544" y="1430071"/>
            <a:ext cx="9834696" cy="4937706"/>
          </a:xfrm>
        </p:spPr>
        <p:txBody>
          <a:bodyPr>
            <a:normAutofit/>
          </a:bodyPr>
          <a:lstStyle/>
          <a:p>
            <a:r>
              <a:rPr lang="es-MX" sz="1800" dirty="0"/>
              <a:t>El símbolo (=), en C/C++, se conoce como el operador de asignación, que permite asignar valores a las variables y a fórmulas matemáticas (Joyanes, L., </a:t>
            </a:r>
            <a:r>
              <a:rPr lang="es-MX" sz="1800" dirty="0" err="1"/>
              <a:t>Zahonero</a:t>
            </a:r>
            <a:r>
              <a:rPr lang="es-MX" sz="1800" dirty="0"/>
              <a:t>, I., 2005). Este operador no tiene nada que ver con el operador de igualdad que se utiliza para comparación, donde el símbolo que se ha definido en C/C++ para la comparación es el (==). </a:t>
            </a:r>
          </a:p>
          <a:p>
            <a:r>
              <a:rPr lang="es-MX" sz="1800" dirty="0"/>
              <a:t>Se puede declarar y definir una variable al mismo tiempo en C/C++.  Por ejemplo: </a:t>
            </a:r>
          </a:p>
          <a:p>
            <a:pPr marL="0" indent="0">
              <a:buNone/>
            </a:pPr>
            <a:r>
              <a:rPr lang="es-MX" sz="1800" b="1" dirty="0"/>
              <a:t>     </a:t>
            </a:r>
          </a:p>
          <a:p>
            <a:pPr marL="0" indent="0">
              <a:buNone/>
            </a:pPr>
            <a:r>
              <a:rPr lang="es-MX" sz="1800" b="1" dirty="0"/>
              <a:t>     char letra = 'M’; </a:t>
            </a:r>
          </a:p>
          <a:p>
            <a:pPr marL="0" indent="0">
              <a:buNone/>
            </a:pPr>
            <a:r>
              <a:rPr lang="es-MX" sz="1800" b="1" dirty="0"/>
              <a:t>     int num_entero = 20; </a:t>
            </a:r>
          </a:p>
          <a:p>
            <a:pPr marL="0" indent="0">
              <a:buNone/>
            </a:pPr>
            <a:r>
              <a:rPr lang="es-MX" sz="1800" b="1" dirty="0"/>
              <a:t>     float num_flotante = 17.23; </a:t>
            </a:r>
          </a:p>
          <a:p>
            <a:endParaRPr lang="es-MX" sz="1800" b="1" dirty="0"/>
          </a:p>
          <a:p>
            <a:r>
              <a:rPr lang="es-MX" sz="1800" dirty="0"/>
              <a:t>Debido a que en la declaración de las variables se almacena basura, se recomienda siempre definir o inicializar las variables después de la declaración con algún valor por defecto. Generalmente, se utiliza el valor de cero para inicializar valores numéricos y un carácter en blanco (‘ ‘) para valores de caracteres. </a:t>
            </a:r>
            <a:endParaRPr lang="es-ES" dirty="0">
              <a:solidFill>
                <a:schemeClr val="bg1">
                  <a:lumMod val="50000"/>
                </a:schemeClr>
              </a:solidFill>
            </a:endParaRPr>
          </a:p>
        </p:txBody>
      </p:sp>
    </p:spTree>
    <p:extLst>
      <p:ext uri="{BB962C8B-B14F-4D97-AF65-F5344CB8AC3E}">
        <p14:creationId xmlns:p14="http://schemas.microsoft.com/office/powerpoint/2010/main" val="1615510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679169" y="1620380"/>
            <a:ext cx="8229600" cy="1340768"/>
          </a:xfrm>
        </p:spPr>
        <p:txBody>
          <a:bodyPr/>
          <a:lstStyle/>
          <a:p>
            <a:pPr>
              <a:lnSpc>
                <a:spcPts val="4000"/>
              </a:lnSpc>
            </a:pPr>
            <a:r>
              <a:rPr lang="es-MX" b="1" dirty="0"/>
              <a:t>Operador de Asignación Igual (=) </a:t>
            </a:r>
            <a:br>
              <a:rPr lang="es-MX" sz="4000" b="1" dirty="0">
                <a:solidFill>
                  <a:srgbClr val="FF0000"/>
                </a:solidFill>
              </a:rPr>
            </a:br>
            <a:br>
              <a:rPr lang="es-MX" sz="4000" dirty="0"/>
            </a:br>
            <a:r>
              <a:rPr lang="es-MX" sz="4000" dirty="0"/>
              <a:t> </a:t>
            </a:r>
            <a:br>
              <a:rPr lang="es-MX" sz="6600" dirty="0"/>
            </a:br>
            <a:r>
              <a:rPr lang="es-ES" sz="6600" dirty="0"/>
              <a:t> </a:t>
            </a:r>
            <a:endParaRPr lang="en-US" sz="6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1229544" y="1430071"/>
            <a:ext cx="9834696" cy="4937706"/>
          </a:xfrm>
        </p:spPr>
        <p:txBody>
          <a:bodyPr>
            <a:normAutofit lnSpcReduction="10000"/>
          </a:bodyPr>
          <a:lstStyle/>
          <a:p>
            <a:r>
              <a:rPr lang="es-MX" sz="2000" dirty="0"/>
              <a:t>Se puede hacer múltiples declaraciones y/o definiciones en una sola instrucción utilizando el operador coma (,). Por ejemplo: </a:t>
            </a:r>
          </a:p>
          <a:p>
            <a:pPr marL="0" indent="0">
              <a:buNone/>
            </a:pPr>
            <a:endParaRPr lang="es-MX" sz="2000" dirty="0"/>
          </a:p>
          <a:p>
            <a:pPr marL="0" indent="0">
              <a:buNone/>
            </a:pPr>
            <a:r>
              <a:rPr lang="es-MX" sz="2000" dirty="0"/>
              <a:t>    </a:t>
            </a:r>
            <a:r>
              <a:rPr lang="es-MX" sz="2000" b="1" dirty="0"/>
              <a:t>int x, y, z; </a:t>
            </a:r>
          </a:p>
          <a:p>
            <a:pPr marL="0" indent="0">
              <a:buNone/>
            </a:pPr>
            <a:r>
              <a:rPr lang="es-MX" sz="2000" dirty="0"/>
              <a:t>    </a:t>
            </a:r>
            <a:r>
              <a:rPr lang="es-MX" sz="2000" b="1" dirty="0"/>
              <a:t>x = 1, y = 3, z = -2;</a:t>
            </a:r>
          </a:p>
          <a:p>
            <a:pPr marL="0" indent="0">
              <a:buNone/>
            </a:pPr>
            <a:r>
              <a:rPr lang="es-MX" sz="2000" b="1" dirty="0"/>
              <a:t>    float a = 2.1f, b = 3.5f, c = 4.9f;</a:t>
            </a:r>
          </a:p>
          <a:p>
            <a:pPr marL="0" indent="0">
              <a:buNone/>
            </a:pPr>
            <a:r>
              <a:rPr lang="es-MX" sz="2000" b="1" dirty="0"/>
              <a:t> </a:t>
            </a:r>
          </a:p>
          <a:p>
            <a:r>
              <a:rPr lang="es-MX" sz="2000" dirty="0"/>
              <a:t>Se recomienda hacer una declaración o definición por línea, para detectar más fácilmente errores. Finalmente se puede también enlazar asignaciones juntas. El flujo de los valores asignados va desde la derecha hacia la izquierda. Por ejemplo: </a:t>
            </a:r>
          </a:p>
          <a:p>
            <a:pPr marL="0" indent="0">
              <a:buNone/>
            </a:pPr>
            <a:endParaRPr lang="es-MX" sz="2000" dirty="0"/>
          </a:p>
          <a:p>
            <a:pPr marL="0" indent="0">
              <a:buNone/>
            </a:pPr>
            <a:r>
              <a:rPr lang="es-MX" sz="2000" b="1" dirty="0"/>
              <a:t>    float n = 1.0f;</a:t>
            </a:r>
          </a:p>
          <a:p>
            <a:pPr marL="0" indent="0">
              <a:buNone/>
            </a:pPr>
            <a:r>
              <a:rPr lang="es-MX" sz="2000" b="1" dirty="0"/>
              <a:t>    float x, y, z; </a:t>
            </a:r>
          </a:p>
          <a:p>
            <a:pPr marL="0" indent="0">
              <a:buNone/>
            </a:pPr>
            <a:r>
              <a:rPr lang="es-MX" sz="2000" b="1" dirty="0"/>
              <a:t>    x = y = z = n;</a:t>
            </a:r>
            <a:endParaRPr lang="es-ES" sz="2000" b="1" dirty="0">
              <a:solidFill>
                <a:schemeClr val="bg1">
                  <a:lumMod val="50000"/>
                </a:schemeClr>
              </a:solidFill>
            </a:endParaRPr>
          </a:p>
        </p:txBody>
      </p:sp>
    </p:spTree>
    <p:extLst>
      <p:ext uri="{BB962C8B-B14F-4D97-AF65-F5344CB8AC3E}">
        <p14:creationId xmlns:p14="http://schemas.microsoft.com/office/powerpoint/2010/main" val="2528866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b="1" dirty="0">
                <a:solidFill>
                  <a:srgbClr val="FF0000"/>
                </a:solidFill>
              </a:rPr>
              <a:t>Problema 1.12. (Aplicación del operador de asignación igual utilizando cout y cin) </a:t>
            </a:r>
          </a:p>
          <a:p>
            <a:pPr lvl="1"/>
            <a:r>
              <a:rPr lang="es-MX" sz="2000" dirty="0"/>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3267905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sz="3600" b="1" dirty="0"/>
              <a:t>Aplicación del operador de asignación igual utilizando cout y cin</a:t>
            </a:r>
            <a:br>
              <a:rPr lang="es-MX" sz="3600" b="1" dirty="0"/>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1229544" y="1430071"/>
            <a:ext cx="3809816" cy="2979369"/>
          </a:xfrm>
        </p:spPr>
        <p:txBody>
          <a:bodyPr>
            <a:normAutofit/>
          </a:bodyPr>
          <a:lstStyle/>
          <a:p>
            <a:r>
              <a:rPr lang="es-MX" sz="2000" dirty="0"/>
              <a:t>Escribir un programa que permita leer e imprimir un dato de tipo caracter, un dato de tipo entero y un dato de tipo flotante, declarando y definiendo las variables previamente, utilizando las funciones ‘cout’ y ‘cin’. </a:t>
            </a:r>
            <a:endParaRPr lang="es-ES" sz="2800" b="1" dirty="0">
              <a:solidFill>
                <a:schemeClr val="bg1">
                  <a:lumMod val="50000"/>
                </a:schemeClr>
              </a:solidFill>
            </a:endParaRPr>
          </a:p>
        </p:txBody>
      </p:sp>
      <p:pic>
        <p:nvPicPr>
          <p:cNvPr id="4" name="Imagen 3">
            <a:extLst>
              <a:ext uri="{FF2B5EF4-FFF2-40B4-BE49-F238E27FC236}">
                <a16:creationId xmlns:a16="http://schemas.microsoft.com/office/drawing/2014/main" id="{CEE3B7B6-35E6-4784-B388-D29ED7C12E28}"/>
              </a:ext>
            </a:extLst>
          </p:cNvPr>
          <p:cNvPicPr>
            <a:picLocks noChangeAspect="1"/>
          </p:cNvPicPr>
          <p:nvPr/>
        </p:nvPicPr>
        <p:blipFill rotWithShape="1">
          <a:blip r:embed="rId2"/>
          <a:srcRect r="19704"/>
          <a:stretch/>
        </p:blipFill>
        <p:spPr>
          <a:xfrm>
            <a:off x="5215494" y="1177189"/>
            <a:ext cx="5120581" cy="4928971"/>
          </a:xfrm>
          <a:prstGeom prst="rect">
            <a:avLst/>
          </a:prstGeom>
        </p:spPr>
      </p:pic>
      <p:sp>
        <p:nvSpPr>
          <p:cNvPr id="8" name="12 CuadroTexto">
            <a:extLst>
              <a:ext uri="{FF2B5EF4-FFF2-40B4-BE49-F238E27FC236}">
                <a16:creationId xmlns:a16="http://schemas.microsoft.com/office/drawing/2014/main" id="{CCF9EBE5-016B-48D0-AEE2-66894A47AC75}"/>
              </a:ext>
            </a:extLst>
          </p:cNvPr>
          <p:cNvSpPr txBox="1"/>
          <p:nvPr/>
        </p:nvSpPr>
        <p:spPr>
          <a:xfrm>
            <a:off x="5215494" y="6160520"/>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Programa 1.12</a:t>
            </a:r>
            <a:r>
              <a:rPr lang="es-ES" sz="1200" dirty="0">
                <a:solidFill>
                  <a:schemeClr val="tx1">
                    <a:lumMod val="50000"/>
                    <a:lumOff val="50000"/>
                  </a:schemeClr>
                </a:solidFill>
                <a:latin typeface="+mj-lt"/>
              </a:rPr>
              <a:t>. Código del Programa.Fuente</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273715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sz="3600" b="1" dirty="0">
                <a:solidFill>
                  <a:srgbClr val="FF0000"/>
                </a:solidFill>
              </a:rPr>
              <a:t>Aplicación del operador de asignación igual utilizando cout y cin</a:t>
            </a:r>
            <a:br>
              <a:rPr lang="es-MX" sz="3600" b="1" dirty="0">
                <a:solidFill>
                  <a:srgbClr val="FF0000"/>
                </a:solidFill>
              </a:rPr>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757116" y="3163692"/>
            <a:ext cx="10308802" cy="3348234"/>
          </a:xfrm>
        </p:spPr>
        <p:txBody>
          <a:bodyPr>
            <a:normAutofit/>
          </a:bodyPr>
          <a:lstStyle/>
          <a:p>
            <a:r>
              <a:rPr lang="es-MX" sz="1800" dirty="0"/>
              <a:t>Primeramente, en el programa 1.12, se declaran y se definen tres variables: a) letra, de tipo caracter (char), inicializada con el valor de un espacio en blanco (‘ ‘); b) num_entero, de tipo entero (int), inicializada con el valor de cero (0); c) num_flotante, de tipo flotante (float), inicializada con el valor de cero (0.0f). Luego, en este programa se utiliza la función ‘cin &gt;&gt;’ que como se indicó en la sección 1.3.2, sirve para leer datos (entrada por consola). En este caso se leen tres datos, uno de tipo char, otro de tipo int y otro de tipo float, cuyas variables van a ser modificadas en su contenido con valores que el usuario ingresa por teclado a la consola. </a:t>
            </a:r>
            <a:endParaRPr lang="es-ES" sz="1800" b="1" dirty="0">
              <a:solidFill>
                <a:schemeClr val="bg1">
                  <a:lumMod val="50000"/>
                </a:schemeClr>
              </a:solidFill>
            </a:endParaRPr>
          </a:p>
          <a:p>
            <a:r>
              <a:rPr lang="es-MX" sz="1800" dirty="0"/>
              <a:t>Finalmente, se utiliza la función ‘cout &lt;&lt;’ que como se indicó en la sección 1.3.1, sirve para imprimir mensajes de texto y datos (salida por consola). En este caso, esta función se utilizó para imprimir los tres datos leídos por teclado. </a:t>
            </a:r>
          </a:p>
        </p:txBody>
      </p:sp>
      <p:pic>
        <p:nvPicPr>
          <p:cNvPr id="5" name="Imagen 4">
            <a:extLst>
              <a:ext uri="{FF2B5EF4-FFF2-40B4-BE49-F238E27FC236}">
                <a16:creationId xmlns:a16="http://schemas.microsoft.com/office/drawing/2014/main" id="{3E76E6CD-AB61-499E-80DB-AE5872C6CB0B}"/>
              </a:ext>
            </a:extLst>
          </p:cNvPr>
          <p:cNvPicPr>
            <a:picLocks noChangeAspect="1"/>
          </p:cNvPicPr>
          <p:nvPr/>
        </p:nvPicPr>
        <p:blipFill>
          <a:blip r:embed="rId2"/>
          <a:stretch>
            <a:fillRect/>
          </a:stretch>
        </p:blipFill>
        <p:spPr>
          <a:xfrm>
            <a:off x="868876" y="1195164"/>
            <a:ext cx="6773220" cy="1486107"/>
          </a:xfrm>
          <a:prstGeom prst="rect">
            <a:avLst/>
          </a:prstGeom>
        </p:spPr>
      </p:pic>
      <p:sp>
        <p:nvSpPr>
          <p:cNvPr id="10" name="12 CuadroTexto">
            <a:extLst>
              <a:ext uri="{FF2B5EF4-FFF2-40B4-BE49-F238E27FC236}">
                <a16:creationId xmlns:a16="http://schemas.microsoft.com/office/drawing/2014/main" id="{2FBD22AA-11AE-48E6-9D7B-37ADA0DF388C}"/>
              </a:ext>
            </a:extLst>
          </p:cNvPr>
          <p:cNvSpPr txBox="1"/>
          <p:nvPr/>
        </p:nvSpPr>
        <p:spPr>
          <a:xfrm>
            <a:off x="1126082" y="2681271"/>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Salida 1.12</a:t>
            </a:r>
            <a:r>
              <a:rPr lang="es-ES" sz="1200" dirty="0">
                <a:solidFill>
                  <a:schemeClr val="tx1">
                    <a:lumMod val="50000"/>
                    <a:lumOff val="50000"/>
                  </a:schemeClr>
                </a:solidFill>
                <a:latin typeface="+mj-lt"/>
              </a:rPr>
              <a:t>. Salida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189901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b="1" dirty="0">
                <a:solidFill>
                  <a:srgbClr val="FF0000"/>
                </a:solidFill>
              </a:rPr>
              <a:t>Problema 1.13. (Aplicación del operador de asignación igual utilizando printf y scanf)</a:t>
            </a:r>
          </a:p>
          <a:p>
            <a:pPr lvl="1"/>
            <a:r>
              <a:rPr lang="es-MX" sz="2000" dirty="0"/>
              <a:t>Nombres de Variables  </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248909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sz="3600" b="1" dirty="0"/>
              <a:t>Aplicación del operador de asignación igual utilizando printf y scanf</a:t>
            </a:r>
            <a:br>
              <a:rPr lang="es-MX" sz="3600" b="1" dirty="0">
                <a:solidFill>
                  <a:srgbClr val="FF0000"/>
                </a:solidFill>
              </a:rPr>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1229544" y="1430071"/>
            <a:ext cx="3809816" cy="2979369"/>
          </a:xfrm>
        </p:spPr>
        <p:txBody>
          <a:bodyPr>
            <a:normAutofit/>
          </a:bodyPr>
          <a:lstStyle/>
          <a:p>
            <a:r>
              <a:rPr lang="es-MX" sz="2000" dirty="0"/>
              <a:t>Escribir un programa que permita leer e imprimir un dato de tipo caracter, un dato de tipo entero y un dato de tipo flotante, declarando y definiendo las variables previamente, utilizando las funciones ‘printf’ y ‘scanf’. </a:t>
            </a:r>
            <a:endParaRPr lang="es-ES" sz="2800" b="1" dirty="0">
              <a:solidFill>
                <a:schemeClr val="bg1">
                  <a:lumMod val="50000"/>
                </a:schemeClr>
              </a:solidFill>
            </a:endParaRPr>
          </a:p>
        </p:txBody>
      </p:sp>
      <p:sp>
        <p:nvSpPr>
          <p:cNvPr id="8" name="12 CuadroTexto">
            <a:extLst>
              <a:ext uri="{FF2B5EF4-FFF2-40B4-BE49-F238E27FC236}">
                <a16:creationId xmlns:a16="http://schemas.microsoft.com/office/drawing/2014/main" id="{CCF9EBE5-016B-48D0-AEE2-66894A47AC75}"/>
              </a:ext>
            </a:extLst>
          </p:cNvPr>
          <p:cNvSpPr txBox="1"/>
          <p:nvPr/>
        </p:nvSpPr>
        <p:spPr>
          <a:xfrm>
            <a:off x="5388214" y="6268613"/>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Programa 1.13</a:t>
            </a:r>
            <a:r>
              <a:rPr lang="es-ES" sz="1200" dirty="0">
                <a:solidFill>
                  <a:schemeClr val="tx1">
                    <a:lumMod val="50000"/>
                    <a:lumOff val="50000"/>
                  </a:schemeClr>
                </a:solidFill>
                <a:latin typeface="+mj-lt"/>
              </a:rPr>
              <a:t>. Código del Programa.Fuente</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65ACA81C-815C-4CB6-A0E0-96568D6541FD}"/>
              </a:ext>
            </a:extLst>
          </p:cNvPr>
          <p:cNvPicPr>
            <a:picLocks noChangeAspect="1"/>
          </p:cNvPicPr>
          <p:nvPr/>
        </p:nvPicPr>
        <p:blipFill>
          <a:blip r:embed="rId2"/>
          <a:stretch>
            <a:fillRect/>
          </a:stretch>
        </p:blipFill>
        <p:spPr>
          <a:xfrm>
            <a:off x="5215494" y="1430071"/>
            <a:ext cx="5645546" cy="4709720"/>
          </a:xfrm>
          <a:prstGeom prst="rect">
            <a:avLst/>
          </a:prstGeom>
        </p:spPr>
      </p:pic>
    </p:spTree>
    <p:extLst>
      <p:ext uri="{BB962C8B-B14F-4D97-AF65-F5344CB8AC3E}">
        <p14:creationId xmlns:p14="http://schemas.microsoft.com/office/powerpoint/2010/main" val="1738838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sz="3600" b="1" dirty="0"/>
              <a:t>Aplicación del operador de asignación igual utilizando cout y cin</a:t>
            </a:r>
            <a:br>
              <a:rPr lang="es-MX" sz="3600" b="1" dirty="0"/>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757116" y="3163692"/>
            <a:ext cx="10308802" cy="3348234"/>
          </a:xfrm>
        </p:spPr>
        <p:txBody>
          <a:bodyPr>
            <a:normAutofit/>
          </a:bodyPr>
          <a:lstStyle/>
          <a:p>
            <a:r>
              <a:rPr lang="es-MX" dirty="0"/>
              <a:t>Primeramente, en el programa 1.13, se declaran y se definen tres variables: a) letra, de tipo carácter (char), inicializada con el valor de un espacio en blanco (‘ ‘); b) num_entero, de tipo entero (int), inicializada con el valor de cero (0); c) num_flotante, de tipo flotante (float), inicializada con el valor de cero (0.0f). </a:t>
            </a:r>
          </a:p>
        </p:txBody>
      </p:sp>
      <p:sp>
        <p:nvSpPr>
          <p:cNvPr id="10" name="12 CuadroTexto">
            <a:extLst>
              <a:ext uri="{FF2B5EF4-FFF2-40B4-BE49-F238E27FC236}">
                <a16:creationId xmlns:a16="http://schemas.microsoft.com/office/drawing/2014/main" id="{2FBD22AA-11AE-48E6-9D7B-37ADA0DF388C}"/>
              </a:ext>
            </a:extLst>
          </p:cNvPr>
          <p:cNvSpPr txBox="1"/>
          <p:nvPr/>
        </p:nvSpPr>
        <p:spPr>
          <a:xfrm>
            <a:off x="1126082" y="2681271"/>
            <a:ext cx="3744416" cy="646331"/>
          </a:xfrm>
          <a:prstGeom prst="rect">
            <a:avLst/>
          </a:prstGeom>
          <a:noFill/>
        </p:spPr>
        <p:txBody>
          <a:bodyPr wrap="square" rtlCol="0">
            <a:spAutoFit/>
          </a:bodyPr>
          <a:lstStyle/>
          <a:p>
            <a:r>
              <a:rPr lang="es-ES" sz="1200" b="1" dirty="0">
                <a:solidFill>
                  <a:schemeClr val="tx1">
                    <a:lumMod val="50000"/>
                    <a:lumOff val="50000"/>
                  </a:schemeClr>
                </a:solidFill>
                <a:latin typeface="+mj-lt"/>
              </a:rPr>
              <a:t>Salida 1.13</a:t>
            </a:r>
            <a:r>
              <a:rPr lang="es-ES" sz="1200" dirty="0">
                <a:solidFill>
                  <a:schemeClr val="tx1">
                    <a:lumMod val="50000"/>
                    <a:lumOff val="50000"/>
                  </a:schemeClr>
                </a:solidFill>
                <a:latin typeface="+mj-lt"/>
              </a:rPr>
              <a:t> Salida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E40EB445-40A1-4125-B3C9-519389275F8B}"/>
              </a:ext>
            </a:extLst>
          </p:cNvPr>
          <p:cNvPicPr>
            <a:picLocks noChangeAspect="1"/>
          </p:cNvPicPr>
          <p:nvPr/>
        </p:nvPicPr>
        <p:blipFill>
          <a:blip r:embed="rId2"/>
          <a:stretch>
            <a:fillRect/>
          </a:stretch>
        </p:blipFill>
        <p:spPr>
          <a:xfrm>
            <a:off x="1126082" y="1036513"/>
            <a:ext cx="6496957" cy="1562318"/>
          </a:xfrm>
          <a:prstGeom prst="rect">
            <a:avLst/>
          </a:prstGeom>
        </p:spPr>
      </p:pic>
    </p:spTree>
    <p:extLst>
      <p:ext uri="{BB962C8B-B14F-4D97-AF65-F5344CB8AC3E}">
        <p14:creationId xmlns:p14="http://schemas.microsoft.com/office/powerpoint/2010/main" val="967640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sz="3600" b="1" dirty="0"/>
              <a:t>Aplicación del operador de asignación igual utilizando cout y cin</a:t>
            </a:r>
            <a:br>
              <a:rPr lang="es-MX" sz="3600" b="1" dirty="0"/>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777436" y="1223546"/>
            <a:ext cx="10083604" cy="1999282"/>
          </a:xfrm>
        </p:spPr>
        <p:txBody>
          <a:bodyPr>
            <a:normAutofit/>
          </a:bodyPr>
          <a:lstStyle/>
          <a:p>
            <a:r>
              <a:rPr lang="es-MX" sz="1600" dirty="0"/>
              <a:t>Luego, en este programa se utiliza la función scanf() que como se indicó en la sección 1.3.6, sirve para leer datos (entrada por consola). En este caso se leen tres datos, uno de tipo char, otro de tipo int y otro de tipo float, donde los argumentos que se envían a la función son: a) el especificador de formato, que indica que la variable que se envía corresponde a un tipo de dato específico, por ejemplo, char, int, float, etc.; b) la dirección de la variable que va a ser modificada en su contenido, con un valor que el usuario ingresa por teclado a la consola; como se muestra en la Figura 1.19. </a:t>
            </a:r>
          </a:p>
        </p:txBody>
      </p:sp>
      <p:pic>
        <p:nvPicPr>
          <p:cNvPr id="5" name="Imagen 4">
            <a:extLst>
              <a:ext uri="{FF2B5EF4-FFF2-40B4-BE49-F238E27FC236}">
                <a16:creationId xmlns:a16="http://schemas.microsoft.com/office/drawing/2014/main" id="{BB81C06B-6239-49A5-90DF-DF7866351E72}"/>
              </a:ext>
            </a:extLst>
          </p:cNvPr>
          <p:cNvPicPr>
            <a:picLocks noChangeAspect="1"/>
          </p:cNvPicPr>
          <p:nvPr/>
        </p:nvPicPr>
        <p:blipFill>
          <a:blip r:embed="rId2"/>
          <a:stretch>
            <a:fillRect/>
          </a:stretch>
        </p:blipFill>
        <p:spPr>
          <a:xfrm>
            <a:off x="1615441" y="3012440"/>
            <a:ext cx="9377679" cy="3103880"/>
          </a:xfrm>
          <a:prstGeom prst="rect">
            <a:avLst/>
          </a:prstGeom>
        </p:spPr>
      </p:pic>
      <p:sp>
        <p:nvSpPr>
          <p:cNvPr id="11" name="12 CuadroTexto">
            <a:extLst>
              <a:ext uri="{FF2B5EF4-FFF2-40B4-BE49-F238E27FC236}">
                <a16:creationId xmlns:a16="http://schemas.microsoft.com/office/drawing/2014/main" id="{2BD1BA03-757C-42B9-8D51-2204BC260E77}"/>
              </a:ext>
            </a:extLst>
          </p:cNvPr>
          <p:cNvSpPr txBox="1"/>
          <p:nvPr/>
        </p:nvSpPr>
        <p:spPr>
          <a:xfrm>
            <a:off x="4614772" y="6132831"/>
            <a:ext cx="3744416" cy="830997"/>
          </a:xfrm>
          <a:prstGeom prst="rect">
            <a:avLst/>
          </a:prstGeom>
          <a:noFill/>
        </p:spPr>
        <p:txBody>
          <a:bodyPr wrap="square" rtlCol="0">
            <a:spAutoFit/>
          </a:bodyPr>
          <a:lstStyle/>
          <a:p>
            <a:r>
              <a:rPr lang="es-ES" sz="1200" b="1" dirty="0">
                <a:solidFill>
                  <a:schemeClr val="tx1">
                    <a:lumMod val="50000"/>
                    <a:lumOff val="50000"/>
                  </a:schemeClr>
                </a:solidFill>
                <a:latin typeface="+mj-lt"/>
              </a:rPr>
              <a:t>Figura 1.19</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Utilización de especificadores de formato en la función scanf().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355378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sz="3600" b="1" dirty="0"/>
              <a:t>Aplicación del operador de asignación igual utilizando cout y cin</a:t>
            </a:r>
            <a:br>
              <a:rPr lang="es-MX" sz="3600" b="1" dirty="0"/>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777436" y="1223546"/>
            <a:ext cx="10083604" cy="1999282"/>
          </a:xfrm>
        </p:spPr>
        <p:txBody>
          <a:bodyPr>
            <a:normAutofit/>
          </a:bodyPr>
          <a:lstStyle/>
          <a:p>
            <a:r>
              <a:rPr lang="es-MX" sz="1800" dirty="0"/>
              <a:t>Finalmente, en este programa se utiliza la función printf() que como se indicó en la sección 1.3.3, sirve para imprimir mensajes de texto y datos (salida por consola). En este caso para imprimir los tres datos leídos, se utilizan especificadores de formato, para imprimir cada tipo de dato (char, int, float), que como se muestra en Figura 1.20, el especificador de formato correspondiente a un tipo de dato específico, se reemplaza por el valor almacenado en una variable. </a:t>
            </a:r>
            <a:r>
              <a:rPr lang="es-MX" dirty="0"/>
              <a:t> </a:t>
            </a:r>
          </a:p>
        </p:txBody>
      </p:sp>
      <p:sp>
        <p:nvSpPr>
          <p:cNvPr id="11" name="12 CuadroTexto">
            <a:extLst>
              <a:ext uri="{FF2B5EF4-FFF2-40B4-BE49-F238E27FC236}">
                <a16:creationId xmlns:a16="http://schemas.microsoft.com/office/drawing/2014/main" id="{2BD1BA03-757C-42B9-8D51-2204BC260E77}"/>
              </a:ext>
            </a:extLst>
          </p:cNvPr>
          <p:cNvSpPr txBox="1"/>
          <p:nvPr/>
        </p:nvSpPr>
        <p:spPr>
          <a:xfrm>
            <a:off x="1391968" y="6027003"/>
            <a:ext cx="3744416" cy="830997"/>
          </a:xfrm>
          <a:prstGeom prst="rect">
            <a:avLst/>
          </a:prstGeom>
          <a:noFill/>
        </p:spPr>
        <p:txBody>
          <a:bodyPr wrap="square" rtlCol="0">
            <a:spAutoFit/>
          </a:bodyPr>
          <a:lstStyle/>
          <a:p>
            <a:r>
              <a:rPr lang="es-ES" sz="1200" b="1" dirty="0">
                <a:solidFill>
                  <a:schemeClr val="tx1">
                    <a:lumMod val="50000"/>
                    <a:lumOff val="50000"/>
                  </a:schemeClr>
                </a:solidFill>
                <a:latin typeface="+mj-lt"/>
              </a:rPr>
              <a:t>Figura 1.20</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Utilización de especificadores de formato en la función printf().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endParaRPr lang="es-EC" sz="12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509FD284-0479-4CAA-94CD-5ADEE26F63D0}"/>
              </a:ext>
            </a:extLst>
          </p:cNvPr>
          <p:cNvPicPr>
            <a:picLocks noChangeAspect="1"/>
          </p:cNvPicPr>
          <p:nvPr/>
        </p:nvPicPr>
        <p:blipFill>
          <a:blip r:embed="rId2"/>
          <a:stretch>
            <a:fillRect/>
          </a:stretch>
        </p:blipFill>
        <p:spPr>
          <a:xfrm>
            <a:off x="1330960" y="3011287"/>
            <a:ext cx="6963747" cy="3044073"/>
          </a:xfrm>
          <a:prstGeom prst="rect">
            <a:avLst/>
          </a:prstGeom>
        </p:spPr>
      </p:pic>
    </p:spTree>
    <p:extLst>
      <p:ext uri="{BB962C8B-B14F-4D97-AF65-F5344CB8AC3E}">
        <p14:creationId xmlns:p14="http://schemas.microsoft.com/office/powerpoint/2010/main" val="3933948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Variables  </a:t>
            </a:r>
          </a:p>
          <a:p>
            <a:pPr lvl="1"/>
            <a:r>
              <a:rPr lang="es-MX" sz="2000" dirty="0"/>
              <a:t>Definición de Variable  </a:t>
            </a:r>
          </a:p>
          <a:p>
            <a:pPr lvl="1"/>
            <a:r>
              <a:rPr lang="es-MX" sz="2000" dirty="0"/>
              <a:t>Tipos de Datos en C/C++ </a:t>
            </a:r>
          </a:p>
          <a:p>
            <a:pPr lvl="1"/>
            <a:r>
              <a:rPr lang="es-MX" sz="2000" dirty="0"/>
              <a:t>Declaración y Definición de Variables </a:t>
            </a:r>
          </a:p>
          <a:p>
            <a:pPr lvl="1"/>
            <a:r>
              <a:rPr lang="es-MX" sz="2000" dirty="0"/>
              <a:t>Problema 1.10. (Aplicación del uso de variables con las funciones cout y cin) </a:t>
            </a:r>
          </a:p>
          <a:p>
            <a:pPr lvl="1"/>
            <a:r>
              <a:rPr lang="es-MX" sz="2000" dirty="0"/>
              <a:t>Problema 1.11. (Aplicación del uso de variables con las funciones printf y scanf) </a:t>
            </a:r>
          </a:p>
          <a:p>
            <a:pPr lvl="1"/>
            <a:r>
              <a:rPr lang="es-MX" sz="2000" dirty="0"/>
              <a:t>Operador de Asignación Igual (=) </a:t>
            </a:r>
          </a:p>
          <a:p>
            <a:pPr lvl="1"/>
            <a:r>
              <a:rPr lang="es-MX" sz="2000" dirty="0"/>
              <a:t>Problema 1.12. (Aplicación del operador de asignación igual utilizando cout y cin) </a:t>
            </a:r>
          </a:p>
          <a:p>
            <a:pPr lvl="1"/>
            <a:r>
              <a:rPr lang="es-MX" sz="2000" dirty="0"/>
              <a:t>Problema 1.13. (Aplicación del operador de asignación igual utilizando printf y scanf)</a:t>
            </a:r>
          </a:p>
          <a:p>
            <a:pPr lvl="1"/>
            <a:r>
              <a:rPr lang="es-MX" sz="2000" b="1" dirty="0">
                <a:solidFill>
                  <a:srgbClr val="FF0000"/>
                </a:solidFill>
              </a:rPr>
              <a:t>Nombres de Variables  </a:t>
            </a:r>
            <a:endParaRPr lang="es-419" sz="1800" b="1" dirty="0">
              <a:solidFill>
                <a:srgbClr val="FF0000"/>
              </a:solidFill>
            </a:endParaRPr>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537332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32</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1981200" y="1882059"/>
            <a:ext cx="8229600" cy="1340768"/>
          </a:xfrm>
        </p:spPr>
        <p:txBody>
          <a:bodyPr/>
          <a:lstStyle/>
          <a:p>
            <a:pPr>
              <a:lnSpc>
                <a:spcPts val="4000"/>
              </a:lnSpc>
            </a:pPr>
            <a:r>
              <a:rPr lang="es-MX" b="1" dirty="0"/>
              <a:t>Nombres de Variables  </a:t>
            </a:r>
            <a:br>
              <a:rPr lang="es-419" sz="3200" b="1" dirty="0">
                <a:solidFill>
                  <a:srgbClr val="FF0000"/>
                </a:solidFill>
              </a:rPr>
            </a:br>
            <a:br>
              <a:rPr lang="es-MX" sz="3600" b="1" dirty="0">
                <a:solidFill>
                  <a:srgbClr val="FF0000"/>
                </a:solidFill>
              </a:rPr>
            </a:br>
            <a:br>
              <a:rPr lang="es-MX" sz="3600" b="1" dirty="0">
                <a:solidFill>
                  <a:srgbClr val="FF0000"/>
                </a:solidFill>
              </a:rPr>
            </a:br>
            <a:br>
              <a:rPr lang="es-MX" sz="3600" dirty="0"/>
            </a:br>
            <a:r>
              <a:rPr lang="es-MX" sz="3600" dirty="0"/>
              <a:t> </a:t>
            </a:r>
            <a:br>
              <a:rPr lang="es-MX" sz="3600" dirty="0"/>
            </a:br>
            <a:r>
              <a:rPr lang="es-ES" sz="3600" dirty="0"/>
              <a:t> </a:t>
            </a:r>
            <a:endParaRPr lang="en-US" sz="3600" dirty="0"/>
          </a:p>
        </p:txBody>
      </p:sp>
      <p:sp>
        <p:nvSpPr>
          <p:cNvPr id="9" name="4 Marcador de contenido">
            <a:extLst>
              <a:ext uri="{FF2B5EF4-FFF2-40B4-BE49-F238E27FC236}">
                <a16:creationId xmlns:a16="http://schemas.microsoft.com/office/drawing/2014/main" id="{B28781A8-F746-447C-B47F-D8EBB797DF94}"/>
              </a:ext>
            </a:extLst>
          </p:cNvPr>
          <p:cNvSpPr>
            <a:spLocks noGrp="1"/>
          </p:cNvSpPr>
          <p:nvPr>
            <p:ph idx="1"/>
          </p:nvPr>
        </p:nvSpPr>
        <p:spPr>
          <a:xfrm>
            <a:off x="777436" y="1223545"/>
            <a:ext cx="10083604" cy="5132805"/>
          </a:xfrm>
        </p:spPr>
        <p:txBody>
          <a:bodyPr>
            <a:normAutofit fontScale="92500" lnSpcReduction="10000"/>
          </a:bodyPr>
          <a:lstStyle/>
          <a:p>
            <a:r>
              <a:rPr lang="es-MX" dirty="0"/>
              <a:t>1. Los nombres de las variables deben comenzar con una letra. El nombre de la variable 5MiVariable es ilegal. Sin embargo, el caracter </a:t>
            </a:r>
            <a:r>
              <a:rPr lang="es-MX" dirty="0" err="1"/>
              <a:t>guión</a:t>
            </a:r>
            <a:r>
              <a:rPr lang="es-MX" dirty="0"/>
              <a:t> bajo (</a:t>
            </a:r>
            <a:r>
              <a:rPr lang="es-MX" dirty="0" err="1"/>
              <a:t>underscore</a:t>
            </a:r>
            <a:r>
              <a:rPr lang="es-MX" dirty="0"/>
              <a:t>) se lo considera una letra, y por lo tanto, el identificador _</a:t>
            </a:r>
            <a:r>
              <a:rPr lang="es-MX" dirty="0" err="1"/>
              <a:t>MiVariable</a:t>
            </a:r>
            <a:r>
              <a:rPr lang="es-MX" dirty="0"/>
              <a:t> es legal. </a:t>
            </a:r>
          </a:p>
          <a:p>
            <a:r>
              <a:rPr lang="es-MX" dirty="0"/>
              <a:t>2. Los nombres de las variables pueden incluir el caracter </a:t>
            </a:r>
            <a:r>
              <a:rPr lang="es-MX" dirty="0" err="1"/>
              <a:t>guión</a:t>
            </a:r>
            <a:r>
              <a:rPr lang="es-MX" dirty="0"/>
              <a:t> bajo o </a:t>
            </a:r>
            <a:r>
              <a:rPr lang="es-MX" dirty="0" err="1"/>
              <a:t>underscore</a:t>
            </a:r>
            <a:r>
              <a:rPr lang="es-MX" dirty="0"/>
              <a:t> (‘_’), letras, y números, pero no símbolos. Por lo que, usted no puede utilizar símbolos como: ‘!’, ‘”’, ‘#’, ‘$’, ‘%’, ‘&amp;’, `/`, etc., en los nombres de las variables. </a:t>
            </a:r>
          </a:p>
          <a:p>
            <a:r>
              <a:rPr lang="es-MX" dirty="0"/>
              <a:t>3. Los nombres de las variables no pueden ser palabras reservadas de C/C++, como: char, int, float, cout, cin, _</a:t>
            </a:r>
            <a:r>
              <a:rPr lang="es-MX" dirty="0" err="1"/>
              <a:t>getch</a:t>
            </a:r>
            <a:r>
              <a:rPr lang="es-MX" dirty="0"/>
              <a:t>, etc. Por ejemplo, usted no puede nombrarle a una variable como “float”, ya que es una palabra reservada de C que especifica el tipo de dato float. </a:t>
            </a:r>
          </a:p>
          <a:p>
            <a:r>
              <a:rPr lang="es-MX" dirty="0"/>
              <a:t>4. Los nombres de las variables no pueden tener espacios en blanco entre ellas. Por ejemplo, el nombre de la variable “_ M i _ Variable” es ilegal, lo correcto sería tener el siguiente nombre: “_</a:t>
            </a:r>
            <a:r>
              <a:rPr lang="es-MX" dirty="0" err="1"/>
              <a:t>Mi_Variable</a:t>
            </a:r>
            <a:r>
              <a:rPr lang="es-MX" dirty="0"/>
              <a:t>”. </a:t>
            </a:r>
          </a:p>
        </p:txBody>
      </p:sp>
    </p:spTree>
    <p:extLst>
      <p:ext uri="{BB962C8B-B14F-4D97-AF65-F5344CB8AC3E}">
        <p14:creationId xmlns:p14="http://schemas.microsoft.com/office/powerpoint/2010/main" val="3280318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12/10/2025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6198</TotalTime>
  <Words>3707</Words>
  <Application>Microsoft Office PowerPoint</Application>
  <PresentationFormat>Panorámica</PresentationFormat>
  <Paragraphs>297</Paragraphs>
  <Slides>34</Slides>
  <Notes>3</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34</vt:i4>
      </vt:variant>
    </vt:vector>
  </HeadingPairs>
  <TitlesOfParts>
    <vt:vector size="42"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Introducción</vt:lpstr>
      <vt:lpstr>Introducción</vt:lpstr>
      <vt:lpstr>Contenido</vt:lpstr>
      <vt:lpstr>Definición de Variable </vt:lpstr>
      <vt:lpstr>Contenido</vt:lpstr>
      <vt:lpstr> Tipos de Datos en C/C++   </vt:lpstr>
      <vt:lpstr> Tipos de Datos en C/C++   </vt:lpstr>
      <vt:lpstr>Contenido</vt:lpstr>
      <vt:lpstr> Declaración y Definición de Variables     </vt:lpstr>
      <vt:lpstr>Contenido</vt:lpstr>
      <vt:lpstr>Aplicación del uso de variables con las funciones cout y cin    </vt:lpstr>
      <vt:lpstr>Aplicación del uso de variables con las funciones cout y cin    </vt:lpstr>
      <vt:lpstr>Contenido</vt:lpstr>
      <vt:lpstr>Aplicación del uso de variables con las funciones printf y scanf    </vt:lpstr>
      <vt:lpstr>Aplicación del uso de variables con las funciones cout y cin    </vt:lpstr>
      <vt:lpstr>Aplicación del uso de variables con las funciones cout y cin    </vt:lpstr>
      <vt:lpstr>Aplicación del uso de variables con las funciones cout y cin    </vt:lpstr>
      <vt:lpstr>Contenido</vt:lpstr>
      <vt:lpstr>Operador de Asignación Igual (=)      </vt:lpstr>
      <vt:lpstr>Operador de Asignación Igual (=)      </vt:lpstr>
      <vt:lpstr>Contenido</vt:lpstr>
      <vt:lpstr>Aplicación del operador de asignación igual utilizando cout y cin      </vt:lpstr>
      <vt:lpstr>Aplicación del operador de asignación igual utilizando cout y cin      </vt:lpstr>
      <vt:lpstr>Contenido</vt:lpstr>
      <vt:lpstr>Aplicación del operador de asignación igual utilizando printf y scanf      </vt:lpstr>
      <vt:lpstr>Aplicación del operador de asignación igual utilizando cout y cin      </vt:lpstr>
      <vt:lpstr>Aplicación del operador de asignación igual utilizando cout y cin      </vt:lpstr>
      <vt:lpstr>Aplicación del operador de asignación igual utilizando cout y cin      </vt:lpstr>
      <vt:lpstr>Contenido</vt:lpstr>
      <vt:lpstr>Nombres de Variables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1</cp:revision>
  <dcterms:created xsi:type="dcterms:W3CDTF">2025-10-08T16:30:59Z</dcterms:created>
  <dcterms:modified xsi:type="dcterms:W3CDTF">2025-10-12T23:49:24Z</dcterms:modified>
</cp:coreProperties>
</file>