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5"/>
  </p:notesMasterIdLst>
  <p:sldIdLst>
    <p:sldId id="311" r:id="rId3"/>
    <p:sldId id="257" r:id="rId4"/>
    <p:sldId id="436" r:id="rId5"/>
    <p:sldId id="459" r:id="rId6"/>
    <p:sldId id="460" r:id="rId7"/>
    <p:sldId id="461" r:id="rId8"/>
    <p:sldId id="463" r:id="rId9"/>
    <p:sldId id="464" r:id="rId10"/>
    <p:sldId id="465" r:id="rId11"/>
    <p:sldId id="466" r:id="rId12"/>
    <p:sldId id="467" r:id="rId13"/>
    <p:sldId id="468" r:id="rId14"/>
    <p:sldId id="470" r:id="rId15"/>
    <p:sldId id="471" r:id="rId16"/>
    <p:sldId id="472" r:id="rId17"/>
    <p:sldId id="473" r:id="rId18"/>
    <p:sldId id="474" r:id="rId19"/>
    <p:sldId id="475" r:id="rId20"/>
    <p:sldId id="476" r:id="rId21"/>
    <p:sldId id="477" r:id="rId22"/>
    <p:sldId id="478" r:id="rId23"/>
    <p:sldId id="479" r:id="rId24"/>
    <p:sldId id="445" r:id="rId25"/>
    <p:sldId id="480" r:id="rId26"/>
    <p:sldId id="481" r:id="rId27"/>
    <p:sldId id="482" r:id="rId28"/>
    <p:sldId id="483" r:id="rId29"/>
    <p:sldId id="484" r:id="rId30"/>
    <p:sldId id="485" r:id="rId31"/>
    <p:sldId id="486" r:id="rId32"/>
    <p:sldId id="487" r:id="rId33"/>
    <p:sldId id="488" r:id="rId34"/>
    <p:sldId id="489" r:id="rId35"/>
    <p:sldId id="490" r:id="rId36"/>
    <p:sldId id="491" r:id="rId37"/>
    <p:sldId id="492" r:id="rId38"/>
    <p:sldId id="493" r:id="rId39"/>
    <p:sldId id="494" r:id="rId40"/>
    <p:sldId id="495" r:id="rId41"/>
    <p:sldId id="496" r:id="rId42"/>
    <p:sldId id="393" r:id="rId43"/>
    <p:sldId id="275" r:id="rId44"/>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snapToGrid="0">
      <p:cViewPr varScale="1">
        <p:scale>
          <a:sx n="114" d="100"/>
          <a:sy n="114" d="100"/>
        </p:scale>
        <p:origin x="46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26/11/2025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26/11/2025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26/11/2025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26/11/2025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26/11/2025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26/11/2025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3 ALGORITMOS Y ESTRUCTURAS DE CONTROL SELECTIVAS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26/11/2025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3400" b="1" dirty="0">
                <a:solidFill>
                  <a:srgbClr val="FF0000"/>
                </a:solidFill>
              </a:rPr>
              <a:t>La sentencia if-</a:t>
            </a:r>
            <a:r>
              <a:rPr lang="es-MX" sz="3400" b="1" dirty="0" err="1">
                <a:solidFill>
                  <a:srgbClr val="FF0000"/>
                </a:solidFill>
              </a:rPr>
              <a:t>else</a:t>
            </a:r>
            <a:r>
              <a:rPr lang="es-MX" sz="3400" b="1" dirty="0">
                <a:solidFill>
                  <a:srgbClr val="FF0000"/>
                </a:solidFill>
              </a:rPr>
              <a:t>  </a:t>
            </a:r>
          </a:p>
          <a:p>
            <a:pPr lvl="1"/>
            <a:r>
              <a:rPr lang="es-MX" sz="2000" dirty="0"/>
              <a:t>Problema 3.3. (Aplicación del uso de la sentencia if-</a:t>
            </a:r>
            <a:r>
              <a:rPr lang="es-MX" sz="2000" dirty="0" err="1"/>
              <a:t>else</a:t>
            </a:r>
            <a:r>
              <a:rPr lang="es-MX" sz="2000" dirty="0"/>
              <a:t>)  </a:t>
            </a:r>
          </a:p>
          <a:p>
            <a:pPr lvl="1"/>
            <a:r>
              <a:rPr lang="es-MX" sz="2000" dirty="0"/>
              <a:t>Problema 3.4. (Aplicación del uso de la sentencia if-</a:t>
            </a:r>
            <a:r>
              <a:rPr lang="es-MX" sz="2000" dirty="0" err="1"/>
              <a:t>else</a:t>
            </a:r>
            <a:r>
              <a:rPr lang="es-MX" sz="2000" dirty="0"/>
              <a:t>) </a:t>
            </a:r>
          </a:p>
          <a:p>
            <a:pPr lvl="1"/>
            <a:r>
              <a:rPr lang="es-MX" sz="2000" dirty="0"/>
              <a:t>Caso de Estudio 3.2: Evaluar una Función Definida por Partes </a:t>
            </a:r>
          </a:p>
          <a:p>
            <a:pPr lvl="1"/>
            <a:r>
              <a:rPr lang="es-MX" sz="2000" dirty="0"/>
              <a:t> Caso de Estudio 3.3: Encontrar el Perímetro, el Semi-perímetro y el Área de un Triángulo</a:t>
            </a:r>
          </a:p>
          <a:p>
            <a:pPr lvl="1"/>
            <a:r>
              <a:rPr lang="es-MX" sz="2000" dirty="0"/>
              <a:t> Caso de Estudio 3.4: Encontrar la aceleración de dos objetos conectados mediante una cuerda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p:txBody>
          <a:bodyPr/>
          <a:lstStyle/>
          <a:p>
            <a:r>
              <a:rPr lang="es-MX" b="1" dirty="0"/>
              <a:t>La sentencia if-</a:t>
            </a:r>
            <a:r>
              <a:rPr lang="es-MX" b="1" dirty="0" err="1"/>
              <a:t>else</a:t>
            </a:r>
            <a:r>
              <a:rPr lang="es-MX" b="1" dirty="0"/>
              <a:t>  </a:t>
            </a: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9542034" cy="5171440"/>
          </a:xfrm>
        </p:spPr>
        <p:txBody>
          <a:bodyPr>
            <a:normAutofit fontScale="92500" lnSpcReduction="10000"/>
          </a:bodyPr>
          <a:lstStyle/>
          <a:p>
            <a:r>
              <a:rPr lang="es-MX" sz="2000" dirty="0"/>
              <a:t>La sentencia if-</a:t>
            </a:r>
            <a:r>
              <a:rPr lang="es-MX" sz="2000" dirty="0" err="1"/>
              <a:t>else</a:t>
            </a:r>
            <a:r>
              <a:rPr lang="es-MX" sz="2000" dirty="0"/>
              <a:t> permite escoger entre dos instrucciones o acciones diferentes, es decir, se elige una sentencia y la otra no se la toma en cuenta (</a:t>
            </a:r>
            <a:r>
              <a:rPr lang="es-MX" sz="2000" dirty="0" err="1"/>
              <a:t>Deitel</a:t>
            </a:r>
            <a:r>
              <a:rPr lang="es-MX" sz="2000" dirty="0"/>
              <a:t>, H., </a:t>
            </a:r>
            <a:r>
              <a:rPr lang="es-MX" sz="2000" dirty="0" err="1"/>
              <a:t>Deitel</a:t>
            </a:r>
            <a:r>
              <a:rPr lang="es-MX" sz="2000" dirty="0"/>
              <a:t>, P., 2003). </a:t>
            </a:r>
          </a:p>
          <a:p>
            <a:r>
              <a:rPr lang="es-MX" sz="2000" dirty="0"/>
              <a:t>El formato de esta sentencia tiene la siguiente sintaxis: </a:t>
            </a:r>
          </a:p>
          <a:p>
            <a:pPr marL="0" indent="0">
              <a:buNone/>
            </a:pPr>
            <a:r>
              <a:rPr lang="es-MX" sz="2000" b="1" dirty="0"/>
              <a:t>Sintaxis 1: </a:t>
            </a:r>
          </a:p>
          <a:p>
            <a:pPr marL="0" indent="0">
              <a:buNone/>
            </a:pPr>
            <a:endParaRPr lang="es-MX" sz="2000" b="1" dirty="0"/>
          </a:p>
          <a:p>
            <a:pPr marL="0" indent="0">
              <a:buNone/>
            </a:pPr>
            <a:r>
              <a:rPr lang="es-MX" sz="2000" b="1" dirty="0"/>
              <a:t>if(expresión) </a:t>
            </a:r>
          </a:p>
          <a:p>
            <a:pPr marL="0" indent="0">
              <a:buNone/>
            </a:pPr>
            <a:r>
              <a:rPr lang="es-MX" sz="2000" b="1" dirty="0"/>
              <a:t>   sentencia1; </a:t>
            </a:r>
          </a:p>
          <a:p>
            <a:pPr marL="0" indent="0">
              <a:buNone/>
            </a:pPr>
            <a:r>
              <a:rPr lang="es-MX" sz="2000" b="1" dirty="0"/>
              <a:t>   else </a:t>
            </a:r>
          </a:p>
          <a:p>
            <a:pPr marL="0" indent="0">
              <a:buNone/>
            </a:pPr>
            <a:r>
              <a:rPr lang="es-MX" sz="2000" b="1" dirty="0"/>
              <a:t>   sentencia2; </a:t>
            </a:r>
          </a:p>
          <a:p>
            <a:pPr marL="0" indent="0">
              <a:buNone/>
            </a:pPr>
            <a:r>
              <a:rPr lang="es-MX" sz="2000" dirty="0"/>
              <a:t>expresión : Expresión lógica que determina si la sentencia o acción se ha de ejecutar. </a:t>
            </a:r>
          </a:p>
          <a:p>
            <a:pPr marL="0" indent="0">
              <a:buNone/>
            </a:pPr>
            <a:r>
              <a:rPr lang="es-MX" sz="2000" dirty="0"/>
              <a:t>sentencia1 La sentencia o acción se ejecuta si la expresión lógica es verdadera. </a:t>
            </a:r>
          </a:p>
          <a:p>
            <a:pPr marL="0" indent="0">
              <a:buNone/>
            </a:pPr>
            <a:r>
              <a:rPr lang="es-MX" sz="2000" dirty="0"/>
              <a:t>sentencia2 La sentencia o acción se ejecuta si la expresión lógica es falsa</a:t>
            </a:r>
          </a:p>
          <a:p>
            <a:pPr marL="0" indent="0">
              <a:buNone/>
            </a:pPr>
            <a:r>
              <a:rPr lang="es-MX" sz="2100" b="1" dirty="0"/>
              <a:t>Nota: En esta sintaxis no es necesario utilizar llaves ya que se tiene una sola sentencia o instrucción, tanto en el ‘if’ como en el ‘</a:t>
            </a:r>
            <a:r>
              <a:rPr lang="es-MX" sz="2100" b="1" dirty="0" err="1"/>
              <a:t>else</a:t>
            </a:r>
            <a:r>
              <a:rPr lang="es-MX" sz="2100" b="1" dirty="0"/>
              <a:t>’.</a:t>
            </a:r>
            <a:endParaRPr lang="es-EC" sz="21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spTree>
    <p:extLst>
      <p:ext uri="{BB962C8B-B14F-4D97-AF65-F5344CB8AC3E}">
        <p14:creationId xmlns:p14="http://schemas.microsoft.com/office/powerpoint/2010/main" val="408428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p:txBody>
          <a:bodyPr/>
          <a:lstStyle/>
          <a:p>
            <a:r>
              <a:rPr lang="es-MX" b="1" dirty="0"/>
              <a:t>La sentencia if-</a:t>
            </a:r>
            <a:r>
              <a:rPr lang="es-MX" b="1" dirty="0" err="1"/>
              <a:t>else</a:t>
            </a:r>
            <a:r>
              <a:rPr lang="es-MX" b="1" dirty="0"/>
              <a:t>  </a:t>
            </a: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9542034" cy="5171440"/>
          </a:xfrm>
        </p:spPr>
        <p:txBody>
          <a:bodyPr>
            <a:normAutofit fontScale="92500" lnSpcReduction="20000"/>
          </a:bodyPr>
          <a:lstStyle/>
          <a:p>
            <a:pPr marL="0" indent="0">
              <a:buNone/>
            </a:pPr>
            <a:r>
              <a:rPr lang="es-EC" sz="1600" b="1" dirty="0"/>
              <a:t>Sintaxis 2: </a:t>
            </a:r>
          </a:p>
          <a:p>
            <a:pPr marL="0" indent="0">
              <a:buNone/>
            </a:pPr>
            <a:r>
              <a:rPr lang="es-EC" sz="1600" b="1" dirty="0"/>
              <a:t> </a:t>
            </a:r>
          </a:p>
          <a:p>
            <a:pPr marL="0" indent="0">
              <a:buNone/>
            </a:pPr>
            <a:r>
              <a:rPr lang="es-EC" sz="1600" b="1" dirty="0"/>
              <a:t>if(expresión)  </a:t>
            </a:r>
          </a:p>
          <a:p>
            <a:pPr marL="0" indent="0">
              <a:buNone/>
            </a:pPr>
            <a:r>
              <a:rPr lang="es-EC" sz="1600" b="1" dirty="0"/>
              <a:t>{ </a:t>
            </a:r>
          </a:p>
          <a:p>
            <a:pPr marL="0" indent="0">
              <a:buNone/>
            </a:pPr>
            <a:r>
              <a:rPr lang="es-EC" sz="1600" b="1" dirty="0"/>
              <a:t>     sentencia1.1; </a:t>
            </a:r>
          </a:p>
          <a:p>
            <a:pPr marL="0" indent="0">
              <a:buNone/>
            </a:pPr>
            <a:r>
              <a:rPr lang="es-EC" sz="1600" b="1" dirty="0"/>
              <a:t>     sentencia1.2; </a:t>
            </a:r>
          </a:p>
          <a:p>
            <a:pPr marL="0" indent="0">
              <a:buNone/>
            </a:pPr>
            <a:r>
              <a:rPr lang="es-EC" sz="1600" b="1" dirty="0"/>
              <a:t>     … </a:t>
            </a:r>
          </a:p>
          <a:p>
            <a:pPr marL="0" indent="0">
              <a:buNone/>
            </a:pPr>
            <a:r>
              <a:rPr lang="es-EC" sz="1600" b="1" dirty="0"/>
              <a:t>     sentencia1.n; </a:t>
            </a:r>
          </a:p>
          <a:p>
            <a:pPr marL="0" indent="0">
              <a:buNone/>
            </a:pPr>
            <a:r>
              <a:rPr lang="es-EC" sz="1600" b="1" dirty="0"/>
              <a:t>} </a:t>
            </a:r>
          </a:p>
          <a:p>
            <a:pPr marL="0" indent="0">
              <a:buNone/>
            </a:pPr>
            <a:r>
              <a:rPr lang="es-EC" sz="1600" b="1" dirty="0"/>
              <a:t>else </a:t>
            </a:r>
          </a:p>
          <a:p>
            <a:pPr marL="0" indent="0">
              <a:buNone/>
            </a:pPr>
            <a:r>
              <a:rPr lang="es-EC" sz="1600" b="1" dirty="0"/>
              <a:t>{ </a:t>
            </a:r>
          </a:p>
          <a:p>
            <a:pPr marL="0" indent="0">
              <a:buNone/>
            </a:pPr>
            <a:r>
              <a:rPr lang="es-EC" sz="1600" b="1" dirty="0"/>
              <a:t>     sentencia2.1; </a:t>
            </a:r>
          </a:p>
          <a:p>
            <a:pPr marL="0" indent="0">
              <a:buNone/>
            </a:pPr>
            <a:r>
              <a:rPr lang="es-EC" sz="1600" b="1" dirty="0"/>
              <a:t>     sentencia2.2; </a:t>
            </a:r>
          </a:p>
          <a:p>
            <a:pPr marL="0" indent="0">
              <a:buNone/>
            </a:pPr>
            <a:r>
              <a:rPr lang="es-EC" sz="1600" b="1" dirty="0"/>
              <a:t>     … </a:t>
            </a:r>
          </a:p>
          <a:p>
            <a:pPr marL="0" indent="0">
              <a:buNone/>
            </a:pPr>
            <a:r>
              <a:rPr lang="es-EC" sz="1600" b="1" dirty="0"/>
              <a:t>     sentencia2.n; </a:t>
            </a:r>
          </a:p>
          <a:p>
            <a:pPr marL="0" indent="0">
              <a:buNone/>
            </a:pPr>
            <a:r>
              <a:rPr lang="es-EC" sz="1600" b="1" dirty="0"/>
              <a:t>} </a:t>
            </a:r>
          </a:p>
          <a:p>
            <a:pPr marL="0" indent="0">
              <a:buNone/>
            </a:pPr>
            <a:r>
              <a:rPr lang="es-MX" sz="1600" dirty="0"/>
              <a:t>expresión :Expresión lógica que determina si la sentencia o acción se ha de ejecutar.</a:t>
            </a:r>
          </a:p>
          <a:p>
            <a:pPr marL="0" indent="0">
              <a:buNone/>
            </a:pPr>
            <a:r>
              <a:rPr lang="es-MX" sz="1600" dirty="0"/>
              <a:t>sentencias1: Las acciones o sentencias se ejecutan si la expresión lógica es verdadera. </a:t>
            </a:r>
          </a:p>
          <a:p>
            <a:pPr marL="0" indent="0">
              <a:buNone/>
            </a:pPr>
            <a:r>
              <a:rPr lang="es-MX" sz="1600" dirty="0"/>
              <a:t>sentencias2 :Las acciones o sentencias se ejecutan si la expresión lógica es falsa. </a:t>
            </a:r>
          </a:p>
          <a:p>
            <a:pPr marL="0" indent="0">
              <a:buNone/>
            </a:pPr>
            <a:endParaRPr lang="es-MX" sz="1600" dirty="0"/>
          </a:p>
          <a:p>
            <a:pPr marL="0" indent="0">
              <a:buNone/>
            </a:pPr>
            <a:r>
              <a:rPr lang="es-MX" sz="1600" b="1" dirty="0"/>
              <a:t>Nota: En esta sintaxis es necesario utilizar llaves ya que se tienen varias sentencias o instrucciones, tanto en el ‘if’ como en el ‘else’.</a:t>
            </a:r>
            <a:endParaRPr lang="es-EC" sz="21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4</a:t>
            </a:fld>
            <a:endParaRPr lang="es-EC"/>
          </a:p>
        </p:txBody>
      </p:sp>
    </p:spTree>
    <p:extLst>
      <p:ext uri="{BB962C8B-B14F-4D97-AF65-F5344CB8AC3E}">
        <p14:creationId xmlns:p14="http://schemas.microsoft.com/office/powerpoint/2010/main" val="136196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La sentencia if-else  </a:t>
            </a:r>
          </a:p>
          <a:p>
            <a:pPr lvl="1"/>
            <a:r>
              <a:rPr lang="es-MX" sz="3400" b="1" dirty="0">
                <a:solidFill>
                  <a:srgbClr val="FF0000"/>
                </a:solidFill>
              </a:rPr>
              <a:t>Problema 3.3. (Aplicación del uso de la sentencia if-else</a:t>
            </a:r>
            <a:r>
              <a:rPr lang="es-MX" sz="2000" dirty="0"/>
              <a:t>)  </a:t>
            </a:r>
          </a:p>
          <a:p>
            <a:pPr lvl="1"/>
            <a:r>
              <a:rPr lang="es-MX" sz="2000" dirty="0"/>
              <a:t>Problema 3.4. (Aplicación del uso de la sentencia if-</a:t>
            </a:r>
            <a:r>
              <a:rPr lang="es-MX" sz="2000" dirty="0" err="1"/>
              <a:t>else</a:t>
            </a:r>
            <a:r>
              <a:rPr lang="es-MX" sz="2000" dirty="0"/>
              <a:t>) </a:t>
            </a:r>
          </a:p>
          <a:p>
            <a:pPr lvl="1"/>
            <a:r>
              <a:rPr lang="es-MX" sz="2000" dirty="0"/>
              <a:t>Caso de Estudio 3.2: Evaluar una Función Definida por Partes </a:t>
            </a:r>
          </a:p>
          <a:p>
            <a:pPr lvl="1"/>
            <a:r>
              <a:rPr lang="es-MX" sz="2000" dirty="0"/>
              <a:t> Caso de Estudio 3.3: Encontrar el Perímetro, el Semi-perímetro y el Área de un Triángulo</a:t>
            </a:r>
          </a:p>
          <a:p>
            <a:pPr lvl="1"/>
            <a:r>
              <a:rPr lang="es-MX" sz="2000" dirty="0"/>
              <a:t> Caso de Estudio 3.4: Encontrar la aceleración de dos objetos conectados mediante una cuerda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5</a:t>
            </a:fld>
            <a:endParaRPr lang="es-EC">
              <a:solidFill>
                <a:prstClr val="black">
                  <a:lumMod val="65000"/>
                  <a:lumOff val="35000"/>
                </a:prstClr>
              </a:solidFill>
            </a:endParaRPr>
          </a:p>
        </p:txBody>
      </p:sp>
    </p:spTree>
    <p:extLst>
      <p:ext uri="{BB962C8B-B14F-4D97-AF65-F5344CB8AC3E}">
        <p14:creationId xmlns:p14="http://schemas.microsoft.com/office/powerpoint/2010/main" val="497321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94080" y="1428673"/>
            <a:ext cx="10972800" cy="1600200"/>
          </a:xfrm>
        </p:spPr>
        <p:txBody>
          <a:bodyPr/>
          <a:lstStyle/>
          <a:p>
            <a:br>
              <a:rPr lang="es-MX" sz="5400" b="1" dirty="0">
                <a:solidFill>
                  <a:srgbClr val="FF0000"/>
                </a:solidFill>
              </a:rPr>
            </a:br>
            <a:br>
              <a:rPr lang="es-MX" sz="5400" b="1" dirty="0">
                <a:solidFill>
                  <a:srgbClr val="FF0000"/>
                </a:solidFill>
              </a:rPr>
            </a:br>
            <a:r>
              <a:rPr lang="es-MX" b="1" dirty="0"/>
              <a:t>Problema 3.3. (Aplicación del uso de la sentencia if-else)</a:t>
            </a:r>
            <a:r>
              <a:rPr lang="es-MX" sz="3600" dirty="0"/>
              <a:t>  </a:t>
            </a:r>
            <a:br>
              <a:rPr lang="es-MX" sz="3600" dirty="0"/>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50526" y="1694026"/>
            <a:ext cx="3049794" cy="1971040"/>
          </a:xfrm>
        </p:spPr>
        <p:txBody>
          <a:bodyPr>
            <a:normAutofit/>
          </a:bodyPr>
          <a:lstStyle/>
          <a:p>
            <a:pPr marL="0" indent="0">
              <a:buNone/>
            </a:pPr>
            <a:r>
              <a:rPr lang="es-MX" sz="1600" dirty="0"/>
              <a:t>Problema 3.3: Escribir un programa que permita ver si un número es par o impar, para lo cual se debe utilizar el operador de módulo, que permite obtener el resto de una división entera. </a:t>
            </a:r>
            <a:endParaRPr lang="es-EC" sz="21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6</a:t>
            </a:fld>
            <a:endParaRPr lang="es-EC"/>
          </a:p>
        </p:txBody>
      </p:sp>
      <p:pic>
        <p:nvPicPr>
          <p:cNvPr id="7" name="Imagen 6">
            <a:extLst>
              <a:ext uri="{FF2B5EF4-FFF2-40B4-BE49-F238E27FC236}">
                <a16:creationId xmlns:a16="http://schemas.microsoft.com/office/drawing/2014/main" id="{EA9ABE55-7546-4FD8-9759-7D20487114C4}"/>
              </a:ext>
            </a:extLst>
          </p:cNvPr>
          <p:cNvPicPr>
            <a:picLocks noChangeAspect="1"/>
          </p:cNvPicPr>
          <p:nvPr/>
        </p:nvPicPr>
        <p:blipFill>
          <a:blip r:embed="rId2"/>
          <a:stretch>
            <a:fillRect/>
          </a:stretch>
        </p:blipFill>
        <p:spPr>
          <a:xfrm>
            <a:off x="1897202" y="3665066"/>
            <a:ext cx="7097115" cy="2210108"/>
          </a:xfrm>
          <a:prstGeom prst="rect">
            <a:avLst/>
          </a:prstGeom>
        </p:spPr>
      </p:pic>
    </p:spTree>
    <p:extLst>
      <p:ext uri="{BB962C8B-B14F-4D97-AF65-F5344CB8AC3E}">
        <p14:creationId xmlns:p14="http://schemas.microsoft.com/office/powerpoint/2010/main" val="1003723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32503" y="1967153"/>
            <a:ext cx="8138160" cy="847167"/>
          </a:xfrm>
        </p:spPr>
        <p:txBody>
          <a:bodyPr/>
          <a:lstStyle/>
          <a:p>
            <a:br>
              <a:rPr lang="es-MX" sz="5400" b="1" dirty="0">
                <a:solidFill>
                  <a:srgbClr val="FF0000"/>
                </a:solidFill>
              </a:rPr>
            </a:br>
            <a:br>
              <a:rPr lang="es-MX" sz="3600" b="1" dirty="0">
                <a:solidFill>
                  <a:srgbClr val="FF0000"/>
                </a:solidFill>
              </a:rPr>
            </a:br>
            <a:r>
              <a:rPr lang="es-MX" sz="3600" b="1" dirty="0"/>
              <a:t>Problema 3.3. (Aplicación del uso de la sentencia if-else)  </a:t>
            </a:r>
            <a:br>
              <a:rPr lang="es-MX" sz="3600" b="1" dirty="0"/>
            </a:br>
            <a:br>
              <a:rPr lang="es-MX" sz="5400" b="1" dirty="0">
                <a:solidFill>
                  <a:srgbClr val="FF0000"/>
                </a:solidFill>
              </a:rPr>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7</a:t>
            </a:fld>
            <a:endParaRPr lang="es-EC"/>
          </a:p>
        </p:txBody>
      </p:sp>
      <p:pic>
        <p:nvPicPr>
          <p:cNvPr id="10" name="Imagen 9">
            <a:extLst>
              <a:ext uri="{FF2B5EF4-FFF2-40B4-BE49-F238E27FC236}">
                <a16:creationId xmlns:a16="http://schemas.microsoft.com/office/drawing/2014/main" id="{21CD1CDA-4EB4-40DC-90A2-8F5535470BF8}"/>
              </a:ext>
            </a:extLst>
          </p:cNvPr>
          <p:cNvPicPr>
            <a:picLocks noChangeAspect="1"/>
          </p:cNvPicPr>
          <p:nvPr/>
        </p:nvPicPr>
        <p:blipFill>
          <a:blip r:embed="rId2"/>
          <a:stretch>
            <a:fillRect/>
          </a:stretch>
        </p:blipFill>
        <p:spPr>
          <a:xfrm>
            <a:off x="1574819" y="1211282"/>
            <a:ext cx="8453527" cy="4842511"/>
          </a:xfrm>
          <a:prstGeom prst="rect">
            <a:avLst/>
          </a:prstGeom>
        </p:spPr>
      </p:pic>
      <p:sp>
        <p:nvSpPr>
          <p:cNvPr id="13" name="CuadroTexto 12">
            <a:extLst>
              <a:ext uri="{FF2B5EF4-FFF2-40B4-BE49-F238E27FC236}">
                <a16:creationId xmlns:a16="http://schemas.microsoft.com/office/drawing/2014/main" id="{A45C332C-367E-45CF-A44D-DFF180256D97}"/>
              </a:ext>
            </a:extLst>
          </p:cNvPr>
          <p:cNvSpPr txBox="1"/>
          <p:nvPr/>
        </p:nvSpPr>
        <p:spPr>
          <a:xfrm>
            <a:off x="1925543" y="607514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3.3</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449187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32503" y="1967153"/>
            <a:ext cx="8138160" cy="847167"/>
          </a:xfrm>
        </p:spPr>
        <p:txBody>
          <a:bodyPr/>
          <a:lstStyle/>
          <a:p>
            <a:br>
              <a:rPr lang="es-MX" sz="5400" b="1" dirty="0">
                <a:solidFill>
                  <a:srgbClr val="FF0000"/>
                </a:solidFill>
              </a:rPr>
            </a:br>
            <a:br>
              <a:rPr lang="es-MX" sz="3600" b="1" dirty="0">
                <a:solidFill>
                  <a:srgbClr val="FF0000"/>
                </a:solidFill>
              </a:rPr>
            </a:br>
            <a:r>
              <a:rPr lang="es-MX" sz="3600" b="1" dirty="0"/>
              <a:t>Problema 3.3. (Aplicación del uso de la sentencia if-else)  </a:t>
            </a: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8</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850211" y="1643987"/>
            <a:ext cx="5357549" cy="1015663"/>
          </a:xfrm>
          <a:prstGeom prst="rect">
            <a:avLst/>
          </a:prstGeom>
          <a:noFill/>
        </p:spPr>
        <p:txBody>
          <a:bodyPr wrap="square">
            <a:spAutoFit/>
          </a:bodyPr>
          <a:lstStyle/>
          <a:p>
            <a:pPr algn="just"/>
            <a:r>
              <a:rPr lang="es-MX" sz="2000" dirty="0">
                <a:solidFill>
                  <a:schemeClr val="tx1">
                    <a:lumMod val="50000"/>
                    <a:lumOff val="50000"/>
                  </a:schemeClr>
                </a:solidFill>
                <a:latin typeface="+mj-lt"/>
              </a:rPr>
              <a:t>La Ejecución 3.3.1, correspondiente a la salida del programa, muestra que el número 8 es par.</a:t>
            </a:r>
            <a:endParaRPr lang="es-EC" sz="20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8B1EBD86-77AF-452D-9AE1-4AA145B88E03}"/>
              </a:ext>
            </a:extLst>
          </p:cNvPr>
          <p:cNvPicPr>
            <a:picLocks noChangeAspect="1"/>
          </p:cNvPicPr>
          <p:nvPr/>
        </p:nvPicPr>
        <p:blipFill>
          <a:blip r:embed="rId2"/>
          <a:stretch>
            <a:fillRect/>
          </a:stretch>
        </p:blipFill>
        <p:spPr>
          <a:xfrm>
            <a:off x="6367091" y="1717661"/>
            <a:ext cx="4737789" cy="1081419"/>
          </a:xfrm>
          <a:prstGeom prst="rect">
            <a:avLst/>
          </a:prstGeom>
        </p:spPr>
      </p:pic>
      <p:sp>
        <p:nvSpPr>
          <p:cNvPr id="9" name="CuadroTexto 8">
            <a:extLst>
              <a:ext uri="{FF2B5EF4-FFF2-40B4-BE49-F238E27FC236}">
                <a16:creationId xmlns:a16="http://schemas.microsoft.com/office/drawing/2014/main" id="{F67AB22A-9E2B-4ECB-B9E2-02AFCA3FD3EC}"/>
              </a:ext>
            </a:extLst>
          </p:cNvPr>
          <p:cNvSpPr txBox="1"/>
          <p:nvPr/>
        </p:nvSpPr>
        <p:spPr>
          <a:xfrm>
            <a:off x="738451" y="3747107"/>
            <a:ext cx="5357549" cy="707886"/>
          </a:xfrm>
          <a:prstGeom prst="rect">
            <a:avLst/>
          </a:prstGeom>
          <a:noFill/>
        </p:spPr>
        <p:txBody>
          <a:bodyPr wrap="square">
            <a:spAutoFit/>
          </a:bodyPr>
          <a:lstStyle/>
          <a:p>
            <a:pPr algn="just"/>
            <a:r>
              <a:rPr lang="es-MX" sz="2000" dirty="0">
                <a:solidFill>
                  <a:schemeClr val="tx1">
                    <a:lumMod val="50000"/>
                    <a:lumOff val="50000"/>
                  </a:schemeClr>
                </a:solidFill>
                <a:latin typeface="+mj-lt"/>
              </a:rPr>
              <a:t>La Ejecución 3.3.2, muestra que el número 7 es impar. </a:t>
            </a:r>
            <a:endParaRPr lang="es-EC" sz="2000" dirty="0">
              <a:solidFill>
                <a:schemeClr val="tx1">
                  <a:lumMod val="50000"/>
                  <a:lumOff val="50000"/>
                </a:schemeClr>
              </a:solidFill>
              <a:latin typeface="+mj-lt"/>
            </a:endParaRPr>
          </a:p>
        </p:txBody>
      </p:sp>
      <p:pic>
        <p:nvPicPr>
          <p:cNvPr id="8" name="Imagen 7">
            <a:extLst>
              <a:ext uri="{FF2B5EF4-FFF2-40B4-BE49-F238E27FC236}">
                <a16:creationId xmlns:a16="http://schemas.microsoft.com/office/drawing/2014/main" id="{400252D0-F26A-4020-80DA-0FD327A51B15}"/>
              </a:ext>
            </a:extLst>
          </p:cNvPr>
          <p:cNvPicPr>
            <a:picLocks noChangeAspect="1"/>
          </p:cNvPicPr>
          <p:nvPr/>
        </p:nvPicPr>
        <p:blipFill>
          <a:blip r:embed="rId3"/>
          <a:stretch>
            <a:fillRect/>
          </a:stretch>
        </p:blipFill>
        <p:spPr>
          <a:xfrm>
            <a:off x="6367091" y="3815687"/>
            <a:ext cx="3934374" cy="1186278"/>
          </a:xfrm>
          <a:prstGeom prst="rect">
            <a:avLst/>
          </a:prstGeom>
        </p:spPr>
      </p:pic>
      <p:sp>
        <p:nvSpPr>
          <p:cNvPr id="12" name="CuadroTexto 11">
            <a:extLst>
              <a:ext uri="{FF2B5EF4-FFF2-40B4-BE49-F238E27FC236}">
                <a16:creationId xmlns:a16="http://schemas.microsoft.com/office/drawing/2014/main" id="{71186C52-A37D-4890-9E96-83DF13A8B8F4}"/>
              </a:ext>
            </a:extLst>
          </p:cNvPr>
          <p:cNvSpPr txBox="1"/>
          <p:nvPr/>
        </p:nvSpPr>
        <p:spPr>
          <a:xfrm>
            <a:off x="6367091" y="2976598"/>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3.3.1.</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4" name="CuadroTexto 13">
            <a:extLst>
              <a:ext uri="{FF2B5EF4-FFF2-40B4-BE49-F238E27FC236}">
                <a16:creationId xmlns:a16="http://schemas.microsoft.com/office/drawing/2014/main" id="{5AE8CBB4-D3BB-42A6-87F9-727B4E3A0777}"/>
              </a:ext>
            </a:extLst>
          </p:cNvPr>
          <p:cNvSpPr txBox="1"/>
          <p:nvPr/>
        </p:nvSpPr>
        <p:spPr>
          <a:xfrm>
            <a:off x="6213014" y="519472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3.3.2.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85078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La sentencia if-else  </a:t>
            </a:r>
          </a:p>
          <a:p>
            <a:pPr lvl="1"/>
            <a:r>
              <a:rPr lang="es-MX" sz="2000" dirty="0"/>
              <a:t>Problema 3.3. (Aplicación del uso de la sentencia if-else)  </a:t>
            </a:r>
          </a:p>
          <a:p>
            <a:pPr lvl="1"/>
            <a:r>
              <a:rPr lang="es-MX" sz="3400" b="1" dirty="0">
                <a:solidFill>
                  <a:srgbClr val="FF0000"/>
                </a:solidFill>
              </a:rPr>
              <a:t>Problema 3.4. (Aplicación del uso de la sentencia if-else) </a:t>
            </a:r>
          </a:p>
          <a:p>
            <a:pPr lvl="1"/>
            <a:r>
              <a:rPr lang="es-MX" sz="2000" dirty="0"/>
              <a:t>Caso de Estudio 3.2: Evaluar una Función Definida por Partes </a:t>
            </a:r>
          </a:p>
          <a:p>
            <a:pPr lvl="1"/>
            <a:r>
              <a:rPr lang="es-MX" sz="2000" dirty="0"/>
              <a:t> Caso de Estudio 3.3: Encontrar el Perímetro, el Semi-perímetro y el Área de un Triángulo</a:t>
            </a:r>
          </a:p>
          <a:p>
            <a:pPr lvl="1"/>
            <a:r>
              <a:rPr lang="es-MX" sz="2000" dirty="0"/>
              <a:t> Caso de Estudio 3.4: Encontrar la aceleración de dos objetos conectados mediante una cuerda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9</a:t>
            </a:fld>
            <a:endParaRPr lang="es-EC">
              <a:solidFill>
                <a:prstClr val="black">
                  <a:lumMod val="65000"/>
                  <a:lumOff val="35000"/>
                </a:prstClr>
              </a:solidFill>
            </a:endParaRPr>
          </a:p>
        </p:txBody>
      </p:sp>
    </p:spTree>
    <p:extLst>
      <p:ext uri="{BB962C8B-B14F-4D97-AF65-F5344CB8AC3E}">
        <p14:creationId xmlns:p14="http://schemas.microsoft.com/office/powerpoint/2010/main" val="1076904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32503" y="1967153"/>
            <a:ext cx="8138160" cy="847167"/>
          </a:xfrm>
        </p:spPr>
        <p:txBody>
          <a:bodyPr/>
          <a:lstStyle/>
          <a:p>
            <a:br>
              <a:rPr lang="es-MX" sz="5400" b="1" dirty="0">
                <a:solidFill>
                  <a:srgbClr val="FF0000"/>
                </a:solidFill>
              </a:rPr>
            </a:br>
            <a:br>
              <a:rPr lang="es-MX" sz="3600" b="1" dirty="0">
                <a:solidFill>
                  <a:srgbClr val="FF0000"/>
                </a:solidFill>
              </a:rPr>
            </a:br>
            <a:r>
              <a:rPr lang="es-MX" sz="3600" b="1" dirty="0"/>
              <a:t>Problema 3.4. (Aplicación del uso de la sentencia if-else)  </a:t>
            </a: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850211" y="1643987"/>
            <a:ext cx="5357549" cy="1323439"/>
          </a:xfrm>
          <a:prstGeom prst="rect">
            <a:avLst/>
          </a:prstGeom>
          <a:noFill/>
        </p:spPr>
        <p:txBody>
          <a:bodyPr wrap="square">
            <a:spAutoFit/>
          </a:bodyPr>
          <a:lstStyle/>
          <a:p>
            <a:pPr algn="just"/>
            <a:r>
              <a:rPr lang="es-MX" sz="2000" dirty="0">
                <a:solidFill>
                  <a:schemeClr val="tx1">
                    <a:lumMod val="50000"/>
                    <a:lumOff val="50000"/>
                  </a:schemeClr>
                </a:solidFill>
                <a:latin typeface="+mj-lt"/>
              </a:rPr>
              <a:t>Escribir un programa que permita calcular el mayor de dos números leídos desde el teclado y visualizarlo en pantalla.</a:t>
            </a:r>
            <a:endParaRPr lang="es-EC" sz="20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BFBE29A2-3ECD-4CF0-972F-21793B03C622}"/>
              </a:ext>
            </a:extLst>
          </p:cNvPr>
          <p:cNvPicPr>
            <a:picLocks noChangeAspect="1"/>
          </p:cNvPicPr>
          <p:nvPr/>
        </p:nvPicPr>
        <p:blipFill>
          <a:blip r:embed="rId2"/>
          <a:stretch>
            <a:fillRect/>
          </a:stretch>
        </p:blipFill>
        <p:spPr>
          <a:xfrm>
            <a:off x="952016" y="2967426"/>
            <a:ext cx="6935168" cy="2305372"/>
          </a:xfrm>
          <a:prstGeom prst="rect">
            <a:avLst/>
          </a:prstGeom>
        </p:spPr>
      </p:pic>
    </p:spTree>
    <p:extLst>
      <p:ext uri="{BB962C8B-B14F-4D97-AF65-F5344CB8AC3E}">
        <p14:creationId xmlns:p14="http://schemas.microsoft.com/office/powerpoint/2010/main" val="2183442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32503" y="1967153"/>
            <a:ext cx="8138160" cy="847167"/>
          </a:xfrm>
        </p:spPr>
        <p:txBody>
          <a:bodyPr/>
          <a:lstStyle/>
          <a:p>
            <a:br>
              <a:rPr lang="es-MX" sz="5400" b="1" dirty="0">
                <a:solidFill>
                  <a:srgbClr val="FF0000"/>
                </a:solidFill>
              </a:rPr>
            </a:br>
            <a:br>
              <a:rPr lang="es-MX" sz="3600" b="1" dirty="0">
                <a:solidFill>
                  <a:srgbClr val="FF0000"/>
                </a:solidFill>
              </a:rPr>
            </a:br>
            <a:r>
              <a:rPr lang="es-MX" sz="3600" b="1" dirty="0"/>
              <a:t>Problema 3.4. (Aplicación del uso de la sentencia if-else)  </a:t>
            </a: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11</a:t>
            </a:fld>
            <a:endParaRPr lang="es-EC"/>
          </a:p>
        </p:txBody>
      </p:sp>
      <p:pic>
        <p:nvPicPr>
          <p:cNvPr id="6" name="Imagen 5">
            <a:extLst>
              <a:ext uri="{FF2B5EF4-FFF2-40B4-BE49-F238E27FC236}">
                <a16:creationId xmlns:a16="http://schemas.microsoft.com/office/drawing/2014/main" id="{4BBB2741-DB25-426A-B916-1239D901755A}"/>
              </a:ext>
            </a:extLst>
          </p:cNvPr>
          <p:cNvPicPr>
            <a:picLocks noChangeAspect="1"/>
          </p:cNvPicPr>
          <p:nvPr/>
        </p:nvPicPr>
        <p:blipFill rotWithShape="1">
          <a:blip r:embed="rId2"/>
          <a:srcRect b="1418"/>
          <a:stretch/>
        </p:blipFill>
        <p:spPr>
          <a:xfrm>
            <a:off x="1160329" y="1447523"/>
            <a:ext cx="5722504" cy="2752631"/>
          </a:xfrm>
          <a:prstGeom prst="rect">
            <a:avLst/>
          </a:prstGeom>
        </p:spPr>
      </p:pic>
      <p:pic>
        <p:nvPicPr>
          <p:cNvPr id="9" name="Imagen 8">
            <a:extLst>
              <a:ext uri="{FF2B5EF4-FFF2-40B4-BE49-F238E27FC236}">
                <a16:creationId xmlns:a16="http://schemas.microsoft.com/office/drawing/2014/main" id="{7CD4F7BC-D049-456D-806B-84DCF37DF5A7}"/>
              </a:ext>
            </a:extLst>
          </p:cNvPr>
          <p:cNvPicPr>
            <a:picLocks noChangeAspect="1"/>
          </p:cNvPicPr>
          <p:nvPr/>
        </p:nvPicPr>
        <p:blipFill rotWithShape="1">
          <a:blip r:embed="rId3"/>
          <a:srcRect t="2141" b="-1"/>
          <a:stretch/>
        </p:blipFill>
        <p:spPr>
          <a:xfrm>
            <a:off x="1160328" y="4257040"/>
            <a:ext cx="6477904" cy="2099311"/>
          </a:xfrm>
          <a:prstGeom prst="rect">
            <a:avLst/>
          </a:prstGeom>
        </p:spPr>
      </p:pic>
      <p:sp>
        <p:nvSpPr>
          <p:cNvPr id="11" name="CuadroTexto 10">
            <a:extLst>
              <a:ext uri="{FF2B5EF4-FFF2-40B4-BE49-F238E27FC236}">
                <a16:creationId xmlns:a16="http://schemas.microsoft.com/office/drawing/2014/main" id="{66ADE664-85AE-453E-B5AD-72EEA13C71CB}"/>
              </a:ext>
            </a:extLst>
          </p:cNvPr>
          <p:cNvSpPr txBox="1"/>
          <p:nvPr/>
        </p:nvSpPr>
        <p:spPr>
          <a:xfrm>
            <a:off x="1732503" y="6331957"/>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3.4</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694599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32503" y="1967153"/>
            <a:ext cx="8138160" cy="847167"/>
          </a:xfrm>
        </p:spPr>
        <p:txBody>
          <a:bodyPr/>
          <a:lstStyle/>
          <a:p>
            <a:br>
              <a:rPr lang="es-MX" sz="5400" b="1" dirty="0">
                <a:solidFill>
                  <a:srgbClr val="FF0000"/>
                </a:solidFill>
              </a:rPr>
            </a:br>
            <a:br>
              <a:rPr lang="es-MX" sz="3600" b="1" dirty="0">
                <a:solidFill>
                  <a:srgbClr val="FF0000"/>
                </a:solidFill>
              </a:rPr>
            </a:br>
            <a:r>
              <a:rPr lang="es-MX" sz="3600" b="1" dirty="0"/>
              <a:t>Problema 3.4. (Aplicación del uso de la sentencia if-else)  </a:t>
            </a: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sp>
        <p:nvSpPr>
          <p:cNvPr id="8" name="Marcador de contenido 2">
            <a:extLst>
              <a:ext uri="{FF2B5EF4-FFF2-40B4-BE49-F238E27FC236}">
                <a16:creationId xmlns:a16="http://schemas.microsoft.com/office/drawing/2014/main" id="{9455BD52-27EA-4846-ADE7-80F29CC23CCE}"/>
              </a:ext>
            </a:extLst>
          </p:cNvPr>
          <p:cNvSpPr>
            <a:spLocks noGrp="1"/>
          </p:cNvSpPr>
          <p:nvPr>
            <p:ph idx="1"/>
          </p:nvPr>
        </p:nvSpPr>
        <p:spPr>
          <a:xfrm>
            <a:off x="1057834" y="2028265"/>
            <a:ext cx="8482406" cy="1400736"/>
          </a:xfrm>
        </p:spPr>
        <p:txBody>
          <a:bodyPr>
            <a:normAutofit fontScale="85000" lnSpcReduction="10000"/>
          </a:bodyPr>
          <a:lstStyle/>
          <a:p>
            <a:pPr marL="0" indent="0">
              <a:buNone/>
            </a:pPr>
            <a:r>
              <a:rPr lang="es-MX" sz="1800" dirty="0"/>
              <a:t>En la salida de la Ejecución 3.4.1 se puede ver que al ingresar primero el número 84 y luego el número 23, el programa presenta al número 84 como el mayor entre los dos números. De manera similar, en la salida de la Ejecución 3.4.2 se puede ver que al ingresar primero el número 23 y luego el número 84, el programa presenta nuevamente al número 84 como el mayor entre los dos números, por lo que el algoritmo del programa logra su propósito que es encontrar el número mayor entre dos números. </a:t>
            </a:r>
            <a:endParaRPr lang="es-EC" sz="1800" dirty="0"/>
          </a:p>
        </p:txBody>
      </p:sp>
      <p:pic>
        <p:nvPicPr>
          <p:cNvPr id="7" name="Imagen 6">
            <a:extLst>
              <a:ext uri="{FF2B5EF4-FFF2-40B4-BE49-F238E27FC236}">
                <a16:creationId xmlns:a16="http://schemas.microsoft.com/office/drawing/2014/main" id="{1F66BEFB-3C27-4692-B21A-C0BCA2107813}"/>
              </a:ext>
            </a:extLst>
          </p:cNvPr>
          <p:cNvPicPr>
            <a:picLocks noChangeAspect="1"/>
          </p:cNvPicPr>
          <p:nvPr/>
        </p:nvPicPr>
        <p:blipFill>
          <a:blip r:embed="rId2"/>
          <a:stretch>
            <a:fillRect/>
          </a:stretch>
        </p:blipFill>
        <p:spPr>
          <a:xfrm>
            <a:off x="1129732" y="3580938"/>
            <a:ext cx="3572374" cy="847167"/>
          </a:xfrm>
          <a:prstGeom prst="rect">
            <a:avLst/>
          </a:prstGeom>
        </p:spPr>
      </p:pic>
      <p:pic>
        <p:nvPicPr>
          <p:cNvPr id="12" name="Imagen 11">
            <a:extLst>
              <a:ext uri="{FF2B5EF4-FFF2-40B4-BE49-F238E27FC236}">
                <a16:creationId xmlns:a16="http://schemas.microsoft.com/office/drawing/2014/main" id="{8ED46582-5BA7-4BA0-9016-6A19A52487C1}"/>
              </a:ext>
            </a:extLst>
          </p:cNvPr>
          <p:cNvPicPr>
            <a:picLocks noChangeAspect="1"/>
          </p:cNvPicPr>
          <p:nvPr/>
        </p:nvPicPr>
        <p:blipFill>
          <a:blip r:embed="rId3"/>
          <a:stretch>
            <a:fillRect/>
          </a:stretch>
        </p:blipFill>
        <p:spPr>
          <a:xfrm>
            <a:off x="1129733" y="5314386"/>
            <a:ext cx="3572373" cy="693231"/>
          </a:xfrm>
          <a:prstGeom prst="rect">
            <a:avLst/>
          </a:prstGeom>
        </p:spPr>
      </p:pic>
      <p:sp>
        <p:nvSpPr>
          <p:cNvPr id="13" name="CuadroTexto 12">
            <a:extLst>
              <a:ext uri="{FF2B5EF4-FFF2-40B4-BE49-F238E27FC236}">
                <a16:creationId xmlns:a16="http://schemas.microsoft.com/office/drawing/2014/main" id="{336E3979-62FC-4032-9DE9-63FBABC64609}"/>
              </a:ext>
            </a:extLst>
          </p:cNvPr>
          <p:cNvSpPr txBox="1"/>
          <p:nvPr/>
        </p:nvSpPr>
        <p:spPr>
          <a:xfrm>
            <a:off x="1057834" y="4661898"/>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3.4.1.</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4" name="CuadroTexto 13">
            <a:extLst>
              <a:ext uri="{FF2B5EF4-FFF2-40B4-BE49-F238E27FC236}">
                <a16:creationId xmlns:a16="http://schemas.microsoft.com/office/drawing/2014/main" id="{50DCBC85-D598-4482-B935-9299356D7A38}"/>
              </a:ext>
            </a:extLst>
          </p:cNvPr>
          <p:cNvSpPr txBox="1"/>
          <p:nvPr/>
        </p:nvSpPr>
        <p:spPr>
          <a:xfrm>
            <a:off x="1129732" y="620786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3.4.2.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017672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La sentencia if-else  </a:t>
            </a:r>
          </a:p>
          <a:p>
            <a:pPr lvl="1"/>
            <a:r>
              <a:rPr lang="es-MX" sz="2000" dirty="0"/>
              <a:t>Problema 3.3. (Aplicación del uso de la sentencia if-else)  </a:t>
            </a:r>
          </a:p>
          <a:p>
            <a:pPr lvl="1"/>
            <a:r>
              <a:rPr lang="es-MX" sz="2000" dirty="0"/>
              <a:t>Problema 3.4. (Aplicación del uso de la sentencia if-else) </a:t>
            </a:r>
          </a:p>
          <a:p>
            <a:pPr lvl="1"/>
            <a:r>
              <a:rPr lang="es-MX" sz="3400" b="1" dirty="0">
                <a:solidFill>
                  <a:srgbClr val="FF0000"/>
                </a:solidFill>
              </a:rPr>
              <a:t>Caso de Estudio 3.2: Evaluar una Función Definida por Partes </a:t>
            </a:r>
          </a:p>
          <a:p>
            <a:pPr lvl="1"/>
            <a:r>
              <a:rPr lang="es-MX" sz="2000" dirty="0"/>
              <a:t> Caso de Estudio 3.3: Encontrar el Perímetro, el Semi-perímetro y el Área de un Triángulo</a:t>
            </a:r>
          </a:p>
          <a:p>
            <a:pPr lvl="1"/>
            <a:r>
              <a:rPr lang="es-MX" sz="2000" dirty="0"/>
              <a:t> Caso de Estudio 3.4: Encontrar la aceleración de dos objetos conectados mediante una cuerda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13</a:t>
            </a:fld>
            <a:endParaRPr lang="es-EC">
              <a:solidFill>
                <a:prstClr val="black">
                  <a:lumMod val="65000"/>
                  <a:lumOff val="35000"/>
                </a:prstClr>
              </a:solidFill>
            </a:endParaRPr>
          </a:p>
        </p:txBody>
      </p:sp>
    </p:spTree>
    <p:extLst>
      <p:ext uri="{BB962C8B-B14F-4D97-AF65-F5344CB8AC3E}">
        <p14:creationId xmlns:p14="http://schemas.microsoft.com/office/powerpoint/2010/main" val="3315953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138680" y="2581833"/>
            <a:ext cx="8138160" cy="847167"/>
          </a:xfrm>
        </p:spPr>
        <p:txBody>
          <a:bodyPr/>
          <a:lstStyle/>
          <a:p>
            <a:br>
              <a:rPr lang="es-MX" sz="5400" b="1" dirty="0">
                <a:solidFill>
                  <a:srgbClr val="FF0000"/>
                </a:solidFill>
              </a:rPr>
            </a:br>
            <a:br>
              <a:rPr lang="es-MX" sz="3600" b="1" dirty="0">
                <a:solidFill>
                  <a:srgbClr val="FF0000"/>
                </a:solidFill>
              </a:rPr>
            </a:br>
            <a:r>
              <a:rPr lang="es-MX" sz="3600" b="1" dirty="0"/>
              <a:t>Caso de Estudio 3.2: Evaluar una Función Definida por Partes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850211" y="1725267"/>
            <a:ext cx="5357549" cy="1323439"/>
          </a:xfrm>
          <a:prstGeom prst="rect">
            <a:avLst/>
          </a:prstGeom>
          <a:noFill/>
        </p:spPr>
        <p:txBody>
          <a:bodyPr wrap="square">
            <a:spAutoFit/>
          </a:bodyPr>
          <a:lstStyle/>
          <a:p>
            <a:pPr algn="just"/>
            <a:r>
              <a:rPr lang="es-MX" sz="2000" dirty="0">
                <a:solidFill>
                  <a:schemeClr val="tx1">
                    <a:lumMod val="50000"/>
                    <a:lumOff val="50000"/>
                  </a:schemeClr>
                </a:solidFill>
                <a:latin typeface="+mj-lt"/>
              </a:rPr>
              <a:t>A) Problema Dada la función definida por partes 𝑦 = 𝑓(𝑥), calcular el valor de ‘y’ para un valor dado de ‘x’ y visualizarlo en pantalla.</a:t>
            </a:r>
            <a:endParaRPr lang="es-EC" sz="20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2027C220-1053-46C8-A840-D5374A8B109D}"/>
              </a:ext>
            </a:extLst>
          </p:cNvPr>
          <p:cNvPicPr>
            <a:picLocks noChangeAspect="1"/>
          </p:cNvPicPr>
          <p:nvPr/>
        </p:nvPicPr>
        <p:blipFill>
          <a:blip r:embed="rId2"/>
          <a:stretch>
            <a:fillRect/>
          </a:stretch>
        </p:blipFill>
        <p:spPr>
          <a:xfrm>
            <a:off x="7233787" y="1935707"/>
            <a:ext cx="1905266" cy="1112999"/>
          </a:xfrm>
          <a:prstGeom prst="rect">
            <a:avLst/>
          </a:prstGeom>
        </p:spPr>
      </p:pic>
      <p:sp>
        <p:nvSpPr>
          <p:cNvPr id="9" name="CuadroTexto 8">
            <a:extLst>
              <a:ext uri="{FF2B5EF4-FFF2-40B4-BE49-F238E27FC236}">
                <a16:creationId xmlns:a16="http://schemas.microsoft.com/office/drawing/2014/main" id="{EA09C561-2E7C-43E6-9DFF-8F7B7023FFF3}"/>
              </a:ext>
            </a:extLst>
          </p:cNvPr>
          <p:cNvSpPr txBox="1"/>
          <p:nvPr/>
        </p:nvSpPr>
        <p:spPr>
          <a:xfrm>
            <a:off x="850211" y="3481469"/>
            <a:ext cx="5357549" cy="707886"/>
          </a:xfrm>
          <a:prstGeom prst="rect">
            <a:avLst/>
          </a:prstGeom>
          <a:noFill/>
        </p:spPr>
        <p:txBody>
          <a:bodyPr wrap="square">
            <a:spAutoFit/>
          </a:bodyPr>
          <a:lstStyle/>
          <a:p>
            <a:pPr algn="just"/>
            <a:r>
              <a:rPr lang="es-MX" sz="2000" dirty="0">
                <a:solidFill>
                  <a:schemeClr val="tx1">
                    <a:lumMod val="50000"/>
                    <a:lumOff val="50000"/>
                  </a:schemeClr>
                </a:solidFill>
                <a:latin typeface="+mj-lt"/>
              </a:rPr>
              <a:t>Los dos intervalos de la función se muestran en la Figura 3.2.1 que son: </a:t>
            </a:r>
            <a:endParaRPr lang="es-EC" sz="20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9B7AA858-E68E-4B58-A83D-5C0AD480FF26}"/>
              </a:ext>
            </a:extLst>
          </p:cNvPr>
          <p:cNvPicPr>
            <a:picLocks noChangeAspect="1"/>
          </p:cNvPicPr>
          <p:nvPr/>
        </p:nvPicPr>
        <p:blipFill>
          <a:blip r:embed="rId3"/>
          <a:stretch>
            <a:fillRect/>
          </a:stretch>
        </p:blipFill>
        <p:spPr>
          <a:xfrm>
            <a:off x="7233787" y="3331417"/>
            <a:ext cx="2010056" cy="1469613"/>
          </a:xfrm>
          <a:prstGeom prst="rect">
            <a:avLst/>
          </a:prstGeom>
        </p:spPr>
      </p:pic>
      <p:pic>
        <p:nvPicPr>
          <p:cNvPr id="12" name="Imagen 11">
            <a:extLst>
              <a:ext uri="{FF2B5EF4-FFF2-40B4-BE49-F238E27FC236}">
                <a16:creationId xmlns:a16="http://schemas.microsoft.com/office/drawing/2014/main" id="{5EA19AEB-4724-4D2B-B028-0A232C15F7E5}"/>
              </a:ext>
            </a:extLst>
          </p:cNvPr>
          <p:cNvPicPr>
            <a:picLocks noChangeAspect="1"/>
          </p:cNvPicPr>
          <p:nvPr/>
        </p:nvPicPr>
        <p:blipFill>
          <a:blip r:embed="rId4"/>
          <a:stretch>
            <a:fillRect/>
          </a:stretch>
        </p:blipFill>
        <p:spPr>
          <a:xfrm>
            <a:off x="2575412" y="4801030"/>
            <a:ext cx="6668431" cy="1105054"/>
          </a:xfrm>
          <a:prstGeom prst="rect">
            <a:avLst/>
          </a:prstGeom>
        </p:spPr>
      </p:pic>
      <p:sp>
        <p:nvSpPr>
          <p:cNvPr id="14" name="CuadroTexto 13">
            <a:extLst>
              <a:ext uri="{FF2B5EF4-FFF2-40B4-BE49-F238E27FC236}">
                <a16:creationId xmlns:a16="http://schemas.microsoft.com/office/drawing/2014/main" id="{623C8220-738B-4649-9327-D1184230B90B}"/>
              </a:ext>
            </a:extLst>
          </p:cNvPr>
          <p:cNvSpPr txBox="1"/>
          <p:nvPr/>
        </p:nvSpPr>
        <p:spPr>
          <a:xfrm>
            <a:off x="2825674" y="617306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3.2.1.</a:t>
            </a:r>
            <a:r>
              <a:rPr lang="es-ES" sz="1200" dirty="0">
                <a:solidFill>
                  <a:schemeClr val="tx1">
                    <a:lumMod val="50000"/>
                    <a:lumOff val="50000"/>
                  </a:schemeClr>
                </a:solidFill>
                <a:latin typeface="+mj-lt"/>
              </a:rPr>
              <a:t> intervalos de Función.</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536728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026920" y="3056008"/>
            <a:ext cx="8138160" cy="847167"/>
          </a:xfrm>
        </p:spPr>
        <p:txBody>
          <a:bodyPr/>
          <a:lstStyle/>
          <a:p>
            <a:br>
              <a:rPr lang="es-MX" sz="5400" b="1" dirty="0">
                <a:solidFill>
                  <a:srgbClr val="FF0000"/>
                </a:solidFill>
              </a:rPr>
            </a:br>
            <a:br>
              <a:rPr lang="es-MX" sz="3600" b="1" dirty="0">
                <a:solidFill>
                  <a:srgbClr val="FF0000"/>
                </a:solidFill>
              </a:rPr>
            </a:br>
            <a:r>
              <a:rPr lang="es-MX" sz="3600" b="1" dirty="0"/>
              <a:t>Caso de Estudio 3.2: Evaluar una Función Definida por Partes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134691" y="2720946"/>
            <a:ext cx="9746669" cy="1754326"/>
          </a:xfrm>
          <a:prstGeom prst="rect">
            <a:avLst/>
          </a:prstGeom>
          <a:noFill/>
        </p:spPr>
        <p:txBody>
          <a:bodyPr wrap="square">
            <a:spAutoFit/>
          </a:bodyPr>
          <a:lstStyle/>
          <a:p>
            <a:pPr algn="just"/>
            <a:r>
              <a:rPr lang="es-MX" dirty="0">
                <a:solidFill>
                  <a:schemeClr val="tx1">
                    <a:lumMod val="50000"/>
                    <a:lumOff val="50000"/>
                  </a:schemeClr>
                </a:solidFill>
                <a:latin typeface="+mj-lt"/>
              </a:rPr>
              <a:t>B) Análisis </a:t>
            </a:r>
          </a:p>
          <a:p>
            <a:pPr algn="just"/>
            <a:r>
              <a:rPr lang="es-MX" dirty="0">
                <a:solidFill>
                  <a:schemeClr val="tx1">
                    <a:lumMod val="50000"/>
                    <a:lumOff val="50000"/>
                  </a:schemeClr>
                </a:solidFill>
                <a:latin typeface="+mj-lt"/>
              </a:rPr>
              <a:t>Claramente, se puede ver que la entrada del problema es el valor de ‘x’. Hay una salida requerida: el valor de 𝑓(𝑥)=𝑦. Partiendo de un conocimiento básico de Álgebra, se sabe que hay dos intervalos y dos funciones lineales sobre las cuales se va a evaluar en un punto a la función definida por partes. Las fórmulas requeridas se incluyen en el requerimiento de los datos.</a:t>
            </a:r>
            <a:endParaRPr lang="es-EC" dirty="0">
              <a:solidFill>
                <a:schemeClr val="tx1">
                  <a:lumMod val="50000"/>
                  <a:lumOff val="50000"/>
                </a:schemeClr>
              </a:solidFill>
              <a:latin typeface="+mj-lt"/>
            </a:endParaRPr>
          </a:p>
        </p:txBody>
      </p:sp>
    </p:spTree>
    <p:extLst>
      <p:ext uri="{BB962C8B-B14F-4D97-AF65-F5344CB8AC3E}">
        <p14:creationId xmlns:p14="http://schemas.microsoft.com/office/powerpoint/2010/main" val="1194928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199640" y="2750942"/>
            <a:ext cx="6497320" cy="1587378"/>
          </a:xfrm>
        </p:spPr>
        <p:txBody>
          <a:bodyPr/>
          <a:lstStyle/>
          <a:p>
            <a:br>
              <a:rPr lang="es-MX" sz="5400" b="1" dirty="0">
                <a:solidFill>
                  <a:srgbClr val="FF0000"/>
                </a:solidFill>
              </a:rPr>
            </a:br>
            <a:br>
              <a:rPr lang="es-MX" sz="3600" b="1" dirty="0">
                <a:solidFill>
                  <a:srgbClr val="FF0000"/>
                </a:solidFill>
              </a:rPr>
            </a:br>
            <a:r>
              <a:rPr lang="es-MX" sz="3600" b="1" dirty="0"/>
              <a:t>Caso de Estudio 3.2: Evaluar una Función Definida por Partes</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16</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104211" y="2076162"/>
            <a:ext cx="9746669" cy="3416320"/>
          </a:xfrm>
          <a:prstGeom prst="rect">
            <a:avLst/>
          </a:prstGeom>
          <a:noFill/>
        </p:spPr>
        <p:txBody>
          <a:bodyPr wrap="square">
            <a:spAutoFit/>
          </a:bodyPr>
          <a:lstStyle/>
          <a:p>
            <a:pPr algn="just"/>
            <a:r>
              <a:rPr lang="es-MX" dirty="0">
                <a:solidFill>
                  <a:schemeClr val="tx1">
                    <a:lumMod val="50000"/>
                    <a:lumOff val="50000"/>
                  </a:schemeClr>
                </a:solidFill>
                <a:latin typeface="+mj-lt"/>
              </a:rPr>
              <a:t>B.1)   Requerimiento de los Datos </a:t>
            </a:r>
          </a:p>
          <a:p>
            <a:pPr algn="just"/>
            <a:r>
              <a:rPr lang="es-MX" dirty="0">
                <a:solidFill>
                  <a:schemeClr val="tx1">
                    <a:lumMod val="50000"/>
                    <a:lumOff val="50000"/>
                  </a:schemeClr>
                </a:solidFill>
                <a:latin typeface="+mj-lt"/>
              </a:rPr>
              <a:t> </a:t>
            </a:r>
          </a:p>
          <a:p>
            <a:pPr algn="just"/>
            <a:r>
              <a:rPr lang="es-MX" dirty="0">
                <a:solidFill>
                  <a:schemeClr val="tx1">
                    <a:lumMod val="50000"/>
                    <a:lumOff val="50000"/>
                  </a:schemeClr>
                </a:solidFill>
                <a:latin typeface="+mj-lt"/>
              </a:rPr>
              <a:t>Entradas del Problema </a:t>
            </a:r>
          </a:p>
          <a:p>
            <a:pPr algn="just"/>
            <a:r>
              <a:rPr lang="es-MX" dirty="0">
                <a:solidFill>
                  <a:schemeClr val="tx1">
                    <a:lumMod val="50000"/>
                    <a:lumOff val="50000"/>
                  </a:schemeClr>
                </a:solidFill>
                <a:latin typeface="+mj-lt"/>
              </a:rPr>
              <a:t> </a:t>
            </a:r>
          </a:p>
          <a:p>
            <a:pPr algn="just"/>
            <a:r>
              <a:rPr lang="es-MX" b="1" dirty="0">
                <a:solidFill>
                  <a:schemeClr val="tx1">
                    <a:lumMod val="50000"/>
                    <a:lumOff val="50000"/>
                  </a:schemeClr>
                </a:solidFill>
                <a:latin typeface="+mj-lt"/>
              </a:rPr>
              <a:t>x /* valor de ‘x’ de la función */ </a:t>
            </a:r>
          </a:p>
          <a:p>
            <a:pPr algn="just"/>
            <a:r>
              <a:rPr lang="es-MX" dirty="0">
                <a:solidFill>
                  <a:schemeClr val="tx1">
                    <a:lumMod val="50000"/>
                    <a:lumOff val="50000"/>
                  </a:schemeClr>
                </a:solidFill>
                <a:latin typeface="+mj-lt"/>
              </a:rPr>
              <a:t> </a:t>
            </a:r>
          </a:p>
          <a:p>
            <a:pPr algn="just"/>
            <a:r>
              <a:rPr lang="es-MX" dirty="0">
                <a:solidFill>
                  <a:schemeClr val="tx1">
                    <a:lumMod val="50000"/>
                    <a:lumOff val="50000"/>
                  </a:schemeClr>
                </a:solidFill>
                <a:latin typeface="+mj-lt"/>
              </a:rPr>
              <a:t>Salidas del Problema </a:t>
            </a:r>
          </a:p>
          <a:p>
            <a:pPr algn="just"/>
            <a:r>
              <a:rPr lang="es-MX" dirty="0">
                <a:solidFill>
                  <a:schemeClr val="tx1">
                    <a:lumMod val="50000"/>
                    <a:lumOff val="50000"/>
                  </a:schemeClr>
                </a:solidFill>
                <a:latin typeface="+mj-lt"/>
              </a:rPr>
              <a:t> </a:t>
            </a:r>
          </a:p>
          <a:p>
            <a:pPr algn="just"/>
            <a:r>
              <a:rPr lang="es-MX" b="1" dirty="0">
                <a:solidFill>
                  <a:schemeClr val="tx1">
                    <a:lumMod val="50000"/>
                    <a:lumOff val="50000"/>
                  </a:schemeClr>
                </a:solidFill>
                <a:latin typeface="+mj-lt"/>
              </a:rPr>
              <a:t>y /* valor de ‘y’ de la función */ </a:t>
            </a:r>
          </a:p>
          <a:p>
            <a:pPr algn="just"/>
            <a:r>
              <a:rPr lang="es-MX" dirty="0">
                <a:solidFill>
                  <a:schemeClr val="tx1">
                    <a:lumMod val="50000"/>
                    <a:lumOff val="50000"/>
                  </a:schemeClr>
                </a:solidFill>
                <a:latin typeface="+mj-lt"/>
              </a:rPr>
              <a:t> </a:t>
            </a:r>
          </a:p>
          <a:p>
            <a:pPr algn="just"/>
            <a:r>
              <a:rPr lang="es-MX" dirty="0">
                <a:solidFill>
                  <a:schemeClr val="tx1">
                    <a:lumMod val="50000"/>
                    <a:lumOff val="50000"/>
                  </a:schemeClr>
                </a:solidFill>
                <a:latin typeface="+mj-lt"/>
              </a:rPr>
              <a:t>Fórmulas Relevantes </a:t>
            </a:r>
          </a:p>
          <a:p>
            <a:pPr algn="just"/>
            <a:r>
              <a:rPr lang="es-MX" dirty="0">
                <a:solidFill>
                  <a:schemeClr val="tx1">
                    <a:lumMod val="50000"/>
                    <a:lumOff val="50000"/>
                  </a:schemeClr>
                </a:solidFill>
                <a:latin typeface="+mj-lt"/>
              </a:rPr>
              <a:t> </a:t>
            </a:r>
          </a:p>
        </p:txBody>
      </p:sp>
      <p:pic>
        <p:nvPicPr>
          <p:cNvPr id="6" name="Imagen 5">
            <a:extLst>
              <a:ext uri="{FF2B5EF4-FFF2-40B4-BE49-F238E27FC236}">
                <a16:creationId xmlns:a16="http://schemas.microsoft.com/office/drawing/2014/main" id="{69E48898-AEEA-4FD1-BB74-8D5451F8526C}"/>
              </a:ext>
            </a:extLst>
          </p:cNvPr>
          <p:cNvPicPr>
            <a:picLocks noChangeAspect="1"/>
          </p:cNvPicPr>
          <p:nvPr/>
        </p:nvPicPr>
        <p:blipFill>
          <a:blip r:embed="rId2"/>
          <a:stretch>
            <a:fillRect/>
          </a:stretch>
        </p:blipFill>
        <p:spPr>
          <a:xfrm>
            <a:off x="1104211" y="5281389"/>
            <a:ext cx="5258534" cy="885873"/>
          </a:xfrm>
          <a:prstGeom prst="rect">
            <a:avLst/>
          </a:prstGeom>
        </p:spPr>
      </p:pic>
    </p:spTree>
    <p:extLst>
      <p:ext uri="{BB962C8B-B14F-4D97-AF65-F5344CB8AC3E}">
        <p14:creationId xmlns:p14="http://schemas.microsoft.com/office/powerpoint/2010/main" val="1491387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026920" y="3056008"/>
            <a:ext cx="8138160" cy="847167"/>
          </a:xfrm>
        </p:spPr>
        <p:txBody>
          <a:bodyPr/>
          <a:lstStyle/>
          <a:p>
            <a:br>
              <a:rPr lang="es-MX" sz="5400" b="1" dirty="0">
                <a:solidFill>
                  <a:srgbClr val="FF0000"/>
                </a:solidFill>
              </a:rPr>
            </a:br>
            <a:br>
              <a:rPr lang="es-MX" sz="3600" b="1" dirty="0">
                <a:solidFill>
                  <a:srgbClr val="FF0000"/>
                </a:solidFill>
              </a:rPr>
            </a:br>
            <a:r>
              <a:rPr lang="es-MX" sz="3600" b="1" dirty="0"/>
              <a:t>Caso de Estudio 3.2: Evaluar una Función Definida por Partes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17</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134691" y="2720946"/>
            <a:ext cx="9746669" cy="1938992"/>
          </a:xfrm>
          <a:prstGeom prst="rect">
            <a:avLst/>
          </a:prstGeom>
          <a:noFill/>
        </p:spPr>
        <p:txBody>
          <a:bodyPr wrap="square">
            <a:spAutoFit/>
          </a:bodyPr>
          <a:lstStyle/>
          <a:p>
            <a:pPr algn="just"/>
            <a:r>
              <a:rPr lang="es-MX" sz="2000" dirty="0">
                <a:solidFill>
                  <a:schemeClr val="tx1">
                    <a:lumMod val="50000"/>
                    <a:lumOff val="50000"/>
                  </a:schemeClr>
                </a:solidFill>
                <a:latin typeface="+mj-lt"/>
              </a:rPr>
              <a:t>B.2) Diagrama de Entrada-Salida </a:t>
            </a:r>
          </a:p>
          <a:p>
            <a:pPr algn="just"/>
            <a:r>
              <a:rPr lang="es-MX" sz="2000" dirty="0">
                <a:solidFill>
                  <a:schemeClr val="tx1">
                    <a:lumMod val="50000"/>
                    <a:lumOff val="50000"/>
                  </a:schemeClr>
                </a:solidFill>
                <a:latin typeface="+mj-lt"/>
              </a:rPr>
              <a:t> </a:t>
            </a:r>
          </a:p>
          <a:p>
            <a:pPr algn="just"/>
            <a:r>
              <a:rPr lang="es-MX" sz="2000" dirty="0">
                <a:solidFill>
                  <a:schemeClr val="tx1">
                    <a:lumMod val="50000"/>
                    <a:lumOff val="50000"/>
                  </a:schemeClr>
                </a:solidFill>
                <a:latin typeface="+mj-lt"/>
              </a:rPr>
              <a:t>En la Figura 3.2.2 se muestra el diagrama de Entrada-Salida del programa donde se identifican y se diagraman las entradas y salidas del problema como son: a) Entradas: la variable ‘x’ (variable </a:t>
            </a:r>
          </a:p>
          <a:p>
            <a:pPr algn="just"/>
            <a:r>
              <a:rPr lang="es-MX" sz="2000" dirty="0">
                <a:solidFill>
                  <a:schemeClr val="tx1">
                    <a:lumMod val="50000"/>
                    <a:lumOff val="50000"/>
                  </a:schemeClr>
                </a:solidFill>
                <a:latin typeface="+mj-lt"/>
              </a:rPr>
              <a:t>independiente); b) Salidas: la variable ‘y’ (variable dependiente). </a:t>
            </a:r>
            <a:endParaRPr lang="es-EC" sz="20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EFB3487B-4CB7-426B-9F8F-49E184346BF4}"/>
              </a:ext>
            </a:extLst>
          </p:cNvPr>
          <p:cNvPicPr>
            <a:picLocks noChangeAspect="1"/>
          </p:cNvPicPr>
          <p:nvPr/>
        </p:nvPicPr>
        <p:blipFill rotWithShape="1">
          <a:blip r:embed="rId2"/>
          <a:srcRect b="24462"/>
          <a:stretch/>
        </p:blipFill>
        <p:spPr>
          <a:xfrm>
            <a:off x="4546989" y="4995000"/>
            <a:ext cx="3524742" cy="1060360"/>
          </a:xfrm>
          <a:prstGeom prst="rect">
            <a:avLst/>
          </a:prstGeom>
        </p:spPr>
      </p:pic>
      <p:sp>
        <p:nvSpPr>
          <p:cNvPr id="8" name="CuadroTexto 7">
            <a:extLst>
              <a:ext uri="{FF2B5EF4-FFF2-40B4-BE49-F238E27FC236}">
                <a16:creationId xmlns:a16="http://schemas.microsoft.com/office/drawing/2014/main" id="{0370A183-47A5-4EFB-A5FE-61B25957E2F5}"/>
              </a:ext>
            </a:extLst>
          </p:cNvPr>
          <p:cNvSpPr txBox="1"/>
          <p:nvPr/>
        </p:nvSpPr>
        <p:spPr>
          <a:xfrm>
            <a:off x="2825674" y="617306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3.2.2.</a:t>
            </a:r>
            <a:r>
              <a:rPr lang="es-ES" sz="1200" dirty="0">
                <a:solidFill>
                  <a:schemeClr val="tx1">
                    <a:lumMod val="50000"/>
                    <a:lumOff val="50000"/>
                  </a:schemeClr>
                </a:solidFill>
                <a:latin typeface="+mj-lt"/>
              </a:rPr>
              <a:t> Diagrama de entrada y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274604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026920" y="3056008"/>
            <a:ext cx="8138160" cy="847167"/>
          </a:xfrm>
        </p:spPr>
        <p:txBody>
          <a:bodyPr/>
          <a:lstStyle/>
          <a:p>
            <a:br>
              <a:rPr lang="es-MX" sz="5400" b="1" dirty="0">
                <a:solidFill>
                  <a:srgbClr val="FF0000"/>
                </a:solidFill>
              </a:rPr>
            </a:br>
            <a:br>
              <a:rPr lang="es-MX" sz="3600" b="1" dirty="0">
                <a:solidFill>
                  <a:srgbClr val="FF0000"/>
                </a:solidFill>
              </a:rPr>
            </a:br>
            <a:r>
              <a:rPr lang="es-MX" sz="3600" b="1" dirty="0"/>
              <a:t>Caso de Estudio 3.2: Evaluar una Función Definida por Partes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18</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921331" y="1771855"/>
            <a:ext cx="9746669" cy="4401205"/>
          </a:xfrm>
          <a:prstGeom prst="rect">
            <a:avLst/>
          </a:prstGeom>
          <a:noFill/>
        </p:spPr>
        <p:txBody>
          <a:bodyPr wrap="square">
            <a:spAutoFit/>
          </a:bodyPr>
          <a:lstStyle/>
          <a:p>
            <a:pPr algn="just"/>
            <a:r>
              <a:rPr lang="es-MX" sz="2000" dirty="0">
                <a:solidFill>
                  <a:schemeClr val="tx1">
                    <a:lumMod val="50000"/>
                    <a:lumOff val="50000"/>
                  </a:schemeClr>
                </a:solidFill>
                <a:latin typeface="+mj-lt"/>
              </a:rPr>
              <a:t>C)   Diseño </a:t>
            </a:r>
          </a:p>
          <a:p>
            <a:pPr algn="just"/>
            <a:r>
              <a:rPr lang="es-MX" sz="2000" dirty="0">
                <a:solidFill>
                  <a:schemeClr val="tx1">
                    <a:lumMod val="50000"/>
                    <a:lumOff val="50000"/>
                  </a:schemeClr>
                </a:solidFill>
                <a:latin typeface="+mj-lt"/>
              </a:rPr>
              <a:t> </a:t>
            </a:r>
          </a:p>
          <a:p>
            <a:pPr algn="just"/>
            <a:r>
              <a:rPr lang="es-MX" sz="2000" dirty="0">
                <a:solidFill>
                  <a:schemeClr val="tx1">
                    <a:lumMod val="50000"/>
                    <a:lumOff val="50000"/>
                  </a:schemeClr>
                </a:solidFill>
                <a:latin typeface="+mj-lt"/>
              </a:rPr>
              <a:t>Una vez que se conoce las entradas y las salidas del problema, se deben listar los pasos </a:t>
            </a:r>
          </a:p>
          <a:p>
            <a:pPr algn="just"/>
            <a:r>
              <a:rPr lang="es-MX" sz="2000" dirty="0">
                <a:solidFill>
                  <a:schemeClr val="tx1">
                    <a:lumMod val="50000"/>
                    <a:lumOff val="50000"/>
                  </a:schemeClr>
                </a:solidFill>
                <a:latin typeface="+mj-lt"/>
              </a:rPr>
              <a:t>necesarios para resolver el problema, es decir, el algoritmo. </a:t>
            </a:r>
          </a:p>
          <a:p>
            <a:pPr algn="just"/>
            <a:r>
              <a:rPr lang="es-MX" sz="2000" dirty="0">
                <a:solidFill>
                  <a:schemeClr val="tx1">
                    <a:lumMod val="50000"/>
                    <a:lumOff val="50000"/>
                  </a:schemeClr>
                </a:solidFill>
                <a:latin typeface="+mj-lt"/>
              </a:rPr>
              <a:t> </a:t>
            </a:r>
          </a:p>
          <a:p>
            <a:pPr algn="just"/>
            <a:r>
              <a:rPr lang="es-MX" sz="2000" dirty="0">
                <a:solidFill>
                  <a:schemeClr val="tx1">
                    <a:lumMod val="50000"/>
                    <a:lumOff val="50000"/>
                  </a:schemeClr>
                </a:solidFill>
                <a:latin typeface="+mj-lt"/>
              </a:rPr>
              <a:t>Algoritmo </a:t>
            </a:r>
          </a:p>
          <a:p>
            <a:pPr algn="just"/>
            <a:r>
              <a:rPr lang="es-MX" sz="2000" dirty="0">
                <a:solidFill>
                  <a:schemeClr val="tx1">
                    <a:lumMod val="50000"/>
                    <a:lumOff val="50000"/>
                  </a:schemeClr>
                </a:solidFill>
                <a:latin typeface="+mj-lt"/>
              </a:rPr>
              <a:t> </a:t>
            </a:r>
          </a:p>
          <a:p>
            <a:pPr algn="just"/>
            <a:r>
              <a:rPr lang="es-MX" sz="2000" dirty="0">
                <a:solidFill>
                  <a:schemeClr val="tx1">
                    <a:lumMod val="50000"/>
                    <a:lumOff val="50000"/>
                  </a:schemeClr>
                </a:solidFill>
                <a:latin typeface="+mj-lt"/>
              </a:rPr>
              <a:t>1. Leer el valor de ‘x’. </a:t>
            </a:r>
          </a:p>
          <a:p>
            <a:pPr algn="just"/>
            <a:r>
              <a:rPr lang="es-MX" sz="2000" dirty="0">
                <a:solidFill>
                  <a:schemeClr val="tx1">
                    <a:lumMod val="50000"/>
                    <a:lumOff val="50000"/>
                  </a:schemeClr>
                </a:solidFill>
                <a:latin typeface="+mj-lt"/>
              </a:rPr>
              <a:t>2. Si el valor de 'x' está dentro del intervalo I1: 𝑥&lt;3. </a:t>
            </a:r>
          </a:p>
          <a:p>
            <a:pPr algn="just"/>
            <a:r>
              <a:rPr lang="es-MX" sz="2000" dirty="0">
                <a:solidFill>
                  <a:schemeClr val="tx1">
                    <a:lumMod val="50000"/>
                    <a:lumOff val="50000"/>
                  </a:schemeClr>
                </a:solidFill>
                <a:latin typeface="+mj-lt"/>
              </a:rPr>
              <a:t>2.1. Evaluar a la función 𝑓(𝑥)=−𝑥+3 en un punto 'x'. </a:t>
            </a:r>
          </a:p>
          <a:p>
            <a:pPr algn="just"/>
            <a:r>
              <a:rPr lang="es-MX" sz="2000" dirty="0">
                <a:solidFill>
                  <a:schemeClr val="tx1">
                    <a:lumMod val="50000"/>
                    <a:lumOff val="50000"/>
                  </a:schemeClr>
                </a:solidFill>
                <a:latin typeface="+mj-lt"/>
              </a:rPr>
              <a:t>3. Caso contrario, el valor de 'x' está dentro del intervalo I2: 𝑥≥3. </a:t>
            </a:r>
          </a:p>
          <a:p>
            <a:pPr algn="just"/>
            <a:r>
              <a:rPr lang="es-MX" sz="2000" dirty="0">
                <a:solidFill>
                  <a:schemeClr val="tx1">
                    <a:lumMod val="50000"/>
                    <a:lumOff val="50000"/>
                  </a:schemeClr>
                </a:solidFill>
                <a:latin typeface="+mj-lt"/>
              </a:rPr>
              <a:t>3.1. Evaluar a la función 𝑓(𝑥)=𝑥−3 en un punto 'x'. </a:t>
            </a:r>
          </a:p>
          <a:p>
            <a:pPr algn="just"/>
            <a:r>
              <a:rPr lang="es-MX" sz="2000" dirty="0">
                <a:solidFill>
                  <a:schemeClr val="tx1">
                    <a:lumMod val="50000"/>
                    <a:lumOff val="50000"/>
                  </a:schemeClr>
                </a:solidFill>
                <a:latin typeface="+mj-lt"/>
              </a:rPr>
              <a:t>4. Imprimir el valor de la variable ‘x’ y de la variable ‘y’.</a:t>
            </a:r>
            <a:endParaRPr lang="es-EC" sz="2000" dirty="0">
              <a:solidFill>
                <a:schemeClr val="tx1">
                  <a:lumMod val="50000"/>
                  <a:lumOff val="50000"/>
                </a:schemeClr>
              </a:solidFill>
              <a:latin typeface="+mj-lt"/>
            </a:endParaRPr>
          </a:p>
        </p:txBody>
      </p:sp>
    </p:spTree>
    <p:extLst>
      <p:ext uri="{BB962C8B-B14F-4D97-AF65-F5344CB8AC3E}">
        <p14:creationId xmlns:p14="http://schemas.microsoft.com/office/powerpoint/2010/main" val="2309197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026920" y="3056008"/>
            <a:ext cx="8138160" cy="847167"/>
          </a:xfrm>
        </p:spPr>
        <p:txBody>
          <a:bodyPr/>
          <a:lstStyle/>
          <a:p>
            <a:br>
              <a:rPr lang="es-MX" sz="5400" b="1" dirty="0">
                <a:solidFill>
                  <a:srgbClr val="FF0000"/>
                </a:solidFill>
              </a:rPr>
            </a:br>
            <a:br>
              <a:rPr lang="es-MX" sz="3600" b="1" dirty="0">
                <a:solidFill>
                  <a:srgbClr val="FF0000"/>
                </a:solidFill>
              </a:rPr>
            </a:br>
            <a:r>
              <a:rPr lang="es-MX" sz="3600" b="1" dirty="0"/>
              <a:t>Caso de Estudio 3.2: Evaluar una Función Definida por Partes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19</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063571" y="2151727"/>
            <a:ext cx="9746669" cy="2554545"/>
          </a:xfrm>
          <a:prstGeom prst="rect">
            <a:avLst/>
          </a:prstGeom>
          <a:noFill/>
        </p:spPr>
        <p:txBody>
          <a:bodyPr wrap="square">
            <a:spAutoFit/>
          </a:bodyPr>
          <a:lstStyle/>
          <a:p>
            <a:pPr algn="just"/>
            <a:r>
              <a:rPr lang="es-MX" sz="2000" dirty="0">
                <a:solidFill>
                  <a:schemeClr val="tx1">
                    <a:lumMod val="50000"/>
                    <a:lumOff val="50000"/>
                  </a:schemeClr>
                </a:solidFill>
                <a:latin typeface="+mj-lt"/>
              </a:rPr>
              <a:t>D)   Implementación </a:t>
            </a:r>
          </a:p>
          <a:p>
            <a:pPr algn="just"/>
            <a:r>
              <a:rPr lang="es-MX" sz="2000" dirty="0">
                <a:solidFill>
                  <a:schemeClr val="tx1">
                    <a:lumMod val="50000"/>
                    <a:lumOff val="50000"/>
                  </a:schemeClr>
                </a:solidFill>
                <a:latin typeface="+mj-lt"/>
              </a:rPr>
              <a:t> </a:t>
            </a:r>
          </a:p>
          <a:p>
            <a:pPr algn="just"/>
            <a:r>
              <a:rPr lang="es-MX" sz="2000" dirty="0">
                <a:solidFill>
                  <a:schemeClr val="tx1">
                    <a:lumMod val="50000"/>
                    <a:lumOff val="50000"/>
                  </a:schemeClr>
                </a:solidFill>
                <a:latin typeface="+mj-lt"/>
              </a:rPr>
              <a:t>Para implementar la solución, se debe escribir el algoritmo como un programa de C/C++ que </a:t>
            </a:r>
          </a:p>
          <a:p>
            <a:pPr algn="just"/>
            <a:r>
              <a:rPr lang="es-MX" sz="2000" dirty="0">
                <a:solidFill>
                  <a:schemeClr val="tx1">
                    <a:lumMod val="50000"/>
                    <a:lumOff val="50000"/>
                  </a:schemeClr>
                </a:solidFill>
                <a:latin typeface="+mj-lt"/>
              </a:rPr>
              <a:t>contenga toda la información necesaria para completar la traducción a lenguaje máquina. En la </a:t>
            </a:r>
          </a:p>
          <a:p>
            <a:pPr algn="just"/>
            <a:endParaRPr lang="es-MX" sz="2000" dirty="0">
              <a:solidFill>
                <a:schemeClr val="tx1">
                  <a:lumMod val="50000"/>
                  <a:lumOff val="50000"/>
                </a:schemeClr>
              </a:solidFill>
              <a:latin typeface="+mj-lt"/>
            </a:endParaRPr>
          </a:p>
          <a:p>
            <a:pPr algn="just"/>
            <a:r>
              <a:rPr lang="es-MX" sz="2000" dirty="0">
                <a:solidFill>
                  <a:schemeClr val="tx1">
                    <a:lumMod val="50000"/>
                    <a:lumOff val="50000"/>
                  </a:schemeClr>
                </a:solidFill>
                <a:latin typeface="+mj-lt"/>
              </a:rPr>
              <a:t>Tabla 3.2.1 se muestra el código del programa en C/C++. </a:t>
            </a:r>
            <a:endParaRPr lang="es-EC" sz="2000" dirty="0">
              <a:solidFill>
                <a:schemeClr val="tx1">
                  <a:lumMod val="50000"/>
                  <a:lumOff val="50000"/>
                </a:schemeClr>
              </a:solidFill>
              <a:latin typeface="+mj-lt"/>
            </a:endParaRPr>
          </a:p>
        </p:txBody>
      </p:sp>
    </p:spTree>
    <p:extLst>
      <p:ext uri="{BB962C8B-B14F-4D97-AF65-F5344CB8AC3E}">
        <p14:creationId xmlns:p14="http://schemas.microsoft.com/office/powerpoint/2010/main" val="3424257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20</a:t>
            </a:fld>
            <a:endParaRPr lang="es-EC"/>
          </a:p>
        </p:txBody>
      </p:sp>
      <p:pic>
        <p:nvPicPr>
          <p:cNvPr id="6" name="Imagen 5">
            <a:extLst>
              <a:ext uri="{FF2B5EF4-FFF2-40B4-BE49-F238E27FC236}">
                <a16:creationId xmlns:a16="http://schemas.microsoft.com/office/drawing/2014/main" id="{EC78EA92-F012-4EF8-A07F-6B97AA7EB775}"/>
              </a:ext>
            </a:extLst>
          </p:cNvPr>
          <p:cNvPicPr>
            <a:picLocks noChangeAspect="1"/>
          </p:cNvPicPr>
          <p:nvPr/>
        </p:nvPicPr>
        <p:blipFill>
          <a:blip r:embed="rId2"/>
          <a:stretch>
            <a:fillRect/>
          </a:stretch>
        </p:blipFill>
        <p:spPr>
          <a:xfrm>
            <a:off x="1638808" y="136524"/>
            <a:ext cx="9090151" cy="6142990"/>
          </a:xfrm>
          <a:prstGeom prst="rect">
            <a:avLst/>
          </a:prstGeom>
        </p:spPr>
      </p:pic>
      <p:sp>
        <p:nvSpPr>
          <p:cNvPr id="10" name="CuadroTexto 9">
            <a:extLst>
              <a:ext uri="{FF2B5EF4-FFF2-40B4-BE49-F238E27FC236}">
                <a16:creationId xmlns:a16="http://schemas.microsoft.com/office/drawing/2014/main" id="{60D64F0B-3627-44D2-A65A-86ACD538C53B}"/>
              </a:ext>
            </a:extLst>
          </p:cNvPr>
          <p:cNvSpPr txBox="1"/>
          <p:nvPr/>
        </p:nvSpPr>
        <p:spPr>
          <a:xfrm>
            <a:off x="2403063" y="6279514"/>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3.2.1 </a:t>
            </a:r>
            <a:r>
              <a:rPr lang="es-ES" sz="1200" dirty="0">
                <a:solidFill>
                  <a:schemeClr val="tx1">
                    <a:lumMod val="50000"/>
                    <a:lumOff val="50000"/>
                  </a:schemeClr>
                </a:solidFill>
                <a:latin typeface="+mj-lt"/>
              </a:rPr>
              <a:t>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937770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026920" y="3056008"/>
            <a:ext cx="8138160" cy="847167"/>
          </a:xfrm>
        </p:spPr>
        <p:txBody>
          <a:bodyPr/>
          <a:lstStyle/>
          <a:p>
            <a:br>
              <a:rPr lang="es-MX" sz="5400" b="1" dirty="0">
                <a:solidFill>
                  <a:srgbClr val="FF0000"/>
                </a:solidFill>
              </a:rPr>
            </a:br>
            <a:br>
              <a:rPr lang="es-MX" sz="3600" b="1" dirty="0">
                <a:solidFill>
                  <a:srgbClr val="FF0000"/>
                </a:solidFill>
              </a:rPr>
            </a:br>
            <a:r>
              <a:rPr lang="es-MX" sz="3600" b="1" dirty="0"/>
              <a:t>Caso de Estudio 3.2: Evaluar una Función Definida por Partes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21</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053411" y="1755487"/>
            <a:ext cx="9746669" cy="2800767"/>
          </a:xfrm>
          <a:prstGeom prst="rect">
            <a:avLst/>
          </a:prstGeom>
          <a:noFill/>
        </p:spPr>
        <p:txBody>
          <a:bodyPr wrap="square">
            <a:spAutoFit/>
          </a:bodyPr>
          <a:lstStyle/>
          <a:p>
            <a:pPr algn="just"/>
            <a:r>
              <a:rPr lang="es-MX" sz="1600" dirty="0">
                <a:solidFill>
                  <a:schemeClr val="tx1">
                    <a:lumMod val="50000"/>
                    <a:lumOff val="50000"/>
                  </a:schemeClr>
                </a:solidFill>
                <a:latin typeface="+mj-lt"/>
              </a:rPr>
              <a:t>E) Pruebas </a:t>
            </a:r>
          </a:p>
          <a:p>
            <a:pPr algn="just"/>
            <a:r>
              <a:rPr lang="es-MX" sz="1600" dirty="0">
                <a:solidFill>
                  <a:schemeClr val="tx1">
                    <a:lumMod val="50000"/>
                    <a:lumOff val="50000"/>
                  </a:schemeClr>
                </a:solidFill>
                <a:latin typeface="+mj-lt"/>
              </a:rPr>
              <a:t> </a:t>
            </a:r>
          </a:p>
          <a:p>
            <a:pPr algn="just"/>
            <a:r>
              <a:rPr lang="es-MX" sz="1600" dirty="0">
                <a:solidFill>
                  <a:schemeClr val="tx1">
                    <a:lumMod val="50000"/>
                    <a:lumOff val="50000"/>
                  </a:schemeClr>
                </a:solidFill>
                <a:latin typeface="+mj-lt"/>
              </a:rPr>
              <a:t>La Tabla 3.2.2 y la Tabla 3.2.3 muestran dos ejemplos de la salida del programa, donde se puede </a:t>
            </a:r>
          </a:p>
          <a:p>
            <a:pPr algn="just"/>
            <a:r>
              <a:rPr lang="es-MX" sz="1600" dirty="0">
                <a:solidFill>
                  <a:schemeClr val="tx1">
                    <a:lumMod val="50000"/>
                    <a:lumOff val="50000"/>
                  </a:schemeClr>
                </a:solidFill>
                <a:latin typeface="+mj-lt"/>
              </a:rPr>
              <a:t>ver que los resultados del programa tienen sentido, comparando estos resultados con los datos </a:t>
            </a:r>
          </a:p>
          <a:p>
            <a:pPr algn="just"/>
            <a:r>
              <a:rPr lang="es-MX" sz="1600" dirty="0">
                <a:solidFill>
                  <a:schemeClr val="tx1">
                    <a:lumMod val="50000"/>
                    <a:lumOff val="50000"/>
                  </a:schemeClr>
                </a:solidFill>
                <a:latin typeface="+mj-lt"/>
              </a:rPr>
              <a:t>devueltos por una calculadora. </a:t>
            </a:r>
          </a:p>
          <a:p>
            <a:pPr algn="just"/>
            <a:r>
              <a:rPr lang="es-MX" sz="1600" dirty="0">
                <a:solidFill>
                  <a:schemeClr val="tx1">
                    <a:lumMod val="50000"/>
                    <a:lumOff val="50000"/>
                  </a:schemeClr>
                </a:solidFill>
                <a:latin typeface="+mj-lt"/>
              </a:rPr>
              <a:t> </a:t>
            </a:r>
          </a:p>
          <a:p>
            <a:pPr algn="just"/>
            <a:r>
              <a:rPr lang="es-MX" sz="1600" dirty="0">
                <a:solidFill>
                  <a:schemeClr val="tx1">
                    <a:lumMod val="50000"/>
                    <a:lumOff val="50000"/>
                  </a:schemeClr>
                </a:solidFill>
                <a:latin typeface="+mj-lt"/>
              </a:rPr>
              <a:t>En la salida de la Tabla 3.2.2 se puede ver que al ingresar el valor de ‘x’ igual a 2, se evalúa la </a:t>
            </a:r>
          </a:p>
          <a:p>
            <a:pPr algn="just"/>
            <a:r>
              <a:rPr lang="es-MX" sz="1600" dirty="0">
                <a:solidFill>
                  <a:schemeClr val="tx1">
                    <a:lumMod val="50000"/>
                    <a:lumOff val="50000"/>
                  </a:schemeClr>
                </a:solidFill>
                <a:latin typeface="+mj-lt"/>
              </a:rPr>
              <a:t>función en el primer intervalo. De manera similar, en la salida Tabla 3.2.3 se puede ver que al </a:t>
            </a:r>
          </a:p>
          <a:p>
            <a:pPr algn="just"/>
            <a:r>
              <a:rPr lang="es-MX" sz="1600" dirty="0">
                <a:solidFill>
                  <a:schemeClr val="tx1">
                    <a:lumMod val="50000"/>
                    <a:lumOff val="50000"/>
                  </a:schemeClr>
                </a:solidFill>
                <a:latin typeface="+mj-lt"/>
              </a:rPr>
              <a:t>ingresar el valor de ‘x’ igual a 7, se evalúa la función en el segundo intervalo, por lo que el </a:t>
            </a:r>
          </a:p>
          <a:p>
            <a:pPr algn="just"/>
            <a:r>
              <a:rPr lang="es-MX" sz="1600" dirty="0">
                <a:solidFill>
                  <a:schemeClr val="tx1">
                    <a:lumMod val="50000"/>
                    <a:lumOff val="50000"/>
                  </a:schemeClr>
                </a:solidFill>
                <a:latin typeface="+mj-lt"/>
              </a:rPr>
              <a:t>algoritmo del programa logra su propósito que es evaluar una función definida por partes o a </a:t>
            </a:r>
          </a:p>
          <a:p>
            <a:pPr algn="just"/>
            <a:r>
              <a:rPr lang="es-MX" sz="1600" dirty="0">
                <a:solidFill>
                  <a:schemeClr val="tx1">
                    <a:lumMod val="50000"/>
                    <a:lumOff val="50000"/>
                  </a:schemeClr>
                </a:solidFill>
                <a:latin typeface="+mj-lt"/>
              </a:rPr>
              <a:t>trozos. </a:t>
            </a:r>
            <a:endParaRPr lang="es-EC" sz="16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DEA2E63B-D400-4826-99B6-6AA4E4E4C8A9}"/>
              </a:ext>
            </a:extLst>
          </p:cNvPr>
          <p:cNvPicPr>
            <a:picLocks noChangeAspect="1"/>
          </p:cNvPicPr>
          <p:nvPr/>
        </p:nvPicPr>
        <p:blipFill>
          <a:blip r:embed="rId2"/>
          <a:stretch>
            <a:fillRect/>
          </a:stretch>
        </p:blipFill>
        <p:spPr>
          <a:xfrm>
            <a:off x="1053411" y="4609135"/>
            <a:ext cx="3391373" cy="847167"/>
          </a:xfrm>
          <a:prstGeom prst="rect">
            <a:avLst/>
          </a:prstGeom>
        </p:spPr>
      </p:pic>
      <p:pic>
        <p:nvPicPr>
          <p:cNvPr id="8" name="Imagen 7">
            <a:extLst>
              <a:ext uri="{FF2B5EF4-FFF2-40B4-BE49-F238E27FC236}">
                <a16:creationId xmlns:a16="http://schemas.microsoft.com/office/drawing/2014/main" id="{2F3A9042-35CA-4351-B6F1-13A2427E0E08}"/>
              </a:ext>
            </a:extLst>
          </p:cNvPr>
          <p:cNvPicPr>
            <a:picLocks noChangeAspect="1"/>
          </p:cNvPicPr>
          <p:nvPr/>
        </p:nvPicPr>
        <p:blipFill>
          <a:blip r:embed="rId3"/>
          <a:stretch>
            <a:fillRect/>
          </a:stretch>
        </p:blipFill>
        <p:spPr>
          <a:xfrm>
            <a:off x="5960690" y="4639872"/>
            <a:ext cx="3579550" cy="847167"/>
          </a:xfrm>
          <a:prstGeom prst="rect">
            <a:avLst/>
          </a:prstGeom>
        </p:spPr>
      </p:pic>
      <p:sp>
        <p:nvSpPr>
          <p:cNvPr id="10" name="CuadroTexto 9">
            <a:extLst>
              <a:ext uri="{FF2B5EF4-FFF2-40B4-BE49-F238E27FC236}">
                <a16:creationId xmlns:a16="http://schemas.microsoft.com/office/drawing/2014/main" id="{AA209B1E-03E1-4B43-A01F-CE7C9631BB08}"/>
              </a:ext>
            </a:extLst>
          </p:cNvPr>
          <p:cNvSpPr txBox="1"/>
          <p:nvPr/>
        </p:nvSpPr>
        <p:spPr>
          <a:xfrm>
            <a:off x="1043251" y="5598529"/>
            <a:ext cx="339137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3.2.2.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1" name="CuadroTexto 10">
            <a:extLst>
              <a:ext uri="{FF2B5EF4-FFF2-40B4-BE49-F238E27FC236}">
                <a16:creationId xmlns:a16="http://schemas.microsoft.com/office/drawing/2014/main" id="{97D5E4EE-6816-4338-B34A-24A6B19CF062}"/>
              </a:ext>
            </a:extLst>
          </p:cNvPr>
          <p:cNvSpPr txBox="1"/>
          <p:nvPr/>
        </p:nvSpPr>
        <p:spPr>
          <a:xfrm>
            <a:off x="5926745" y="5533609"/>
            <a:ext cx="3613495"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3.2.3.</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727711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La sentencia if-else  </a:t>
            </a:r>
          </a:p>
          <a:p>
            <a:pPr lvl="1"/>
            <a:r>
              <a:rPr lang="es-MX" sz="2000" dirty="0"/>
              <a:t>Problema 3.3. (Aplicación del uso de la sentencia if-else)  </a:t>
            </a:r>
          </a:p>
          <a:p>
            <a:pPr lvl="1"/>
            <a:r>
              <a:rPr lang="es-MX" sz="2000" dirty="0"/>
              <a:t>Problema 3.4. (Aplicación del uso de la sentencia if-else) </a:t>
            </a:r>
          </a:p>
          <a:p>
            <a:pPr lvl="1"/>
            <a:r>
              <a:rPr lang="es-MX" sz="2000" dirty="0"/>
              <a:t>Caso de Estudio 3.2: Evaluar una Función Definida por Partes </a:t>
            </a:r>
          </a:p>
          <a:p>
            <a:pPr lvl="1"/>
            <a:r>
              <a:rPr lang="es-MX" sz="2000" dirty="0"/>
              <a:t> </a:t>
            </a:r>
            <a:r>
              <a:rPr lang="es-MX" sz="3400" b="1" dirty="0">
                <a:solidFill>
                  <a:srgbClr val="FF0000"/>
                </a:solidFill>
              </a:rPr>
              <a:t>Caso de Estudio 3.3: Encontrar el Perímetro, el Semi-perímetro y el Área de un Triángulo</a:t>
            </a:r>
          </a:p>
          <a:p>
            <a:pPr lvl="1"/>
            <a:r>
              <a:rPr lang="es-MX" sz="2000" dirty="0"/>
              <a:t> Caso de Estudio 3.4: Encontrar la aceleración de dos objetos conectados mediante una cuerda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22</a:t>
            </a:fld>
            <a:endParaRPr lang="es-EC">
              <a:solidFill>
                <a:prstClr val="black">
                  <a:lumMod val="65000"/>
                  <a:lumOff val="35000"/>
                </a:prstClr>
              </a:solidFill>
            </a:endParaRPr>
          </a:p>
        </p:txBody>
      </p:sp>
    </p:spTree>
    <p:extLst>
      <p:ext uri="{BB962C8B-B14F-4D97-AF65-F5344CB8AC3E}">
        <p14:creationId xmlns:p14="http://schemas.microsoft.com/office/powerpoint/2010/main" val="3807205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004297"/>
            <a:ext cx="10972800" cy="1600200"/>
          </a:xfrm>
        </p:spPr>
        <p:txBody>
          <a:bodyPr/>
          <a:lstStyle/>
          <a:p>
            <a:r>
              <a:rPr lang="es-MX" sz="3600" b="1" dirty="0"/>
              <a:t>Caso de Estudio 3.3: Encontrar el Perímetro, el Semi-perímetro y el Área de un Triángulo</a:t>
            </a:r>
            <a:br>
              <a:rPr lang="es-MX" sz="3600" b="1" dirty="0"/>
            </a:br>
            <a:r>
              <a:rPr lang="es-MX" sz="3600" b="1" dirty="0"/>
              <a:t>  </a:t>
            </a:r>
            <a:br>
              <a:rPr lang="es-MX" sz="3600" b="1" dirty="0">
                <a:solidFill>
                  <a:srgbClr val="FF0000"/>
                </a:solidFill>
              </a:rPr>
            </a:br>
            <a:br>
              <a:rPr lang="es-MX" sz="3600" b="1" dirty="0">
                <a:solidFill>
                  <a:srgbClr val="FF0000"/>
                </a:solidFill>
              </a:rPr>
            </a:br>
            <a:br>
              <a:rPr lang="es-MX" sz="3600" b="1" dirty="0">
                <a:solidFill>
                  <a:srgbClr val="FF0000"/>
                </a:solidFill>
              </a:rPr>
            </a:br>
            <a:endParaRPr lang="es-EC" sz="36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57834" y="2028265"/>
            <a:ext cx="3711390" cy="1952064"/>
          </a:xfrm>
        </p:spPr>
        <p:txBody>
          <a:bodyPr>
            <a:normAutofit fontScale="85000" lnSpcReduction="20000"/>
          </a:bodyPr>
          <a:lstStyle/>
          <a:p>
            <a:pPr marL="0" indent="0">
              <a:buNone/>
            </a:pPr>
            <a:r>
              <a:rPr lang="es-MX" dirty="0"/>
              <a:t>A) Problema Escribir un programa para calcular e imprimir el perímetro, el semiperímetro y el área de un triángulo. Además, validar la existencia de un triángulo. (Ver Figura 3.3.1)</a:t>
            </a: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23</a:t>
            </a:fld>
            <a:endParaRPr lang="es-EC"/>
          </a:p>
        </p:txBody>
      </p:sp>
      <p:pic>
        <p:nvPicPr>
          <p:cNvPr id="9" name="Imagen 8">
            <a:extLst>
              <a:ext uri="{FF2B5EF4-FFF2-40B4-BE49-F238E27FC236}">
                <a16:creationId xmlns:a16="http://schemas.microsoft.com/office/drawing/2014/main" id="{EDE2CABA-09F9-42FB-9C0E-95051B1B4504}"/>
              </a:ext>
            </a:extLst>
          </p:cNvPr>
          <p:cNvPicPr>
            <a:picLocks noChangeAspect="1"/>
          </p:cNvPicPr>
          <p:nvPr/>
        </p:nvPicPr>
        <p:blipFill>
          <a:blip r:embed="rId2"/>
          <a:stretch>
            <a:fillRect/>
          </a:stretch>
        </p:blipFill>
        <p:spPr>
          <a:xfrm>
            <a:off x="5331054" y="2101450"/>
            <a:ext cx="4544059" cy="2155590"/>
          </a:xfrm>
          <a:prstGeom prst="rect">
            <a:avLst/>
          </a:prstGeom>
        </p:spPr>
      </p:pic>
      <p:sp>
        <p:nvSpPr>
          <p:cNvPr id="10" name="CuadroTexto 9">
            <a:extLst>
              <a:ext uri="{FF2B5EF4-FFF2-40B4-BE49-F238E27FC236}">
                <a16:creationId xmlns:a16="http://schemas.microsoft.com/office/drawing/2014/main" id="{A2F1D403-C07B-4AF3-B33B-AC151554A63A}"/>
              </a:ext>
            </a:extLst>
          </p:cNvPr>
          <p:cNvSpPr txBox="1"/>
          <p:nvPr/>
        </p:nvSpPr>
        <p:spPr>
          <a:xfrm>
            <a:off x="5280254" y="4354420"/>
            <a:ext cx="5052749" cy="461665"/>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3.3.1.</a:t>
            </a:r>
            <a:r>
              <a:rPr lang="es-ES" sz="1200" dirty="0">
                <a:solidFill>
                  <a:schemeClr val="tx1">
                    <a:lumMod val="50000"/>
                    <a:lumOff val="50000"/>
                  </a:schemeClr>
                </a:solidFill>
                <a:latin typeface="+mj-lt"/>
              </a:rPr>
              <a:t> Triangulo.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99076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004297"/>
            <a:ext cx="10972800" cy="1600200"/>
          </a:xfrm>
        </p:spPr>
        <p:txBody>
          <a:bodyPr/>
          <a:lstStyle/>
          <a:p>
            <a:r>
              <a:rPr lang="es-MX" sz="3600" b="1" dirty="0"/>
              <a:t>Caso de Estudio 3.3: Encontrar el Perímetro, el Semi-perímetro y el Área de un Triángulo</a:t>
            </a:r>
            <a:br>
              <a:rPr lang="es-MX" sz="3600" b="1" dirty="0"/>
            </a:br>
            <a:r>
              <a:rPr lang="es-MX" sz="3600" b="1" dirty="0"/>
              <a:t>  </a:t>
            </a:r>
            <a:br>
              <a:rPr lang="es-MX" sz="3600" b="1" dirty="0">
                <a:solidFill>
                  <a:srgbClr val="FF0000"/>
                </a:solidFill>
              </a:rPr>
            </a:br>
            <a:br>
              <a:rPr lang="es-MX" sz="3600" b="1" dirty="0">
                <a:solidFill>
                  <a:srgbClr val="FF0000"/>
                </a:solidFill>
              </a:rPr>
            </a:br>
            <a:br>
              <a:rPr lang="es-MX" sz="3600" b="1" dirty="0">
                <a:solidFill>
                  <a:srgbClr val="FF0000"/>
                </a:solidFill>
              </a:rPr>
            </a:br>
            <a:endParaRPr lang="es-EC" sz="36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57834" y="2028264"/>
            <a:ext cx="9833686" cy="3620696"/>
          </a:xfrm>
        </p:spPr>
        <p:txBody>
          <a:bodyPr>
            <a:normAutofit fontScale="92500" lnSpcReduction="10000"/>
          </a:bodyPr>
          <a:lstStyle/>
          <a:p>
            <a:pPr marL="457200" indent="-457200" algn="just">
              <a:buAutoNum type="alphaUcParenR" startAt="2"/>
            </a:pPr>
            <a:r>
              <a:rPr lang="es-MX" sz="2000" dirty="0"/>
              <a:t>Análisis </a:t>
            </a:r>
          </a:p>
          <a:p>
            <a:pPr marL="0" indent="0" algn="just">
              <a:buNone/>
            </a:pPr>
            <a:endParaRPr lang="es-MX" sz="2000" dirty="0"/>
          </a:p>
          <a:p>
            <a:pPr marL="0" indent="0" algn="just">
              <a:buNone/>
            </a:pPr>
            <a:r>
              <a:rPr lang="es-MX" sz="2000" dirty="0"/>
              <a:t>Claramente, se puede ver que las entradas del problema son los tres lados del triángulo. Hay tres salidas requeridas: el perímetro, el semiperímetro y el área del triángulo. Partiendo de un conocimiento básico de geometría, se sabe que hay una relación entre los tres lados del triángulo con el perímetro, con el semiperímetro y con el área de la figura geométrica. Las fórmulas requeridas se incluyen en el requerimiento de los datos. En esta versión del programa del </a:t>
            </a:r>
          </a:p>
          <a:p>
            <a:pPr marL="0" indent="0" algn="just">
              <a:buNone/>
            </a:pPr>
            <a:r>
              <a:rPr lang="es-MX" sz="2000" dirty="0"/>
              <a:t>triángulo se considera la validación de la existencia de un triángulo cuyo Teorema expresa que un triángulo cualquiera existe si y sólo si la suma de cualquiera de sus dos lados es mayor que el tercer lado: (a + b &gt; c) ∧ (a + c &gt; b) ∧ (b +c &gt; a).</a:t>
            </a:r>
            <a:endParaRPr lang="es-EC" sz="20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24</a:t>
            </a:fld>
            <a:endParaRPr lang="es-EC"/>
          </a:p>
        </p:txBody>
      </p:sp>
    </p:spTree>
    <p:extLst>
      <p:ext uri="{BB962C8B-B14F-4D97-AF65-F5344CB8AC3E}">
        <p14:creationId xmlns:p14="http://schemas.microsoft.com/office/powerpoint/2010/main" val="482751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004297"/>
            <a:ext cx="10972800" cy="1600200"/>
          </a:xfrm>
        </p:spPr>
        <p:txBody>
          <a:bodyPr/>
          <a:lstStyle/>
          <a:p>
            <a:r>
              <a:rPr lang="es-MX" sz="3600" b="1" dirty="0"/>
              <a:t>Caso de Estudio 3.3: Encontrar el Perímetro, el Semi-perímetro y el Área de un Triángulo</a:t>
            </a:r>
            <a:br>
              <a:rPr lang="es-MX" sz="3600" b="1" dirty="0"/>
            </a:br>
            <a:r>
              <a:rPr lang="es-MX" sz="3600" b="1" dirty="0"/>
              <a:t>  </a:t>
            </a:r>
            <a:br>
              <a:rPr lang="es-MX" sz="3600" b="1" dirty="0">
                <a:solidFill>
                  <a:srgbClr val="FF0000"/>
                </a:solidFill>
              </a:rPr>
            </a:br>
            <a:br>
              <a:rPr lang="es-MX" sz="3600" b="1" dirty="0">
                <a:solidFill>
                  <a:srgbClr val="FF0000"/>
                </a:solidFill>
              </a:rPr>
            </a:br>
            <a:br>
              <a:rPr lang="es-MX" sz="3600" b="1" dirty="0">
                <a:solidFill>
                  <a:srgbClr val="FF0000"/>
                </a:solidFill>
              </a:rPr>
            </a:b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25</a:t>
            </a:fld>
            <a:endParaRPr lang="es-EC"/>
          </a:p>
        </p:txBody>
      </p:sp>
      <p:pic>
        <p:nvPicPr>
          <p:cNvPr id="9" name="Imagen 8">
            <a:extLst>
              <a:ext uri="{FF2B5EF4-FFF2-40B4-BE49-F238E27FC236}">
                <a16:creationId xmlns:a16="http://schemas.microsoft.com/office/drawing/2014/main" id="{B079C210-24AC-46C9-8274-EF730CC3611E}"/>
              </a:ext>
            </a:extLst>
          </p:cNvPr>
          <p:cNvPicPr>
            <a:picLocks noChangeAspect="1"/>
          </p:cNvPicPr>
          <p:nvPr/>
        </p:nvPicPr>
        <p:blipFill>
          <a:blip r:embed="rId2"/>
          <a:stretch>
            <a:fillRect/>
          </a:stretch>
        </p:blipFill>
        <p:spPr>
          <a:xfrm>
            <a:off x="1491500" y="1931792"/>
            <a:ext cx="6201640" cy="2791215"/>
          </a:xfrm>
          <a:prstGeom prst="rect">
            <a:avLst/>
          </a:prstGeom>
        </p:spPr>
      </p:pic>
      <p:pic>
        <p:nvPicPr>
          <p:cNvPr id="11" name="Imagen 10">
            <a:extLst>
              <a:ext uri="{FF2B5EF4-FFF2-40B4-BE49-F238E27FC236}">
                <a16:creationId xmlns:a16="http://schemas.microsoft.com/office/drawing/2014/main" id="{27CB9D6A-B724-4B67-BAFA-4FC89AC6250B}"/>
              </a:ext>
            </a:extLst>
          </p:cNvPr>
          <p:cNvPicPr>
            <a:picLocks noChangeAspect="1"/>
          </p:cNvPicPr>
          <p:nvPr/>
        </p:nvPicPr>
        <p:blipFill>
          <a:blip r:embed="rId3"/>
          <a:stretch>
            <a:fillRect/>
          </a:stretch>
        </p:blipFill>
        <p:spPr>
          <a:xfrm>
            <a:off x="1387348" y="5095733"/>
            <a:ext cx="7097115" cy="1076475"/>
          </a:xfrm>
          <a:prstGeom prst="rect">
            <a:avLst/>
          </a:prstGeom>
        </p:spPr>
      </p:pic>
    </p:spTree>
    <p:extLst>
      <p:ext uri="{BB962C8B-B14F-4D97-AF65-F5344CB8AC3E}">
        <p14:creationId xmlns:p14="http://schemas.microsoft.com/office/powerpoint/2010/main" val="3341345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004297"/>
            <a:ext cx="10972800" cy="1600200"/>
          </a:xfrm>
        </p:spPr>
        <p:txBody>
          <a:bodyPr/>
          <a:lstStyle/>
          <a:p>
            <a:r>
              <a:rPr lang="es-MX" sz="3600" b="1" dirty="0"/>
              <a:t>Caso de Estudio 3.3: Encontrar el Perímetro, el Semi-perímetro y el Área de un Triángulo</a:t>
            </a:r>
            <a:br>
              <a:rPr lang="es-MX" sz="3600" b="1" dirty="0"/>
            </a:br>
            <a:r>
              <a:rPr lang="es-MX" sz="3600" b="1" dirty="0"/>
              <a:t>  </a:t>
            </a:r>
            <a:br>
              <a:rPr lang="es-MX" sz="3600" b="1" dirty="0">
                <a:solidFill>
                  <a:srgbClr val="FF0000"/>
                </a:solidFill>
              </a:rPr>
            </a:br>
            <a:br>
              <a:rPr lang="es-MX" sz="3600" b="1" dirty="0">
                <a:solidFill>
                  <a:srgbClr val="FF0000"/>
                </a:solidFill>
              </a:rPr>
            </a:br>
            <a:br>
              <a:rPr lang="es-MX" sz="3600" b="1" dirty="0">
                <a:solidFill>
                  <a:srgbClr val="FF0000"/>
                </a:solidFill>
              </a:rPr>
            </a:b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26</a:t>
            </a:fld>
            <a:endParaRPr lang="es-EC"/>
          </a:p>
        </p:txBody>
      </p:sp>
      <p:sp>
        <p:nvSpPr>
          <p:cNvPr id="7" name="Marcador de contenido 2">
            <a:extLst>
              <a:ext uri="{FF2B5EF4-FFF2-40B4-BE49-F238E27FC236}">
                <a16:creationId xmlns:a16="http://schemas.microsoft.com/office/drawing/2014/main" id="{AD3E6B72-D306-477F-9797-306585B782AB}"/>
              </a:ext>
            </a:extLst>
          </p:cNvPr>
          <p:cNvSpPr>
            <a:spLocks noGrp="1"/>
          </p:cNvSpPr>
          <p:nvPr>
            <p:ph idx="1"/>
          </p:nvPr>
        </p:nvSpPr>
        <p:spPr>
          <a:xfrm>
            <a:off x="1057834" y="2028264"/>
            <a:ext cx="5129606" cy="2990776"/>
          </a:xfrm>
        </p:spPr>
        <p:txBody>
          <a:bodyPr>
            <a:normAutofit/>
          </a:bodyPr>
          <a:lstStyle/>
          <a:p>
            <a:pPr marL="0" indent="0" algn="just">
              <a:buNone/>
            </a:pPr>
            <a:r>
              <a:rPr lang="es-EC" sz="1600" dirty="0"/>
              <a:t>B.2) Diagrama de Entrada-Salida</a:t>
            </a:r>
          </a:p>
          <a:p>
            <a:pPr marL="0" indent="0" algn="just">
              <a:buNone/>
            </a:pPr>
            <a:endParaRPr lang="es-MX" sz="1600" dirty="0"/>
          </a:p>
          <a:p>
            <a:pPr marL="0" indent="0" algn="just">
              <a:buNone/>
            </a:pPr>
            <a:r>
              <a:rPr lang="es-MX" sz="1600" dirty="0"/>
              <a:t>En la Figura 3.3.2 se muestra el diagrama de Entrada-Salida del programa donde se identifican y se diagraman las entradas y salidas del problema como son: a) Entradas: la variable ‘a’ (lado 1), la variable ‘b’ (lado 2), la variable ‘c’ (lado 3); b) Salidas: la variable ‘s’ (semiperímetro), la variable ‘</a:t>
            </a:r>
            <a:r>
              <a:rPr lang="es-MX" sz="1600" dirty="0" err="1"/>
              <a:t>perimetro</a:t>
            </a:r>
            <a:r>
              <a:rPr lang="es-MX" sz="1600" dirty="0"/>
              <a:t>’, la variable ‘</a:t>
            </a:r>
            <a:r>
              <a:rPr lang="es-MX" sz="1600" dirty="0" err="1"/>
              <a:t>area</a:t>
            </a:r>
            <a:r>
              <a:rPr lang="es-MX" sz="1600" dirty="0"/>
              <a:t>’.</a:t>
            </a:r>
            <a:endParaRPr lang="es-EC" sz="2000" dirty="0"/>
          </a:p>
        </p:txBody>
      </p:sp>
      <p:pic>
        <p:nvPicPr>
          <p:cNvPr id="6" name="Imagen 5">
            <a:extLst>
              <a:ext uri="{FF2B5EF4-FFF2-40B4-BE49-F238E27FC236}">
                <a16:creationId xmlns:a16="http://schemas.microsoft.com/office/drawing/2014/main" id="{C5957E13-7ED4-49FB-B176-3DC23615A830}"/>
              </a:ext>
            </a:extLst>
          </p:cNvPr>
          <p:cNvPicPr>
            <a:picLocks noChangeAspect="1"/>
          </p:cNvPicPr>
          <p:nvPr/>
        </p:nvPicPr>
        <p:blipFill>
          <a:blip r:embed="rId2"/>
          <a:stretch>
            <a:fillRect/>
          </a:stretch>
        </p:blipFill>
        <p:spPr>
          <a:xfrm>
            <a:off x="6452386" y="2357330"/>
            <a:ext cx="3962953" cy="1533739"/>
          </a:xfrm>
          <a:prstGeom prst="rect">
            <a:avLst/>
          </a:prstGeom>
        </p:spPr>
      </p:pic>
      <p:sp>
        <p:nvSpPr>
          <p:cNvPr id="10" name="CuadroTexto 9">
            <a:extLst>
              <a:ext uri="{FF2B5EF4-FFF2-40B4-BE49-F238E27FC236}">
                <a16:creationId xmlns:a16="http://schemas.microsoft.com/office/drawing/2014/main" id="{BECD968C-E455-42B8-86F5-AFBA1BE47279}"/>
              </a:ext>
            </a:extLst>
          </p:cNvPr>
          <p:cNvSpPr txBox="1"/>
          <p:nvPr/>
        </p:nvSpPr>
        <p:spPr>
          <a:xfrm>
            <a:off x="6346363" y="430533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3.3.2.</a:t>
            </a:r>
            <a:r>
              <a:rPr lang="es-ES" sz="1200" dirty="0">
                <a:solidFill>
                  <a:schemeClr val="tx1">
                    <a:lumMod val="50000"/>
                    <a:lumOff val="50000"/>
                  </a:schemeClr>
                </a:solidFill>
                <a:latin typeface="+mj-lt"/>
              </a:rPr>
              <a:t> Entrada y Salida del programa</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677639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27</a:t>
            </a:fld>
            <a:endParaRPr lang="es-EC"/>
          </a:p>
        </p:txBody>
      </p:sp>
      <p:sp>
        <p:nvSpPr>
          <p:cNvPr id="7" name="Marcador de contenido 2">
            <a:extLst>
              <a:ext uri="{FF2B5EF4-FFF2-40B4-BE49-F238E27FC236}">
                <a16:creationId xmlns:a16="http://schemas.microsoft.com/office/drawing/2014/main" id="{AD3E6B72-D306-477F-9797-306585B782AB}"/>
              </a:ext>
            </a:extLst>
          </p:cNvPr>
          <p:cNvSpPr>
            <a:spLocks noGrp="1"/>
          </p:cNvSpPr>
          <p:nvPr>
            <p:ph idx="1"/>
          </p:nvPr>
        </p:nvSpPr>
        <p:spPr>
          <a:xfrm>
            <a:off x="2002714" y="151129"/>
            <a:ext cx="10972800" cy="6219826"/>
          </a:xfrm>
        </p:spPr>
        <p:txBody>
          <a:bodyPr>
            <a:normAutofit fontScale="92500" lnSpcReduction="10000"/>
          </a:bodyPr>
          <a:lstStyle/>
          <a:p>
            <a:pPr marL="0" indent="0" algn="just">
              <a:buNone/>
            </a:pPr>
            <a:r>
              <a:rPr lang="es-MX" sz="1200" dirty="0"/>
              <a:t>C)   Diseño </a:t>
            </a:r>
          </a:p>
          <a:p>
            <a:pPr marL="0" indent="0" algn="just">
              <a:buNone/>
            </a:pPr>
            <a:r>
              <a:rPr lang="es-MX" sz="1200" dirty="0"/>
              <a:t>Una vez que se conoce las entradas y las salidas del problema, se deben listar los pasos </a:t>
            </a:r>
          </a:p>
          <a:p>
            <a:pPr marL="0" indent="0" algn="just">
              <a:buNone/>
            </a:pPr>
            <a:r>
              <a:rPr lang="es-MX" sz="1200" dirty="0"/>
              <a:t>necesarios para resolver el problema, es decir, el algoritmo. </a:t>
            </a:r>
          </a:p>
          <a:p>
            <a:pPr marL="0" indent="0" algn="just">
              <a:buNone/>
            </a:pPr>
            <a:r>
              <a:rPr lang="es-MX" sz="1200" dirty="0"/>
              <a:t>Algoritmo </a:t>
            </a:r>
          </a:p>
          <a:p>
            <a:pPr marL="0" indent="0" algn="just">
              <a:buNone/>
            </a:pPr>
            <a:r>
              <a:rPr lang="es-MX" sz="1200" dirty="0"/>
              <a:t>1. Leer el lado 1 del triángulo. </a:t>
            </a:r>
          </a:p>
          <a:p>
            <a:pPr marL="0" indent="0" algn="just">
              <a:buNone/>
            </a:pPr>
            <a:r>
              <a:rPr lang="es-MX" sz="1200" dirty="0"/>
              <a:t>2. Leer el lado 2 del triángulo. </a:t>
            </a:r>
          </a:p>
          <a:p>
            <a:pPr marL="0" indent="0" algn="just">
              <a:buNone/>
            </a:pPr>
            <a:r>
              <a:rPr lang="es-MX" sz="1200" dirty="0"/>
              <a:t>3. Leer el lado 3 del triángulo. </a:t>
            </a:r>
          </a:p>
          <a:p>
            <a:pPr marL="0" indent="0" algn="just">
              <a:buNone/>
            </a:pPr>
            <a:r>
              <a:rPr lang="es-MX" sz="1200" dirty="0"/>
              <a:t>4. Si la suma de cualquiera de los dos lados es mayor que el tercero, es decir, si se cumple </a:t>
            </a:r>
          </a:p>
          <a:p>
            <a:pPr marL="0" indent="0" algn="just">
              <a:buNone/>
            </a:pPr>
            <a:r>
              <a:rPr lang="es-MX" sz="1200" dirty="0"/>
              <a:t>la condición del teorema: (a + b &gt; c) ∧ (a + c &gt; b) ∧(</a:t>
            </a:r>
            <a:r>
              <a:rPr lang="es-MX" sz="1200" dirty="0" err="1"/>
              <a:t>b+c</a:t>
            </a:r>
            <a:r>
              <a:rPr lang="es-MX" sz="1200" dirty="0"/>
              <a:t> &gt; a). </a:t>
            </a:r>
          </a:p>
          <a:p>
            <a:pPr marL="0" indent="0" algn="just">
              <a:buNone/>
            </a:pPr>
            <a:r>
              <a:rPr lang="es-MX" sz="1200" dirty="0"/>
              <a:t>4.1. </a:t>
            </a:r>
          </a:p>
          <a:p>
            <a:pPr marL="0" indent="0" algn="just">
              <a:buNone/>
            </a:pPr>
            <a:r>
              <a:rPr lang="es-MX" sz="1200" dirty="0"/>
              <a:t>Calcular el perímetro. </a:t>
            </a:r>
          </a:p>
          <a:p>
            <a:pPr marL="0" indent="0" algn="just">
              <a:buNone/>
            </a:pPr>
            <a:r>
              <a:rPr lang="es-MX" sz="1200" dirty="0"/>
              <a:t>4.1.1. Asignar la suma de los tres lados del triángulo a la variable ‘</a:t>
            </a:r>
            <a:r>
              <a:rPr lang="es-MX" sz="1200" dirty="0" err="1"/>
              <a:t>perimetro</a:t>
            </a:r>
            <a:r>
              <a:rPr lang="es-MX" sz="1200" dirty="0"/>
              <a:t>’. </a:t>
            </a:r>
          </a:p>
          <a:p>
            <a:pPr marL="0" indent="0" algn="just">
              <a:buNone/>
            </a:pPr>
            <a:r>
              <a:rPr lang="es-MX" sz="1200" dirty="0"/>
              <a:t>4.2. </a:t>
            </a:r>
          </a:p>
          <a:p>
            <a:pPr marL="0" indent="0" algn="just">
              <a:buNone/>
            </a:pPr>
            <a:r>
              <a:rPr lang="es-MX" sz="1200" dirty="0"/>
              <a:t>4.3. </a:t>
            </a:r>
          </a:p>
          <a:p>
            <a:pPr marL="0" indent="0" algn="just">
              <a:buNone/>
            </a:pPr>
            <a:r>
              <a:rPr lang="es-MX" sz="1200" dirty="0"/>
              <a:t>4.4. </a:t>
            </a:r>
          </a:p>
          <a:p>
            <a:pPr marL="0" indent="0" algn="just">
              <a:buNone/>
            </a:pPr>
            <a:r>
              <a:rPr lang="es-MX" sz="1200" dirty="0"/>
              <a:t>4.5. </a:t>
            </a:r>
          </a:p>
          <a:p>
            <a:pPr marL="0" indent="0" algn="just">
              <a:buNone/>
            </a:pPr>
            <a:r>
              <a:rPr lang="es-MX" sz="1200" dirty="0"/>
              <a:t>Calcular el perímetro. </a:t>
            </a:r>
          </a:p>
          <a:p>
            <a:pPr marL="0" indent="0" algn="just">
              <a:buNone/>
            </a:pPr>
            <a:r>
              <a:rPr lang="es-MX" sz="1200" dirty="0"/>
              <a:t>4.2.1. Asignar la suma de los tres lados del triángulo a la variable ‘</a:t>
            </a:r>
            <a:r>
              <a:rPr lang="es-MX" sz="1200" dirty="0" err="1"/>
              <a:t>perimetro</a:t>
            </a:r>
            <a:r>
              <a:rPr lang="es-MX" sz="1200" dirty="0"/>
              <a:t>’. </a:t>
            </a:r>
          </a:p>
          <a:p>
            <a:pPr marL="0" indent="0" algn="just">
              <a:buNone/>
            </a:pPr>
            <a:r>
              <a:rPr lang="es-MX" sz="1200" dirty="0"/>
              <a:t>Calcular el semiperímetro. </a:t>
            </a:r>
          </a:p>
          <a:p>
            <a:pPr marL="0" indent="0" algn="just">
              <a:buNone/>
            </a:pPr>
            <a:r>
              <a:rPr lang="es-MX" sz="1200" dirty="0"/>
              <a:t>4.3.1. Asignar el resultado de la división entre el perímetro dividido para dos, a la </a:t>
            </a:r>
          </a:p>
          <a:p>
            <a:pPr marL="0" indent="0" algn="just">
              <a:buNone/>
            </a:pPr>
            <a:r>
              <a:rPr lang="es-MX" sz="1200" dirty="0"/>
              <a:t>variable ‘</a:t>
            </a:r>
            <a:r>
              <a:rPr lang="es-MX" sz="1200" dirty="0" err="1"/>
              <a:t>semiperimetro</a:t>
            </a:r>
            <a:r>
              <a:rPr lang="es-MX" sz="1200" dirty="0"/>
              <a:t>’. </a:t>
            </a:r>
          </a:p>
          <a:p>
            <a:pPr marL="0" indent="0" algn="just">
              <a:buNone/>
            </a:pPr>
            <a:r>
              <a:rPr lang="es-MX" sz="1200" dirty="0"/>
              <a:t>Calcular el área. </a:t>
            </a:r>
          </a:p>
          <a:p>
            <a:pPr marL="0" indent="0" algn="just">
              <a:buNone/>
            </a:pPr>
            <a:r>
              <a:rPr lang="es-MX" sz="1200" dirty="0"/>
              <a:t>4.4.1. Asignar el valor de la raíz cuadrada del </a:t>
            </a:r>
            <a:r>
              <a:rPr lang="es-MX" sz="1200" dirty="0" err="1"/>
              <a:t>semi-perímetro</a:t>
            </a:r>
            <a:r>
              <a:rPr lang="es-MX" sz="1200" dirty="0"/>
              <a:t> multiplicado por la </a:t>
            </a:r>
          </a:p>
          <a:p>
            <a:pPr marL="0" indent="0" algn="just">
              <a:buNone/>
            </a:pPr>
            <a:r>
              <a:rPr lang="es-MX" sz="1200" dirty="0"/>
              <a:t>diferencia entre el </a:t>
            </a:r>
            <a:r>
              <a:rPr lang="es-MX" sz="1200" dirty="0" err="1"/>
              <a:t>semi-perímetro</a:t>
            </a:r>
            <a:r>
              <a:rPr lang="es-MX" sz="1200" dirty="0"/>
              <a:t> por cada uno de los lados del triángulo, a </a:t>
            </a:r>
          </a:p>
          <a:p>
            <a:pPr marL="0" indent="0" algn="just">
              <a:buNone/>
            </a:pPr>
            <a:r>
              <a:rPr lang="es-MX" sz="1200" dirty="0"/>
              <a:t>la variable ‘</a:t>
            </a:r>
            <a:r>
              <a:rPr lang="es-MX" sz="1200" dirty="0" err="1"/>
              <a:t>area</a:t>
            </a:r>
            <a:r>
              <a:rPr lang="es-MX" sz="1200" dirty="0"/>
              <a:t>’. </a:t>
            </a:r>
          </a:p>
          <a:p>
            <a:pPr marL="0" indent="0" algn="just">
              <a:buNone/>
            </a:pPr>
            <a:r>
              <a:rPr lang="es-MX" sz="1200" dirty="0"/>
              <a:t>Imprimir el valor de la variable ‘</a:t>
            </a:r>
            <a:r>
              <a:rPr lang="es-MX" sz="1200" dirty="0" err="1"/>
              <a:t>perimetro</a:t>
            </a:r>
            <a:r>
              <a:rPr lang="es-MX" sz="1200" dirty="0"/>
              <a:t>’, de la variable ‘</a:t>
            </a:r>
            <a:r>
              <a:rPr lang="es-MX" sz="1200" dirty="0" err="1"/>
              <a:t>semiperimetro</a:t>
            </a:r>
            <a:r>
              <a:rPr lang="es-MX" sz="1200" dirty="0"/>
              <a:t>’ y de la </a:t>
            </a:r>
          </a:p>
          <a:p>
            <a:pPr marL="0" indent="0" algn="just">
              <a:buNone/>
            </a:pPr>
            <a:r>
              <a:rPr lang="es-MX" sz="1200" dirty="0"/>
              <a:t>variable ‘</a:t>
            </a:r>
            <a:r>
              <a:rPr lang="es-MX" sz="1200" dirty="0" err="1"/>
              <a:t>area</a:t>
            </a:r>
            <a:r>
              <a:rPr lang="es-MX" sz="1200" dirty="0"/>
              <a:t>’. </a:t>
            </a:r>
          </a:p>
          <a:p>
            <a:pPr marL="0" indent="0" algn="just">
              <a:buNone/>
            </a:pPr>
            <a:r>
              <a:rPr lang="es-MX" sz="1200" dirty="0"/>
              <a:t>5. Caso contrario, se niega la condición del teorema de existencia de un triángulo, es decir: </a:t>
            </a:r>
          </a:p>
          <a:p>
            <a:pPr marL="0" indent="0" algn="just">
              <a:buNone/>
            </a:pPr>
            <a:r>
              <a:rPr lang="es-MX" sz="1200" dirty="0"/>
              <a:t>! (a +b &gt; c)∧(</a:t>
            </a:r>
            <a:r>
              <a:rPr lang="es-MX" sz="1200" dirty="0" err="1"/>
              <a:t>a+c</a:t>
            </a:r>
            <a:r>
              <a:rPr lang="es-MX" sz="1200" dirty="0"/>
              <a:t> &gt;b)∧(</a:t>
            </a:r>
            <a:r>
              <a:rPr lang="es-MX" sz="1200" dirty="0" err="1"/>
              <a:t>b+c</a:t>
            </a:r>
            <a:r>
              <a:rPr lang="es-MX" sz="1200" dirty="0"/>
              <a:t> &gt;a). </a:t>
            </a:r>
          </a:p>
          <a:p>
            <a:pPr marL="0" indent="0" algn="just">
              <a:buNone/>
            </a:pPr>
            <a:r>
              <a:rPr lang="es-MX" sz="1200" dirty="0"/>
              <a:t>5.1. </a:t>
            </a:r>
          </a:p>
          <a:p>
            <a:pPr marL="0" indent="0" algn="just">
              <a:buNone/>
            </a:pPr>
            <a:r>
              <a:rPr lang="es-MX" sz="1200" dirty="0"/>
              <a:t>Imprimir el mensaje de error que el triángulo no existe.</a:t>
            </a:r>
            <a:endParaRPr lang="es-EC" sz="1200" dirty="0"/>
          </a:p>
        </p:txBody>
      </p:sp>
    </p:spTree>
    <p:extLst>
      <p:ext uri="{BB962C8B-B14F-4D97-AF65-F5344CB8AC3E}">
        <p14:creationId xmlns:p14="http://schemas.microsoft.com/office/powerpoint/2010/main" val="1592086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28</a:t>
            </a:fld>
            <a:endParaRPr lang="es-EC"/>
          </a:p>
        </p:txBody>
      </p:sp>
      <p:sp>
        <p:nvSpPr>
          <p:cNvPr id="7" name="Marcador de contenido 2">
            <a:extLst>
              <a:ext uri="{FF2B5EF4-FFF2-40B4-BE49-F238E27FC236}">
                <a16:creationId xmlns:a16="http://schemas.microsoft.com/office/drawing/2014/main" id="{AD3E6B72-D306-477F-9797-306585B782AB}"/>
              </a:ext>
            </a:extLst>
          </p:cNvPr>
          <p:cNvSpPr>
            <a:spLocks noGrp="1"/>
          </p:cNvSpPr>
          <p:nvPr>
            <p:ph idx="1"/>
          </p:nvPr>
        </p:nvSpPr>
        <p:spPr>
          <a:xfrm>
            <a:off x="1057834" y="2028264"/>
            <a:ext cx="3036646" cy="2990776"/>
          </a:xfrm>
        </p:spPr>
        <p:txBody>
          <a:bodyPr>
            <a:normAutofit/>
          </a:bodyPr>
          <a:lstStyle/>
          <a:p>
            <a:pPr marL="0" indent="0" algn="just">
              <a:buNone/>
            </a:pPr>
            <a:r>
              <a:rPr lang="es-MX" sz="1600" dirty="0"/>
              <a:t>D) Implementación Para implementar la solución, se debe escribir el algoritmo como un programa de C/C++ que contenga toda la información necesaria para completar la traducción a lenguaje máquina. En la Tabla 3.3.1 se muestra el código del programa en C/C++.</a:t>
            </a:r>
            <a:endParaRPr lang="es-EC" sz="2000" dirty="0"/>
          </a:p>
        </p:txBody>
      </p:sp>
      <p:pic>
        <p:nvPicPr>
          <p:cNvPr id="8" name="Imagen 7">
            <a:extLst>
              <a:ext uri="{FF2B5EF4-FFF2-40B4-BE49-F238E27FC236}">
                <a16:creationId xmlns:a16="http://schemas.microsoft.com/office/drawing/2014/main" id="{5F4AED2F-2BDE-44AA-82F7-BE967B431DCB}"/>
              </a:ext>
            </a:extLst>
          </p:cNvPr>
          <p:cNvPicPr>
            <a:picLocks noChangeAspect="1"/>
          </p:cNvPicPr>
          <p:nvPr/>
        </p:nvPicPr>
        <p:blipFill rotWithShape="1">
          <a:blip r:embed="rId2"/>
          <a:srcRect b="927"/>
          <a:stretch/>
        </p:blipFill>
        <p:spPr>
          <a:xfrm>
            <a:off x="4219755" y="0"/>
            <a:ext cx="4651299" cy="6532880"/>
          </a:xfrm>
          <a:prstGeom prst="rect">
            <a:avLst/>
          </a:prstGeom>
        </p:spPr>
      </p:pic>
    </p:spTree>
    <p:extLst>
      <p:ext uri="{BB962C8B-B14F-4D97-AF65-F5344CB8AC3E}">
        <p14:creationId xmlns:p14="http://schemas.microsoft.com/office/powerpoint/2010/main" val="3725367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004297"/>
            <a:ext cx="10972800" cy="1600200"/>
          </a:xfrm>
        </p:spPr>
        <p:txBody>
          <a:bodyPr/>
          <a:lstStyle/>
          <a:p>
            <a:r>
              <a:rPr lang="es-MX" sz="3600" b="1" dirty="0"/>
              <a:t>Caso de Estudio 3.3: Encontrar el Perímetro, el Semi-perímetro y el Área de un Triángulo</a:t>
            </a:r>
            <a:br>
              <a:rPr lang="es-MX" sz="3600" b="1" dirty="0"/>
            </a:br>
            <a:r>
              <a:rPr lang="es-MX" sz="3600" b="1" dirty="0"/>
              <a:t>  </a:t>
            </a:r>
            <a:br>
              <a:rPr lang="es-MX" sz="3600" b="1" dirty="0">
                <a:solidFill>
                  <a:srgbClr val="FF0000"/>
                </a:solidFill>
              </a:rPr>
            </a:br>
            <a:br>
              <a:rPr lang="es-MX" sz="3600" b="1" dirty="0">
                <a:solidFill>
                  <a:srgbClr val="FF0000"/>
                </a:solidFill>
              </a:rPr>
            </a:br>
            <a:br>
              <a:rPr lang="es-MX" sz="3600" b="1" dirty="0">
                <a:solidFill>
                  <a:srgbClr val="FF0000"/>
                </a:solidFill>
              </a:rPr>
            </a:b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29</a:t>
            </a:fld>
            <a:endParaRPr lang="es-EC"/>
          </a:p>
        </p:txBody>
      </p:sp>
      <p:pic>
        <p:nvPicPr>
          <p:cNvPr id="11" name="Imagen 10">
            <a:extLst>
              <a:ext uri="{FF2B5EF4-FFF2-40B4-BE49-F238E27FC236}">
                <a16:creationId xmlns:a16="http://schemas.microsoft.com/office/drawing/2014/main" id="{0354E37A-742C-41C8-98C7-731D4F4850E9}"/>
              </a:ext>
            </a:extLst>
          </p:cNvPr>
          <p:cNvPicPr>
            <a:picLocks noChangeAspect="1"/>
          </p:cNvPicPr>
          <p:nvPr/>
        </p:nvPicPr>
        <p:blipFill>
          <a:blip r:embed="rId2"/>
          <a:stretch>
            <a:fillRect/>
          </a:stretch>
        </p:blipFill>
        <p:spPr>
          <a:xfrm>
            <a:off x="1086052" y="1913544"/>
            <a:ext cx="2967788" cy="768696"/>
          </a:xfrm>
          <a:prstGeom prst="rect">
            <a:avLst/>
          </a:prstGeom>
        </p:spPr>
      </p:pic>
      <p:sp>
        <p:nvSpPr>
          <p:cNvPr id="12" name="CuadroTexto 11">
            <a:extLst>
              <a:ext uri="{FF2B5EF4-FFF2-40B4-BE49-F238E27FC236}">
                <a16:creationId xmlns:a16="http://schemas.microsoft.com/office/drawing/2014/main" id="{4AC5666C-9A50-4ADA-9FA3-31EDDAAC2458}"/>
              </a:ext>
            </a:extLst>
          </p:cNvPr>
          <p:cNvSpPr txBox="1"/>
          <p:nvPr/>
        </p:nvSpPr>
        <p:spPr>
          <a:xfrm>
            <a:off x="1086052" y="3627754"/>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3.3.1 </a:t>
            </a:r>
            <a:r>
              <a:rPr lang="es-ES" sz="1200" dirty="0">
                <a:solidFill>
                  <a:schemeClr val="tx1">
                    <a:lumMod val="50000"/>
                    <a:lumOff val="50000"/>
                  </a:schemeClr>
                </a:solidFill>
                <a:latin typeface="+mj-lt"/>
              </a:rPr>
              <a:t>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941331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3004297"/>
            <a:ext cx="10972800" cy="1600200"/>
          </a:xfrm>
        </p:spPr>
        <p:txBody>
          <a:bodyPr/>
          <a:lstStyle/>
          <a:p>
            <a:r>
              <a:rPr lang="es-MX" sz="3600" b="1" dirty="0"/>
              <a:t>Caso de Estudio 3.3: Encontrar el Perímetro, el Semi-perímetro y el Área de un Triángulo</a:t>
            </a:r>
            <a:br>
              <a:rPr lang="es-MX" sz="3600" b="1" dirty="0"/>
            </a:br>
            <a:r>
              <a:rPr lang="es-MX" sz="3600" b="1" dirty="0"/>
              <a:t>  </a:t>
            </a:r>
            <a:br>
              <a:rPr lang="es-MX" sz="3600" b="1" dirty="0">
                <a:solidFill>
                  <a:srgbClr val="FF0000"/>
                </a:solidFill>
              </a:rPr>
            </a:br>
            <a:br>
              <a:rPr lang="es-MX" sz="3600" b="1" dirty="0">
                <a:solidFill>
                  <a:srgbClr val="FF0000"/>
                </a:solidFill>
              </a:rPr>
            </a:br>
            <a:br>
              <a:rPr lang="es-MX" sz="3600" b="1" dirty="0">
                <a:solidFill>
                  <a:srgbClr val="FF0000"/>
                </a:solidFill>
              </a:rPr>
            </a:b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30</a:t>
            </a:fld>
            <a:endParaRPr lang="es-EC"/>
          </a:p>
        </p:txBody>
      </p:sp>
      <p:pic>
        <p:nvPicPr>
          <p:cNvPr id="6" name="Imagen 5">
            <a:extLst>
              <a:ext uri="{FF2B5EF4-FFF2-40B4-BE49-F238E27FC236}">
                <a16:creationId xmlns:a16="http://schemas.microsoft.com/office/drawing/2014/main" id="{1C62CC3D-D0C4-4E66-845D-8B9039D0DFCB}"/>
              </a:ext>
            </a:extLst>
          </p:cNvPr>
          <p:cNvPicPr>
            <a:picLocks noChangeAspect="1"/>
          </p:cNvPicPr>
          <p:nvPr/>
        </p:nvPicPr>
        <p:blipFill>
          <a:blip r:embed="rId2"/>
          <a:stretch>
            <a:fillRect/>
          </a:stretch>
        </p:blipFill>
        <p:spPr>
          <a:xfrm>
            <a:off x="1057834" y="4946997"/>
            <a:ext cx="3568253" cy="1066853"/>
          </a:xfrm>
          <a:prstGeom prst="rect">
            <a:avLst/>
          </a:prstGeom>
        </p:spPr>
      </p:pic>
      <p:pic>
        <p:nvPicPr>
          <p:cNvPr id="8" name="Imagen 7">
            <a:extLst>
              <a:ext uri="{FF2B5EF4-FFF2-40B4-BE49-F238E27FC236}">
                <a16:creationId xmlns:a16="http://schemas.microsoft.com/office/drawing/2014/main" id="{9BC2882B-5674-49AF-9972-9C7D93CDB092}"/>
              </a:ext>
            </a:extLst>
          </p:cNvPr>
          <p:cNvPicPr>
            <a:picLocks noChangeAspect="1"/>
          </p:cNvPicPr>
          <p:nvPr/>
        </p:nvPicPr>
        <p:blipFill>
          <a:blip r:embed="rId3"/>
          <a:stretch>
            <a:fillRect/>
          </a:stretch>
        </p:blipFill>
        <p:spPr>
          <a:xfrm>
            <a:off x="4891033" y="4928220"/>
            <a:ext cx="3568253" cy="1066853"/>
          </a:xfrm>
          <a:prstGeom prst="rect">
            <a:avLst/>
          </a:prstGeom>
        </p:spPr>
      </p:pic>
      <p:pic>
        <p:nvPicPr>
          <p:cNvPr id="10" name="Imagen 9">
            <a:extLst>
              <a:ext uri="{FF2B5EF4-FFF2-40B4-BE49-F238E27FC236}">
                <a16:creationId xmlns:a16="http://schemas.microsoft.com/office/drawing/2014/main" id="{544A3345-CB21-4C61-B6CD-CAB825B230A5}"/>
              </a:ext>
            </a:extLst>
          </p:cNvPr>
          <p:cNvPicPr>
            <a:picLocks noChangeAspect="1"/>
          </p:cNvPicPr>
          <p:nvPr/>
        </p:nvPicPr>
        <p:blipFill rotWithShape="1">
          <a:blip r:embed="rId4"/>
          <a:srcRect t="6956"/>
          <a:stretch/>
        </p:blipFill>
        <p:spPr>
          <a:xfrm>
            <a:off x="8844326" y="4946997"/>
            <a:ext cx="2734037" cy="1066853"/>
          </a:xfrm>
          <a:prstGeom prst="rect">
            <a:avLst/>
          </a:prstGeom>
        </p:spPr>
      </p:pic>
      <p:sp>
        <p:nvSpPr>
          <p:cNvPr id="13" name="Marcador de contenido 2">
            <a:extLst>
              <a:ext uri="{FF2B5EF4-FFF2-40B4-BE49-F238E27FC236}">
                <a16:creationId xmlns:a16="http://schemas.microsoft.com/office/drawing/2014/main" id="{B424F013-2A4A-4442-A225-91735C9C9D7B}"/>
              </a:ext>
            </a:extLst>
          </p:cNvPr>
          <p:cNvSpPr>
            <a:spLocks noGrp="1"/>
          </p:cNvSpPr>
          <p:nvPr>
            <p:ph idx="1"/>
          </p:nvPr>
        </p:nvSpPr>
        <p:spPr>
          <a:xfrm>
            <a:off x="1057834" y="2028264"/>
            <a:ext cx="10333204" cy="2990776"/>
          </a:xfrm>
        </p:spPr>
        <p:txBody>
          <a:bodyPr>
            <a:normAutofit/>
          </a:bodyPr>
          <a:lstStyle/>
          <a:p>
            <a:pPr marL="0" indent="0" algn="just">
              <a:buNone/>
            </a:pPr>
            <a:r>
              <a:rPr lang="es-MX" sz="1600" dirty="0"/>
              <a:t>E) Pruebas La Tabla 3.3.2, la Tabla 3.3.3 y la Tabla 3.3.4 muestran tres ejemplos de la salida del programa, donde se puede ver que los resultados del programa tienen sentido, comparando estos resultados con los datos devueltos por una calculadora. En la salida de la Tabla 3.3.2 se puede ver que, al ingresar los valores de 3, 4 y 5 en los tres lados obtenemos un triángulo rectángulo donde se puede calcular los valores del perímetro, semiperímetro y del área de dicho triángulo. De manera similar, en la salida de la Tabla 3.3.3 se puede ver que, al ingresar los valores de 3, 3 y 3 en los tres lados obtenemos un triángulo equilátero donde se puede calcular los valores del perímetro, semiperímetro y del área de dicho triángulo. Finalmente, en la salida de la Tabla 3.3.4 se puede ver que, al ingresar los valores de 1, 2 y 3 en los tres lados obtenemos un triángulo que no existe donde no se puede calcular los valores del perímetro, semiperímetro y del área de dicho triángulo.</a:t>
            </a:r>
            <a:endParaRPr lang="es-EC" sz="2000" dirty="0"/>
          </a:p>
        </p:txBody>
      </p:sp>
      <p:sp>
        <p:nvSpPr>
          <p:cNvPr id="14" name="CuadroTexto 13">
            <a:extLst>
              <a:ext uri="{FF2B5EF4-FFF2-40B4-BE49-F238E27FC236}">
                <a16:creationId xmlns:a16="http://schemas.microsoft.com/office/drawing/2014/main" id="{90424924-DC97-46D9-AA0D-99639BB1AB27}"/>
              </a:ext>
            </a:extLst>
          </p:cNvPr>
          <p:cNvSpPr txBox="1"/>
          <p:nvPr/>
        </p:nvSpPr>
        <p:spPr>
          <a:xfrm>
            <a:off x="1057834" y="6075145"/>
            <a:ext cx="339137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3.3.2.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5" name="CuadroTexto 14">
            <a:extLst>
              <a:ext uri="{FF2B5EF4-FFF2-40B4-BE49-F238E27FC236}">
                <a16:creationId xmlns:a16="http://schemas.microsoft.com/office/drawing/2014/main" id="{FFD73547-AEC7-45F7-9A77-82D4F02BC444}"/>
              </a:ext>
            </a:extLst>
          </p:cNvPr>
          <p:cNvSpPr txBox="1"/>
          <p:nvPr/>
        </p:nvSpPr>
        <p:spPr>
          <a:xfrm>
            <a:off x="4771148" y="6033185"/>
            <a:ext cx="339137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3.3.3.</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6" name="CuadroTexto 15">
            <a:extLst>
              <a:ext uri="{FF2B5EF4-FFF2-40B4-BE49-F238E27FC236}">
                <a16:creationId xmlns:a16="http://schemas.microsoft.com/office/drawing/2014/main" id="{B1694618-4DA1-4DF6-9299-B26E06647E01}"/>
              </a:ext>
            </a:extLst>
          </p:cNvPr>
          <p:cNvSpPr txBox="1"/>
          <p:nvPr/>
        </p:nvSpPr>
        <p:spPr>
          <a:xfrm>
            <a:off x="8661343" y="6013850"/>
            <a:ext cx="339137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3.3.3.</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78960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La sentencia if-else  </a:t>
            </a:r>
          </a:p>
          <a:p>
            <a:pPr lvl="1"/>
            <a:r>
              <a:rPr lang="es-MX" sz="2000" dirty="0"/>
              <a:t>Problema 3.3. (Aplicación del uso de la sentencia if-else)  </a:t>
            </a:r>
          </a:p>
          <a:p>
            <a:pPr lvl="1"/>
            <a:r>
              <a:rPr lang="es-MX" sz="2000" dirty="0"/>
              <a:t>Problema 3.4. (Aplicación del uso de la sentencia if-else) </a:t>
            </a:r>
          </a:p>
          <a:p>
            <a:pPr lvl="1"/>
            <a:r>
              <a:rPr lang="es-MX" sz="2000" dirty="0"/>
              <a:t>Caso de Estudio 3.2: Evaluar una Función Definida por Partes </a:t>
            </a:r>
          </a:p>
          <a:p>
            <a:pPr lvl="1"/>
            <a:r>
              <a:rPr lang="es-MX" sz="2000" dirty="0"/>
              <a:t> Caso de Estudio 3.3: Encontrar el Perímetro, el Semi-perímetro y el Área de un Triángulo</a:t>
            </a:r>
          </a:p>
          <a:p>
            <a:pPr lvl="1"/>
            <a:r>
              <a:rPr lang="es-MX" sz="3400" b="1" dirty="0">
                <a:solidFill>
                  <a:srgbClr val="FF0000"/>
                </a:solidFill>
              </a:rPr>
              <a:t> Caso de Estudio 3.4: Encontrar la aceleración de dos objetos conectados mediante una cuerda </a:t>
            </a:r>
            <a:endParaRPr lang="es-419" sz="3400" b="1" dirty="0">
              <a:solidFill>
                <a:srgbClr val="FF0000"/>
              </a:solidFill>
            </a:endParaRP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31</a:t>
            </a:fld>
            <a:endParaRPr lang="es-EC">
              <a:solidFill>
                <a:prstClr val="black">
                  <a:lumMod val="65000"/>
                  <a:lumOff val="35000"/>
                </a:prstClr>
              </a:solidFill>
            </a:endParaRPr>
          </a:p>
        </p:txBody>
      </p:sp>
    </p:spTree>
    <p:extLst>
      <p:ext uri="{BB962C8B-B14F-4D97-AF65-F5344CB8AC3E}">
        <p14:creationId xmlns:p14="http://schemas.microsoft.com/office/powerpoint/2010/main" val="190512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301240" y="3429000"/>
            <a:ext cx="8138160" cy="847167"/>
          </a:xfrm>
        </p:spPr>
        <p:txBody>
          <a:bodyPr/>
          <a:lstStyle/>
          <a:p>
            <a:r>
              <a:rPr lang="es-MX" sz="3600" b="1" dirty="0"/>
              <a:t>Caso de Estudio 3.4: Encontrar la aceleración de dos objetos conectados mediante una cuerda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32</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850211" y="2232294"/>
            <a:ext cx="10183549" cy="3170099"/>
          </a:xfrm>
          <a:prstGeom prst="rect">
            <a:avLst/>
          </a:prstGeom>
          <a:noFill/>
        </p:spPr>
        <p:txBody>
          <a:bodyPr wrap="square">
            <a:spAutoFit/>
          </a:bodyPr>
          <a:lstStyle/>
          <a:p>
            <a:pPr algn="just"/>
            <a:r>
              <a:rPr lang="es-MX" sz="2000" dirty="0">
                <a:solidFill>
                  <a:schemeClr val="tx1">
                    <a:lumMod val="50000"/>
                    <a:lumOff val="50000"/>
                  </a:schemeClr>
                </a:solidFill>
                <a:latin typeface="+mj-lt"/>
              </a:rPr>
              <a:t>A)   Problema </a:t>
            </a:r>
          </a:p>
          <a:p>
            <a:pPr algn="just"/>
            <a:r>
              <a:rPr lang="es-MX" sz="2000" dirty="0">
                <a:solidFill>
                  <a:schemeClr val="tx1">
                    <a:lumMod val="50000"/>
                    <a:lumOff val="50000"/>
                  </a:schemeClr>
                </a:solidFill>
                <a:latin typeface="+mj-lt"/>
              </a:rPr>
              <a:t>Escribir un programa para calcular e imprimir la magnitud de la aceleración (‘a’) de dos objetos conectados mediante una cuerda, la tensión (‘T’) en la cuerda y la normal (‘n’) de la masa 𝑚2, donde una bola de masa 𝑚1 y un bloque de masa 𝑚2 se unen mediante una cuerda ligera que  pasa sobre una polea sin fricción de masa despreciable, como se muestra en la Figura 3.4.1. El </a:t>
            </a:r>
          </a:p>
          <a:p>
            <a:pPr algn="just"/>
            <a:r>
              <a:rPr lang="es-MX" sz="2000" dirty="0">
                <a:solidFill>
                  <a:schemeClr val="tx1">
                    <a:lumMod val="50000"/>
                    <a:lumOff val="50000"/>
                  </a:schemeClr>
                </a:solidFill>
                <a:latin typeface="+mj-lt"/>
              </a:rPr>
              <a:t>bloque se encuentra sobre un plano inclinado sin fricción de ángulo θ (‘theta’) en grados. A continuación, se presentan las ecuaciones que calculan los elementos solicitados. (Problema adaptado de Serway y Jewett, 2005; pp. 118; Ejemplo 5.10).</a:t>
            </a:r>
            <a:endParaRPr lang="es-EC" sz="2000" dirty="0">
              <a:solidFill>
                <a:schemeClr val="tx1">
                  <a:lumMod val="50000"/>
                  <a:lumOff val="50000"/>
                </a:schemeClr>
              </a:solidFill>
              <a:latin typeface="+mj-lt"/>
            </a:endParaRPr>
          </a:p>
        </p:txBody>
      </p:sp>
      <p:sp>
        <p:nvSpPr>
          <p:cNvPr id="14" name="CuadroTexto 13">
            <a:extLst>
              <a:ext uri="{FF2B5EF4-FFF2-40B4-BE49-F238E27FC236}">
                <a16:creationId xmlns:a16="http://schemas.microsoft.com/office/drawing/2014/main" id="{623C8220-738B-4649-9327-D1184230B90B}"/>
              </a:ext>
            </a:extLst>
          </p:cNvPr>
          <p:cNvSpPr txBox="1"/>
          <p:nvPr/>
        </p:nvSpPr>
        <p:spPr>
          <a:xfrm>
            <a:off x="2825674" y="617306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3.2.1.</a:t>
            </a:r>
            <a:r>
              <a:rPr lang="es-ES" sz="1200" dirty="0">
                <a:solidFill>
                  <a:schemeClr val="tx1">
                    <a:lumMod val="50000"/>
                    <a:lumOff val="50000"/>
                  </a:schemeClr>
                </a:solidFill>
                <a:latin typeface="+mj-lt"/>
              </a:rPr>
              <a:t> intervalos de Función.</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008349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240280" y="3338397"/>
            <a:ext cx="8138160" cy="847167"/>
          </a:xfrm>
        </p:spPr>
        <p:txBody>
          <a:bodyPr/>
          <a:lstStyle/>
          <a:p>
            <a:r>
              <a:rPr lang="es-MX" sz="3600" b="1" dirty="0"/>
              <a:t>Caso de Estudio 3.4: Encontrar la aceleración de dos objetos conectados mediante una cuerda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33</a:t>
            </a:fld>
            <a:endParaRPr lang="es-EC"/>
          </a:p>
        </p:txBody>
      </p:sp>
      <p:sp>
        <p:nvSpPr>
          <p:cNvPr id="14" name="CuadroTexto 13">
            <a:extLst>
              <a:ext uri="{FF2B5EF4-FFF2-40B4-BE49-F238E27FC236}">
                <a16:creationId xmlns:a16="http://schemas.microsoft.com/office/drawing/2014/main" id="{623C8220-738B-4649-9327-D1184230B90B}"/>
              </a:ext>
            </a:extLst>
          </p:cNvPr>
          <p:cNvSpPr txBox="1"/>
          <p:nvPr/>
        </p:nvSpPr>
        <p:spPr>
          <a:xfrm>
            <a:off x="1256611" y="5129410"/>
            <a:ext cx="5052749" cy="1015663"/>
          </a:xfrm>
          <a:prstGeom prst="rect">
            <a:avLst/>
          </a:prstGeom>
          <a:noFill/>
        </p:spPr>
        <p:txBody>
          <a:bodyPr wrap="square">
            <a:spAutoFit/>
          </a:bodyPr>
          <a:lstStyle/>
          <a:p>
            <a:pPr algn="just"/>
            <a:r>
              <a:rPr lang="es-MX" sz="1200" b="1" dirty="0">
                <a:solidFill>
                  <a:schemeClr val="tx1">
                    <a:lumMod val="50000"/>
                    <a:lumOff val="50000"/>
                  </a:schemeClr>
                </a:solidFill>
                <a:latin typeface="+mj-lt"/>
              </a:rPr>
              <a:t>Figura 3.4.1. (a) Dos objetos conectados mediante una cuerda ligera sobre una polea sin fricción. (b) Diagrama de cuerpo libre para la bola. (c) Diagrama de cuerpo libre para el bloque (Serway y Jewett, 2005; pp. 118; Ejemplo </a:t>
            </a:r>
            <a:endParaRPr lang="es-EC" sz="1200" b="1"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309D52C8-9D5A-4CA1-98F0-FD01969982A0}"/>
              </a:ext>
            </a:extLst>
          </p:cNvPr>
          <p:cNvPicPr>
            <a:picLocks noChangeAspect="1"/>
          </p:cNvPicPr>
          <p:nvPr/>
        </p:nvPicPr>
        <p:blipFill>
          <a:blip r:embed="rId2"/>
          <a:stretch>
            <a:fillRect/>
          </a:stretch>
        </p:blipFill>
        <p:spPr>
          <a:xfrm>
            <a:off x="1256611" y="1871352"/>
            <a:ext cx="6703470" cy="3115296"/>
          </a:xfrm>
          <a:prstGeom prst="rect">
            <a:avLst/>
          </a:prstGeom>
        </p:spPr>
      </p:pic>
      <p:pic>
        <p:nvPicPr>
          <p:cNvPr id="8" name="Imagen 7">
            <a:extLst>
              <a:ext uri="{FF2B5EF4-FFF2-40B4-BE49-F238E27FC236}">
                <a16:creationId xmlns:a16="http://schemas.microsoft.com/office/drawing/2014/main" id="{BF5FB13E-E350-4E06-A42F-E49D98BED97A}"/>
              </a:ext>
            </a:extLst>
          </p:cNvPr>
          <p:cNvPicPr>
            <a:picLocks noChangeAspect="1"/>
          </p:cNvPicPr>
          <p:nvPr/>
        </p:nvPicPr>
        <p:blipFill>
          <a:blip r:embed="rId3"/>
          <a:stretch>
            <a:fillRect/>
          </a:stretch>
        </p:blipFill>
        <p:spPr>
          <a:xfrm>
            <a:off x="6588723" y="5037890"/>
            <a:ext cx="3791479" cy="866896"/>
          </a:xfrm>
          <a:prstGeom prst="rect">
            <a:avLst/>
          </a:prstGeom>
        </p:spPr>
      </p:pic>
    </p:spTree>
    <p:extLst>
      <p:ext uri="{BB962C8B-B14F-4D97-AF65-F5344CB8AC3E}">
        <p14:creationId xmlns:p14="http://schemas.microsoft.com/office/powerpoint/2010/main" val="2350675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240280" y="3429000"/>
            <a:ext cx="8138160" cy="847167"/>
          </a:xfrm>
        </p:spPr>
        <p:txBody>
          <a:bodyPr/>
          <a:lstStyle/>
          <a:p>
            <a:r>
              <a:rPr lang="es-MX" sz="3600" b="1" dirty="0"/>
              <a:t>Caso de Estudio 3.4: Encontrar la aceleración de dos objetos conectados mediante una cuerda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34</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398851" y="2317356"/>
            <a:ext cx="10183549" cy="2554545"/>
          </a:xfrm>
          <a:prstGeom prst="rect">
            <a:avLst/>
          </a:prstGeom>
          <a:noFill/>
        </p:spPr>
        <p:txBody>
          <a:bodyPr wrap="square">
            <a:spAutoFit/>
          </a:bodyPr>
          <a:lstStyle/>
          <a:p>
            <a:pPr algn="just"/>
            <a:r>
              <a:rPr lang="es-MX" sz="2000" dirty="0">
                <a:solidFill>
                  <a:schemeClr val="tx1">
                    <a:lumMod val="50000"/>
                    <a:lumOff val="50000"/>
                  </a:schemeClr>
                </a:solidFill>
                <a:latin typeface="+mj-lt"/>
              </a:rPr>
              <a:t>B) Análisis </a:t>
            </a:r>
          </a:p>
          <a:p>
            <a:pPr algn="just"/>
            <a:r>
              <a:rPr lang="es-MX" sz="2000" dirty="0">
                <a:solidFill>
                  <a:schemeClr val="tx1">
                    <a:lumMod val="50000"/>
                    <a:lumOff val="50000"/>
                  </a:schemeClr>
                </a:solidFill>
                <a:latin typeface="+mj-lt"/>
              </a:rPr>
              <a:t>Claramente, se puede ver que las entradas del problema son la masa 𝑚1, la masa 𝑚2 y el ángulo θ (‘theta’) en grados. Hay tres salidas requeridas: la aceleración, la tensión y la normal (‘n’) de la masa 𝑚2. Partiendo de un conocimiento básico de Física, se sabe que hay una relación entre la masa 𝑚1, la masa 𝑚2 y el ángulo θ (‘theta’) del plano inclinado con la aceleración, la tensión y la normal. Las fórmulas requeridas se incluyen en el requerimiento de los datos. </a:t>
            </a:r>
            <a:endParaRPr lang="es-EC" sz="2000" dirty="0">
              <a:solidFill>
                <a:schemeClr val="tx1">
                  <a:lumMod val="50000"/>
                  <a:lumOff val="50000"/>
                </a:schemeClr>
              </a:solidFill>
              <a:latin typeface="+mj-lt"/>
            </a:endParaRPr>
          </a:p>
        </p:txBody>
      </p:sp>
    </p:spTree>
    <p:extLst>
      <p:ext uri="{BB962C8B-B14F-4D97-AF65-F5344CB8AC3E}">
        <p14:creationId xmlns:p14="http://schemas.microsoft.com/office/powerpoint/2010/main" val="1401151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240280" y="3330270"/>
            <a:ext cx="8138160" cy="847167"/>
          </a:xfrm>
        </p:spPr>
        <p:txBody>
          <a:bodyPr/>
          <a:lstStyle/>
          <a:p>
            <a:r>
              <a:rPr lang="es-MX" sz="3600" b="1" dirty="0"/>
              <a:t>Caso de Estudio 3.4: Encontrar la aceleración de dos objetos conectados mediante una cuerda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35</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398851" y="2317356"/>
            <a:ext cx="10183549" cy="400110"/>
          </a:xfrm>
          <a:prstGeom prst="rect">
            <a:avLst/>
          </a:prstGeom>
          <a:noFill/>
        </p:spPr>
        <p:txBody>
          <a:bodyPr wrap="square">
            <a:spAutoFit/>
          </a:bodyPr>
          <a:lstStyle/>
          <a:p>
            <a:pPr algn="just"/>
            <a:endParaRPr lang="es-EC" sz="2000" dirty="0">
              <a:solidFill>
                <a:schemeClr val="tx1">
                  <a:lumMod val="50000"/>
                  <a:lumOff val="50000"/>
                </a:schemeClr>
              </a:solidFill>
              <a:latin typeface="+mj-lt"/>
            </a:endParaRPr>
          </a:p>
        </p:txBody>
      </p:sp>
      <p:sp>
        <p:nvSpPr>
          <p:cNvPr id="7" name="CuadroTexto 6">
            <a:extLst>
              <a:ext uri="{FF2B5EF4-FFF2-40B4-BE49-F238E27FC236}">
                <a16:creationId xmlns:a16="http://schemas.microsoft.com/office/drawing/2014/main" id="{18B5E156-31B5-4DEE-86EC-9D3F93BE6106}"/>
              </a:ext>
            </a:extLst>
          </p:cNvPr>
          <p:cNvSpPr txBox="1"/>
          <p:nvPr/>
        </p:nvSpPr>
        <p:spPr>
          <a:xfrm>
            <a:off x="1082214" y="2236076"/>
            <a:ext cx="10183549" cy="400110"/>
          </a:xfrm>
          <a:prstGeom prst="rect">
            <a:avLst/>
          </a:prstGeom>
          <a:noFill/>
        </p:spPr>
        <p:txBody>
          <a:bodyPr wrap="square">
            <a:spAutoFit/>
          </a:bodyPr>
          <a:lstStyle/>
          <a:p>
            <a:pPr algn="just"/>
            <a:r>
              <a:rPr lang="es-MX" sz="2000" dirty="0">
                <a:solidFill>
                  <a:schemeClr val="tx1">
                    <a:lumMod val="50000"/>
                    <a:lumOff val="50000"/>
                  </a:schemeClr>
                </a:solidFill>
                <a:latin typeface="+mj-lt"/>
              </a:rPr>
              <a:t>B.1) Requerimiento de los Datos</a:t>
            </a:r>
            <a:endParaRPr lang="es-EC" sz="20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3351C284-7E63-4CA6-B669-EBD5D6F52A42}"/>
              </a:ext>
            </a:extLst>
          </p:cNvPr>
          <p:cNvPicPr>
            <a:picLocks noChangeAspect="1"/>
          </p:cNvPicPr>
          <p:nvPr/>
        </p:nvPicPr>
        <p:blipFill>
          <a:blip r:embed="rId2"/>
          <a:stretch>
            <a:fillRect/>
          </a:stretch>
        </p:blipFill>
        <p:spPr>
          <a:xfrm>
            <a:off x="943230" y="2749384"/>
            <a:ext cx="5914770" cy="2944862"/>
          </a:xfrm>
          <a:prstGeom prst="rect">
            <a:avLst/>
          </a:prstGeom>
        </p:spPr>
      </p:pic>
      <p:pic>
        <p:nvPicPr>
          <p:cNvPr id="9" name="Imagen 8">
            <a:extLst>
              <a:ext uri="{FF2B5EF4-FFF2-40B4-BE49-F238E27FC236}">
                <a16:creationId xmlns:a16="http://schemas.microsoft.com/office/drawing/2014/main" id="{5E83C120-DE40-4886-A55C-6117DC949D15}"/>
              </a:ext>
            </a:extLst>
          </p:cNvPr>
          <p:cNvPicPr>
            <a:picLocks noChangeAspect="1"/>
          </p:cNvPicPr>
          <p:nvPr/>
        </p:nvPicPr>
        <p:blipFill>
          <a:blip r:embed="rId3"/>
          <a:stretch>
            <a:fillRect/>
          </a:stretch>
        </p:blipFill>
        <p:spPr>
          <a:xfrm>
            <a:off x="6604229" y="2749384"/>
            <a:ext cx="5364251" cy="2065716"/>
          </a:xfrm>
          <a:prstGeom prst="rect">
            <a:avLst/>
          </a:prstGeom>
        </p:spPr>
      </p:pic>
    </p:spTree>
    <p:extLst>
      <p:ext uri="{BB962C8B-B14F-4D97-AF65-F5344CB8AC3E}">
        <p14:creationId xmlns:p14="http://schemas.microsoft.com/office/powerpoint/2010/main" val="28598894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270760" y="3429000"/>
            <a:ext cx="8138160" cy="847167"/>
          </a:xfrm>
        </p:spPr>
        <p:txBody>
          <a:bodyPr/>
          <a:lstStyle/>
          <a:p>
            <a:r>
              <a:rPr lang="es-MX" sz="3600" b="1" dirty="0"/>
              <a:t>Caso de Estudio 3.4: Encontrar la aceleración de dos objetos conectados mediante una cuerda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36</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398851" y="2317356"/>
            <a:ext cx="10183549" cy="400110"/>
          </a:xfrm>
          <a:prstGeom prst="rect">
            <a:avLst/>
          </a:prstGeom>
          <a:noFill/>
        </p:spPr>
        <p:txBody>
          <a:bodyPr wrap="square">
            <a:spAutoFit/>
          </a:bodyPr>
          <a:lstStyle/>
          <a:p>
            <a:pPr algn="just"/>
            <a:endParaRPr lang="es-EC" sz="2000" dirty="0">
              <a:solidFill>
                <a:schemeClr val="tx1">
                  <a:lumMod val="50000"/>
                  <a:lumOff val="50000"/>
                </a:schemeClr>
              </a:solidFill>
              <a:latin typeface="+mj-lt"/>
            </a:endParaRPr>
          </a:p>
        </p:txBody>
      </p:sp>
      <p:sp>
        <p:nvSpPr>
          <p:cNvPr id="7" name="CuadroTexto 6">
            <a:extLst>
              <a:ext uri="{FF2B5EF4-FFF2-40B4-BE49-F238E27FC236}">
                <a16:creationId xmlns:a16="http://schemas.microsoft.com/office/drawing/2014/main" id="{18B5E156-31B5-4DEE-86EC-9D3F93BE6106}"/>
              </a:ext>
            </a:extLst>
          </p:cNvPr>
          <p:cNvSpPr txBox="1"/>
          <p:nvPr/>
        </p:nvSpPr>
        <p:spPr>
          <a:xfrm>
            <a:off x="1082215" y="2236076"/>
            <a:ext cx="5724986" cy="3170099"/>
          </a:xfrm>
          <a:prstGeom prst="rect">
            <a:avLst/>
          </a:prstGeom>
          <a:noFill/>
        </p:spPr>
        <p:txBody>
          <a:bodyPr wrap="square">
            <a:spAutoFit/>
          </a:bodyPr>
          <a:lstStyle/>
          <a:p>
            <a:pPr algn="just"/>
            <a:r>
              <a:rPr lang="es-MX" sz="2000" dirty="0">
                <a:solidFill>
                  <a:schemeClr val="tx1">
                    <a:lumMod val="50000"/>
                    <a:lumOff val="50000"/>
                  </a:schemeClr>
                </a:solidFill>
                <a:latin typeface="+mj-lt"/>
              </a:rPr>
              <a:t>En la Figura 3.4.2 se muestra el diagrama de Entrada-Salida del programa donde se identifican y se diagraman las entradas, salidas y auxiliares del problema como son: a) Entradas: la variable ‘m1’ (primera masa), la variable ‘m2’ y la variable ‘theta’ (ángulo del plano inclinado); b) Salidas: las variables ‘a’ (aceleración), ‘T’ (tensión) y ‘n’ (normal); c) Auxiliares: la constante ‘PI’ y la constante ‘g’ (gravedad)</a:t>
            </a:r>
            <a:endParaRPr lang="es-EC" sz="2000" dirty="0">
              <a:solidFill>
                <a:schemeClr val="tx1">
                  <a:lumMod val="50000"/>
                  <a:lumOff val="50000"/>
                </a:schemeClr>
              </a:solidFill>
              <a:latin typeface="+mj-lt"/>
            </a:endParaRPr>
          </a:p>
        </p:txBody>
      </p:sp>
      <p:pic>
        <p:nvPicPr>
          <p:cNvPr id="8" name="Imagen 7">
            <a:extLst>
              <a:ext uri="{FF2B5EF4-FFF2-40B4-BE49-F238E27FC236}">
                <a16:creationId xmlns:a16="http://schemas.microsoft.com/office/drawing/2014/main" id="{48529C1C-77EE-4615-A928-67BA3A836F4B}"/>
              </a:ext>
            </a:extLst>
          </p:cNvPr>
          <p:cNvPicPr>
            <a:picLocks noChangeAspect="1"/>
          </p:cNvPicPr>
          <p:nvPr/>
        </p:nvPicPr>
        <p:blipFill>
          <a:blip r:embed="rId2"/>
          <a:stretch>
            <a:fillRect/>
          </a:stretch>
        </p:blipFill>
        <p:spPr>
          <a:xfrm>
            <a:off x="7355903" y="2317356"/>
            <a:ext cx="4035135" cy="2085069"/>
          </a:xfrm>
          <a:prstGeom prst="rect">
            <a:avLst/>
          </a:prstGeom>
        </p:spPr>
      </p:pic>
      <p:sp>
        <p:nvSpPr>
          <p:cNvPr id="11" name="CuadroTexto 10">
            <a:extLst>
              <a:ext uri="{FF2B5EF4-FFF2-40B4-BE49-F238E27FC236}">
                <a16:creationId xmlns:a16="http://schemas.microsoft.com/office/drawing/2014/main" id="{FC0A788E-18BF-482D-A2D8-EA5E14B000CD}"/>
              </a:ext>
            </a:extLst>
          </p:cNvPr>
          <p:cNvSpPr txBox="1"/>
          <p:nvPr/>
        </p:nvSpPr>
        <p:spPr>
          <a:xfrm>
            <a:off x="7075513" y="4508322"/>
            <a:ext cx="4035135" cy="830997"/>
          </a:xfrm>
          <a:prstGeom prst="rect">
            <a:avLst/>
          </a:prstGeom>
          <a:noFill/>
        </p:spPr>
        <p:txBody>
          <a:bodyPr wrap="square">
            <a:spAutoFit/>
          </a:bodyPr>
          <a:lstStyle/>
          <a:p>
            <a:pPr algn="just"/>
            <a:r>
              <a:rPr lang="es-EC" sz="1200" b="1" dirty="0">
                <a:solidFill>
                  <a:schemeClr val="tx1">
                    <a:lumMod val="50000"/>
                    <a:lumOff val="50000"/>
                  </a:schemeClr>
                </a:solidFill>
                <a:latin typeface="+mj-lt"/>
              </a:rPr>
              <a:t>Figura 3.4.2. </a:t>
            </a:r>
            <a:r>
              <a:rPr lang="es-EC" sz="1200" dirty="0">
                <a:solidFill>
                  <a:schemeClr val="tx1">
                    <a:lumMod val="50000"/>
                    <a:lumOff val="50000"/>
                  </a:schemeClr>
                </a:solidFill>
                <a:latin typeface="+mj-lt"/>
              </a:rPr>
              <a:t>Diagrama de Entrada-Salida del Programa. Fuente  </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630260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37</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398851" y="2317356"/>
            <a:ext cx="10183549" cy="400110"/>
          </a:xfrm>
          <a:prstGeom prst="rect">
            <a:avLst/>
          </a:prstGeom>
          <a:noFill/>
        </p:spPr>
        <p:txBody>
          <a:bodyPr wrap="square">
            <a:spAutoFit/>
          </a:bodyPr>
          <a:lstStyle/>
          <a:p>
            <a:pPr algn="just"/>
            <a:endParaRPr lang="es-EC" sz="2000" dirty="0">
              <a:solidFill>
                <a:schemeClr val="tx1">
                  <a:lumMod val="50000"/>
                  <a:lumOff val="50000"/>
                </a:schemeClr>
              </a:solidFill>
              <a:latin typeface="+mj-lt"/>
            </a:endParaRPr>
          </a:p>
        </p:txBody>
      </p:sp>
      <p:sp>
        <p:nvSpPr>
          <p:cNvPr id="7" name="CuadroTexto 6">
            <a:extLst>
              <a:ext uri="{FF2B5EF4-FFF2-40B4-BE49-F238E27FC236}">
                <a16:creationId xmlns:a16="http://schemas.microsoft.com/office/drawing/2014/main" id="{18B5E156-31B5-4DEE-86EC-9D3F93BE6106}"/>
              </a:ext>
            </a:extLst>
          </p:cNvPr>
          <p:cNvSpPr txBox="1"/>
          <p:nvPr/>
        </p:nvSpPr>
        <p:spPr>
          <a:xfrm>
            <a:off x="707973" y="244716"/>
            <a:ext cx="10683065" cy="6678751"/>
          </a:xfrm>
          <a:prstGeom prst="rect">
            <a:avLst/>
          </a:prstGeom>
          <a:noFill/>
        </p:spPr>
        <p:txBody>
          <a:bodyPr wrap="square">
            <a:spAutoFit/>
          </a:bodyPr>
          <a:lstStyle/>
          <a:p>
            <a:r>
              <a:rPr lang="es-MX" sz="2000" dirty="0">
                <a:solidFill>
                  <a:schemeClr val="tx1">
                    <a:lumMod val="50000"/>
                    <a:lumOff val="50000"/>
                  </a:schemeClr>
                </a:solidFill>
                <a:latin typeface="+mj-lt"/>
              </a:rPr>
              <a:t> </a:t>
            </a:r>
            <a:r>
              <a:rPr lang="es-MX" sz="1600" dirty="0">
                <a:solidFill>
                  <a:schemeClr val="tx1">
                    <a:lumMod val="50000"/>
                    <a:lumOff val="50000"/>
                  </a:schemeClr>
                </a:solidFill>
                <a:latin typeface="+mj-lt"/>
              </a:rPr>
              <a:t>C) Diseño</a:t>
            </a:r>
          </a:p>
          <a:p>
            <a:r>
              <a:rPr lang="es-MX" sz="1600" dirty="0">
                <a:solidFill>
                  <a:schemeClr val="tx1">
                    <a:lumMod val="50000"/>
                    <a:lumOff val="50000"/>
                  </a:schemeClr>
                </a:solidFill>
                <a:latin typeface="+mj-lt"/>
              </a:rPr>
              <a:t>Una vez que se conocen las entradas y las salidas del problema, se deben listar los pasos necesarios para resolver el problema, es decir, el algoritmo.</a:t>
            </a:r>
          </a:p>
          <a:p>
            <a:r>
              <a:rPr lang="es-MX" sz="1600" dirty="0">
                <a:solidFill>
                  <a:schemeClr val="tx1">
                    <a:lumMod val="50000"/>
                    <a:lumOff val="50000"/>
                  </a:schemeClr>
                </a:solidFill>
                <a:latin typeface="+mj-lt"/>
              </a:rPr>
              <a:t>Algoritmo</a:t>
            </a:r>
          </a:p>
          <a:p>
            <a:pPr>
              <a:buFont typeface="+mj-lt"/>
              <a:buAutoNum type="arabicPeriod"/>
            </a:pPr>
            <a:r>
              <a:rPr lang="es-MX" sz="1600" dirty="0">
                <a:solidFill>
                  <a:schemeClr val="tx1">
                    <a:lumMod val="50000"/>
                    <a:lumOff val="50000"/>
                  </a:schemeClr>
                </a:solidFill>
                <a:latin typeface="+mj-lt"/>
              </a:rPr>
              <a:t>Imprimir el mensaje de información: “Aceleración de dos objetos conectados mediante una cuerda”.</a:t>
            </a:r>
          </a:p>
          <a:p>
            <a:pPr>
              <a:buFont typeface="+mj-lt"/>
              <a:buAutoNum type="arabicPeriod"/>
            </a:pPr>
            <a:r>
              <a:rPr lang="es-MX" sz="1600" dirty="0">
                <a:solidFill>
                  <a:schemeClr val="tx1">
                    <a:lumMod val="50000"/>
                    <a:lumOff val="50000"/>
                  </a:schemeClr>
                </a:solidFill>
                <a:latin typeface="+mj-lt"/>
              </a:rPr>
              <a:t>Leer el valor de la primera masa, utilizando la variable ‘m1’.</a:t>
            </a:r>
          </a:p>
          <a:p>
            <a:pPr>
              <a:buFont typeface="+mj-lt"/>
              <a:buAutoNum type="arabicPeriod"/>
            </a:pPr>
            <a:r>
              <a:rPr lang="es-MX" sz="1600" dirty="0">
                <a:solidFill>
                  <a:schemeClr val="tx1">
                    <a:lumMod val="50000"/>
                    <a:lumOff val="50000"/>
                  </a:schemeClr>
                </a:solidFill>
                <a:latin typeface="+mj-lt"/>
              </a:rPr>
              <a:t>Leer el valor de la segunda masa, utilizando la variable ‘m2’.</a:t>
            </a:r>
          </a:p>
          <a:p>
            <a:pPr>
              <a:buFont typeface="+mj-lt"/>
              <a:buAutoNum type="arabicPeriod"/>
            </a:pPr>
            <a:r>
              <a:rPr lang="es-MX" sz="1600" dirty="0">
                <a:solidFill>
                  <a:schemeClr val="tx1">
                    <a:lumMod val="50000"/>
                    <a:lumOff val="50000"/>
                  </a:schemeClr>
                </a:solidFill>
                <a:latin typeface="+mj-lt"/>
              </a:rPr>
              <a:t>Leer el valor del ángulo theta del plano inclinado en grados, utilizando la variable ‘theta’.</a:t>
            </a:r>
          </a:p>
          <a:p>
            <a:pPr>
              <a:buFont typeface="+mj-lt"/>
              <a:buAutoNum type="arabicPeriod"/>
            </a:pPr>
            <a:r>
              <a:rPr lang="es-MX" sz="1600" dirty="0">
                <a:solidFill>
                  <a:schemeClr val="tx1">
                    <a:lumMod val="50000"/>
                    <a:lumOff val="50000"/>
                  </a:schemeClr>
                </a:solidFill>
                <a:latin typeface="+mj-lt"/>
              </a:rPr>
              <a:t>Convertir el ángulo theta de grados a radianes.</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5.1. Asignar a la variable ‘theta’ el producto del ángulo theta por la constante PI y dividirlo para el valor de 180 grados.</a:t>
            </a:r>
          </a:p>
          <a:p>
            <a:pPr>
              <a:buFont typeface="+mj-lt"/>
              <a:buAutoNum type="arabicPeriod"/>
            </a:pPr>
            <a:r>
              <a:rPr lang="es-MX" sz="1600" dirty="0">
                <a:solidFill>
                  <a:schemeClr val="tx1">
                    <a:lumMod val="50000"/>
                    <a:lumOff val="50000"/>
                  </a:schemeClr>
                </a:solidFill>
                <a:latin typeface="+mj-lt"/>
              </a:rPr>
              <a:t>Si la suma entre las masas ‘m1’ y ‘m2’ es diferente de cero:</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6.1. Calcular la aceleración de dos objetos conectados mediante una cuerda.</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6.1.1. Asignar a la variable ‘a’ (aceleración) los valores que contempla la fórmula de la aceleración (1), según la Física Clásica.</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6.2. Calcular la tensión en la cuerda.</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6.2.1. Asignar a la variable ‘T’ (tensión) los valores que contempla la fórmula de la tensión (2), según la Física Clásica.</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6.3. Calcular el valor de la normal de la masa ‘m2’.</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6.3.1. Asignar a la variable ‘n’ (normal) los valores que contempla la fórmula de la normal (3), según la Física Clásica.</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6.4. Imprimir el valor de la variable ‘a’ (aceleración), de la variable ‘T’ (tensión) y de la variable ‘n’ (normal).</a:t>
            </a:r>
          </a:p>
          <a:p>
            <a:pPr>
              <a:buFont typeface="+mj-lt"/>
              <a:buAutoNum type="arabicPeriod"/>
            </a:pPr>
            <a:r>
              <a:rPr lang="es-MX" sz="1600" dirty="0">
                <a:solidFill>
                  <a:schemeClr val="tx1">
                    <a:lumMod val="50000"/>
                    <a:lumOff val="50000"/>
                  </a:schemeClr>
                </a:solidFill>
                <a:latin typeface="+mj-lt"/>
              </a:rPr>
              <a:t>Caso contrario, la suma entre las masas ‘m1’ y ‘m2’ es igual a cero.</a:t>
            </a:r>
            <a:br>
              <a:rPr lang="es-MX" sz="1600" dirty="0">
                <a:solidFill>
                  <a:schemeClr val="tx1">
                    <a:lumMod val="50000"/>
                    <a:lumOff val="50000"/>
                  </a:schemeClr>
                </a:solidFill>
                <a:latin typeface="+mj-lt"/>
              </a:rPr>
            </a:br>
            <a:r>
              <a:rPr lang="es-MX" sz="1600" dirty="0">
                <a:solidFill>
                  <a:schemeClr val="tx1">
                    <a:lumMod val="50000"/>
                    <a:lumOff val="50000"/>
                  </a:schemeClr>
                </a:solidFill>
                <a:latin typeface="+mj-lt"/>
              </a:rPr>
              <a:t>7.1. Imprimir el mensaje de error: “Error en el ingreso de los valores de las masas”.</a:t>
            </a:r>
          </a:p>
          <a:p>
            <a:pPr algn="just"/>
            <a:endParaRPr lang="es-EC" sz="2000" dirty="0">
              <a:solidFill>
                <a:schemeClr val="tx1">
                  <a:lumMod val="50000"/>
                  <a:lumOff val="50000"/>
                </a:schemeClr>
              </a:solidFill>
              <a:latin typeface="+mj-lt"/>
            </a:endParaRPr>
          </a:p>
        </p:txBody>
      </p:sp>
    </p:spTree>
    <p:extLst>
      <p:ext uri="{BB962C8B-B14F-4D97-AF65-F5344CB8AC3E}">
        <p14:creationId xmlns:p14="http://schemas.microsoft.com/office/powerpoint/2010/main" val="4090450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38</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398851" y="2317356"/>
            <a:ext cx="10183549" cy="400110"/>
          </a:xfrm>
          <a:prstGeom prst="rect">
            <a:avLst/>
          </a:prstGeom>
          <a:noFill/>
        </p:spPr>
        <p:txBody>
          <a:bodyPr wrap="square">
            <a:spAutoFit/>
          </a:bodyPr>
          <a:lstStyle/>
          <a:p>
            <a:pPr algn="just"/>
            <a:endParaRPr lang="es-EC" sz="2000" dirty="0">
              <a:solidFill>
                <a:schemeClr val="tx1">
                  <a:lumMod val="50000"/>
                  <a:lumOff val="50000"/>
                </a:schemeClr>
              </a:solidFill>
              <a:latin typeface="+mj-lt"/>
            </a:endParaRPr>
          </a:p>
        </p:txBody>
      </p:sp>
      <p:sp>
        <p:nvSpPr>
          <p:cNvPr id="7" name="CuadroTexto 6">
            <a:extLst>
              <a:ext uri="{FF2B5EF4-FFF2-40B4-BE49-F238E27FC236}">
                <a16:creationId xmlns:a16="http://schemas.microsoft.com/office/drawing/2014/main" id="{18B5E156-31B5-4DEE-86EC-9D3F93BE6106}"/>
              </a:ext>
            </a:extLst>
          </p:cNvPr>
          <p:cNvSpPr txBox="1"/>
          <p:nvPr/>
        </p:nvSpPr>
        <p:spPr>
          <a:xfrm>
            <a:off x="1082215" y="2236076"/>
            <a:ext cx="3916505" cy="3046988"/>
          </a:xfrm>
          <a:prstGeom prst="rect">
            <a:avLst/>
          </a:prstGeom>
          <a:noFill/>
        </p:spPr>
        <p:txBody>
          <a:bodyPr wrap="square">
            <a:spAutoFit/>
          </a:bodyPr>
          <a:lstStyle/>
          <a:p>
            <a:r>
              <a:rPr lang="es-MX" sz="1600" dirty="0">
                <a:solidFill>
                  <a:schemeClr val="tx1">
                    <a:lumMod val="50000"/>
                    <a:lumOff val="50000"/>
                  </a:schemeClr>
                </a:solidFill>
                <a:latin typeface="+mj-lt"/>
              </a:rPr>
              <a:t>D) Implementación </a:t>
            </a:r>
          </a:p>
          <a:p>
            <a:r>
              <a:rPr lang="es-MX" sz="1600" dirty="0">
                <a:solidFill>
                  <a:schemeClr val="tx1">
                    <a:lumMod val="50000"/>
                    <a:lumOff val="50000"/>
                  </a:schemeClr>
                </a:solidFill>
                <a:latin typeface="+mj-lt"/>
              </a:rPr>
              <a:t>Para implementar la solución, se debe escribir el algoritmo como un programa de C/C++ que contenga toda la información necesaria para completar la traducción a lenguaje máquina. En la Tabla 3.4.1 se muestra el código del programa en C/C++. Tabla 3.4.1. Programa que calcula la aceleración de dos objetos conectados mediante una cuerda, la tensión y la normal. </a:t>
            </a:r>
            <a:endParaRPr lang="es-EC" sz="16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BBAD7625-FF06-4B62-BA27-5F4F5F8EF7DB}"/>
              </a:ext>
            </a:extLst>
          </p:cNvPr>
          <p:cNvPicPr>
            <a:picLocks noChangeAspect="1"/>
          </p:cNvPicPr>
          <p:nvPr/>
        </p:nvPicPr>
        <p:blipFill>
          <a:blip r:embed="rId2"/>
          <a:stretch>
            <a:fillRect/>
          </a:stretch>
        </p:blipFill>
        <p:spPr>
          <a:xfrm>
            <a:off x="5141210" y="0"/>
            <a:ext cx="6644389" cy="6858000"/>
          </a:xfrm>
          <a:prstGeom prst="rect">
            <a:avLst/>
          </a:prstGeom>
        </p:spPr>
      </p:pic>
    </p:spTree>
    <p:extLst>
      <p:ext uri="{BB962C8B-B14F-4D97-AF65-F5344CB8AC3E}">
        <p14:creationId xmlns:p14="http://schemas.microsoft.com/office/powerpoint/2010/main" val="867032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39</a:t>
            </a:fld>
            <a:endParaRPr lang="es-EC"/>
          </a:p>
        </p:txBody>
      </p:sp>
      <p:pic>
        <p:nvPicPr>
          <p:cNvPr id="3" name="Imagen 2">
            <a:extLst>
              <a:ext uri="{FF2B5EF4-FFF2-40B4-BE49-F238E27FC236}">
                <a16:creationId xmlns:a16="http://schemas.microsoft.com/office/drawing/2014/main" id="{A46FB06A-F046-433C-95B2-5ABCA6692A1F}"/>
              </a:ext>
            </a:extLst>
          </p:cNvPr>
          <p:cNvPicPr>
            <a:picLocks noChangeAspect="1"/>
          </p:cNvPicPr>
          <p:nvPr/>
        </p:nvPicPr>
        <p:blipFill>
          <a:blip r:embed="rId2"/>
          <a:stretch>
            <a:fillRect/>
          </a:stretch>
        </p:blipFill>
        <p:spPr>
          <a:xfrm>
            <a:off x="2098040" y="1824607"/>
            <a:ext cx="4572638" cy="1604393"/>
          </a:xfrm>
          <a:prstGeom prst="rect">
            <a:avLst/>
          </a:prstGeom>
        </p:spPr>
      </p:pic>
      <p:sp>
        <p:nvSpPr>
          <p:cNvPr id="9" name="Título 1">
            <a:extLst>
              <a:ext uri="{FF2B5EF4-FFF2-40B4-BE49-F238E27FC236}">
                <a16:creationId xmlns:a16="http://schemas.microsoft.com/office/drawing/2014/main" id="{1667C98E-F676-4DFB-B711-6B28A16BB8ED}"/>
              </a:ext>
            </a:extLst>
          </p:cNvPr>
          <p:cNvSpPr>
            <a:spLocks noGrp="1"/>
          </p:cNvSpPr>
          <p:nvPr>
            <p:ph type="title"/>
          </p:nvPr>
        </p:nvSpPr>
        <p:spPr>
          <a:xfrm>
            <a:off x="2493235" y="3021421"/>
            <a:ext cx="7381878" cy="660584"/>
          </a:xfrm>
        </p:spPr>
        <p:txBody>
          <a:bodyPr/>
          <a:lstStyle/>
          <a:p>
            <a:r>
              <a:rPr lang="es-MX" sz="2400" b="1" dirty="0"/>
              <a:t>Caso de Estudio 3.4: Encontrar la aceleración de dos objetos conectados mediante una cuerda </a:t>
            </a:r>
            <a:br>
              <a:rPr lang="es-MX" sz="2400" b="1" dirty="0"/>
            </a:br>
            <a:br>
              <a:rPr lang="es-MX" sz="24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pic>
        <p:nvPicPr>
          <p:cNvPr id="10" name="Imagen 9">
            <a:extLst>
              <a:ext uri="{FF2B5EF4-FFF2-40B4-BE49-F238E27FC236}">
                <a16:creationId xmlns:a16="http://schemas.microsoft.com/office/drawing/2014/main" id="{CBEF9D67-E5FD-4BFB-9D5B-5FC341C1BD2C}"/>
              </a:ext>
            </a:extLst>
          </p:cNvPr>
          <p:cNvPicPr>
            <a:picLocks noChangeAspect="1"/>
          </p:cNvPicPr>
          <p:nvPr/>
        </p:nvPicPr>
        <p:blipFill>
          <a:blip r:embed="rId3"/>
          <a:stretch>
            <a:fillRect/>
          </a:stretch>
        </p:blipFill>
        <p:spPr>
          <a:xfrm>
            <a:off x="1759407" y="3506287"/>
            <a:ext cx="4911271" cy="2850064"/>
          </a:xfrm>
          <a:prstGeom prst="rect">
            <a:avLst/>
          </a:prstGeom>
        </p:spPr>
      </p:pic>
      <p:sp>
        <p:nvSpPr>
          <p:cNvPr id="12" name="CuadroTexto 11">
            <a:extLst>
              <a:ext uri="{FF2B5EF4-FFF2-40B4-BE49-F238E27FC236}">
                <a16:creationId xmlns:a16="http://schemas.microsoft.com/office/drawing/2014/main" id="{2C400770-BF59-4C60-92EC-750D88F853EF}"/>
              </a:ext>
            </a:extLst>
          </p:cNvPr>
          <p:cNvSpPr txBox="1"/>
          <p:nvPr/>
        </p:nvSpPr>
        <p:spPr>
          <a:xfrm>
            <a:off x="1688667" y="639831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3.4.1 </a:t>
            </a:r>
            <a:r>
              <a:rPr lang="es-ES" sz="1200" dirty="0">
                <a:solidFill>
                  <a:schemeClr val="tx1">
                    <a:lumMod val="50000"/>
                    <a:lumOff val="50000"/>
                  </a:schemeClr>
                </a:solidFill>
                <a:latin typeface="+mj-lt"/>
              </a:rPr>
              <a:t>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551593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270760" y="3429000"/>
            <a:ext cx="8138160" cy="847167"/>
          </a:xfrm>
        </p:spPr>
        <p:txBody>
          <a:bodyPr/>
          <a:lstStyle/>
          <a:p>
            <a:r>
              <a:rPr lang="es-MX" sz="3600" b="1" dirty="0"/>
              <a:t>Caso de Estudio 3.4: Encontrar la aceleración de dos objetos conectados mediante una cuerda </a:t>
            </a:r>
            <a:br>
              <a:rPr lang="es-MX" sz="3600" b="1" dirty="0"/>
            </a:br>
            <a:br>
              <a:rPr lang="es-MX" sz="3600" dirty="0"/>
            </a:br>
            <a:br>
              <a:rPr lang="es-MX" sz="2000" dirty="0">
                <a:solidFill>
                  <a:schemeClr val="tx1">
                    <a:lumMod val="50000"/>
                    <a:lumOff val="50000"/>
                  </a:schemeClr>
                </a:solidFill>
                <a:latin typeface="+mj-lt"/>
                <a:ea typeface="+mn-ea"/>
                <a:cs typeface="+mn-cs"/>
              </a:rPr>
            </a:br>
            <a:endParaRPr lang="es-EC" sz="2000" dirty="0">
              <a:solidFill>
                <a:schemeClr val="tx1">
                  <a:lumMod val="50000"/>
                  <a:lumOff val="50000"/>
                </a:schemeClr>
              </a:solidFill>
              <a:latin typeface="+mj-lt"/>
              <a:ea typeface="+mn-ea"/>
              <a:cs typeface="+mn-cs"/>
            </a:endParaRP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40</a:t>
            </a:fld>
            <a:endParaRPr lang="es-EC"/>
          </a:p>
        </p:txBody>
      </p:sp>
      <p:sp>
        <p:nvSpPr>
          <p:cNvPr id="13" name="CuadroTexto 12">
            <a:extLst>
              <a:ext uri="{FF2B5EF4-FFF2-40B4-BE49-F238E27FC236}">
                <a16:creationId xmlns:a16="http://schemas.microsoft.com/office/drawing/2014/main" id="{A45C332C-367E-45CF-A44D-DFF180256D97}"/>
              </a:ext>
            </a:extLst>
          </p:cNvPr>
          <p:cNvSpPr txBox="1"/>
          <p:nvPr/>
        </p:nvSpPr>
        <p:spPr>
          <a:xfrm>
            <a:off x="1398851" y="2317356"/>
            <a:ext cx="10183549" cy="400110"/>
          </a:xfrm>
          <a:prstGeom prst="rect">
            <a:avLst/>
          </a:prstGeom>
          <a:noFill/>
        </p:spPr>
        <p:txBody>
          <a:bodyPr wrap="square">
            <a:spAutoFit/>
          </a:bodyPr>
          <a:lstStyle/>
          <a:p>
            <a:pPr algn="just"/>
            <a:endParaRPr lang="es-EC" sz="2000" dirty="0">
              <a:solidFill>
                <a:schemeClr val="tx1">
                  <a:lumMod val="50000"/>
                  <a:lumOff val="50000"/>
                </a:schemeClr>
              </a:solidFill>
              <a:latin typeface="+mj-lt"/>
            </a:endParaRPr>
          </a:p>
        </p:txBody>
      </p:sp>
      <p:sp>
        <p:nvSpPr>
          <p:cNvPr id="7" name="CuadroTexto 6">
            <a:extLst>
              <a:ext uri="{FF2B5EF4-FFF2-40B4-BE49-F238E27FC236}">
                <a16:creationId xmlns:a16="http://schemas.microsoft.com/office/drawing/2014/main" id="{18B5E156-31B5-4DEE-86EC-9D3F93BE6106}"/>
              </a:ext>
            </a:extLst>
          </p:cNvPr>
          <p:cNvSpPr txBox="1"/>
          <p:nvPr/>
        </p:nvSpPr>
        <p:spPr>
          <a:xfrm>
            <a:off x="609600" y="2717466"/>
            <a:ext cx="4035135" cy="1815882"/>
          </a:xfrm>
          <a:prstGeom prst="rect">
            <a:avLst/>
          </a:prstGeom>
          <a:noFill/>
        </p:spPr>
        <p:txBody>
          <a:bodyPr wrap="square">
            <a:spAutoFit/>
          </a:bodyPr>
          <a:lstStyle/>
          <a:p>
            <a:pPr algn="just"/>
            <a:r>
              <a:rPr lang="es-MX" sz="1600" dirty="0">
                <a:solidFill>
                  <a:schemeClr val="tx1">
                    <a:lumMod val="50000"/>
                    <a:lumOff val="50000"/>
                  </a:schemeClr>
                </a:solidFill>
                <a:latin typeface="+mj-lt"/>
              </a:rPr>
              <a:t>E) Pruebas En la Tabla 3.4.2 se muestra un ejemplo de la salida del programa, donde se puede ver que los resultados del programa tienen sentido, comparando estos resultados con los datos devueltos por una calculadora científica. </a:t>
            </a:r>
            <a:endParaRPr lang="es-EC" sz="16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1C86D742-21C3-4AC2-A08D-42A0838A6D78}"/>
              </a:ext>
            </a:extLst>
          </p:cNvPr>
          <p:cNvPicPr>
            <a:picLocks noChangeAspect="1"/>
          </p:cNvPicPr>
          <p:nvPr/>
        </p:nvPicPr>
        <p:blipFill>
          <a:blip r:embed="rId2"/>
          <a:stretch>
            <a:fillRect/>
          </a:stretch>
        </p:blipFill>
        <p:spPr>
          <a:xfrm>
            <a:off x="5291488" y="2501423"/>
            <a:ext cx="5819160" cy="1774744"/>
          </a:xfrm>
          <a:prstGeom prst="rect">
            <a:avLst/>
          </a:prstGeom>
        </p:spPr>
      </p:pic>
      <p:sp>
        <p:nvSpPr>
          <p:cNvPr id="12" name="CuadroTexto 11">
            <a:extLst>
              <a:ext uri="{FF2B5EF4-FFF2-40B4-BE49-F238E27FC236}">
                <a16:creationId xmlns:a16="http://schemas.microsoft.com/office/drawing/2014/main" id="{5B71053E-764A-4DAE-9D31-CEAADE37E331}"/>
              </a:ext>
            </a:extLst>
          </p:cNvPr>
          <p:cNvSpPr txBox="1"/>
          <p:nvPr/>
        </p:nvSpPr>
        <p:spPr>
          <a:xfrm>
            <a:off x="5291488" y="4533348"/>
            <a:ext cx="339137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3.4.2.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4076013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41</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42</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6706</TotalTime>
  <Words>4163</Words>
  <Application>Microsoft Office PowerPoint</Application>
  <PresentationFormat>Panorámica</PresentationFormat>
  <Paragraphs>344</Paragraphs>
  <Slides>42</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42</vt:i4>
      </vt:variant>
    </vt:vector>
  </HeadingPairs>
  <TitlesOfParts>
    <vt:vector size="50"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La sentencia if-else   </vt:lpstr>
      <vt:lpstr>La sentencia if-else   </vt:lpstr>
      <vt:lpstr>Contenido</vt:lpstr>
      <vt:lpstr>  Problema 3.3. (Aplicación del uso de la sentencia if-else)    </vt:lpstr>
      <vt:lpstr>  Problema 3.3. (Aplicación del uso de la sentencia if-else)    </vt:lpstr>
      <vt:lpstr>  Problema 3.3. (Aplicación del uso de la sentencia if-else)    </vt:lpstr>
      <vt:lpstr>Contenido</vt:lpstr>
      <vt:lpstr>  Problema 3.4. (Aplicación del uso de la sentencia if-else)    </vt:lpstr>
      <vt:lpstr>  Problema 3.4. (Aplicación del uso de la sentencia if-else)    </vt:lpstr>
      <vt:lpstr>  Problema 3.4. (Aplicación del uso de la sentencia if-else)    </vt:lpstr>
      <vt:lpstr>Contenido</vt:lpstr>
      <vt:lpstr>  Caso de Estudio 3.2: Evaluar una Función Definida por Partes    </vt:lpstr>
      <vt:lpstr>  Caso de Estudio 3.2: Evaluar una Función Definida por Partes    </vt:lpstr>
      <vt:lpstr>  Caso de Estudio 3.2: Evaluar una Función Definida por Partes   </vt:lpstr>
      <vt:lpstr>  Caso de Estudio 3.2: Evaluar una Función Definida por Partes    </vt:lpstr>
      <vt:lpstr>  Caso de Estudio 3.2: Evaluar una Función Definida por Partes    </vt:lpstr>
      <vt:lpstr>  Caso de Estudio 3.2: Evaluar una Función Definida por Partes    </vt:lpstr>
      <vt:lpstr>Presentación de PowerPoint</vt:lpstr>
      <vt:lpstr>  Caso de Estudio 3.2: Evaluar una Función Definida por Partes    </vt:lpstr>
      <vt:lpstr>Contenido</vt:lpstr>
      <vt:lpstr>Caso de Estudio 3.3: Encontrar el Perímetro, el Semi-perímetro y el Área de un Triángulo      </vt:lpstr>
      <vt:lpstr>Caso de Estudio 3.3: Encontrar el Perímetro, el Semi-perímetro y el Área de un Triángulo      </vt:lpstr>
      <vt:lpstr>Caso de Estudio 3.3: Encontrar el Perímetro, el Semi-perímetro y el Área de un Triángulo      </vt:lpstr>
      <vt:lpstr>Caso de Estudio 3.3: Encontrar el Perímetro, el Semi-perímetro y el Área de un Triángulo      </vt:lpstr>
      <vt:lpstr>Presentación de PowerPoint</vt:lpstr>
      <vt:lpstr>Presentación de PowerPoint</vt:lpstr>
      <vt:lpstr>Caso de Estudio 3.3: Encontrar el Perímetro, el Semi-perímetro y el Área de un Triángulo      </vt:lpstr>
      <vt:lpstr>Caso de Estudio 3.3: Encontrar el Perímetro, el Semi-perímetro y el Área de un Triángulo      </vt:lpstr>
      <vt:lpstr>Contenido</vt:lpstr>
      <vt:lpstr>Caso de Estudio 3.4: Encontrar la aceleración de dos objetos conectados mediante una cuerda    </vt:lpstr>
      <vt:lpstr>Caso de Estudio 3.4: Encontrar la aceleración de dos objetos conectados mediante una cuerda    </vt:lpstr>
      <vt:lpstr>Caso de Estudio 3.4: Encontrar la aceleración de dos objetos conectados mediante una cuerda    </vt:lpstr>
      <vt:lpstr>Caso de Estudio 3.4: Encontrar la aceleración de dos objetos conectados mediante una cuerda    </vt:lpstr>
      <vt:lpstr>Caso de Estudio 3.4: Encontrar la aceleración de dos objetos conectados mediante una cuerda    </vt:lpstr>
      <vt:lpstr>Presentación de PowerPoint</vt:lpstr>
      <vt:lpstr>Presentación de PowerPoint</vt:lpstr>
      <vt:lpstr>Caso de Estudio 3.4: Encontrar la aceleración de dos objetos conectados mediante una cuerda    </vt:lpstr>
      <vt:lpstr>Caso de Estudio 3.4: Encontrar la aceleración de dos objetos conectados mediante una cuerda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Luis</cp:lastModifiedBy>
  <cp:revision>5</cp:revision>
  <dcterms:created xsi:type="dcterms:W3CDTF">2025-10-07T22:49:11Z</dcterms:created>
  <dcterms:modified xsi:type="dcterms:W3CDTF">2025-11-26T16:46:40Z</dcterms:modified>
</cp:coreProperties>
</file>