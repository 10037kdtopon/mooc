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1"/>
  </p:notesMasterIdLst>
  <p:sldIdLst>
    <p:sldId id="311" r:id="rId3"/>
    <p:sldId id="257" r:id="rId4"/>
    <p:sldId id="436" r:id="rId5"/>
    <p:sldId id="523" r:id="rId6"/>
    <p:sldId id="527" r:id="rId7"/>
    <p:sldId id="528" r:id="rId8"/>
    <p:sldId id="529" r:id="rId9"/>
    <p:sldId id="524" r:id="rId10"/>
    <p:sldId id="530" r:id="rId11"/>
    <p:sldId id="531" r:id="rId12"/>
    <p:sldId id="533" r:id="rId13"/>
    <p:sldId id="534" r:id="rId14"/>
    <p:sldId id="535" r:id="rId15"/>
    <p:sldId id="536" r:id="rId16"/>
    <p:sldId id="537" r:id="rId17"/>
    <p:sldId id="538" r:id="rId18"/>
    <p:sldId id="393" r:id="rId19"/>
    <p:sldId id="275" r:id="rId20"/>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11" autoAdjust="0"/>
    <p:restoredTop sz="94660"/>
  </p:normalViewPr>
  <p:slideViewPr>
    <p:cSldViewPr snapToGrid="0">
      <p:cViewPr varScale="1">
        <p:scale>
          <a:sx n="85" d="100"/>
          <a:sy n="85" d="100"/>
        </p:scale>
        <p:origin x="62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8CED94-31AE-4F5B-8709-9EE6847871F2}" type="datetimeFigureOut">
              <a:rPr lang="es-EC" smtClean="0"/>
              <a:t>2/12/2025</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0BA548-DDEF-4F9F-BFB7-376C64D66F29}" type="slidenum">
              <a:rPr lang="es-EC" smtClean="0"/>
              <a:t>‹Nº›</a:t>
            </a:fld>
            <a:endParaRPr lang="es-EC"/>
          </a:p>
        </p:txBody>
      </p:sp>
    </p:spTree>
    <p:extLst>
      <p:ext uri="{BB962C8B-B14F-4D97-AF65-F5344CB8AC3E}">
        <p14:creationId xmlns:p14="http://schemas.microsoft.com/office/powerpoint/2010/main" val="190974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C7BAC-9B27-4D41-86D4-17A64712F6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C8696901-9D51-4ACB-9E52-138A646487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A47075C9-5BD9-48BE-81D8-A5DF89ABA9B8}"/>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74ECE3FF-9B3C-41FF-83A3-DC301E164E3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098DD64-4C4C-4CF0-A1D8-548C6B219C9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404331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EE04A-1464-495C-AB23-285481F202B3}"/>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6481BAA-B5E0-4A42-AF73-DB64610941E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173864D-1BB6-4970-9FB2-EB9CA1DBB023}"/>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B16A309E-8B6C-45EC-B2E1-135D1A67880D}"/>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CD73BB0-43D6-4B2D-BD1C-5F0348B12AB0}"/>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537653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7563C-A255-4CD0-8382-6E01E1F46B6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C9AFCB1D-B223-406D-A214-6CD8AB31E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76DDE4-9972-40A9-A47B-3D4CBAD965FD}"/>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329A76B5-F295-4F9F-80F2-EC5028095DE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B7B0CCA-DE77-47E7-A59A-1281E1CE2907}"/>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49232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126A1-7217-4B36-B0F6-288496E6BCE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930F61E-D05E-4EBC-8B4B-561FDC242B1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CBA476B6-B707-426F-92C5-8F60BFE3E9F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DFA9A5C4-7E4F-4960-ADF2-B6951DA38CDA}"/>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6" name="Marcador de pie de página 5">
            <a:extLst>
              <a:ext uri="{FF2B5EF4-FFF2-40B4-BE49-F238E27FC236}">
                <a16:creationId xmlns:a16="http://schemas.microsoft.com/office/drawing/2014/main" id="{300DBC4A-7F24-4081-8A6F-9AE898709FA2}"/>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A05C1AA0-F3EF-4089-BFCB-19B079F21DD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25583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B7D27-2A46-4305-8297-59313B85C53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ED0EBF5-B590-4168-BED4-66F9256413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8D4FE9B-C326-4DC1-AB58-21F1EDC590E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912F17B3-3B22-4F98-8253-500EC862C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3688F30-BBAE-45ED-B913-16C24B962EB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53A608A7-9040-40F4-B5EA-1D2D8CB7E429}"/>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8" name="Marcador de pie de página 7">
            <a:extLst>
              <a:ext uri="{FF2B5EF4-FFF2-40B4-BE49-F238E27FC236}">
                <a16:creationId xmlns:a16="http://schemas.microsoft.com/office/drawing/2014/main" id="{A7A38726-DB7C-44CF-B16C-2888FBD9D0FD}"/>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690B4177-927B-4311-A099-B44A80BD63B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72383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C0FC75-39D0-4202-A6B1-79DF445FA74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2B9B2927-2C29-42B9-B6B7-532F994F994B}"/>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4" name="Marcador de pie de página 3">
            <a:extLst>
              <a:ext uri="{FF2B5EF4-FFF2-40B4-BE49-F238E27FC236}">
                <a16:creationId xmlns:a16="http://schemas.microsoft.com/office/drawing/2014/main" id="{D767A9B8-F1F2-48F4-8337-7213ADA9AC3E}"/>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75CAA39B-47A9-42F8-AF68-918C7624212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057490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35E7371-5007-49B8-BC47-82F085CFFA87}"/>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3" name="Marcador de pie de página 2">
            <a:extLst>
              <a:ext uri="{FF2B5EF4-FFF2-40B4-BE49-F238E27FC236}">
                <a16:creationId xmlns:a16="http://schemas.microsoft.com/office/drawing/2014/main" id="{EAC35D8D-0DAD-4CED-92DE-176A44D4EFEE}"/>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A79B3E97-5178-4E8E-B020-BEB305CEC7D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35911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67FC53-94F8-46E4-BE28-1CCD91A0325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732BA8FA-B313-4758-B5BD-CFF2B223A6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8EECB238-ADE5-4692-B4CB-1954DD868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66E361-51AF-4218-B415-4DF9B992EC29}"/>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6" name="Marcador de pie de página 5">
            <a:extLst>
              <a:ext uri="{FF2B5EF4-FFF2-40B4-BE49-F238E27FC236}">
                <a16:creationId xmlns:a16="http://schemas.microsoft.com/office/drawing/2014/main" id="{A0920A1D-C77C-46B8-A93E-1A94C322D9E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CEB09875-3881-4056-A249-3703AD0D18B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806432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2669C0-7E62-4710-9299-9DAEA59855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0789536F-D1A6-46F1-AAF0-27332E602B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9E2D8E19-F8EC-41F6-822A-E695A5664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A9895B-A707-4856-84F8-F69C2A6AC65A}"/>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6" name="Marcador de pie de página 5">
            <a:extLst>
              <a:ext uri="{FF2B5EF4-FFF2-40B4-BE49-F238E27FC236}">
                <a16:creationId xmlns:a16="http://schemas.microsoft.com/office/drawing/2014/main" id="{B2480D8A-AF65-456F-A70D-211912A4733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3A1C41D0-AA19-4C22-B342-F300AC925266}"/>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64868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D7A592-EC17-498E-B4F1-021D1F61D61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A73E03F-3E04-4E93-9716-43891DFDD9E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C9CF76E-E651-44FB-9C3E-080B77E5E504}"/>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AD5F4A3C-030C-4F53-9297-A01107A128E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07AF58D-F9FF-4406-84AD-DCDE23E7886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87110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D8E5DA3-0A5E-4689-8CFF-0CED113D3E4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E40C7386-FCE4-40EC-9309-6F13FC2250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7D68580-0F33-46AF-AA4D-41AD3A71C69A}"/>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814F2A89-7C20-4F42-B541-94E08BC476D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6AA7B955-7AEE-4F7E-8B16-8780283F6911}"/>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767920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2/12/2025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extLst>
      <p:ext uri="{BB962C8B-B14F-4D97-AF65-F5344CB8AC3E}">
        <p14:creationId xmlns:p14="http://schemas.microsoft.com/office/powerpoint/2010/main" val="2345790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780367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057881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2/12/2025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039784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2/12/2025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609600" y="2212848"/>
            <a:ext cx="5388864"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907860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2/12/2025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82288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2/12/2025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204429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2/12/2025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09808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2/12/2025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142348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840955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53242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EA5EB9-22C8-48CC-B673-E9C9F408D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48272E61-B9B7-40DF-800F-CC8677E06E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B85FAC1-C067-4AAB-8D19-E96E83F31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36B0AB3B-8269-400B-BFAF-4F88BCEB84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B1B75696-BDD5-4991-809C-CDE0AB212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5A2F40-EC8C-41F3-BD8D-F3F005ABEE3D}" type="slidenum">
              <a:rPr lang="es-EC" smtClean="0"/>
              <a:t>‹Nº›</a:t>
            </a:fld>
            <a:endParaRPr lang="es-EC"/>
          </a:p>
        </p:txBody>
      </p:sp>
    </p:spTree>
    <p:extLst>
      <p:ext uri="{BB962C8B-B14F-4D97-AF65-F5344CB8AC3E}">
        <p14:creationId xmlns:p14="http://schemas.microsoft.com/office/powerpoint/2010/main" val="2127626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2/12/2025</a:t>
            </a:fld>
            <a:endParaRPr lang="es-EC"/>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2648205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1371237" y="2031002"/>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MX" sz="2400" b="1" dirty="0">
                <a:effectLst/>
                <a:latin typeface="Arial" pitchFamily="34" charset="0"/>
                <a:cs typeface="Arial" pitchFamily="34" charset="0"/>
              </a:rPr>
              <a:t>CAPÍTULO 3 ALGORITMOS Y ESTRUCTURAS DE CONTROL SELECTIVAS EN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2065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2/12/2025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5375920" y="1178050"/>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3400" b="1" dirty="0">
                <a:solidFill>
                  <a:srgbClr val="FF0000"/>
                </a:solidFill>
              </a:rPr>
              <a:t>Secuencia de Sentencias if-else </a:t>
            </a:r>
          </a:p>
          <a:p>
            <a:pPr lvl="1"/>
            <a:r>
              <a:rPr lang="es-MX" sz="2800" dirty="0"/>
              <a:t>Problema 3.8. (Aplicación del uso de la secuencia de sentencias if-else) </a:t>
            </a:r>
          </a:p>
          <a:p>
            <a:pPr lvl="1"/>
            <a:r>
              <a:rPr lang="es-MX" sz="2800" dirty="0"/>
              <a:t>Caso de Estudio 3.9: Colores Secundarios a partir de Mezclas </a:t>
            </a:r>
          </a:p>
          <a:p>
            <a:pPr lvl="1"/>
            <a:r>
              <a:rPr lang="es-MX" sz="2800" dirty="0"/>
              <a:t>Caso de Estudio 3.10: Calcular las Raíces de la Función Cuadrática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a:t>
            </a:fld>
            <a:endParaRPr lang="es-EC">
              <a:solidFill>
                <a:prstClr val="black">
                  <a:lumMod val="65000"/>
                  <a:lumOff val="35000"/>
                </a:prstClr>
              </a:solidFill>
            </a:endParaRPr>
          </a:p>
        </p:txBody>
      </p:sp>
    </p:spTree>
    <p:extLst>
      <p:ext uri="{BB962C8B-B14F-4D97-AF65-F5344CB8AC3E}">
        <p14:creationId xmlns:p14="http://schemas.microsoft.com/office/powerpoint/2010/main" val="3199492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0722" y="1498600"/>
            <a:ext cx="10972800" cy="1600200"/>
          </a:xfrm>
        </p:spPr>
        <p:txBody>
          <a:bodyPr/>
          <a:lstStyle/>
          <a:p>
            <a:r>
              <a:rPr lang="es-MX" b="1" dirty="0"/>
              <a:t>Secuencia de Sentencias if-else </a:t>
            </a: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81778" y="950856"/>
            <a:ext cx="5569474" cy="3037840"/>
          </a:xfrm>
        </p:spPr>
        <p:txBody>
          <a:bodyPr>
            <a:normAutofit lnSpcReduction="10000"/>
          </a:bodyPr>
          <a:lstStyle/>
          <a:p>
            <a:r>
              <a:rPr lang="es-MX" sz="2000" dirty="0"/>
              <a:t>Solo en ciertos casos se puede utilizar una secuencia de sentencias if-else, cuando se requiere manejar combinaciones y permutaciones de objetos (Joyanes Aguilar, L., 2008). En una combinación no importa el orden de los objetos seleccionados, mientras que en una permutación sí es importante el orden. El formato de esta sentencia tiene la siguiente sintaxis:</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a:t>
            </a:fld>
            <a:endParaRPr lang="es-EC"/>
          </a:p>
        </p:txBody>
      </p:sp>
      <p:pic>
        <p:nvPicPr>
          <p:cNvPr id="7" name="Imagen 6">
            <a:extLst>
              <a:ext uri="{FF2B5EF4-FFF2-40B4-BE49-F238E27FC236}">
                <a16:creationId xmlns:a16="http://schemas.microsoft.com/office/drawing/2014/main" id="{59C0FA4E-2BA3-4F80-B7AB-ECBDBE81EED9}"/>
              </a:ext>
            </a:extLst>
          </p:cNvPr>
          <p:cNvPicPr>
            <a:picLocks noChangeAspect="1"/>
          </p:cNvPicPr>
          <p:nvPr/>
        </p:nvPicPr>
        <p:blipFill>
          <a:blip r:embed="rId2"/>
          <a:stretch>
            <a:fillRect/>
          </a:stretch>
        </p:blipFill>
        <p:spPr>
          <a:xfrm>
            <a:off x="7397333" y="1193534"/>
            <a:ext cx="3296110" cy="3810532"/>
          </a:xfrm>
          <a:prstGeom prst="rect">
            <a:avLst/>
          </a:prstGeom>
        </p:spPr>
      </p:pic>
      <p:pic>
        <p:nvPicPr>
          <p:cNvPr id="9" name="Imagen 8">
            <a:extLst>
              <a:ext uri="{FF2B5EF4-FFF2-40B4-BE49-F238E27FC236}">
                <a16:creationId xmlns:a16="http://schemas.microsoft.com/office/drawing/2014/main" id="{4EDF8855-2295-48AB-A02C-A4F922A89BAF}"/>
              </a:ext>
            </a:extLst>
          </p:cNvPr>
          <p:cNvPicPr>
            <a:picLocks noChangeAspect="1"/>
          </p:cNvPicPr>
          <p:nvPr/>
        </p:nvPicPr>
        <p:blipFill>
          <a:blip r:embed="rId3"/>
          <a:stretch>
            <a:fillRect/>
          </a:stretch>
        </p:blipFill>
        <p:spPr>
          <a:xfrm>
            <a:off x="1498557" y="3759201"/>
            <a:ext cx="5725324" cy="2205916"/>
          </a:xfrm>
          <a:prstGeom prst="rect">
            <a:avLst/>
          </a:prstGeom>
        </p:spPr>
      </p:pic>
      <p:pic>
        <p:nvPicPr>
          <p:cNvPr id="11" name="Imagen 10">
            <a:extLst>
              <a:ext uri="{FF2B5EF4-FFF2-40B4-BE49-F238E27FC236}">
                <a16:creationId xmlns:a16="http://schemas.microsoft.com/office/drawing/2014/main" id="{E6EEE455-FD31-4369-858A-5B3FDA5FF234}"/>
              </a:ext>
            </a:extLst>
          </p:cNvPr>
          <p:cNvPicPr>
            <a:picLocks noChangeAspect="1"/>
          </p:cNvPicPr>
          <p:nvPr/>
        </p:nvPicPr>
        <p:blipFill rotWithShape="1">
          <a:blip r:embed="rId4"/>
          <a:srcRect t="20312"/>
          <a:stretch/>
        </p:blipFill>
        <p:spPr>
          <a:xfrm>
            <a:off x="1654883" y="5907144"/>
            <a:ext cx="5468113" cy="273288"/>
          </a:xfrm>
          <a:prstGeom prst="rect">
            <a:avLst/>
          </a:prstGeom>
        </p:spPr>
      </p:pic>
    </p:spTree>
    <p:extLst>
      <p:ext uri="{BB962C8B-B14F-4D97-AF65-F5344CB8AC3E}">
        <p14:creationId xmlns:p14="http://schemas.microsoft.com/office/powerpoint/2010/main" val="408428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800" dirty="0"/>
              <a:t>Secuencia de Sentencias if-else </a:t>
            </a:r>
          </a:p>
          <a:p>
            <a:pPr lvl="1"/>
            <a:r>
              <a:rPr lang="es-MX" sz="3400" b="1" dirty="0">
                <a:solidFill>
                  <a:srgbClr val="FF0000"/>
                </a:solidFill>
              </a:rPr>
              <a:t>Problema 3.8. (Aplicación del uso de la secuencia de sentencias if-else) </a:t>
            </a:r>
          </a:p>
          <a:p>
            <a:pPr lvl="1"/>
            <a:r>
              <a:rPr lang="es-MX" sz="2800" dirty="0"/>
              <a:t>Caso de Estudio 3.9: Colores Secundarios a partir de Mezclas </a:t>
            </a:r>
          </a:p>
          <a:p>
            <a:pPr lvl="1"/>
            <a:r>
              <a:rPr lang="es-MX" sz="2800" dirty="0"/>
              <a:t>Caso de Estudio 3.10: Calcular las Raíces de la Función Cuadrática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4</a:t>
            </a:fld>
            <a:endParaRPr lang="es-EC">
              <a:solidFill>
                <a:prstClr val="black">
                  <a:lumMod val="65000"/>
                  <a:lumOff val="35000"/>
                </a:prstClr>
              </a:solidFill>
            </a:endParaRPr>
          </a:p>
        </p:txBody>
      </p:sp>
    </p:spTree>
    <p:extLst>
      <p:ext uri="{BB962C8B-B14F-4D97-AF65-F5344CB8AC3E}">
        <p14:creationId xmlns:p14="http://schemas.microsoft.com/office/powerpoint/2010/main" val="3580121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09600" y="1999877"/>
            <a:ext cx="9538447" cy="1600200"/>
          </a:xfrm>
        </p:spPr>
        <p:txBody>
          <a:bodyPr/>
          <a:lstStyle/>
          <a:p>
            <a:r>
              <a:rPr lang="es-MX" sz="2800" b="1" dirty="0"/>
              <a:t>Problema 3.8. (Aplicación del uso de la secuencia de sentencias if-else) </a:t>
            </a:r>
            <a:br>
              <a:rPr lang="es-MX" sz="2800" b="1" dirty="0"/>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36319" y="1910080"/>
            <a:ext cx="3383479" cy="2482626"/>
          </a:xfrm>
        </p:spPr>
        <p:txBody>
          <a:bodyPr>
            <a:normAutofit/>
          </a:bodyPr>
          <a:lstStyle/>
          <a:p>
            <a:r>
              <a:rPr lang="es-MX" sz="2000" dirty="0"/>
              <a:t>Escribir un programa que permita calcular el mayor de tres números leídos desde el teclado y visualizarlo en pantalla.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5</a:t>
            </a:fld>
            <a:endParaRPr lang="es-EC"/>
          </a:p>
        </p:txBody>
      </p:sp>
      <p:pic>
        <p:nvPicPr>
          <p:cNvPr id="8" name="Imagen 7">
            <a:extLst>
              <a:ext uri="{FF2B5EF4-FFF2-40B4-BE49-F238E27FC236}">
                <a16:creationId xmlns:a16="http://schemas.microsoft.com/office/drawing/2014/main" id="{E298FE83-1B72-46CD-AAB7-6ED96BCCBCF8}"/>
              </a:ext>
            </a:extLst>
          </p:cNvPr>
          <p:cNvPicPr>
            <a:picLocks noChangeAspect="1"/>
          </p:cNvPicPr>
          <p:nvPr/>
        </p:nvPicPr>
        <p:blipFill>
          <a:blip r:embed="rId2"/>
          <a:stretch>
            <a:fillRect/>
          </a:stretch>
        </p:blipFill>
        <p:spPr>
          <a:xfrm>
            <a:off x="5182281" y="1805945"/>
            <a:ext cx="6083482" cy="4155583"/>
          </a:xfrm>
          <a:prstGeom prst="rect">
            <a:avLst/>
          </a:prstGeom>
        </p:spPr>
      </p:pic>
    </p:spTree>
    <p:extLst>
      <p:ext uri="{BB962C8B-B14F-4D97-AF65-F5344CB8AC3E}">
        <p14:creationId xmlns:p14="http://schemas.microsoft.com/office/powerpoint/2010/main" val="1637707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09600" y="1999877"/>
            <a:ext cx="9538447" cy="1600200"/>
          </a:xfrm>
        </p:spPr>
        <p:txBody>
          <a:bodyPr/>
          <a:lstStyle/>
          <a:p>
            <a:r>
              <a:rPr lang="es-MX" sz="2800" b="1" dirty="0"/>
              <a:t>Problema 3.8. (Aplicación del uso de la secuencia de sentencias if-else) </a:t>
            </a:r>
            <a:br>
              <a:rPr lang="es-MX" sz="2800" b="1" dirty="0"/>
            </a:b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6</a:t>
            </a:fld>
            <a:endParaRPr lang="es-EC"/>
          </a:p>
        </p:txBody>
      </p:sp>
      <p:pic>
        <p:nvPicPr>
          <p:cNvPr id="12" name="Imagen 11">
            <a:extLst>
              <a:ext uri="{FF2B5EF4-FFF2-40B4-BE49-F238E27FC236}">
                <a16:creationId xmlns:a16="http://schemas.microsoft.com/office/drawing/2014/main" id="{512B2461-C724-4A93-92E5-DEC819B2E055}"/>
              </a:ext>
            </a:extLst>
          </p:cNvPr>
          <p:cNvPicPr>
            <a:picLocks noChangeAspect="1"/>
          </p:cNvPicPr>
          <p:nvPr/>
        </p:nvPicPr>
        <p:blipFill>
          <a:blip r:embed="rId2"/>
          <a:stretch>
            <a:fillRect/>
          </a:stretch>
        </p:blipFill>
        <p:spPr>
          <a:xfrm>
            <a:off x="999414" y="1585655"/>
            <a:ext cx="5096586" cy="3686689"/>
          </a:xfrm>
          <a:prstGeom prst="rect">
            <a:avLst/>
          </a:prstGeom>
        </p:spPr>
      </p:pic>
      <p:pic>
        <p:nvPicPr>
          <p:cNvPr id="14" name="Imagen 13">
            <a:extLst>
              <a:ext uri="{FF2B5EF4-FFF2-40B4-BE49-F238E27FC236}">
                <a16:creationId xmlns:a16="http://schemas.microsoft.com/office/drawing/2014/main" id="{2CAE39BF-2329-423D-8F84-24E7FBA6662F}"/>
              </a:ext>
            </a:extLst>
          </p:cNvPr>
          <p:cNvPicPr>
            <a:picLocks noChangeAspect="1"/>
          </p:cNvPicPr>
          <p:nvPr/>
        </p:nvPicPr>
        <p:blipFill>
          <a:blip r:embed="rId3"/>
          <a:stretch>
            <a:fillRect/>
          </a:stretch>
        </p:blipFill>
        <p:spPr>
          <a:xfrm>
            <a:off x="5565117" y="1669395"/>
            <a:ext cx="4972744" cy="4039164"/>
          </a:xfrm>
          <a:prstGeom prst="rect">
            <a:avLst/>
          </a:prstGeom>
        </p:spPr>
      </p:pic>
      <p:sp>
        <p:nvSpPr>
          <p:cNvPr id="15" name="CuadroTexto 14">
            <a:extLst>
              <a:ext uri="{FF2B5EF4-FFF2-40B4-BE49-F238E27FC236}">
                <a16:creationId xmlns:a16="http://schemas.microsoft.com/office/drawing/2014/main" id="{CBEA8CC7-B772-4745-A258-686746FAE09A}"/>
              </a:ext>
            </a:extLst>
          </p:cNvPr>
          <p:cNvSpPr txBox="1"/>
          <p:nvPr/>
        </p:nvSpPr>
        <p:spPr>
          <a:xfrm>
            <a:off x="1346444" y="578531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3.8</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092076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09600" y="1999877"/>
            <a:ext cx="9538447" cy="1600200"/>
          </a:xfrm>
        </p:spPr>
        <p:txBody>
          <a:bodyPr/>
          <a:lstStyle/>
          <a:p>
            <a:r>
              <a:rPr lang="es-MX" sz="2800" b="1" dirty="0"/>
              <a:t>Problema 3.8. (Aplicación del uso de la secuencia de sentencias if-else) </a:t>
            </a:r>
            <a:br>
              <a:rPr lang="es-MX" sz="2800" b="1" dirty="0"/>
            </a:b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7</a:t>
            </a:fld>
            <a:endParaRPr lang="es-EC"/>
          </a:p>
        </p:txBody>
      </p:sp>
      <p:pic>
        <p:nvPicPr>
          <p:cNvPr id="6" name="Imagen 5">
            <a:extLst>
              <a:ext uri="{FF2B5EF4-FFF2-40B4-BE49-F238E27FC236}">
                <a16:creationId xmlns:a16="http://schemas.microsoft.com/office/drawing/2014/main" id="{2B4E9DCC-4FB9-44C1-98FA-519D1898D05D}"/>
              </a:ext>
            </a:extLst>
          </p:cNvPr>
          <p:cNvPicPr>
            <a:picLocks noChangeAspect="1"/>
          </p:cNvPicPr>
          <p:nvPr/>
        </p:nvPicPr>
        <p:blipFill rotWithShape="1">
          <a:blip r:embed="rId2"/>
          <a:srcRect r="31897"/>
          <a:stretch/>
        </p:blipFill>
        <p:spPr>
          <a:xfrm>
            <a:off x="1043251" y="1723961"/>
            <a:ext cx="4120151" cy="1422501"/>
          </a:xfrm>
          <a:prstGeom prst="rect">
            <a:avLst/>
          </a:prstGeom>
        </p:spPr>
      </p:pic>
      <p:sp>
        <p:nvSpPr>
          <p:cNvPr id="11" name="CuadroTexto 10">
            <a:extLst>
              <a:ext uri="{FF2B5EF4-FFF2-40B4-BE49-F238E27FC236}">
                <a16:creationId xmlns:a16="http://schemas.microsoft.com/office/drawing/2014/main" id="{54B7220B-4080-4B8E-A62D-B6A2722216FE}"/>
              </a:ext>
            </a:extLst>
          </p:cNvPr>
          <p:cNvSpPr txBox="1"/>
          <p:nvPr/>
        </p:nvSpPr>
        <p:spPr>
          <a:xfrm>
            <a:off x="1043251" y="3469016"/>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3.8</a:t>
            </a:r>
            <a:r>
              <a:rPr lang="es-ES" sz="1200" dirty="0">
                <a:solidFill>
                  <a:schemeClr val="tx1">
                    <a:lumMod val="50000"/>
                    <a:lumOff val="50000"/>
                  </a:schemeClr>
                </a:solidFill>
                <a:latin typeface="+mj-lt"/>
              </a:rPr>
              <a:t>. Ejecución del Programa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13" name="Marcador de contenido 2">
            <a:extLst>
              <a:ext uri="{FF2B5EF4-FFF2-40B4-BE49-F238E27FC236}">
                <a16:creationId xmlns:a16="http://schemas.microsoft.com/office/drawing/2014/main" id="{8184B58D-D41C-43AD-8E31-EE9E28D27A21}"/>
              </a:ext>
            </a:extLst>
          </p:cNvPr>
          <p:cNvSpPr>
            <a:spLocks noGrp="1"/>
          </p:cNvSpPr>
          <p:nvPr>
            <p:ph idx="1"/>
          </p:nvPr>
        </p:nvSpPr>
        <p:spPr>
          <a:xfrm>
            <a:off x="1043251" y="4056287"/>
            <a:ext cx="7966278" cy="2482626"/>
          </a:xfrm>
        </p:spPr>
        <p:txBody>
          <a:bodyPr>
            <a:normAutofit/>
          </a:bodyPr>
          <a:lstStyle/>
          <a:p>
            <a:r>
              <a:rPr lang="es-MX" sz="2000" dirty="0"/>
              <a:t>En la salida de la Ejecución 3.8 se puede ver que al ingresar el valor del primer número que es 72, el valor del segundo número que es 84 y el valor del tercer número que es 51, el programa indica que el mayor de los tres números es 84.</a:t>
            </a:r>
            <a:endParaRPr lang="es-EC" sz="2800" b="1" dirty="0"/>
          </a:p>
        </p:txBody>
      </p:sp>
    </p:spTree>
    <p:extLst>
      <p:ext uri="{BB962C8B-B14F-4D97-AF65-F5344CB8AC3E}">
        <p14:creationId xmlns:p14="http://schemas.microsoft.com/office/powerpoint/2010/main" val="3789112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800" dirty="0"/>
              <a:t>Secuencia de Sentencias if-else </a:t>
            </a:r>
          </a:p>
          <a:p>
            <a:pPr lvl="1"/>
            <a:r>
              <a:rPr lang="es-MX" sz="2800" dirty="0"/>
              <a:t>Problema 3.8. (Aplicación del uso de la secuencia de sentencias if-else) </a:t>
            </a:r>
          </a:p>
          <a:p>
            <a:pPr lvl="1"/>
            <a:r>
              <a:rPr lang="es-MX" sz="3400" b="1" dirty="0">
                <a:solidFill>
                  <a:srgbClr val="FF0000"/>
                </a:solidFill>
              </a:rPr>
              <a:t>Caso de Estudio 3.9: Colores Secundarios a partir de Mezclas </a:t>
            </a:r>
          </a:p>
          <a:p>
            <a:pPr lvl="1"/>
            <a:r>
              <a:rPr lang="es-MX" sz="2800" dirty="0"/>
              <a:t>Caso de Estudio 3.10: Calcular las Raíces de la Función Cuadrática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8</a:t>
            </a:fld>
            <a:endParaRPr lang="es-EC">
              <a:solidFill>
                <a:prstClr val="black">
                  <a:lumMod val="65000"/>
                  <a:lumOff val="35000"/>
                </a:prstClr>
              </a:solidFill>
            </a:endParaRPr>
          </a:p>
        </p:txBody>
      </p:sp>
    </p:spTree>
    <p:extLst>
      <p:ext uri="{BB962C8B-B14F-4D97-AF65-F5344CB8AC3E}">
        <p14:creationId xmlns:p14="http://schemas.microsoft.com/office/powerpoint/2010/main" val="1599019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53035" y="2792506"/>
            <a:ext cx="9538447" cy="1600200"/>
          </a:xfrm>
        </p:spPr>
        <p:txBody>
          <a:bodyPr/>
          <a:lstStyle/>
          <a:p>
            <a:r>
              <a:rPr lang="es-MX" sz="2800" b="1" dirty="0"/>
              <a:t>Caso de Estudio 3.9: Colores Secundarios a partir de Mezclas </a:t>
            </a:r>
            <a:br>
              <a:rPr lang="es-MX" sz="2800" b="1" dirty="0"/>
            </a:br>
            <a:br>
              <a:rPr lang="es-MX" sz="2800" b="1" dirty="0"/>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744530" y="1936973"/>
            <a:ext cx="4952105" cy="4167992"/>
          </a:xfrm>
        </p:spPr>
        <p:txBody>
          <a:bodyPr>
            <a:normAutofit/>
          </a:bodyPr>
          <a:lstStyle/>
          <a:p>
            <a:r>
              <a:rPr lang="es-MX" sz="2000" dirty="0"/>
              <a:t>A) Problema </a:t>
            </a:r>
          </a:p>
          <a:p>
            <a:endParaRPr lang="es-MX" sz="2000" dirty="0"/>
          </a:p>
          <a:p>
            <a:pPr marL="0" indent="0">
              <a:buNone/>
            </a:pPr>
            <a:r>
              <a:rPr lang="es-MX" sz="2000" dirty="0"/>
              <a:t>Escribir un programa que permita obtener los colores secundarios a partir de la mezcla de dos colores primarios, es decir, amarillo, azul y rojo. El programa debe permitir visualizar un mensaje de la mezcla de los dos colores en pantalla.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9</a:t>
            </a:fld>
            <a:endParaRPr lang="es-EC"/>
          </a:p>
        </p:txBody>
      </p:sp>
    </p:spTree>
    <p:extLst>
      <p:ext uri="{BB962C8B-B14F-4D97-AF65-F5344CB8AC3E}">
        <p14:creationId xmlns:p14="http://schemas.microsoft.com/office/powerpoint/2010/main" val="1563387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53035" y="2792506"/>
            <a:ext cx="9538447" cy="1600200"/>
          </a:xfrm>
        </p:spPr>
        <p:txBody>
          <a:bodyPr/>
          <a:lstStyle/>
          <a:p>
            <a:r>
              <a:rPr lang="es-MX" sz="2800" b="1" dirty="0"/>
              <a:t>Caso de Estudio 3.9: Colores Secundarios a partir de Mezclas </a:t>
            </a:r>
            <a:br>
              <a:rPr lang="es-MX" sz="2800" b="1" dirty="0"/>
            </a:br>
            <a:br>
              <a:rPr lang="es-MX" sz="2800" b="1" dirty="0"/>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36320" y="1595719"/>
            <a:ext cx="4019774" cy="4213410"/>
          </a:xfrm>
        </p:spPr>
        <p:txBody>
          <a:bodyPr>
            <a:normAutofit fontScale="92500"/>
          </a:bodyPr>
          <a:lstStyle/>
          <a:p>
            <a:r>
              <a:rPr lang="es-MX" sz="1600" dirty="0"/>
              <a:t>B) Análisis </a:t>
            </a:r>
          </a:p>
          <a:p>
            <a:pPr marL="0" indent="0">
              <a:buNone/>
            </a:pPr>
            <a:r>
              <a:rPr lang="es-MX" sz="1600" dirty="0"/>
              <a:t>Claramente, se puede ver que las entradas del problema son los valores de las variables ‘primero’ y ‘segundo’ que representan a los dos colores que se van a mezclar. Hay una sola salida requerida que es un mensaje de información que contiene la mezcla de los dos colores y su resultado que es un color secundario. Partiendo de un conocimiento básico de arte, se sabe que hay tres colores secundarios obtenidos a partir de la mezcla de dos colores primarios: </a:t>
            </a:r>
          </a:p>
          <a:p>
            <a:pPr marL="0" indent="0">
              <a:buNone/>
            </a:pPr>
            <a:endParaRPr lang="es-MX" sz="1600" dirty="0"/>
          </a:p>
          <a:p>
            <a:pPr marL="0" indent="0">
              <a:buNone/>
            </a:pPr>
            <a:r>
              <a:rPr lang="es-MX" sz="1600" dirty="0"/>
              <a:t>▪ Amarillo + Rojo = Naranja </a:t>
            </a:r>
          </a:p>
          <a:p>
            <a:pPr marL="0" indent="0">
              <a:buNone/>
            </a:pPr>
            <a:r>
              <a:rPr lang="es-MX" sz="1600" dirty="0"/>
              <a:t>▪ Azul + Rojo = Violeta</a:t>
            </a:r>
          </a:p>
          <a:p>
            <a:pPr marL="0" indent="0">
              <a:buNone/>
            </a:pPr>
            <a:r>
              <a:rPr lang="es-EC" sz="1600" dirty="0"/>
              <a:t>▪ Amarillo + Azul = Verde</a:t>
            </a:r>
            <a:endParaRPr lang="es-MX" sz="2000"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10</a:t>
            </a:fld>
            <a:endParaRPr lang="es-EC"/>
          </a:p>
        </p:txBody>
      </p:sp>
      <p:pic>
        <p:nvPicPr>
          <p:cNvPr id="7" name="Imagen 6">
            <a:extLst>
              <a:ext uri="{FF2B5EF4-FFF2-40B4-BE49-F238E27FC236}">
                <a16:creationId xmlns:a16="http://schemas.microsoft.com/office/drawing/2014/main" id="{9EF71F0D-D1DD-456D-A538-1EB6E0FC7986}"/>
              </a:ext>
            </a:extLst>
          </p:cNvPr>
          <p:cNvPicPr>
            <a:picLocks noChangeAspect="1"/>
          </p:cNvPicPr>
          <p:nvPr/>
        </p:nvPicPr>
        <p:blipFill>
          <a:blip r:embed="rId2"/>
          <a:stretch>
            <a:fillRect/>
          </a:stretch>
        </p:blipFill>
        <p:spPr>
          <a:xfrm>
            <a:off x="5339379" y="1677702"/>
            <a:ext cx="5706271" cy="2948086"/>
          </a:xfrm>
          <a:prstGeom prst="rect">
            <a:avLst/>
          </a:prstGeom>
        </p:spPr>
      </p:pic>
      <p:sp>
        <p:nvSpPr>
          <p:cNvPr id="8" name="CuadroTexto 7">
            <a:extLst>
              <a:ext uri="{FF2B5EF4-FFF2-40B4-BE49-F238E27FC236}">
                <a16:creationId xmlns:a16="http://schemas.microsoft.com/office/drawing/2014/main" id="{95C828E0-95A0-4260-876C-F8C64AF31237}"/>
              </a:ext>
            </a:extLst>
          </p:cNvPr>
          <p:cNvSpPr txBox="1"/>
          <p:nvPr/>
        </p:nvSpPr>
        <p:spPr>
          <a:xfrm>
            <a:off x="5666139" y="504196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3.9.1 </a:t>
            </a:r>
            <a:r>
              <a:rPr lang="es-MX" sz="1200" dirty="0">
                <a:solidFill>
                  <a:schemeClr val="tx1">
                    <a:lumMod val="50000"/>
                    <a:lumOff val="50000"/>
                  </a:schemeClr>
                </a:solidFill>
                <a:latin typeface="+mj-lt"/>
              </a:rPr>
              <a:t>Tres colores secundarios obtenidos de mezclas. </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245836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53035" y="2792506"/>
            <a:ext cx="9538447" cy="1600200"/>
          </a:xfrm>
        </p:spPr>
        <p:txBody>
          <a:bodyPr/>
          <a:lstStyle/>
          <a:p>
            <a:r>
              <a:rPr lang="es-MX" sz="2800" b="1" dirty="0"/>
              <a:t>Caso de Estudio 3.9: Colores Secundarios a partir de Mezclas </a:t>
            </a:r>
            <a:br>
              <a:rPr lang="es-MX" sz="2800" b="1" dirty="0"/>
            </a:br>
            <a:br>
              <a:rPr lang="es-MX" sz="2800" b="1" dirty="0"/>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36320" y="1595719"/>
            <a:ext cx="4019774" cy="4213410"/>
          </a:xfrm>
        </p:spPr>
        <p:txBody>
          <a:bodyPr>
            <a:normAutofit/>
          </a:bodyPr>
          <a:lstStyle/>
          <a:p>
            <a:pPr marL="0" indent="0">
              <a:buNone/>
            </a:pPr>
            <a:r>
              <a:rPr lang="es-MX" dirty="0"/>
              <a:t>B.1) </a:t>
            </a:r>
            <a:r>
              <a:rPr lang="es-EC" sz="1800" dirty="0"/>
              <a:t>Requerimiento de los Datos </a:t>
            </a:r>
            <a:endParaRPr lang="es-MX" dirty="0"/>
          </a:p>
          <a:p>
            <a:pPr marL="0" indent="0">
              <a:buNone/>
            </a:pPr>
            <a:endParaRPr lang="es-MX" sz="1600"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11</a:t>
            </a:fld>
            <a:endParaRPr lang="es-EC"/>
          </a:p>
        </p:txBody>
      </p:sp>
      <p:pic>
        <p:nvPicPr>
          <p:cNvPr id="9" name="Imagen 8">
            <a:extLst>
              <a:ext uri="{FF2B5EF4-FFF2-40B4-BE49-F238E27FC236}">
                <a16:creationId xmlns:a16="http://schemas.microsoft.com/office/drawing/2014/main" id="{4213348C-DBF8-4574-A4F9-6EAB3FB930C2}"/>
              </a:ext>
            </a:extLst>
          </p:cNvPr>
          <p:cNvPicPr>
            <a:picLocks noChangeAspect="1"/>
          </p:cNvPicPr>
          <p:nvPr/>
        </p:nvPicPr>
        <p:blipFill>
          <a:blip r:embed="rId2"/>
          <a:stretch>
            <a:fillRect/>
          </a:stretch>
        </p:blipFill>
        <p:spPr>
          <a:xfrm>
            <a:off x="1900518" y="2430150"/>
            <a:ext cx="6339845" cy="2957637"/>
          </a:xfrm>
          <a:prstGeom prst="rect">
            <a:avLst/>
          </a:prstGeom>
        </p:spPr>
      </p:pic>
    </p:spTree>
    <p:extLst>
      <p:ext uri="{BB962C8B-B14F-4D97-AF65-F5344CB8AC3E}">
        <p14:creationId xmlns:p14="http://schemas.microsoft.com/office/powerpoint/2010/main" val="970314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53035" y="2792506"/>
            <a:ext cx="9538447" cy="1600200"/>
          </a:xfrm>
        </p:spPr>
        <p:txBody>
          <a:bodyPr/>
          <a:lstStyle/>
          <a:p>
            <a:r>
              <a:rPr lang="es-MX" sz="2800" b="1" dirty="0"/>
              <a:t>Caso de Estudio 3.9: Colores Secundarios a partir de Mezclas </a:t>
            </a:r>
            <a:br>
              <a:rPr lang="es-MX" sz="2800" b="1" dirty="0"/>
            </a:br>
            <a:br>
              <a:rPr lang="es-MX" sz="2800" b="1" dirty="0"/>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36320" y="1595719"/>
            <a:ext cx="3777727" cy="3711387"/>
          </a:xfrm>
        </p:spPr>
        <p:txBody>
          <a:bodyPr>
            <a:normAutofit/>
          </a:bodyPr>
          <a:lstStyle/>
          <a:p>
            <a:pPr marL="0" indent="0">
              <a:buNone/>
            </a:pPr>
            <a:r>
              <a:rPr lang="es-EC" sz="1400" dirty="0"/>
              <a:t>B.2) Diagrama de Entrada-Salida </a:t>
            </a:r>
          </a:p>
          <a:p>
            <a:pPr marL="0" indent="0">
              <a:buNone/>
            </a:pPr>
            <a:endParaRPr lang="es-EC" sz="1800" dirty="0"/>
          </a:p>
          <a:p>
            <a:pPr marL="0" indent="0">
              <a:buNone/>
            </a:pPr>
            <a:r>
              <a:rPr lang="es-MX" sz="1400" dirty="0"/>
              <a:t>En la Figura 3.9.2 se muestra el diagrama de Entrada-Salida del programa donde se identifican y se diagraman las entradas y salidas del problema como son: a) Entradas: la variable ‘primero’, la variable ‘segundo’; b) Salidas: Mensaje 1: “Verde”; Mensaje 2: “Naranja”; Mensaje 3: “Violeta”; Mensaje 4: “Verde”.</a:t>
            </a:r>
            <a:r>
              <a:rPr lang="es-EC" sz="1800" dirty="0"/>
              <a:t> </a:t>
            </a:r>
            <a:endParaRPr lang="es-MX" dirty="0"/>
          </a:p>
          <a:p>
            <a:pPr marL="0" indent="0">
              <a:buNone/>
            </a:pPr>
            <a:endParaRPr lang="es-MX" sz="1600"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12</a:t>
            </a:fld>
            <a:endParaRPr lang="es-EC"/>
          </a:p>
        </p:txBody>
      </p:sp>
      <p:pic>
        <p:nvPicPr>
          <p:cNvPr id="7" name="Imagen 6">
            <a:extLst>
              <a:ext uri="{FF2B5EF4-FFF2-40B4-BE49-F238E27FC236}">
                <a16:creationId xmlns:a16="http://schemas.microsoft.com/office/drawing/2014/main" id="{51EE8BF1-7E91-4586-8251-45F3A0609F66}"/>
              </a:ext>
            </a:extLst>
          </p:cNvPr>
          <p:cNvPicPr>
            <a:picLocks noChangeAspect="1"/>
          </p:cNvPicPr>
          <p:nvPr/>
        </p:nvPicPr>
        <p:blipFill>
          <a:blip r:embed="rId2"/>
          <a:stretch>
            <a:fillRect/>
          </a:stretch>
        </p:blipFill>
        <p:spPr>
          <a:xfrm>
            <a:off x="6220439" y="1668170"/>
            <a:ext cx="3694525" cy="2724536"/>
          </a:xfrm>
          <a:prstGeom prst="rect">
            <a:avLst/>
          </a:prstGeom>
        </p:spPr>
      </p:pic>
      <p:sp>
        <p:nvSpPr>
          <p:cNvPr id="10" name="CuadroTexto 9">
            <a:extLst>
              <a:ext uri="{FF2B5EF4-FFF2-40B4-BE49-F238E27FC236}">
                <a16:creationId xmlns:a16="http://schemas.microsoft.com/office/drawing/2014/main" id="{A2F59C5C-0EB7-46FF-A6EA-C0703EB0919A}"/>
              </a:ext>
            </a:extLst>
          </p:cNvPr>
          <p:cNvSpPr txBox="1"/>
          <p:nvPr/>
        </p:nvSpPr>
        <p:spPr>
          <a:xfrm>
            <a:off x="5541326" y="4543499"/>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3.9.2 </a:t>
            </a:r>
            <a:r>
              <a:rPr lang="es-EC" sz="1200" dirty="0">
                <a:solidFill>
                  <a:schemeClr val="tx1">
                    <a:lumMod val="50000"/>
                    <a:lumOff val="50000"/>
                  </a:schemeClr>
                </a:solidFill>
                <a:latin typeface="+mj-lt"/>
              </a:rPr>
              <a:t>Diagrama de Entrada-Salida del Programa</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186572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53035" y="2792506"/>
            <a:ext cx="9538447" cy="1600200"/>
          </a:xfrm>
        </p:spPr>
        <p:txBody>
          <a:bodyPr/>
          <a:lstStyle/>
          <a:p>
            <a:r>
              <a:rPr lang="es-MX" sz="2800" b="1" dirty="0"/>
              <a:t>Caso de Estudio 3.9: Colores Secundarios a partir de Mezclas </a:t>
            </a:r>
            <a:br>
              <a:rPr lang="es-MX" sz="2800" b="1" dirty="0"/>
            </a:br>
            <a:br>
              <a:rPr lang="es-MX" sz="2800" b="1" dirty="0"/>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36320" y="1595719"/>
            <a:ext cx="3777727" cy="3711387"/>
          </a:xfrm>
        </p:spPr>
        <p:txBody>
          <a:bodyPr>
            <a:normAutofit/>
          </a:bodyPr>
          <a:lstStyle/>
          <a:p>
            <a:pPr marL="0" indent="0">
              <a:buNone/>
            </a:pPr>
            <a:r>
              <a:rPr lang="es-MX" sz="1800" dirty="0"/>
              <a:t>C) Diseño </a:t>
            </a:r>
          </a:p>
          <a:p>
            <a:pPr marL="0" indent="0">
              <a:buNone/>
            </a:pPr>
            <a:endParaRPr lang="es-MX" sz="1800" dirty="0"/>
          </a:p>
          <a:p>
            <a:pPr marL="0" indent="0">
              <a:buNone/>
            </a:pPr>
            <a:r>
              <a:rPr lang="es-MX" sz="1800" dirty="0"/>
              <a:t>Una vez que se conoce las entradas y las salidas del problema, se deben listar los pasos necesarios para resolver el problema, es decir, el algoritmo. </a:t>
            </a:r>
            <a:endParaRPr lang="es-MX"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13</a:t>
            </a:fld>
            <a:endParaRPr lang="es-EC"/>
          </a:p>
        </p:txBody>
      </p:sp>
      <p:pic>
        <p:nvPicPr>
          <p:cNvPr id="8" name="Imagen 7">
            <a:extLst>
              <a:ext uri="{FF2B5EF4-FFF2-40B4-BE49-F238E27FC236}">
                <a16:creationId xmlns:a16="http://schemas.microsoft.com/office/drawing/2014/main" id="{E80EADDF-E194-4B61-A1FA-B67C1430F596}"/>
              </a:ext>
            </a:extLst>
          </p:cNvPr>
          <p:cNvPicPr>
            <a:picLocks noChangeAspect="1"/>
          </p:cNvPicPr>
          <p:nvPr/>
        </p:nvPicPr>
        <p:blipFill>
          <a:blip r:embed="rId2"/>
          <a:stretch>
            <a:fillRect/>
          </a:stretch>
        </p:blipFill>
        <p:spPr>
          <a:xfrm>
            <a:off x="5039241" y="1694938"/>
            <a:ext cx="4677428" cy="4167980"/>
          </a:xfrm>
          <a:prstGeom prst="rect">
            <a:avLst/>
          </a:prstGeom>
        </p:spPr>
      </p:pic>
    </p:spTree>
    <p:extLst>
      <p:ext uri="{BB962C8B-B14F-4D97-AF65-F5344CB8AC3E}">
        <p14:creationId xmlns:p14="http://schemas.microsoft.com/office/powerpoint/2010/main" val="1936051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53035" y="2792506"/>
            <a:ext cx="9538447" cy="1600200"/>
          </a:xfrm>
        </p:spPr>
        <p:txBody>
          <a:bodyPr/>
          <a:lstStyle/>
          <a:p>
            <a:r>
              <a:rPr lang="es-MX" sz="2800" b="1" dirty="0"/>
              <a:t>Caso de Estudio 3.9: Colores Secundarios a partir de Mezclas </a:t>
            </a:r>
            <a:br>
              <a:rPr lang="es-MX" sz="2800" b="1" dirty="0"/>
            </a:br>
            <a:br>
              <a:rPr lang="es-MX" sz="2800" b="1" dirty="0"/>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36320" y="1595719"/>
            <a:ext cx="3777727" cy="3711387"/>
          </a:xfrm>
        </p:spPr>
        <p:txBody>
          <a:bodyPr>
            <a:normAutofit/>
          </a:bodyPr>
          <a:lstStyle/>
          <a:p>
            <a:pPr marL="0" indent="0">
              <a:buNone/>
            </a:pPr>
            <a:r>
              <a:rPr lang="es-MX" sz="1600" dirty="0"/>
              <a:t>D) Implementación </a:t>
            </a:r>
          </a:p>
          <a:p>
            <a:pPr marL="0" indent="0">
              <a:buNone/>
            </a:pPr>
            <a:endParaRPr lang="es-MX" sz="1600" dirty="0"/>
          </a:p>
          <a:p>
            <a:pPr marL="0" indent="0">
              <a:buNone/>
            </a:pPr>
            <a:r>
              <a:rPr lang="es-MX" sz="1600" dirty="0"/>
              <a:t>Para implementar la solución, se debe escribir el algoritmo como un programa de C/C++ que contenga toda la información necesaria para completar la traducción a lenguaje máquina. En la Tabla 3.9.1 se muestra el código del programa en C/C++.</a:t>
            </a: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14</a:t>
            </a:fld>
            <a:endParaRPr lang="es-EC"/>
          </a:p>
        </p:txBody>
      </p:sp>
      <p:pic>
        <p:nvPicPr>
          <p:cNvPr id="7" name="Imagen 6">
            <a:extLst>
              <a:ext uri="{FF2B5EF4-FFF2-40B4-BE49-F238E27FC236}">
                <a16:creationId xmlns:a16="http://schemas.microsoft.com/office/drawing/2014/main" id="{483E32DA-C0D0-4001-A680-72C4EB29799E}"/>
              </a:ext>
            </a:extLst>
          </p:cNvPr>
          <p:cNvPicPr>
            <a:picLocks noChangeAspect="1"/>
          </p:cNvPicPr>
          <p:nvPr/>
        </p:nvPicPr>
        <p:blipFill>
          <a:blip r:embed="rId2"/>
          <a:stretch>
            <a:fillRect/>
          </a:stretch>
        </p:blipFill>
        <p:spPr>
          <a:xfrm>
            <a:off x="5228017" y="1799123"/>
            <a:ext cx="5268060" cy="3743847"/>
          </a:xfrm>
          <a:prstGeom prst="rect">
            <a:avLst/>
          </a:prstGeom>
        </p:spPr>
      </p:pic>
      <p:sp>
        <p:nvSpPr>
          <p:cNvPr id="9" name="CuadroTexto 8">
            <a:extLst>
              <a:ext uri="{FF2B5EF4-FFF2-40B4-BE49-F238E27FC236}">
                <a16:creationId xmlns:a16="http://schemas.microsoft.com/office/drawing/2014/main" id="{3084BE84-29F1-450B-A535-0EF793860109}"/>
              </a:ext>
            </a:extLst>
          </p:cNvPr>
          <p:cNvSpPr txBox="1"/>
          <p:nvPr/>
        </p:nvSpPr>
        <p:spPr>
          <a:xfrm>
            <a:off x="4744068" y="6093426"/>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3.9</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393518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53035" y="2792506"/>
            <a:ext cx="9538447" cy="1600200"/>
          </a:xfrm>
        </p:spPr>
        <p:txBody>
          <a:bodyPr/>
          <a:lstStyle/>
          <a:p>
            <a:r>
              <a:rPr lang="es-MX" sz="2800" b="1" dirty="0"/>
              <a:t>Caso de Estudio 3.9: Colores Secundarios a partir de Mezclas </a:t>
            </a:r>
            <a:br>
              <a:rPr lang="es-MX" sz="2800" b="1" dirty="0"/>
            </a:br>
            <a:br>
              <a:rPr lang="es-MX" sz="2800" b="1" dirty="0"/>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36320" y="1595719"/>
            <a:ext cx="3777727" cy="3711387"/>
          </a:xfrm>
        </p:spPr>
        <p:txBody>
          <a:bodyPr>
            <a:normAutofit/>
          </a:bodyPr>
          <a:lstStyle/>
          <a:p>
            <a:pPr marL="0" indent="0">
              <a:buNone/>
            </a:pPr>
            <a:r>
              <a:rPr lang="es-MX" sz="1600" dirty="0"/>
              <a:t>D) Implementación </a:t>
            </a:r>
          </a:p>
          <a:p>
            <a:pPr marL="0" indent="0">
              <a:buNone/>
            </a:pPr>
            <a:endParaRPr lang="es-MX" sz="1600" dirty="0"/>
          </a:p>
          <a:p>
            <a:pPr marL="0" indent="0">
              <a:buNone/>
            </a:pPr>
            <a:r>
              <a:rPr lang="es-MX" sz="1600" dirty="0"/>
              <a:t>Para implementar la solución, se debe escribir el algoritmo como un programa de C/C++ que contenga toda la información necesaria para completar la traducción a lenguaje máquina. En la Tabla 3.9.1 se muestra el código del programa en C/C++.</a:t>
            </a: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15</a:t>
            </a:fld>
            <a:endParaRPr lang="es-EC"/>
          </a:p>
        </p:txBody>
      </p:sp>
      <p:pic>
        <p:nvPicPr>
          <p:cNvPr id="8" name="Imagen 7">
            <a:extLst>
              <a:ext uri="{FF2B5EF4-FFF2-40B4-BE49-F238E27FC236}">
                <a16:creationId xmlns:a16="http://schemas.microsoft.com/office/drawing/2014/main" id="{9E63B5E6-4E8D-4482-93BA-20FBD22BC32B}"/>
              </a:ext>
            </a:extLst>
          </p:cNvPr>
          <p:cNvPicPr>
            <a:picLocks noChangeAspect="1"/>
          </p:cNvPicPr>
          <p:nvPr/>
        </p:nvPicPr>
        <p:blipFill rotWithShape="1">
          <a:blip r:embed="rId2"/>
          <a:srcRect b="2657"/>
          <a:stretch/>
        </p:blipFill>
        <p:spPr>
          <a:xfrm>
            <a:off x="4912658" y="1447137"/>
            <a:ext cx="4171002" cy="4338175"/>
          </a:xfrm>
          <a:prstGeom prst="rect">
            <a:avLst/>
          </a:prstGeom>
        </p:spPr>
      </p:pic>
      <p:sp>
        <p:nvSpPr>
          <p:cNvPr id="9" name="CuadroTexto 8">
            <a:extLst>
              <a:ext uri="{FF2B5EF4-FFF2-40B4-BE49-F238E27FC236}">
                <a16:creationId xmlns:a16="http://schemas.microsoft.com/office/drawing/2014/main" id="{FE21E483-C1D9-457B-8E00-BD338F6E26C8}"/>
              </a:ext>
            </a:extLst>
          </p:cNvPr>
          <p:cNvSpPr txBox="1"/>
          <p:nvPr/>
        </p:nvSpPr>
        <p:spPr>
          <a:xfrm>
            <a:off x="4233080" y="5965763"/>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3.9</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594429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53035" y="2792506"/>
            <a:ext cx="9538447" cy="1600200"/>
          </a:xfrm>
        </p:spPr>
        <p:txBody>
          <a:bodyPr/>
          <a:lstStyle/>
          <a:p>
            <a:r>
              <a:rPr lang="es-MX" sz="2800" b="1" dirty="0"/>
              <a:t>Caso de Estudio 3.9: Colores Secundarios a partir de Mezclas </a:t>
            </a:r>
            <a:br>
              <a:rPr lang="es-MX" sz="2800" b="1" dirty="0"/>
            </a:br>
            <a:br>
              <a:rPr lang="es-MX" sz="2800" b="1" dirty="0"/>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971061" y="1230594"/>
            <a:ext cx="3965986" cy="5611905"/>
          </a:xfrm>
        </p:spPr>
        <p:txBody>
          <a:bodyPr>
            <a:normAutofit fontScale="92500" lnSpcReduction="20000"/>
          </a:bodyPr>
          <a:lstStyle/>
          <a:p>
            <a:pPr marL="0" indent="0">
              <a:buNone/>
            </a:pPr>
            <a:r>
              <a:rPr lang="es-MX" sz="1600" dirty="0"/>
              <a:t>E) Pruebas </a:t>
            </a:r>
          </a:p>
          <a:p>
            <a:pPr marL="0" indent="0">
              <a:buNone/>
            </a:pPr>
            <a:endParaRPr lang="es-MX" sz="1600" dirty="0"/>
          </a:p>
          <a:p>
            <a:pPr marL="0" indent="0">
              <a:buNone/>
            </a:pPr>
            <a:r>
              <a:rPr lang="es-MX" sz="1600" dirty="0"/>
              <a:t>La Tabla 3.9.2, la Tabla 3.9.3, la Tabla 3.9.4 y la Tabla 3.9.5 muestran cuatro ejemplos de la salida del programa, donde se puede ver que los resultados del programa tienen sentido, comparando estos resultados con los datos obtenidos por las mezclas de dos colores primarios para obtener un color secundario de acuerdo a la Figura 3.9.1. En la salida de la Tabla 3.9.2 se puede ver que, al seleccionar la opción ‘a’ (Amarillo) y la opción ‘b’ (Azul), se obtiene el color Verde. De manera similar, en la salida de la Tabla 3.9.3 se puede ver que, al seleccionar la opción ‘a’ (Amarillo) y la opción ‘c’ (Rojo), se obtiene el color Naranja. De manera similar, en la salida de la Tabla 3.9.4 se puede ver que, al seleccionar la opción ‘b’ (Azul) y la opción ‘c’ (Rojo), se obtiene el color Violeta. Finalmente, en la salida de la Tabla 3.9.5 se puede ver que, al seleccionar la opción ‘b’ (Azul) y la opción ‘a’ (Amarillo), se obtiene el color Verde. </a:t>
            </a:r>
            <a:endParaRPr lang="es-MX" sz="2000"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16</a:t>
            </a:fld>
            <a:endParaRPr lang="es-EC"/>
          </a:p>
        </p:txBody>
      </p:sp>
      <p:pic>
        <p:nvPicPr>
          <p:cNvPr id="7" name="Imagen 6">
            <a:extLst>
              <a:ext uri="{FF2B5EF4-FFF2-40B4-BE49-F238E27FC236}">
                <a16:creationId xmlns:a16="http://schemas.microsoft.com/office/drawing/2014/main" id="{C959AC22-3216-4C9D-89A5-1803CAB25BC9}"/>
              </a:ext>
            </a:extLst>
          </p:cNvPr>
          <p:cNvPicPr>
            <a:picLocks noChangeAspect="1"/>
          </p:cNvPicPr>
          <p:nvPr/>
        </p:nvPicPr>
        <p:blipFill>
          <a:blip r:embed="rId2"/>
          <a:stretch>
            <a:fillRect/>
          </a:stretch>
        </p:blipFill>
        <p:spPr>
          <a:xfrm>
            <a:off x="5343293" y="1555014"/>
            <a:ext cx="5074219" cy="4738209"/>
          </a:xfrm>
          <a:prstGeom prst="rect">
            <a:avLst/>
          </a:prstGeom>
        </p:spPr>
      </p:pic>
      <p:sp>
        <p:nvSpPr>
          <p:cNvPr id="10" name="CuadroTexto 9">
            <a:extLst>
              <a:ext uri="{FF2B5EF4-FFF2-40B4-BE49-F238E27FC236}">
                <a16:creationId xmlns:a16="http://schemas.microsoft.com/office/drawing/2014/main" id="{794E43C5-18F5-490E-B8EE-D5604EF3C755}"/>
              </a:ext>
            </a:extLst>
          </p:cNvPr>
          <p:cNvSpPr txBox="1"/>
          <p:nvPr/>
        </p:nvSpPr>
        <p:spPr>
          <a:xfrm>
            <a:off x="5614115" y="6162772"/>
            <a:ext cx="3281680" cy="523220"/>
          </a:xfrm>
          <a:prstGeom prst="rect">
            <a:avLst/>
          </a:prstGeom>
          <a:noFill/>
        </p:spPr>
        <p:txBody>
          <a:bodyPr wrap="square">
            <a:spAutoFit/>
          </a:bodyPr>
          <a:lstStyle/>
          <a:p>
            <a:pPr algn="just"/>
            <a:r>
              <a:rPr lang="es-MX" sz="1400" dirty="0">
                <a:solidFill>
                  <a:schemeClr val="tx1">
                    <a:lumMod val="50000"/>
                    <a:lumOff val="50000"/>
                  </a:schemeClr>
                </a:solidFill>
                <a:latin typeface="+mj-lt"/>
              </a:rPr>
              <a:t>Ejecuciones, Salida del Programa </a:t>
            </a:r>
            <a:r>
              <a:rPr lang="es-ES_tradnl" sz="1400" dirty="0">
                <a:solidFill>
                  <a:schemeClr val="tx1">
                    <a:lumMod val="50000"/>
                    <a:lumOff val="50000"/>
                  </a:schemeClr>
                </a:solidFill>
                <a:latin typeface="+mj-lt"/>
              </a:rPr>
              <a:t>Fuente: Zambrano M., et al., 2025.</a:t>
            </a:r>
            <a:endParaRPr lang="es-EC" sz="1400" dirty="0">
              <a:solidFill>
                <a:schemeClr val="tx1">
                  <a:lumMod val="50000"/>
                  <a:lumOff val="50000"/>
                </a:schemeClr>
              </a:solidFill>
              <a:latin typeface="+mj-lt"/>
            </a:endParaRPr>
          </a:p>
        </p:txBody>
      </p:sp>
    </p:spTree>
    <p:extLst>
      <p:ext uri="{BB962C8B-B14F-4D97-AF65-F5344CB8AC3E}">
        <p14:creationId xmlns:p14="http://schemas.microsoft.com/office/powerpoint/2010/main" val="2568026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52400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630385" y="3004126"/>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2/12/2025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17</a:t>
            </a:fld>
            <a:endParaRPr lang="es-EC"/>
          </a:p>
        </p:txBody>
      </p:sp>
      <p:sp>
        <p:nvSpPr>
          <p:cNvPr id="8" name="7 CuadroTexto"/>
          <p:cNvSpPr txBox="1"/>
          <p:nvPr/>
        </p:nvSpPr>
        <p:spPr>
          <a:xfrm>
            <a:off x="1630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6096000" y="5105588"/>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2060848"/>
            <a:ext cx="8229600" cy="836712"/>
          </a:xfrm>
        </p:spPr>
        <p:txBody>
          <a:bodyPr/>
          <a:lstStyle/>
          <a:p>
            <a:r>
              <a:rPr lang="en-US" b="1" dirty="0"/>
              <a:t>¿</a:t>
            </a:r>
            <a:r>
              <a:rPr lang="en-US" b="1" dirty="0" err="1"/>
              <a:t>Preguntas</a:t>
            </a:r>
            <a:r>
              <a:rPr lang="en-US" b="1" dirty="0"/>
              <a:t>?</a:t>
            </a:r>
          </a:p>
        </p:txBody>
      </p:sp>
      <p:sp>
        <p:nvSpPr>
          <p:cNvPr id="5" name="4 Marcador de contenido"/>
          <p:cNvSpPr>
            <a:spLocks noGrp="1"/>
          </p:cNvSpPr>
          <p:nvPr>
            <p:ph idx="1"/>
          </p:nvPr>
        </p:nvSpPr>
        <p:spPr>
          <a:xfrm>
            <a:off x="4295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2/12/2025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18</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7078</TotalTime>
  <Words>1300</Words>
  <Application>Microsoft Office PowerPoint</Application>
  <PresentationFormat>Panorámica</PresentationFormat>
  <Paragraphs>117</Paragraphs>
  <Slides>18</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18</vt:i4>
      </vt:variant>
    </vt:vector>
  </HeadingPairs>
  <TitlesOfParts>
    <vt:vector size="26" baseType="lpstr">
      <vt:lpstr>Arial</vt:lpstr>
      <vt:lpstr>Calibri</vt:lpstr>
      <vt:lpstr>Calibri Light</vt:lpstr>
      <vt:lpstr>Century Gothic</vt:lpstr>
      <vt:lpstr>Courier New</vt:lpstr>
      <vt:lpstr>Palatino Linotype</vt:lpstr>
      <vt:lpstr>Tema de Office</vt:lpstr>
      <vt:lpstr>Ejecutivo</vt:lpstr>
      <vt:lpstr>Presentación de PowerPoint</vt:lpstr>
      <vt:lpstr>Contenido</vt:lpstr>
      <vt:lpstr>Secuencia de Sentencias if-else     </vt:lpstr>
      <vt:lpstr>Contenido</vt:lpstr>
      <vt:lpstr>Problema 3.8. (Aplicación del uso de la secuencia de sentencias if-else)    </vt:lpstr>
      <vt:lpstr>Problema 3.8. (Aplicación del uso de la secuencia de sentencias if-else)    </vt:lpstr>
      <vt:lpstr>Problema 3.8. (Aplicación del uso de la secuencia de sentencias if-else)    </vt:lpstr>
      <vt:lpstr>Contenido</vt:lpstr>
      <vt:lpstr>Caso de Estudio 3.9: Colores Secundarios a partir de Mezclas     </vt:lpstr>
      <vt:lpstr>Caso de Estudio 3.9: Colores Secundarios a partir de Mezclas     </vt:lpstr>
      <vt:lpstr>Caso de Estudio 3.9: Colores Secundarios a partir de Mezclas     </vt:lpstr>
      <vt:lpstr>Caso de Estudio 3.9: Colores Secundarios a partir de Mezclas     </vt:lpstr>
      <vt:lpstr>Caso de Estudio 3.9: Colores Secundarios a partir de Mezclas     </vt:lpstr>
      <vt:lpstr>Caso de Estudio 3.9: Colores Secundarios a partir de Mezclas     </vt:lpstr>
      <vt:lpstr>Caso de Estudio 3.9: Colores Secundarios a partir de Mezclas     </vt:lpstr>
      <vt:lpstr>Caso de Estudio 3.9: Colores Secundarios a partir de Mezclas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HP</cp:lastModifiedBy>
  <cp:revision>8</cp:revision>
  <dcterms:created xsi:type="dcterms:W3CDTF">2025-10-07T22:49:11Z</dcterms:created>
  <dcterms:modified xsi:type="dcterms:W3CDTF">2025-12-03T01:36:43Z</dcterms:modified>
</cp:coreProperties>
</file>