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6"/>
  </p:notesMasterIdLst>
  <p:sldIdLst>
    <p:sldId id="311" r:id="rId3"/>
    <p:sldId id="257" r:id="rId4"/>
    <p:sldId id="436" r:id="rId5"/>
    <p:sldId id="539" r:id="rId6"/>
    <p:sldId id="540" r:id="rId7"/>
    <p:sldId id="541" r:id="rId8"/>
    <p:sldId id="542" r:id="rId9"/>
    <p:sldId id="543" r:id="rId10"/>
    <p:sldId id="544" r:id="rId11"/>
    <p:sldId id="545" r:id="rId12"/>
    <p:sldId id="547" r:id="rId13"/>
    <p:sldId id="548" r:id="rId14"/>
    <p:sldId id="549" r:id="rId15"/>
    <p:sldId id="550" r:id="rId16"/>
    <p:sldId id="551" r:id="rId17"/>
    <p:sldId id="552" r:id="rId18"/>
    <p:sldId id="553" r:id="rId19"/>
    <p:sldId id="554" r:id="rId20"/>
    <p:sldId id="555" r:id="rId21"/>
    <p:sldId id="556" r:id="rId22"/>
    <p:sldId id="557" r:id="rId23"/>
    <p:sldId id="393" r:id="rId24"/>
    <p:sldId id="275" r:id="rId25"/>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11" autoAdjust="0"/>
    <p:restoredTop sz="94660"/>
  </p:normalViewPr>
  <p:slideViewPr>
    <p:cSldViewPr snapToGrid="0">
      <p:cViewPr varScale="1">
        <p:scale>
          <a:sx n="85" d="100"/>
          <a:sy n="85"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2/12/2025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2/12/2025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2/12/2025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2/12/2025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2/12/2025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2/12/2025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2/12/2025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2/12/2025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2/12/2025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3 ALGORITMOS Y ESTRUCTURAS DE CONTROL SELECTIVAS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2/12/2025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3400" b="1" dirty="0">
                <a:solidFill>
                  <a:srgbClr val="FF0000"/>
                </a:solidFill>
              </a:rPr>
              <a:t>Sentencia de Control switch </a:t>
            </a:r>
          </a:p>
          <a:p>
            <a:pPr lvl="1"/>
            <a:r>
              <a:rPr lang="es-MX" sz="2800" dirty="0"/>
              <a:t>Problema 3.9. (Aplicación del uso de la sentencia switch) </a:t>
            </a:r>
          </a:p>
          <a:p>
            <a:pPr lvl="1"/>
            <a:r>
              <a:rPr lang="es-MX" sz="2800" dirty="0"/>
              <a:t>Caso de Estudio 3.11: Menú con 5 Operaciones Matemáticas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1498600"/>
            <a:ext cx="10972800" cy="1600200"/>
          </a:xfrm>
        </p:spPr>
        <p:txBody>
          <a:bodyPr/>
          <a:lstStyle/>
          <a:p>
            <a:r>
              <a:rPr lang="es-MX" b="1" dirty="0"/>
              <a:t>Secuencia de Sentencias if-else </a:t>
            </a: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81777" y="950856"/>
            <a:ext cx="4934175" cy="3800438"/>
          </a:xfrm>
        </p:spPr>
        <p:txBody>
          <a:bodyPr>
            <a:normAutofit fontScale="85000" lnSpcReduction="20000"/>
          </a:bodyPr>
          <a:lstStyle/>
          <a:p>
            <a:r>
              <a:rPr lang="es-MX" sz="2000" dirty="0"/>
              <a:t>La sentencia switch se la utiliza cuando se necesita elegir una o varias acciones entre algunas alternativas, por lo tanto, esta sentencia no es excluyente (Luna, F., 2004). La sentencia switch es especialmente útil cuando la selección se basa en el valor de una variable simple o de una expresión simple denominada expresión de control o selector (</a:t>
            </a:r>
            <a:r>
              <a:rPr lang="es-MX" sz="2000" dirty="0" err="1"/>
              <a:t>Hanly</a:t>
            </a:r>
            <a:r>
              <a:rPr lang="es-MX" sz="2000" dirty="0"/>
              <a:t>, H., </a:t>
            </a:r>
            <a:r>
              <a:rPr lang="es-MX" sz="2000" dirty="0" err="1"/>
              <a:t>Koffman</a:t>
            </a:r>
            <a:r>
              <a:rPr lang="es-MX" sz="2000" dirty="0"/>
              <a:t>, E., </a:t>
            </a:r>
            <a:r>
              <a:rPr lang="es-MX" sz="2000" dirty="0" err="1"/>
              <a:t>Horvath</a:t>
            </a:r>
            <a:r>
              <a:rPr lang="es-MX" sz="2000" dirty="0"/>
              <a:t>, J., 1995). El valor de esta expresión puede ser de tipo </a:t>
            </a:r>
            <a:r>
              <a:rPr lang="es-MX" sz="2000" dirty="0" err="1"/>
              <a:t>int</a:t>
            </a:r>
            <a:r>
              <a:rPr lang="es-MX" sz="2000" dirty="0"/>
              <a:t> o </a:t>
            </a:r>
            <a:r>
              <a:rPr lang="es-MX" sz="2000" dirty="0" err="1"/>
              <a:t>char</a:t>
            </a:r>
            <a:r>
              <a:rPr lang="es-MX" sz="2000" dirty="0"/>
              <a:t>, pero no de tipo </a:t>
            </a:r>
            <a:r>
              <a:rPr lang="es-MX" sz="2000" dirty="0" err="1"/>
              <a:t>float</a:t>
            </a:r>
            <a:r>
              <a:rPr lang="es-MX" sz="2000" dirty="0"/>
              <a:t> ni </a:t>
            </a:r>
            <a:r>
              <a:rPr lang="es-MX" sz="2000" dirty="0" err="1"/>
              <a:t>double</a:t>
            </a:r>
            <a:r>
              <a:rPr lang="es-MX" sz="2000" dirty="0"/>
              <a:t>. Cabe notar que se puede reemplazar una sentencia switch() con sentencias if-else anidadas dentro de un programa. El formato de esta sentencia tiene la siguiente sintaxis: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pic>
        <p:nvPicPr>
          <p:cNvPr id="13" name="Imagen 12">
            <a:extLst>
              <a:ext uri="{FF2B5EF4-FFF2-40B4-BE49-F238E27FC236}">
                <a16:creationId xmlns:a16="http://schemas.microsoft.com/office/drawing/2014/main" id="{A8C80A30-B6DC-499B-979C-15E92C034FEC}"/>
              </a:ext>
            </a:extLst>
          </p:cNvPr>
          <p:cNvPicPr>
            <a:picLocks noChangeAspect="1"/>
          </p:cNvPicPr>
          <p:nvPr/>
        </p:nvPicPr>
        <p:blipFill>
          <a:blip r:embed="rId2"/>
          <a:stretch>
            <a:fillRect/>
          </a:stretch>
        </p:blipFill>
        <p:spPr>
          <a:xfrm>
            <a:off x="6851026" y="999786"/>
            <a:ext cx="4014198" cy="3491532"/>
          </a:xfrm>
          <a:prstGeom prst="rect">
            <a:avLst/>
          </a:prstGeom>
        </p:spPr>
      </p:pic>
    </p:spTree>
    <p:extLst>
      <p:ext uri="{BB962C8B-B14F-4D97-AF65-F5344CB8AC3E}">
        <p14:creationId xmlns:p14="http://schemas.microsoft.com/office/powerpoint/2010/main" val="408428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1498600"/>
            <a:ext cx="10972800" cy="1600200"/>
          </a:xfrm>
        </p:spPr>
        <p:txBody>
          <a:bodyPr/>
          <a:lstStyle/>
          <a:p>
            <a:r>
              <a:rPr lang="es-MX" b="1" dirty="0"/>
              <a:t>Secuencia de Sentencias if-else </a:t>
            </a:r>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81777" y="950855"/>
            <a:ext cx="4934175" cy="4652085"/>
          </a:xfrm>
        </p:spPr>
        <p:txBody>
          <a:bodyPr>
            <a:normAutofit/>
          </a:bodyPr>
          <a:lstStyle/>
          <a:p>
            <a:r>
              <a:rPr lang="es-MX" sz="2000" dirty="0"/>
              <a:t>La sentencia break y default son opcionales en la sentencia switch. La sentencia break es una sentencia de salto que hace que el control del programa se salga de la sentencia switch y se dirija a la sentencia situada inmediatamente después de la misma. La sentencia default también es una sentencia opcional donde si no existe un valor específico en la lista del switch, se transfiere el control del programa a la sentencia default.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4</a:t>
            </a:fld>
            <a:endParaRPr lang="es-EC"/>
          </a:p>
        </p:txBody>
      </p:sp>
      <p:pic>
        <p:nvPicPr>
          <p:cNvPr id="13" name="Imagen 12">
            <a:extLst>
              <a:ext uri="{FF2B5EF4-FFF2-40B4-BE49-F238E27FC236}">
                <a16:creationId xmlns:a16="http://schemas.microsoft.com/office/drawing/2014/main" id="{A8C80A30-B6DC-499B-979C-15E92C034FEC}"/>
              </a:ext>
            </a:extLst>
          </p:cNvPr>
          <p:cNvPicPr>
            <a:picLocks noChangeAspect="1"/>
          </p:cNvPicPr>
          <p:nvPr/>
        </p:nvPicPr>
        <p:blipFill>
          <a:blip r:embed="rId2"/>
          <a:stretch>
            <a:fillRect/>
          </a:stretch>
        </p:blipFill>
        <p:spPr>
          <a:xfrm>
            <a:off x="6851026" y="999786"/>
            <a:ext cx="4014198" cy="3491532"/>
          </a:xfrm>
          <a:prstGeom prst="rect">
            <a:avLst/>
          </a:prstGeom>
        </p:spPr>
      </p:pic>
    </p:spTree>
    <p:extLst>
      <p:ext uri="{BB962C8B-B14F-4D97-AF65-F5344CB8AC3E}">
        <p14:creationId xmlns:p14="http://schemas.microsoft.com/office/powerpoint/2010/main" val="88007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800" dirty="0"/>
              <a:t>Sentencia de Control switch </a:t>
            </a:r>
          </a:p>
          <a:p>
            <a:pPr lvl="1"/>
            <a:r>
              <a:rPr lang="es-MX" sz="3400" b="1" dirty="0">
                <a:solidFill>
                  <a:srgbClr val="FF0000"/>
                </a:solidFill>
              </a:rPr>
              <a:t>Problema 3.9. (Aplicación del uso de la sentencia switch) </a:t>
            </a:r>
          </a:p>
          <a:p>
            <a:pPr lvl="1"/>
            <a:r>
              <a:rPr lang="es-MX" sz="2800" dirty="0"/>
              <a:t>Caso de Estudio 3.11: Menú con 5 Operaciones Matemáticas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5</a:t>
            </a:fld>
            <a:endParaRPr lang="es-EC">
              <a:solidFill>
                <a:prstClr val="black">
                  <a:lumMod val="65000"/>
                  <a:lumOff val="35000"/>
                </a:prstClr>
              </a:solidFill>
            </a:endParaRPr>
          </a:p>
        </p:txBody>
      </p:sp>
    </p:spTree>
    <p:extLst>
      <p:ext uri="{BB962C8B-B14F-4D97-AF65-F5344CB8AC3E}">
        <p14:creationId xmlns:p14="http://schemas.microsoft.com/office/powerpoint/2010/main" val="2200143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80722" y="1498600"/>
            <a:ext cx="10972800" cy="1600200"/>
          </a:xfrm>
        </p:spPr>
        <p:txBody>
          <a:bodyPr/>
          <a:lstStyle/>
          <a:p>
            <a:br>
              <a:rPr lang="es-MX" sz="5400" b="1" dirty="0">
                <a:solidFill>
                  <a:srgbClr val="FF0000"/>
                </a:solidFill>
              </a:rPr>
            </a:br>
            <a:r>
              <a:rPr lang="es-MX" b="1" dirty="0"/>
              <a:t> </a:t>
            </a: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538478" y="1076361"/>
            <a:ext cx="4234929" cy="3325310"/>
          </a:xfrm>
        </p:spPr>
        <p:txBody>
          <a:bodyPr>
            <a:normAutofit/>
          </a:bodyPr>
          <a:lstStyle/>
          <a:p>
            <a:r>
              <a:rPr lang="es-MX" sz="2000" dirty="0"/>
              <a:t>Problema 3.9: </a:t>
            </a:r>
          </a:p>
          <a:p>
            <a:pPr marL="0" indent="0">
              <a:buNone/>
            </a:pPr>
            <a:r>
              <a:rPr lang="es-MX" sz="2000" dirty="0"/>
              <a:t>Escribir un programa que permita leer un dígito (0-9) e imprima el dígito seleccionado en letras y si no es así imprima el mensaje valor fuera de rango</a:t>
            </a:r>
            <a:r>
              <a:rPr lang="es-MX" sz="2800" dirty="0"/>
              <a:t>. </a:t>
            </a: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6</a:t>
            </a:fld>
            <a:endParaRPr lang="es-EC"/>
          </a:p>
        </p:txBody>
      </p:sp>
      <p:pic>
        <p:nvPicPr>
          <p:cNvPr id="7" name="Imagen 6">
            <a:extLst>
              <a:ext uri="{FF2B5EF4-FFF2-40B4-BE49-F238E27FC236}">
                <a16:creationId xmlns:a16="http://schemas.microsoft.com/office/drawing/2014/main" id="{2D2929E4-BAE1-46EE-BA71-E9DE2CEC8AF3}"/>
              </a:ext>
            </a:extLst>
          </p:cNvPr>
          <p:cNvPicPr>
            <a:picLocks noChangeAspect="1"/>
          </p:cNvPicPr>
          <p:nvPr/>
        </p:nvPicPr>
        <p:blipFill>
          <a:blip r:embed="rId2"/>
          <a:stretch>
            <a:fillRect/>
          </a:stretch>
        </p:blipFill>
        <p:spPr>
          <a:xfrm>
            <a:off x="4675896" y="777460"/>
            <a:ext cx="5792008" cy="5784705"/>
          </a:xfrm>
          <a:prstGeom prst="rect">
            <a:avLst/>
          </a:prstGeom>
        </p:spPr>
      </p:pic>
      <p:sp>
        <p:nvSpPr>
          <p:cNvPr id="12" name="CuadroTexto 11">
            <a:extLst>
              <a:ext uri="{FF2B5EF4-FFF2-40B4-BE49-F238E27FC236}">
                <a16:creationId xmlns:a16="http://schemas.microsoft.com/office/drawing/2014/main" id="{74A9C186-2DF8-421A-83CF-33B4D23E0597}"/>
              </a:ext>
            </a:extLst>
          </p:cNvPr>
          <p:cNvSpPr txBox="1"/>
          <p:nvPr/>
        </p:nvSpPr>
        <p:spPr>
          <a:xfrm>
            <a:off x="1102658" y="69460"/>
            <a:ext cx="10288379" cy="1077218"/>
          </a:xfrm>
          <a:prstGeom prst="rect">
            <a:avLst/>
          </a:prstGeom>
          <a:noFill/>
        </p:spPr>
        <p:txBody>
          <a:bodyPr wrap="square">
            <a:spAutoFit/>
          </a:bodyPr>
          <a:lstStyle/>
          <a:p>
            <a:pPr lvl="1"/>
            <a:r>
              <a:rPr lang="es-MX" sz="3200" b="1" dirty="0">
                <a:solidFill>
                  <a:schemeClr val="tx2"/>
                </a:solidFill>
                <a:effectLst>
                  <a:outerShdw blurRad="63500" dist="38100" dir="5400000" algn="t" rotWithShape="0">
                    <a:prstClr val="black">
                      <a:alpha val="25000"/>
                    </a:prstClr>
                  </a:outerShdw>
                </a:effectLst>
                <a:ea typeface="+mj-ea"/>
                <a:cs typeface="+mj-cs"/>
              </a:rPr>
              <a:t>Problema 3.9. (Aplicación del uso de la sentencia switch) </a:t>
            </a:r>
          </a:p>
        </p:txBody>
      </p:sp>
    </p:spTree>
    <p:extLst>
      <p:ext uri="{BB962C8B-B14F-4D97-AF65-F5344CB8AC3E}">
        <p14:creationId xmlns:p14="http://schemas.microsoft.com/office/powerpoint/2010/main" val="1855632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34868" y="1605279"/>
            <a:ext cx="4234929" cy="3325310"/>
          </a:xfrm>
        </p:spPr>
        <p:txBody>
          <a:bodyPr>
            <a:normAutofit/>
          </a:bodyPr>
          <a:lstStyle/>
          <a:p>
            <a:r>
              <a:rPr lang="es-MX" sz="2000" dirty="0"/>
              <a:t>Problema 3.9: </a:t>
            </a:r>
          </a:p>
          <a:p>
            <a:pPr marL="0" indent="0">
              <a:buNone/>
            </a:pPr>
            <a:r>
              <a:rPr lang="es-MX" sz="2000" dirty="0"/>
              <a:t>Escribir un programa que permita leer un dígito (0-9) e imprima el dígito seleccionado en letras y si no es así imprima el mensaje valor fuera de rango</a:t>
            </a:r>
            <a:r>
              <a:rPr lang="es-MX" sz="2800" dirty="0"/>
              <a:t>. </a:t>
            </a: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7</a:t>
            </a:fld>
            <a:endParaRPr lang="es-EC"/>
          </a:p>
        </p:txBody>
      </p:sp>
      <p:pic>
        <p:nvPicPr>
          <p:cNvPr id="8" name="Imagen 7">
            <a:extLst>
              <a:ext uri="{FF2B5EF4-FFF2-40B4-BE49-F238E27FC236}">
                <a16:creationId xmlns:a16="http://schemas.microsoft.com/office/drawing/2014/main" id="{37BF951D-6DD6-4144-B5FC-6C8D4A2D71AD}"/>
              </a:ext>
            </a:extLst>
          </p:cNvPr>
          <p:cNvPicPr>
            <a:picLocks noChangeAspect="1"/>
          </p:cNvPicPr>
          <p:nvPr/>
        </p:nvPicPr>
        <p:blipFill>
          <a:blip r:embed="rId2"/>
          <a:stretch>
            <a:fillRect/>
          </a:stretch>
        </p:blipFill>
        <p:spPr>
          <a:xfrm>
            <a:off x="5623942" y="1748118"/>
            <a:ext cx="4153480" cy="2150667"/>
          </a:xfrm>
          <a:prstGeom prst="rect">
            <a:avLst/>
          </a:prstGeom>
        </p:spPr>
      </p:pic>
      <p:sp>
        <p:nvSpPr>
          <p:cNvPr id="13" name="CuadroTexto 12">
            <a:extLst>
              <a:ext uri="{FF2B5EF4-FFF2-40B4-BE49-F238E27FC236}">
                <a16:creationId xmlns:a16="http://schemas.microsoft.com/office/drawing/2014/main" id="{FE1B6AB0-5F38-456B-9737-9C85E21D7C4A}"/>
              </a:ext>
            </a:extLst>
          </p:cNvPr>
          <p:cNvSpPr txBox="1"/>
          <p:nvPr/>
        </p:nvSpPr>
        <p:spPr>
          <a:xfrm>
            <a:off x="1102658" y="69460"/>
            <a:ext cx="10288379" cy="1077218"/>
          </a:xfrm>
          <a:prstGeom prst="rect">
            <a:avLst/>
          </a:prstGeom>
          <a:noFill/>
        </p:spPr>
        <p:txBody>
          <a:bodyPr wrap="square">
            <a:spAutoFit/>
          </a:bodyPr>
          <a:lstStyle/>
          <a:p>
            <a:pPr lvl="1"/>
            <a:r>
              <a:rPr lang="es-MX" sz="3200" b="1" dirty="0">
                <a:solidFill>
                  <a:schemeClr val="tx2"/>
                </a:solidFill>
                <a:effectLst>
                  <a:outerShdw blurRad="63500" dist="38100" dir="5400000" algn="t" rotWithShape="0">
                    <a:prstClr val="black">
                      <a:alpha val="25000"/>
                    </a:prstClr>
                  </a:outerShdw>
                </a:effectLst>
                <a:ea typeface="+mj-ea"/>
                <a:cs typeface="+mj-cs"/>
              </a:rPr>
              <a:t>Problema 3.9. (Aplicación del uso de la sentencia switch) </a:t>
            </a:r>
          </a:p>
        </p:txBody>
      </p:sp>
    </p:spTree>
    <p:extLst>
      <p:ext uri="{BB962C8B-B14F-4D97-AF65-F5344CB8AC3E}">
        <p14:creationId xmlns:p14="http://schemas.microsoft.com/office/powerpoint/2010/main" val="3789394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538478" y="1076361"/>
            <a:ext cx="4234929" cy="3325310"/>
          </a:xfrm>
        </p:spPr>
        <p:txBody>
          <a:bodyPr>
            <a:normAutofit/>
          </a:bodyPr>
          <a:lstStyle/>
          <a:p>
            <a:r>
              <a:rPr lang="es-MX" sz="2000" dirty="0"/>
              <a:t>Problema 3.9: </a:t>
            </a:r>
          </a:p>
          <a:p>
            <a:pPr marL="0" indent="0">
              <a:buNone/>
            </a:pPr>
            <a:r>
              <a:rPr lang="es-MX" sz="2000" dirty="0"/>
              <a:t>Escribir un programa que permita leer un dígito (0-9) e imprima el dígito seleccionado en letras y si no es así imprima el mensaje valor fuera de rango</a:t>
            </a:r>
            <a:r>
              <a:rPr lang="es-MX" sz="2800" dirty="0"/>
              <a:t>. </a:t>
            </a: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8</a:t>
            </a:fld>
            <a:endParaRPr lang="es-EC"/>
          </a:p>
        </p:txBody>
      </p:sp>
      <p:pic>
        <p:nvPicPr>
          <p:cNvPr id="7" name="Imagen 6">
            <a:extLst>
              <a:ext uri="{FF2B5EF4-FFF2-40B4-BE49-F238E27FC236}">
                <a16:creationId xmlns:a16="http://schemas.microsoft.com/office/drawing/2014/main" id="{41CF115A-2F5E-4A4A-B89D-EDCD7789A8CB}"/>
              </a:ext>
            </a:extLst>
          </p:cNvPr>
          <p:cNvPicPr>
            <a:picLocks noChangeAspect="1"/>
          </p:cNvPicPr>
          <p:nvPr/>
        </p:nvPicPr>
        <p:blipFill rotWithShape="1">
          <a:blip r:embed="rId2"/>
          <a:srcRect t="915" b="1991"/>
          <a:stretch/>
        </p:blipFill>
        <p:spPr>
          <a:xfrm>
            <a:off x="4645345" y="62752"/>
            <a:ext cx="4875171" cy="6658723"/>
          </a:xfrm>
          <a:prstGeom prst="rect">
            <a:avLst/>
          </a:prstGeom>
        </p:spPr>
      </p:pic>
      <p:sp>
        <p:nvSpPr>
          <p:cNvPr id="11" name="CuadroTexto 10">
            <a:extLst>
              <a:ext uri="{FF2B5EF4-FFF2-40B4-BE49-F238E27FC236}">
                <a16:creationId xmlns:a16="http://schemas.microsoft.com/office/drawing/2014/main" id="{1746986C-BD83-40D9-A287-2F4D5C1686E5}"/>
              </a:ext>
            </a:extLst>
          </p:cNvPr>
          <p:cNvSpPr txBox="1"/>
          <p:nvPr/>
        </p:nvSpPr>
        <p:spPr>
          <a:xfrm>
            <a:off x="1320684" y="6215747"/>
            <a:ext cx="359383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3.9</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731091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709490" y="2034090"/>
            <a:ext cx="3593570" cy="2088626"/>
          </a:xfrm>
        </p:spPr>
        <p:txBody>
          <a:bodyPr>
            <a:normAutofit fontScale="70000" lnSpcReduction="20000"/>
          </a:bodyPr>
          <a:lstStyle/>
          <a:p>
            <a:r>
              <a:rPr lang="es-MX" sz="2800" dirty="0"/>
              <a:t>En la salida de la Ejecución 3.9 se puede ver que al ingresar el dígito 7, el programa indica en palabras que este dígito es efectivamente el siete. </a:t>
            </a: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9</a:t>
            </a:fld>
            <a:endParaRPr lang="es-EC"/>
          </a:p>
        </p:txBody>
      </p:sp>
      <p:pic>
        <p:nvPicPr>
          <p:cNvPr id="10" name="Imagen 9">
            <a:extLst>
              <a:ext uri="{FF2B5EF4-FFF2-40B4-BE49-F238E27FC236}">
                <a16:creationId xmlns:a16="http://schemas.microsoft.com/office/drawing/2014/main" id="{C0CD8C78-567E-4478-B11B-E86C6B55D82A}"/>
              </a:ext>
            </a:extLst>
          </p:cNvPr>
          <p:cNvPicPr>
            <a:picLocks noChangeAspect="1"/>
          </p:cNvPicPr>
          <p:nvPr/>
        </p:nvPicPr>
        <p:blipFill>
          <a:blip r:embed="rId2"/>
          <a:stretch>
            <a:fillRect/>
          </a:stretch>
        </p:blipFill>
        <p:spPr>
          <a:xfrm>
            <a:off x="921467" y="4110763"/>
            <a:ext cx="4287027" cy="1489039"/>
          </a:xfrm>
          <a:prstGeom prst="rect">
            <a:avLst/>
          </a:prstGeom>
        </p:spPr>
      </p:pic>
      <p:sp>
        <p:nvSpPr>
          <p:cNvPr id="11" name="CuadroTexto 10">
            <a:extLst>
              <a:ext uri="{FF2B5EF4-FFF2-40B4-BE49-F238E27FC236}">
                <a16:creationId xmlns:a16="http://schemas.microsoft.com/office/drawing/2014/main" id="{D8445613-EC87-4C54-A16C-786A2BEB3733}"/>
              </a:ext>
            </a:extLst>
          </p:cNvPr>
          <p:cNvSpPr txBox="1"/>
          <p:nvPr/>
        </p:nvSpPr>
        <p:spPr>
          <a:xfrm>
            <a:off x="1043251" y="5687608"/>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3.9</a:t>
            </a:r>
            <a:r>
              <a:rPr lang="es-ES" sz="1200" dirty="0">
                <a:solidFill>
                  <a:schemeClr val="tx1">
                    <a:lumMod val="50000"/>
                    <a:lumOff val="50000"/>
                  </a:schemeClr>
                </a:solidFill>
                <a:latin typeface="+mj-lt"/>
              </a:rPr>
              <a:t>. 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4" name="CuadroTexto 13">
            <a:extLst>
              <a:ext uri="{FF2B5EF4-FFF2-40B4-BE49-F238E27FC236}">
                <a16:creationId xmlns:a16="http://schemas.microsoft.com/office/drawing/2014/main" id="{9B6AED7D-35D5-4150-B680-3AD34AD3BB95}"/>
              </a:ext>
            </a:extLst>
          </p:cNvPr>
          <p:cNvSpPr txBox="1"/>
          <p:nvPr/>
        </p:nvSpPr>
        <p:spPr>
          <a:xfrm>
            <a:off x="1102659" y="180980"/>
            <a:ext cx="10288379" cy="1077218"/>
          </a:xfrm>
          <a:prstGeom prst="rect">
            <a:avLst/>
          </a:prstGeom>
          <a:noFill/>
        </p:spPr>
        <p:txBody>
          <a:bodyPr wrap="square">
            <a:spAutoFit/>
          </a:bodyPr>
          <a:lstStyle/>
          <a:p>
            <a:pPr lvl="1"/>
            <a:r>
              <a:rPr lang="es-MX" sz="3200" b="1" dirty="0">
                <a:solidFill>
                  <a:schemeClr val="tx2"/>
                </a:solidFill>
                <a:effectLst>
                  <a:outerShdw blurRad="63500" dist="38100" dir="5400000" algn="t" rotWithShape="0">
                    <a:prstClr val="black">
                      <a:alpha val="25000"/>
                    </a:prstClr>
                  </a:outerShdw>
                </a:effectLst>
                <a:ea typeface="+mj-ea"/>
                <a:cs typeface="+mj-cs"/>
              </a:rPr>
              <a:t>Problema 3.9. (Aplicación del uso de la sentencia switch) </a:t>
            </a:r>
          </a:p>
        </p:txBody>
      </p:sp>
    </p:spTree>
    <p:extLst>
      <p:ext uri="{BB962C8B-B14F-4D97-AF65-F5344CB8AC3E}">
        <p14:creationId xmlns:p14="http://schemas.microsoft.com/office/powerpoint/2010/main" val="1167447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MX" sz="2800" dirty="0"/>
              <a:t>Sentencia de Control switch </a:t>
            </a:r>
          </a:p>
          <a:p>
            <a:pPr lvl="1"/>
            <a:r>
              <a:rPr lang="es-MX" sz="2800" dirty="0"/>
              <a:t>Problema 3.9. (Aplicación del uso de la sentencia switch) </a:t>
            </a:r>
          </a:p>
          <a:p>
            <a:pPr lvl="1"/>
            <a:r>
              <a:rPr lang="es-MX" sz="3400" b="1" dirty="0">
                <a:solidFill>
                  <a:srgbClr val="FF0000"/>
                </a:solidFill>
              </a:rPr>
              <a:t>Caso de Estudio 3.11: Menú con 5 Operaciones Matemáticas </a:t>
            </a: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2/12/2025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10</a:t>
            </a:fld>
            <a:endParaRPr lang="es-EC">
              <a:solidFill>
                <a:prstClr val="black">
                  <a:lumMod val="65000"/>
                  <a:lumOff val="35000"/>
                </a:prstClr>
              </a:solidFill>
            </a:endParaRPr>
          </a:p>
        </p:txBody>
      </p:sp>
    </p:spTree>
    <p:extLst>
      <p:ext uri="{BB962C8B-B14F-4D97-AF65-F5344CB8AC3E}">
        <p14:creationId xmlns:p14="http://schemas.microsoft.com/office/powerpoint/2010/main" val="3974206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2377141"/>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34868" y="1605278"/>
            <a:ext cx="8889061" cy="3603215"/>
          </a:xfrm>
        </p:spPr>
        <p:txBody>
          <a:bodyPr>
            <a:normAutofit fontScale="85000" lnSpcReduction="20000"/>
          </a:bodyPr>
          <a:lstStyle/>
          <a:p>
            <a:r>
              <a:rPr lang="es-MX" sz="2800" dirty="0"/>
              <a:t>A) Problema</a:t>
            </a:r>
          </a:p>
          <a:p>
            <a:pPr marL="0" indent="0">
              <a:buNone/>
            </a:pPr>
            <a:r>
              <a:rPr lang="es-MX" sz="2800" dirty="0"/>
              <a:t> Escribir un programa para crear un menú que tenga las siguientes opciones: </a:t>
            </a:r>
          </a:p>
          <a:p>
            <a:pPr marL="0" indent="0">
              <a:buNone/>
            </a:pPr>
            <a:r>
              <a:rPr lang="es-MX" sz="2800" dirty="0"/>
              <a:t>▪ Suma de dos números enteros. </a:t>
            </a:r>
          </a:p>
          <a:p>
            <a:pPr marL="0" indent="0">
              <a:buNone/>
            </a:pPr>
            <a:r>
              <a:rPr lang="es-MX" sz="2800" dirty="0"/>
              <a:t>▪ Resta de dos números enteros. </a:t>
            </a:r>
          </a:p>
          <a:p>
            <a:pPr marL="0" indent="0">
              <a:buNone/>
            </a:pPr>
            <a:r>
              <a:rPr lang="es-MX" sz="2800" dirty="0"/>
              <a:t>▪ Multiplicación entre dos números enteros. </a:t>
            </a:r>
          </a:p>
          <a:p>
            <a:pPr marL="0" indent="0">
              <a:buNone/>
            </a:pPr>
            <a:r>
              <a:rPr lang="es-MX" sz="2800" dirty="0"/>
              <a:t>▪ División entre dos números enteros. </a:t>
            </a:r>
          </a:p>
          <a:p>
            <a:pPr marL="0" indent="0">
              <a:buNone/>
            </a:pPr>
            <a:r>
              <a:rPr lang="es-MX" sz="2800" dirty="0"/>
              <a:t>▪ Módulo entre dos números enteros. Para la operación de la división y el módulo se debe controlar que no exista división para cero. </a:t>
            </a: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11</a:t>
            </a:fld>
            <a:endParaRPr lang="es-EC"/>
          </a:p>
        </p:txBody>
      </p:sp>
    </p:spTree>
    <p:extLst>
      <p:ext uri="{BB962C8B-B14F-4D97-AF65-F5344CB8AC3E}">
        <p14:creationId xmlns:p14="http://schemas.microsoft.com/office/powerpoint/2010/main" val="740738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2377141"/>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16939" y="2152125"/>
            <a:ext cx="9902073" cy="3845263"/>
          </a:xfrm>
        </p:spPr>
        <p:txBody>
          <a:bodyPr>
            <a:normAutofit fontScale="77500" lnSpcReduction="20000"/>
          </a:bodyPr>
          <a:lstStyle/>
          <a:p>
            <a:r>
              <a:rPr lang="es-MX" sz="2800" dirty="0"/>
              <a:t>B) Análisis </a:t>
            </a:r>
          </a:p>
          <a:p>
            <a:pPr marL="0" indent="0">
              <a:buNone/>
            </a:pPr>
            <a:endParaRPr lang="es-MX" sz="2800" dirty="0"/>
          </a:p>
          <a:p>
            <a:pPr marL="0" indent="0">
              <a:buNone/>
            </a:pPr>
            <a:r>
              <a:rPr lang="es-MX" sz="2800" dirty="0"/>
              <a:t>Claramente, se puede ver que las entradas del problema son el primer número representado por la variable ‘num1’ y el segundo número representado por la variable ‘num2’ con los cuales se van a realizar diferentes operaciones aritméticas. Además, la tercera entrada es la opción del menú a seleccionar representada por la variable ‘opcion’. Hay una sola salida requerida que es el valor del resultado de una operación representada por la variable ‘num3’. Partiendo de un conocimiento básico de Aritmética y Álgebra, se sabe que hay 5 operaciones matemáticas y 5 diferentes valores para el resultado que depende del tipo de operación. Las fórmulas requeridas se incluyen en el requerimiento de los datos. </a:t>
            </a: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12</a:t>
            </a:fld>
            <a:endParaRPr lang="es-EC"/>
          </a:p>
        </p:txBody>
      </p:sp>
    </p:spTree>
    <p:extLst>
      <p:ext uri="{BB962C8B-B14F-4D97-AF65-F5344CB8AC3E}">
        <p14:creationId xmlns:p14="http://schemas.microsoft.com/office/powerpoint/2010/main" val="3001763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2377141"/>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16939" y="2152125"/>
            <a:ext cx="9902073" cy="3845263"/>
          </a:xfrm>
        </p:spPr>
        <p:txBody>
          <a:bodyPr>
            <a:normAutofit/>
          </a:bodyPr>
          <a:lstStyle/>
          <a:p>
            <a:pPr marL="0" indent="0">
              <a:buNone/>
            </a:pPr>
            <a:r>
              <a:rPr lang="es-MX" sz="2800" dirty="0"/>
              <a:t>B.1) Requerimiento de los Datos </a:t>
            </a:r>
          </a:p>
          <a:p>
            <a:pPr marL="0" indent="0">
              <a:buNone/>
            </a:pP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13</a:t>
            </a:fld>
            <a:endParaRPr lang="es-EC"/>
          </a:p>
        </p:txBody>
      </p:sp>
      <p:pic>
        <p:nvPicPr>
          <p:cNvPr id="7" name="Imagen 6">
            <a:extLst>
              <a:ext uri="{FF2B5EF4-FFF2-40B4-BE49-F238E27FC236}">
                <a16:creationId xmlns:a16="http://schemas.microsoft.com/office/drawing/2014/main" id="{36FFB78A-3DAA-4704-A61D-35F9664B6A10}"/>
              </a:ext>
            </a:extLst>
          </p:cNvPr>
          <p:cNvPicPr>
            <a:picLocks noChangeAspect="1"/>
          </p:cNvPicPr>
          <p:nvPr/>
        </p:nvPicPr>
        <p:blipFill>
          <a:blip r:embed="rId2"/>
          <a:stretch>
            <a:fillRect/>
          </a:stretch>
        </p:blipFill>
        <p:spPr>
          <a:xfrm>
            <a:off x="1159910" y="2823137"/>
            <a:ext cx="6573167" cy="1333686"/>
          </a:xfrm>
          <a:prstGeom prst="rect">
            <a:avLst/>
          </a:prstGeom>
        </p:spPr>
      </p:pic>
      <p:pic>
        <p:nvPicPr>
          <p:cNvPr id="9" name="Imagen 8">
            <a:extLst>
              <a:ext uri="{FF2B5EF4-FFF2-40B4-BE49-F238E27FC236}">
                <a16:creationId xmlns:a16="http://schemas.microsoft.com/office/drawing/2014/main" id="{DB760D28-25CD-4E52-A598-99A427AF8B68}"/>
              </a:ext>
            </a:extLst>
          </p:cNvPr>
          <p:cNvPicPr>
            <a:picLocks noChangeAspect="1"/>
          </p:cNvPicPr>
          <p:nvPr/>
        </p:nvPicPr>
        <p:blipFill>
          <a:blip r:embed="rId3"/>
          <a:stretch>
            <a:fillRect/>
          </a:stretch>
        </p:blipFill>
        <p:spPr>
          <a:xfrm>
            <a:off x="1159910" y="4156823"/>
            <a:ext cx="6916115" cy="2362530"/>
          </a:xfrm>
          <a:prstGeom prst="rect">
            <a:avLst/>
          </a:prstGeom>
        </p:spPr>
      </p:pic>
    </p:spTree>
    <p:extLst>
      <p:ext uri="{BB962C8B-B14F-4D97-AF65-F5344CB8AC3E}">
        <p14:creationId xmlns:p14="http://schemas.microsoft.com/office/powerpoint/2010/main" val="3811823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2377141"/>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16940" y="2152126"/>
            <a:ext cx="5141814" cy="2868110"/>
          </a:xfrm>
        </p:spPr>
        <p:txBody>
          <a:bodyPr>
            <a:normAutofit fontScale="77500" lnSpcReduction="20000"/>
          </a:bodyPr>
          <a:lstStyle/>
          <a:p>
            <a:pPr marL="0" indent="0">
              <a:buNone/>
            </a:pPr>
            <a:r>
              <a:rPr lang="es-MX" sz="2800" dirty="0"/>
              <a:t>B.2) Diagrama de Entrada-Salida </a:t>
            </a:r>
          </a:p>
          <a:p>
            <a:pPr marL="0" indent="0">
              <a:buNone/>
            </a:pPr>
            <a:r>
              <a:rPr lang="es-MX" sz="2800" dirty="0"/>
              <a:t>En la Figura 3.11.1 se muestra el diagrama de Entrada-Salida del programa donde se identifican y se diagraman las entradas y salidas del problema como son: a) Entradas: la variable ‘num1’; la variable ‘num2’; la variable ‘opcion’; b) Salidas: la variable ‘num3’.</a:t>
            </a: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pic>
        <p:nvPicPr>
          <p:cNvPr id="8" name="Imagen 7">
            <a:extLst>
              <a:ext uri="{FF2B5EF4-FFF2-40B4-BE49-F238E27FC236}">
                <a16:creationId xmlns:a16="http://schemas.microsoft.com/office/drawing/2014/main" id="{8E7D04C2-DF56-4E6F-9A57-9F21108263F7}"/>
              </a:ext>
            </a:extLst>
          </p:cNvPr>
          <p:cNvPicPr>
            <a:picLocks noChangeAspect="1"/>
          </p:cNvPicPr>
          <p:nvPr/>
        </p:nvPicPr>
        <p:blipFill>
          <a:blip r:embed="rId2"/>
          <a:stretch>
            <a:fillRect/>
          </a:stretch>
        </p:blipFill>
        <p:spPr>
          <a:xfrm>
            <a:off x="6566094" y="2088097"/>
            <a:ext cx="3686689" cy="2573550"/>
          </a:xfrm>
          <a:prstGeom prst="rect">
            <a:avLst/>
          </a:prstGeom>
        </p:spPr>
      </p:pic>
      <p:sp>
        <p:nvSpPr>
          <p:cNvPr id="10" name="CuadroTexto 9">
            <a:extLst>
              <a:ext uri="{FF2B5EF4-FFF2-40B4-BE49-F238E27FC236}">
                <a16:creationId xmlns:a16="http://schemas.microsoft.com/office/drawing/2014/main" id="{398B9086-E80A-4941-B7B6-69950DBEF904}"/>
              </a:ext>
            </a:extLst>
          </p:cNvPr>
          <p:cNvSpPr txBox="1"/>
          <p:nvPr/>
        </p:nvSpPr>
        <p:spPr>
          <a:xfrm>
            <a:off x="5639937" y="5039223"/>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3.9.11 </a:t>
            </a:r>
            <a:r>
              <a:rPr lang="es-EC" sz="1200" dirty="0">
                <a:solidFill>
                  <a:schemeClr val="tx1">
                    <a:lumMod val="50000"/>
                    <a:lumOff val="50000"/>
                  </a:schemeClr>
                </a:solidFill>
                <a:latin typeface="+mj-lt"/>
              </a:rPr>
              <a:t>Diagrama de Entrada-Salida del Programa</a:t>
            </a:r>
            <a:r>
              <a:rPr lang="es-ES_tradnl" sz="1200" dirty="0">
                <a:solidFill>
                  <a:schemeClr val="tx1">
                    <a:lumMod val="50000"/>
                    <a:lumOff val="50000"/>
                  </a:schemeClr>
                </a:solidFill>
                <a:latin typeface="+mj-lt"/>
              </a:rPr>
              <a:t>: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29509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2377141"/>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16940" y="2152126"/>
            <a:ext cx="4083978" cy="1825215"/>
          </a:xfrm>
        </p:spPr>
        <p:txBody>
          <a:bodyPr>
            <a:normAutofit fontScale="62500" lnSpcReduction="20000"/>
          </a:bodyPr>
          <a:lstStyle/>
          <a:p>
            <a:pPr marL="0" indent="0">
              <a:buNone/>
            </a:pPr>
            <a:r>
              <a:rPr lang="es-MX" sz="2800" dirty="0"/>
              <a:t>C) Diseño </a:t>
            </a:r>
          </a:p>
          <a:p>
            <a:pPr marL="0" indent="0">
              <a:buNone/>
            </a:pPr>
            <a:r>
              <a:rPr lang="es-MX" sz="2800" dirty="0"/>
              <a:t>Una vez que se conoce las entradas y las salidas del problema, se deben listar los pasos necesarios para resolver el problema, es decir, el algoritmo.</a:t>
            </a: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15</a:t>
            </a:fld>
            <a:endParaRPr lang="es-EC"/>
          </a:p>
        </p:txBody>
      </p:sp>
      <p:pic>
        <p:nvPicPr>
          <p:cNvPr id="7" name="Imagen 6">
            <a:extLst>
              <a:ext uri="{FF2B5EF4-FFF2-40B4-BE49-F238E27FC236}">
                <a16:creationId xmlns:a16="http://schemas.microsoft.com/office/drawing/2014/main" id="{7CC13A30-2A9A-4626-B2F3-575543FE7513}"/>
              </a:ext>
            </a:extLst>
          </p:cNvPr>
          <p:cNvPicPr>
            <a:picLocks noChangeAspect="1"/>
          </p:cNvPicPr>
          <p:nvPr/>
        </p:nvPicPr>
        <p:blipFill>
          <a:blip r:embed="rId2"/>
          <a:stretch>
            <a:fillRect/>
          </a:stretch>
        </p:blipFill>
        <p:spPr>
          <a:xfrm>
            <a:off x="5184381" y="1884775"/>
            <a:ext cx="5089078" cy="4354660"/>
          </a:xfrm>
          <a:prstGeom prst="rect">
            <a:avLst/>
          </a:prstGeom>
        </p:spPr>
      </p:pic>
    </p:spTree>
    <p:extLst>
      <p:ext uri="{BB962C8B-B14F-4D97-AF65-F5344CB8AC3E}">
        <p14:creationId xmlns:p14="http://schemas.microsoft.com/office/powerpoint/2010/main" val="3791954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418238" y="2264633"/>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717589" y="2516392"/>
            <a:ext cx="4083978" cy="1825215"/>
          </a:xfrm>
        </p:spPr>
        <p:txBody>
          <a:bodyPr>
            <a:normAutofit fontScale="62500" lnSpcReduction="20000"/>
          </a:bodyPr>
          <a:lstStyle/>
          <a:p>
            <a:pPr marL="0" indent="0">
              <a:buNone/>
            </a:pPr>
            <a:r>
              <a:rPr lang="es-MX" sz="2800" dirty="0"/>
              <a:t>C) Diseño </a:t>
            </a:r>
          </a:p>
          <a:p>
            <a:pPr marL="0" indent="0">
              <a:buNone/>
            </a:pPr>
            <a:r>
              <a:rPr lang="es-MX" sz="2800" dirty="0"/>
              <a:t>Una vez que se conoce las entradas y las salidas del problema, se deben listar los pasos necesarios para resolver el problema, es decir, el algoritmo.</a:t>
            </a:r>
            <a:endParaRPr lang="es-EC" sz="3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16</a:t>
            </a:fld>
            <a:endParaRPr lang="es-EC"/>
          </a:p>
        </p:txBody>
      </p:sp>
      <p:pic>
        <p:nvPicPr>
          <p:cNvPr id="7" name="Imagen 6">
            <a:extLst>
              <a:ext uri="{FF2B5EF4-FFF2-40B4-BE49-F238E27FC236}">
                <a16:creationId xmlns:a16="http://schemas.microsoft.com/office/drawing/2014/main" id="{7CC13A30-2A9A-4626-B2F3-575543FE7513}"/>
              </a:ext>
            </a:extLst>
          </p:cNvPr>
          <p:cNvPicPr>
            <a:picLocks noChangeAspect="1"/>
          </p:cNvPicPr>
          <p:nvPr/>
        </p:nvPicPr>
        <p:blipFill>
          <a:blip r:embed="rId2"/>
          <a:stretch>
            <a:fillRect/>
          </a:stretch>
        </p:blipFill>
        <p:spPr>
          <a:xfrm>
            <a:off x="4845896" y="1513542"/>
            <a:ext cx="5089078" cy="3171319"/>
          </a:xfrm>
          <a:prstGeom prst="rect">
            <a:avLst/>
          </a:prstGeom>
        </p:spPr>
      </p:pic>
      <p:pic>
        <p:nvPicPr>
          <p:cNvPr id="8" name="Imagen 7">
            <a:extLst>
              <a:ext uri="{FF2B5EF4-FFF2-40B4-BE49-F238E27FC236}">
                <a16:creationId xmlns:a16="http://schemas.microsoft.com/office/drawing/2014/main" id="{0873391D-49DF-42C6-83C5-024708A5769D}"/>
              </a:ext>
            </a:extLst>
          </p:cNvPr>
          <p:cNvPicPr>
            <a:picLocks noChangeAspect="1"/>
          </p:cNvPicPr>
          <p:nvPr/>
        </p:nvPicPr>
        <p:blipFill>
          <a:blip r:embed="rId3"/>
          <a:stretch>
            <a:fillRect/>
          </a:stretch>
        </p:blipFill>
        <p:spPr>
          <a:xfrm>
            <a:off x="5132127" y="4684860"/>
            <a:ext cx="5530879" cy="2036616"/>
          </a:xfrm>
          <a:prstGeom prst="rect">
            <a:avLst/>
          </a:prstGeom>
        </p:spPr>
      </p:pic>
    </p:spTree>
    <p:extLst>
      <p:ext uri="{BB962C8B-B14F-4D97-AF65-F5344CB8AC3E}">
        <p14:creationId xmlns:p14="http://schemas.microsoft.com/office/powerpoint/2010/main" val="2986382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2377141"/>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16940" y="2152126"/>
            <a:ext cx="4083978" cy="2850180"/>
          </a:xfrm>
        </p:spPr>
        <p:txBody>
          <a:bodyPr>
            <a:normAutofit/>
          </a:bodyPr>
          <a:lstStyle/>
          <a:p>
            <a:pPr marL="0" indent="0">
              <a:buNone/>
            </a:pPr>
            <a:r>
              <a:rPr lang="es-MX" sz="1600" dirty="0"/>
              <a:t>D) Implementación </a:t>
            </a:r>
          </a:p>
          <a:p>
            <a:pPr marL="0" indent="0">
              <a:buNone/>
            </a:pPr>
            <a:endParaRPr lang="es-MX" sz="1600" dirty="0"/>
          </a:p>
          <a:p>
            <a:pPr marL="0" indent="0">
              <a:buNone/>
            </a:pPr>
            <a:r>
              <a:rPr lang="es-MX" sz="1600" dirty="0"/>
              <a:t>Para implementar la solución, se debe escribir el algoritmo como un programa de C/C++ que contenga toda la información necesaria para completar la traducción a lenguaje máquina. En la Tabla 3.11.1 se muestra el código del programa en C/C++.</a:t>
            </a:r>
            <a:endParaRPr lang="es-EC" sz="1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17</a:t>
            </a:fld>
            <a:endParaRPr lang="es-EC"/>
          </a:p>
        </p:txBody>
      </p:sp>
      <p:pic>
        <p:nvPicPr>
          <p:cNvPr id="8" name="Imagen 7">
            <a:extLst>
              <a:ext uri="{FF2B5EF4-FFF2-40B4-BE49-F238E27FC236}">
                <a16:creationId xmlns:a16="http://schemas.microsoft.com/office/drawing/2014/main" id="{E24B9833-B39B-44EE-883B-4E1CB87FBBA1}"/>
              </a:ext>
            </a:extLst>
          </p:cNvPr>
          <p:cNvPicPr>
            <a:picLocks noChangeAspect="1"/>
          </p:cNvPicPr>
          <p:nvPr/>
        </p:nvPicPr>
        <p:blipFill>
          <a:blip r:embed="rId2"/>
          <a:stretch>
            <a:fillRect/>
          </a:stretch>
        </p:blipFill>
        <p:spPr>
          <a:xfrm>
            <a:off x="5077875" y="1834314"/>
            <a:ext cx="5064721" cy="3947921"/>
          </a:xfrm>
          <a:prstGeom prst="rect">
            <a:avLst/>
          </a:prstGeom>
        </p:spPr>
      </p:pic>
    </p:spTree>
    <p:extLst>
      <p:ext uri="{BB962C8B-B14F-4D97-AF65-F5344CB8AC3E}">
        <p14:creationId xmlns:p14="http://schemas.microsoft.com/office/powerpoint/2010/main" val="3579384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16940" y="2152126"/>
            <a:ext cx="4083978" cy="2850180"/>
          </a:xfrm>
        </p:spPr>
        <p:txBody>
          <a:bodyPr>
            <a:normAutofit/>
          </a:bodyPr>
          <a:lstStyle/>
          <a:p>
            <a:pPr marL="0" indent="0">
              <a:buNone/>
            </a:pPr>
            <a:r>
              <a:rPr lang="es-MX" sz="1600" dirty="0"/>
              <a:t>D) Implementación </a:t>
            </a:r>
          </a:p>
          <a:p>
            <a:pPr marL="0" indent="0">
              <a:buNone/>
            </a:pPr>
            <a:endParaRPr lang="es-MX" sz="1600" dirty="0"/>
          </a:p>
          <a:p>
            <a:pPr marL="0" indent="0">
              <a:buNone/>
            </a:pPr>
            <a:r>
              <a:rPr lang="es-MX" sz="1600" dirty="0"/>
              <a:t>Para implementar la solución, se debe escribir el algoritmo como un programa de C/C++ que contenga toda la información necesaria para completar la traducción a lenguaje máquina. En la Tabla 3.11.1 se muestra el código del programa en C/C++.</a:t>
            </a:r>
            <a:endParaRPr lang="es-EC" sz="1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18</a:t>
            </a:fld>
            <a:endParaRPr lang="es-EC"/>
          </a:p>
        </p:txBody>
      </p:sp>
      <p:pic>
        <p:nvPicPr>
          <p:cNvPr id="7" name="Imagen 6">
            <a:extLst>
              <a:ext uri="{FF2B5EF4-FFF2-40B4-BE49-F238E27FC236}">
                <a16:creationId xmlns:a16="http://schemas.microsoft.com/office/drawing/2014/main" id="{9244A8E7-A479-421B-9A48-2D86D2F0453A}"/>
              </a:ext>
            </a:extLst>
          </p:cNvPr>
          <p:cNvPicPr>
            <a:picLocks noChangeAspect="1"/>
          </p:cNvPicPr>
          <p:nvPr/>
        </p:nvPicPr>
        <p:blipFill rotWithShape="1">
          <a:blip r:embed="rId2"/>
          <a:srcRect t="975" b="1"/>
          <a:stretch/>
        </p:blipFill>
        <p:spPr>
          <a:xfrm>
            <a:off x="5547089" y="33429"/>
            <a:ext cx="4166660" cy="6791141"/>
          </a:xfrm>
          <a:prstGeom prst="rect">
            <a:avLst/>
          </a:prstGeom>
        </p:spPr>
      </p:pic>
    </p:spTree>
    <p:extLst>
      <p:ext uri="{BB962C8B-B14F-4D97-AF65-F5344CB8AC3E}">
        <p14:creationId xmlns:p14="http://schemas.microsoft.com/office/powerpoint/2010/main" val="3327939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16940" y="2152126"/>
            <a:ext cx="4083978" cy="2850180"/>
          </a:xfrm>
        </p:spPr>
        <p:txBody>
          <a:bodyPr>
            <a:normAutofit/>
          </a:bodyPr>
          <a:lstStyle/>
          <a:p>
            <a:pPr marL="0" indent="0">
              <a:buNone/>
            </a:pPr>
            <a:r>
              <a:rPr lang="es-MX" sz="1600" dirty="0"/>
              <a:t>D) Implementación </a:t>
            </a:r>
          </a:p>
          <a:p>
            <a:pPr marL="0" indent="0">
              <a:buNone/>
            </a:pPr>
            <a:endParaRPr lang="es-MX" sz="1600" dirty="0"/>
          </a:p>
          <a:p>
            <a:pPr marL="0" indent="0">
              <a:buNone/>
            </a:pPr>
            <a:r>
              <a:rPr lang="es-MX" sz="1600" dirty="0"/>
              <a:t>Para implementar la solución, se debe escribir el algoritmo como un programa de C/C++ que contenga toda la información necesaria para completar la traducción a lenguaje máquina. En la Tabla 3.11.1 se muestra el código del programa en C/C++.</a:t>
            </a:r>
            <a:endParaRPr lang="es-EC" sz="1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19</a:t>
            </a:fld>
            <a:endParaRPr lang="es-EC"/>
          </a:p>
        </p:txBody>
      </p:sp>
      <p:pic>
        <p:nvPicPr>
          <p:cNvPr id="6" name="Imagen 5">
            <a:extLst>
              <a:ext uri="{FF2B5EF4-FFF2-40B4-BE49-F238E27FC236}">
                <a16:creationId xmlns:a16="http://schemas.microsoft.com/office/drawing/2014/main" id="{F7E75111-EFAA-4B2D-BFCD-89F515DC5EAF}"/>
              </a:ext>
            </a:extLst>
          </p:cNvPr>
          <p:cNvPicPr>
            <a:picLocks noChangeAspect="1"/>
          </p:cNvPicPr>
          <p:nvPr/>
        </p:nvPicPr>
        <p:blipFill>
          <a:blip r:embed="rId2"/>
          <a:stretch>
            <a:fillRect/>
          </a:stretch>
        </p:blipFill>
        <p:spPr>
          <a:xfrm>
            <a:off x="5312001" y="1936376"/>
            <a:ext cx="4563112" cy="2488125"/>
          </a:xfrm>
          <a:prstGeom prst="rect">
            <a:avLst/>
          </a:prstGeom>
        </p:spPr>
      </p:pic>
      <p:sp>
        <p:nvSpPr>
          <p:cNvPr id="8" name="Título 1">
            <a:extLst>
              <a:ext uri="{FF2B5EF4-FFF2-40B4-BE49-F238E27FC236}">
                <a16:creationId xmlns:a16="http://schemas.microsoft.com/office/drawing/2014/main" id="{8881EDC8-8056-4159-93B7-95A1776198F9}"/>
              </a:ext>
            </a:extLst>
          </p:cNvPr>
          <p:cNvSpPr>
            <a:spLocks noGrp="1"/>
          </p:cNvSpPr>
          <p:nvPr>
            <p:ph type="title"/>
          </p:nvPr>
        </p:nvSpPr>
        <p:spPr>
          <a:xfrm>
            <a:off x="609600" y="2377141"/>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9" name="CuadroTexto 8">
            <a:extLst>
              <a:ext uri="{FF2B5EF4-FFF2-40B4-BE49-F238E27FC236}">
                <a16:creationId xmlns:a16="http://schemas.microsoft.com/office/drawing/2014/main" id="{86460096-C60A-4856-81A7-61559E748500}"/>
              </a:ext>
            </a:extLst>
          </p:cNvPr>
          <p:cNvSpPr txBox="1"/>
          <p:nvPr/>
        </p:nvSpPr>
        <p:spPr>
          <a:xfrm>
            <a:off x="5399625" y="4843680"/>
            <a:ext cx="359383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3.11</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824639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510988" y="2266576"/>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016940" y="2152125"/>
            <a:ext cx="5912778" cy="4204225"/>
          </a:xfrm>
        </p:spPr>
        <p:txBody>
          <a:bodyPr>
            <a:normAutofit/>
          </a:bodyPr>
          <a:lstStyle/>
          <a:p>
            <a:pPr marL="0" indent="0">
              <a:buNone/>
            </a:pPr>
            <a:r>
              <a:rPr lang="es-MX" sz="1200" dirty="0"/>
              <a:t>E) Pruebas Desde la Tabla 3.11.2, hasta la Tabla 3.11.7, se muestran seis ejemplos de la salida del programa, donde se puede ver que los resultados del programa tienen sentido, comparando estos resultados con los datos devueltos por una calculadora. En la salida de la Tabla 3.11.2 se puede ver que, al seleccionar la opción 1 se puede ingresar el primer número que es el 7 y el segundo número que es el 2, obteniéndose la suma entre estos dos números que es 9. De manera similar, en la salida de la Tabla 3.11.3 se puede ver que, al seleccionar la opción 2 se puede ingresar el primer número que es el 7 y el segundo número que es el 2, obteniéndose la resta entre estos dos números que es 5. En la salida de la Tabla 3.11.4 se puede ver que, al seleccionar la opción 3 se puede ingresar el primer número que es el 7 y el segundo número que es el 2, obteniéndose la multiplicación entre estos dos números que es 14. En la salida de la Tabla 3.11.5 se puede ver que, al seleccionar la opción 4 se puede ingresar el primer número que es el 7 y el segundo número que es el 2, obteniéndose la división entera entre estos dos números que es 3. En la salida de la Tabla 3.11.6 se puede ver que, al seleccionar la opción 5 se puede ingresar el primer número que es el 7 y el segundo número que es el 2, obteniéndose el módulo o el resto de una división entera entre estos dos números que es 1. Finalmente, en la salida de la Tabla 3.11.7 se puede ver que, al seleccionar la opción 7, el programa indica que es una opción incorrecta y no realiza ningún cálculo matemático. </a:t>
            </a:r>
            <a:endParaRPr lang="es-EC" sz="16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20</a:t>
            </a:fld>
            <a:endParaRPr lang="es-EC"/>
          </a:p>
        </p:txBody>
      </p:sp>
      <p:pic>
        <p:nvPicPr>
          <p:cNvPr id="10" name="Imagen 9">
            <a:extLst>
              <a:ext uri="{FF2B5EF4-FFF2-40B4-BE49-F238E27FC236}">
                <a16:creationId xmlns:a16="http://schemas.microsoft.com/office/drawing/2014/main" id="{C9A137A4-77A3-48C1-99C8-75816502CB25}"/>
              </a:ext>
            </a:extLst>
          </p:cNvPr>
          <p:cNvPicPr>
            <a:picLocks noChangeAspect="1"/>
          </p:cNvPicPr>
          <p:nvPr/>
        </p:nvPicPr>
        <p:blipFill>
          <a:blip r:embed="rId2"/>
          <a:stretch>
            <a:fillRect/>
          </a:stretch>
        </p:blipFill>
        <p:spPr>
          <a:xfrm>
            <a:off x="6759743" y="2281654"/>
            <a:ext cx="4801270" cy="1695687"/>
          </a:xfrm>
          <a:prstGeom prst="rect">
            <a:avLst/>
          </a:prstGeom>
        </p:spPr>
      </p:pic>
      <p:sp>
        <p:nvSpPr>
          <p:cNvPr id="11" name="CuadroTexto 10">
            <a:extLst>
              <a:ext uri="{FF2B5EF4-FFF2-40B4-BE49-F238E27FC236}">
                <a16:creationId xmlns:a16="http://schemas.microsoft.com/office/drawing/2014/main" id="{B059B5C0-FDAE-4433-AB64-AFD16B967FE1}"/>
              </a:ext>
            </a:extLst>
          </p:cNvPr>
          <p:cNvSpPr txBox="1"/>
          <p:nvPr/>
        </p:nvSpPr>
        <p:spPr>
          <a:xfrm>
            <a:off x="7290404" y="4142066"/>
            <a:ext cx="397535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3.11</a:t>
            </a:r>
            <a:r>
              <a:rPr lang="es-ES" sz="1200" dirty="0">
                <a:solidFill>
                  <a:schemeClr val="tx1">
                    <a:lumMod val="50000"/>
                    <a:lumOff val="50000"/>
                  </a:schemeClr>
                </a:solidFill>
                <a:latin typeface="+mj-lt"/>
              </a:rPr>
              <a:t>. 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949982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609600" y="2054412"/>
            <a:ext cx="10972800" cy="1600200"/>
          </a:xfrm>
        </p:spPr>
        <p:txBody>
          <a:bodyPr/>
          <a:lstStyle/>
          <a:p>
            <a:r>
              <a:rPr lang="es-MX" sz="4000" b="1" dirty="0"/>
              <a:t>Caso de Estudio 3.11: Menú con 5 Operaciones Matemáticas </a:t>
            </a:r>
            <a:br>
              <a:rPr lang="es-MX" sz="5400" b="1" dirty="0">
                <a:solidFill>
                  <a:srgbClr val="FF0000"/>
                </a:solidFill>
              </a:rPr>
            </a:br>
            <a:br>
              <a:rPr lang="es-MX" b="1" dirty="0"/>
            </a:br>
            <a:br>
              <a:rPr lang="es-MX" b="1" dirty="0"/>
            </a:b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fld id="{5290B73B-B6A1-476A-B629-21320BBC12E2}" type="datetime1">
              <a:rPr lang="es-EC" smtClean="0"/>
              <a:t>2/12/2025</a:t>
            </a:fld>
            <a:endParaRPr lang="es-EC"/>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21</a:t>
            </a:fld>
            <a:endParaRPr lang="es-EC"/>
          </a:p>
        </p:txBody>
      </p:sp>
      <p:pic>
        <p:nvPicPr>
          <p:cNvPr id="11" name="Imagen 10">
            <a:extLst>
              <a:ext uri="{FF2B5EF4-FFF2-40B4-BE49-F238E27FC236}">
                <a16:creationId xmlns:a16="http://schemas.microsoft.com/office/drawing/2014/main" id="{0E9A2BCB-0385-4654-B31F-005894A38662}"/>
              </a:ext>
            </a:extLst>
          </p:cNvPr>
          <p:cNvPicPr>
            <a:picLocks noChangeAspect="1"/>
          </p:cNvPicPr>
          <p:nvPr/>
        </p:nvPicPr>
        <p:blipFill>
          <a:blip r:embed="rId2"/>
          <a:stretch>
            <a:fillRect/>
          </a:stretch>
        </p:blipFill>
        <p:spPr>
          <a:xfrm>
            <a:off x="283221" y="1361538"/>
            <a:ext cx="5163271" cy="3686689"/>
          </a:xfrm>
          <a:prstGeom prst="rect">
            <a:avLst/>
          </a:prstGeom>
        </p:spPr>
      </p:pic>
      <p:pic>
        <p:nvPicPr>
          <p:cNvPr id="13" name="Imagen 12">
            <a:extLst>
              <a:ext uri="{FF2B5EF4-FFF2-40B4-BE49-F238E27FC236}">
                <a16:creationId xmlns:a16="http://schemas.microsoft.com/office/drawing/2014/main" id="{811ACEA3-62AA-4738-832D-A83A50E057DC}"/>
              </a:ext>
            </a:extLst>
          </p:cNvPr>
          <p:cNvPicPr>
            <a:picLocks noChangeAspect="1"/>
          </p:cNvPicPr>
          <p:nvPr/>
        </p:nvPicPr>
        <p:blipFill>
          <a:blip r:embed="rId3"/>
          <a:stretch>
            <a:fillRect/>
          </a:stretch>
        </p:blipFill>
        <p:spPr>
          <a:xfrm>
            <a:off x="6250867" y="2764925"/>
            <a:ext cx="5077534" cy="3591426"/>
          </a:xfrm>
          <a:prstGeom prst="rect">
            <a:avLst/>
          </a:prstGeom>
        </p:spPr>
      </p:pic>
      <p:sp>
        <p:nvSpPr>
          <p:cNvPr id="14" name="CuadroTexto 13">
            <a:extLst>
              <a:ext uri="{FF2B5EF4-FFF2-40B4-BE49-F238E27FC236}">
                <a16:creationId xmlns:a16="http://schemas.microsoft.com/office/drawing/2014/main" id="{9DEA07C9-5525-46BC-9C60-E3C652620020}"/>
              </a:ext>
            </a:extLst>
          </p:cNvPr>
          <p:cNvSpPr txBox="1"/>
          <p:nvPr/>
        </p:nvSpPr>
        <p:spPr>
          <a:xfrm>
            <a:off x="393743" y="517329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Ejecuciones 3.11</a:t>
            </a:r>
            <a:r>
              <a:rPr lang="es-ES" sz="1200" dirty="0">
                <a:solidFill>
                  <a:schemeClr val="tx1">
                    <a:lumMod val="50000"/>
                    <a:lumOff val="50000"/>
                  </a:schemeClr>
                </a:solidFill>
                <a:latin typeface="+mj-lt"/>
              </a:rPr>
              <a:t>. 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449197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2/12/2025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23</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7122</TotalTime>
  <Words>1674</Words>
  <Application>Microsoft Office PowerPoint</Application>
  <PresentationFormat>Panorámica</PresentationFormat>
  <Paragraphs>135</Paragraphs>
  <Slides>23</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23</vt:i4>
      </vt:variant>
    </vt:vector>
  </HeadingPairs>
  <TitlesOfParts>
    <vt:vector size="31"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Secuencia de Sentencias if-else     </vt:lpstr>
      <vt:lpstr>Secuencia de Sentencias if-else     </vt:lpstr>
      <vt:lpstr>Contenido</vt:lpstr>
      <vt:lpstr>    </vt:lpstr>
      <vt:lpstr>Presentación de PowerPoint</vt:lpstr>
      <vt:lpstr>Presentación de PowerPoint</vt:lpstr>
      <vt:lpstr>Presentación de PowerPoint</vt:lpstr>
      <vt:lpstr>Contenido</vt:lpstr>
      <vt:lpstr>Caso de Estudio 3.11: Menú con 5 Operaciones Matemáticas    </vt:lpstr>
      <vt:lpstr>Caso de Estudio 3.11: Menú con 5 Operaciones Matemáticas    </vt:lpstr>
      <vt:lpstr>Caso de Estudio 3.11: Menú con 5 Operaciones Matemáticas    </vt:lpstr>
      <vt:lpstr>Caso de Estudio 3.11: Menú con 5 Operaciones Matemáticas    </vt:lpstr>
      <vt:lpstr>Caso de Estudio 3.11: Menú con 5 Operaciones Matemáticas    </vt:lpstr>
      <vt:lpstr>Caso de Estudio 3.11: Menú con 5 Operaciones Matemáticas    </vt:lpstr>
      <vt:lpstr>Caso de Estudio 3.11: Menú con 5 Operaciones Matemáticas    </vt:lpstr>
      <vt:lpstr>Presentación de PowerPoint</vt:lpstr>
      <vt:lpstr>Caso de Estudio 3.11: Menú con 5 Operaciones Matemáticas    </vt:lpstr>
      <vt:lpstr>Caso de Estudio 3.11: Menú con 5 Operaciones Matemáticas    </vt:lpstr>
      <vt:lpstr>Caso de Estudio 3.11: Menú con 5 Operaciones Matemáticas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HP</cp:lastModifiedBy>
  <cp:revision>9</cp:revision>
  <dcterms:created xsi:type="dcterms:W3CDTF">2025-10-07T22:49:11Z</dcterms:created>
  <dcterms:modified xsi:type="dcterms:W3CDTF">2025-12-03T02:20:44Z</dcterms:modified>
</cp:coreProperties>
</file>