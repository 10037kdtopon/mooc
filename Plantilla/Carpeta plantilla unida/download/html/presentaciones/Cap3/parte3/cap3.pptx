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4"/>
  </p:notesMasterIdLst>
  <p:sldIdLst>
    <p:sldId id="311" r:id="rId3"/>
    <p:sldId id="257" r:id="rId4"/>
    <p:sldId id="436" r:id="rId5"/>
    <p:sldId id="497" r:id="rId6"/>
    <p:sldId id="461" r:id="rId7"/>
    <p:sldId id="498" r:id="rId8"/>
    <p:sldId id="499" r:id="rId9"/>
    <p:sldId id="500" r:id="rId10"/>
    <p:sldId id="501" r:id="rId11"/>
    <p:sldId id="502" r:id="rId12"/>
    <p:sldId id="503" r:id="rId13"/>
    <p:sldId id="504" r:id="rId14"/>
    <p:sldId id="505" r:id="rId15"/>
    <p:sldId id="506" r:id="rId16"/>
    <p:sldId id="507" r:id="rId17"/>
    <p:sldId id="508" r:id="rId18"/>
    <p:sldId id="509" r:id="rId19"/>
    <p:sldId id="510" r:id="rId20"/>
    <p:sldId id="511" r:id="rId21"/>
    <p:sldId id="393" r:id="rId22"/>
    <p:sldId id="275" r:id="rId23"/>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1" clrIdx="0">
    <p:extLst>
      <p:ext uri="{19B8F6BF-5375-455C-9EA6-DF929625EA0E}">
        <p15:presenceInfo xmlns:p15="http://schemas.microsoft.com/office/powerpoint/2012/main" userId="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4660"/>
  </p:normalViewPr>
  <p:slideViewPr>
    <p:cSldViewPr snapToGrid="0">
      <p:cViewPr varScale="1">
        <p:scale>
          <a:sx n="114" d="100"/>
          <a:sy n="114" d="100"/>
        </p:scale>
        <p:origin x="46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8CED94-31AE-4F5B-8709-9EE6847871F2}" type="datetimeFigureOut">
              <a:rPr lang="es-EC" smtClean="0"/>
              <a:t>26/11/2025</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0BA548-DDEF-4F9F-BFB7-376C64D66F29}" type="slidenum">
              <a:rPr lang="es-EC" smtClean="0"/>
              <a:t>‹Nº›</a:t>
            </a:fld>
            <a:endParaRPr lang="es-EC"/>
          </a:p>
        </p:txBody>
      </p:sp>
    </p:spTree>
    <p:extLst>
      <p:ext uri="{BB962C8B-B14F-4D97-AF65-F5344CB8AC3E}">
        <p14:creationId xmlns:p14="http://schemas.microsoft.com/office/powerpoint/2010/main" val="1909746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C" dirty="0"/>
          </a:p>
        </p:txBody>
      </p:sp>
      <p:sp>
        <p:nvSpPr>
          <p:cNvPr id="4" name="3 Marcador de número de diapositiva"/>
          <p:cNvSpPr>
            <a:spLocks noGrp="1"/>
          </p:cNvSpPr>
          <p:nvPr>
            <p:ph type="sldNum" sz="quarter" idx="10"/>
          </p:nvPr>
        </p:nvSpPr>
        <p:spPr/>
        <p:txBody>
          <a:bodyPr/>
          <a:lstStyle/>
          <a:p>
            <a:fld id="{C8DD2930-2CA9-432A-8292-C602BD3CCB94}" type="slidenum">
              <a:rPr lang="es-EC" smtClean="0"/>
              <a:t>1</a:t>
            </a:fld>
            <a:endParaRPr lang="es-EC"/>
          </a:p>
        </p:txBody>
      </p:sp>
    </p:spTree>
    <p:extLst>
      <p:ext uri="{BB962C8B-B14F-4D97-AF65-F5344CB8AC3E}">
        <p14:creationId xmlns:p14="http://schemas.microsoft.com/office/powerpoint/2010/main" val="2391200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CC7BAC-9B27-4D41-86D4-17A64712F6C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C8696901-9D51-4ACB-9E52-138A646487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A47075C9-5BD9-48BE-81D8-A5DF89ABA9B8}"/>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74ECE3FF-9B3C-41FF-83A3-DC301E164E3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4098DD64-4C4C-4CF0-A1D8-548C6B219C9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4043315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8EE04A-1464-495C-AB23-285481F202B3}"/>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66481BAA-B5E0-4A42-AF73-DB64610941E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4173864D-1BB6-4970-9FB2-EB9CA1DBB023}"/>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B16A309E-8B6C-45EC-B2E1-135D1A67880D}"/>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DCD73BB0-43D6-4B2D-BD1C-5F0348B12AB0}"/>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537653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F7563C-A255-4CD0-8382-6E01E1F46B6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C9AFCB1D-B223-406D-A214-6CD8AB31E7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376DDE4-9972-40A9-A47B-3D4CBAD965FD}"/>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329A76B5-F295-4F9F-80F2-EC5028095DEE}"/>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B7B0CCA-DE77-47E7-A59A-1281E1CE2907}"/>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492325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4126A1-7217-4B36-B0F6-288496E6BCEC}"/>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4930F61E-D05E-4EBC-8B4B-561FDC242B1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CBA476B6-B707-426F-92C5-8F60BFE3E9F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DFA9A5C4-7E4F-4960-ADF2-B6951DA38CDA}"/>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6" name="Marcador de pie de página 5">
            <a:extLst>
              <a:ext uri="{FF2B5EF4-FFF2-40B4-BE49-F238E27FC236}">
                <a16:creationId xmlns:a16="http://schemas.microsoft.com/office/drawing/2014/main" id="{300DBC4A-7F24-4081-8A6F-9AE898709FA2}"/>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A05C1AA0-F3EF-4089-BFCB-19B079F21DD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25583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5B7D27-2A46-4305-8297-59313B85C53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1ED0EBF5-B590-4168-BED4-66F9256413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8D4FE9B-C326-4DC1-AB58-21F1EDC590E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912F17B3-3B22-4F98-8253-500EC862CB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3688F30-BBAE-45ED-B913-16C24B962EB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53A608A7-9040-40F4-B5EA-1D2D8CB7E429}"/>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8" name="Marcador de pie de página 7">
            <a:extLst>
              <a:ext uri="{FF2B5EF4-FFF2-40B4-BE49-F238E27FC236}">
                <a16:creationId xmlns:a16="http://schemas.microsoft.com/office/drawing/2014/main" id="{A7A38726-DB7C-44CF-B16C-2888FBD9D0FD}"/>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690B4177-927B-4311-A099-B44A80BD63B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723832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C0FC75-39D0-4202-A6B1-79DF445FA747}"/>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2B9B2927-2C29-42B9-B6B7-532F994F994B}"/>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4" name="Marcador de pie de página 3">
            <a:extLst>
              <a:ext uri="{FF2B5EF4-FFF2-40B4-BE49-F238E27FC236}">
                <a16:creationId xmlns:a16="http://schemas.microsoft.com/office/drawing/2014/main" id="{D767A9B8-F1F2-48F4-8337-7213ADA9AC3E}"/>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75CAA39B-47A9-42F8-AF68-918C7624212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057490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35E7371-5007-49B8-BC47-82F085CFFA87}"/>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3" name="Marcador de pie de página 2">
            <a:extLst>
              <a:ext uri="{FF2B5EF4-FFF2-40B4-BE49-F238E27FC236}">
                <a16:creationId xmlns:a16="http://schemas.microsoft.com/office/drawing/2014/main" id="{EAC35D8D-0DAD-4CED-92DE-176A44D4EFEE}"/>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A79B3E97-5178-4E8E-B020-BEB305CEC7D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35911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67FC53-94F8-46E4-BE28-1CCD91A0325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732BA8FA-B313-4758-B5BD-CFF2B223A6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8EECB238-ADE5-4692-B4CB-1954DD868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566E361-51AF-4218-B415-4DF9B992EC29}"/>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6" name="Marcador de pie de página 5">
            <a:extLst>
              <a:ext uri="{FF2B5EF4-FFF2-40B4-BE49-F238E27FC236}">
                <a16:creationId xmlns:a16="http://schemas.microsoft.com/office/drawing/2014/main" id="{A0920A1D-C77C-46B8-A93E-1A94C322D9E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CEB09875-3881-4056-A249-3703AD0D18B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806432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2669C0-7E62-4710-9299-9DAEA59855D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0789536F-D1A6-46F1-AAF0-27332E602B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9E2D8E19-F8EC-41F6-822A-E695A5664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1A9895B-A707-4856-84F8-F69C2A6AC65A}"/>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6" name="Marcador de pie de página 5">
            <a:extLst>
              <a:ext uri="{FF2B5EF4-FFF2-40B4-BE49-F238E27FC236}">
                <a16:creationId xmlns:a16="http://schemas.microsoft.com/office/drawing/2014/main" id="{B2480D8A-AF65-456F-A70D-211912A4733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3A1C41D0-AA19-4C22-B342-F300AC925266}"/>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648687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D7A592-EC17-498E-B4F1-021D1F61D61A}"/>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3A73E03F-3E04-4E93-9716-43891DFDD9E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BC9CF76E-E651-44FB-9C3E-080B77E5E504}"/>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AD5F4A3C-030C-4F53-9297-A01107A128E7}"/>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07AF58D-F9FF-4406-84AD-DCDE23E7886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871106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D8E5DA3-0A5E-4689-8CFF-0CED113D3E4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E40C7386-FCE4-40EC-9309-6F13FC22507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7D68580-0F33-46AF-AA4D-41AD3A71C69A}"/>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814F2A89-7C20-4F42-B541-94E08BC476D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6AA7B955-7AEE-4F7E-8B16-8780283F6911}"/>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767920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09601"/>
            <a:ext cx="10363200" cy="4267200"/>
          </a:xfrm>
        </p:spPr>
        <p:txBody>
          <a:bodyPr anchor="b">
            <a:noAutofit/>
          </a:bodyPr>
          <a:lstStyle>
            <a:lvl1pPr>
              <a:lnSpc>
                <a:spcPct val="100000"/>
              </a:lnSpc>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28800" y="4953000"/>
            <a:ext cx="85344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E7C4E607-19DA-460D-873F-2665A632EB4B}" type="datetime1">
              <a:rPr lang="es-EC" smtClean="0"/>
              <a:t>26/11/2025</a:t>
            </a:fld>
            <a:endParaRPr lang="es-EC"/>
          </a:p>
        </p:txBody>
      </p:sp>
      <p:sp>
        <p:nvSpPr>
          <p:cNvPr id="8" name="Slide Number Placeholder 7"/>
          <p:cNvSpPr>
            <a:spLocks noGrp="1"/>
          </p:cNvSpPr>
          <p:nvPr>
            <p:ph type="sldNum" sz="quarter" idx="11"/>
          </p:nvPr>
        </p:nvSpPr>
        <p:spPr/>
        <p:txBody>
          <a:bodyPr/>
          <a:lstStyle/>
          <a:p>
            <a:fld id="{14B28EB2-3408-4757-A806-361BA67028B7}" type="slidenum">
              <a:rPr lang="es-EC" smtClean="0"/>
              <a:t>‹Nº›</a:t>
            </a:fld>
            <a:endParaRPr lang="es-EC"/>
          </a:p>
        </p:txBody>
      </p:sp>
      <p:sp>
        <p:nvSpPr>
          <p:cNvPr id="9" name="Footer Placeholder 8"/>
          <p:cNvSpPr>
            <a:spLocks noGrp="1"/>
          </p:cNvSpPr>
          <p:nvPr>
            <p:ph type="ftr" sz="quarter" idx="12"/>
          </p:nvPr>
        </p:nvSpPr>
        <p:spPr/>
        <p:txBody>
          <a:bodyPr/>
          <a:lstStyle/>
          <a:p>
            <a:endParaRPr lang="es-EC"/>
          </a:p>
        </p:txBody>
      </p:sp>
    </p:spTree>
    <p:extLst>
      <p:ext uri="{BB962C8B-B14F-4D97-AF65-F5344CB8AC3E}">
        <p14:creationId xmlns:p14="http://schemas.microsoft.com/office/powerpoint/2010/main" val="2345790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90B73B-B6A1-476A-B629-21320BBC12E2}"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7803679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963084" y="1371601"/>
            <a:ext cx="103632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63084" y="4068764"/>
            <a:ext cx="103632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DC2038A-D817-4671-8CB8-0981B299E92B}"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
        <p:nvSpPr>
          <p:cNvPr id="7" name="Oval 6"/>
          <p:cNvSpPr/>
          <p:nvPr/>
        </p:nvSpPr>
        <p:spPr>
          <a:xfrm>
            <a:off x="59944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Oval 7"/>
          <p:cNvSpPr/>
          <p:nvPr/>
        </p:nvSpPr>
        <p:spPr>
          <a:xfrm>
            <a:off x="62611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Oval 8"/>
          <p:cNvSpPr/>
          <p:nvPr/>
        </p:nvSpPr>
        <p:spPr>
          <a:xfrm>
            <a:off x="5728971"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057881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DC4ADFD-670B-42AB-AA2D-8905C1A1B3E7}" type="datetime1">
              <a:rPr lang="es-EC" smtClean="0"/>
              <a:t>26/11/2025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
        <p:nvSpPr>
          <p:cNvPr id="9" name="Content Placeholder 8"/>
          <p:cNvSpPr>
            <a:spLocks noGrp="1"/>
          </p:cNvSpPr>
          <p:nvPr>
            <p:ph sz="quarter" idx="13"/>
          </p:nvPr>
        </p:nvSpPr>
        <p:spPr>
          <a:xfrm>
            <a:off x="487680" y="1600200"/>
            <a:ext cx="5388864"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0397848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609600" y="1600200"/>
            <a:ext cx="5386917"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5" name="Text Placeholder 4"/>
          <p:cNvSpPr>
            <a:spLocks noGrp="1"/>
          </p:cNvSpPr>
          <p:nvPr>
            <p:ph type="body" sz="quarter" idx="3"/>
          </p:nvPr>
        </p:nvSpPr>
        <p:spPr>
          <a:xfrm>
            <a:off x="6197601" y="1600200"/>
            <a:ext cx="5389033"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7" name="Date Placeholder 6"/>
          <p:cNvSpPr>
            <a:spLocks noGrp="1"/>
          </p:cNvSpPr>
          <p:nvPr>
            <p:ph type="dt" sz="half" idx="10"/>
          </p:nvPr>
        </p:nvSpPr>
        <p:spPr/>
        <p:txBody>
          <a:bodyPr/>
          <a:lstStyle/>
          <a:p>
            <a:fld id="{9891E5A2-5B64-4460-A741-AB3873F3AED1}" type="datetime1">
              <a:rPr lang="es-EC" smtClean="0"/>
              <a:t>26/11/2025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14B28EB2-3408-4757-A806-361BA67028B7}" type="slidenum">
              <a:rPr lang="es-EC" smtClean="0"/>
              <a:t>‹Nº›</a:t>
            </a:fld>
            <a:endParaRPr lang="es-EC"/>
          </a:p>
        </p:txBody>
      </p:sp>
      <p:sp>
        <p:nvSpPr>
          <p:cNvPr id="11" name="Content Placeholder 10"/>
          <p:cNvSpPr>
            <a:spLocks noGrp="1"/>
          </p:cNvSpPr>
          <p:nvPr>
            <p:ph sz="quarter" idx="13"/>
          </p:nvPr>
        </p:nvSpPr>
        <p:spPr>
          <a:xfrm>
            <a:off x="609600" y="2212848"/>
            <a:ext cx="5388864" cy="391363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12"/>
          <p:cNvSpPr>
            <a:spLocks noGrp="1"/>
          </p:cNvSpPr>
          <p:nvPr>
            <p:ph sz="quarter" idx="14"/>
          </p:nvPr>
        </p:nvSpPr>
        <p:spPr>
          <a:xfrm>
            <a:off x="6230112" y="2212849"/>
            <a:ext cx="5388864" cy="39131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9078601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0B840B2-0BA1-4127-9E25-74D449B7ADFD}" type="datetime1">
              <a:rPr lang="es-EC" smtClean="0"/>
              <a:t>26/11/2025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8228857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0FE62-E592-4B65-AFBD-C1CCC30A5FE7}" type="datetime1">
              <a:rPr lang="es-EC" smtClean="0"/>
              <a:t>26/11/2025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2044298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876117" y="266700"/>
            <a:ext cx="4011084"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958850" y="273051"/>
            <a:ext cx="66611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876117" y="2438401"/>
            <a:ext cx="4011084"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7F15ACB-451F-4A5F-BEC9-AE2F848845F3}" type="datetime1">
              <a:rPr lang="es-EC" smtClean="0"/>
              <a:t>26/11/2025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098081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39435" y="228600"/>
            <a:ext cx="7615765" cy="895350"/>
          </a:xfrm>
        </p:spPr>
        <p:txBody>
          <a:bodyPr anchor="b"/>
          <a:lstStyle>
            <a:lvl1pPr algn="ctr">
              <a:lnSpc>
                <a:spcPct val="100000"/>
              </a:lnSpc>
              <a:defRPr sz="28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2010835" y="1143000"/>
            <a:ext cx="8072965"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239435" y="5810250"/>
            <a:ext cx="7615765"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A422F84-0CF5-40B2-88A0-C1094D415436}" type="datetime1">
              <a:rPr lang="es-EC" smtClean="0"/>
              <a:t>26/11/2025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142348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BD623C0-6495-45E5-AD9B-690C29EB2D28}"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38409558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4D8EE3C-3A2D-421B-8BCE-DCA3638F2800}"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532420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AEA5EB9-22C8-48CC-B673-E9C9F408D6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48272E61-B9B7-40DF-800F-CC8677E06E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B85FAC1-C067-4AAB-8D19-E96E83F310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36B0AB3B-8269-400B-BFAF-4F88BCEB84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B1B75696-BDD5-4991-809C-CDE0AB2126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5A2F40-EC8C-41F3-BD8D-F3F005ABEE3D}" type="slidenum">
              <a:rPr lang="es-EC" smtClean="0"/>
              <a:t>‹Nº›</a:t>
            </a:fld>
            <a:endParaRPr lang="es-EC"/>
          </a:p>
        </p:txBody>
      </p:sp>
    </p:spTree>
    <p:extLst>
      <p:ext uri="{BB962C8B-B14F-4D97-AF65-F5344CB8AC3E}">
        <p14:creationId xmlns:p14="http://schemas.microsoft.com/office/powerpoint/2010/main" val="2127626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484463" y="6356351"/>
            <a:ext cx="2781300"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214FB16F-AFAA-44A5-84B2-773ABBFEBDB3}" type="datetime1">
              <a:rPr lang="es-EC" smtClean="0"/>
              <a:t>26/11/2025</a:t>
            </a:fld>
            <a:endParaRPr lang="es-EC"/>
          </a:p>
        </p:txBody>
      </p:sp>
      <p:sp>
        <p:nvSpPr>
          <p:cNvPr id="5" name="Footer Placeholder 4"/>
          <p:cNvSpPr>
            <a:spLocks noGrp="1"/>
          </p:cNvSpPr>
          <p:nvPr>
            <p:ph type="ftr" sz="quarter" idx="3"/>
          </p:nvPr>
        </p:nvSpPr>
        <p:spPr>
          <a:xfrm>
            <a:off x="878887" y="6356351"/>
            <a:ext cx="3797300"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s-EC"/>
          </a:p>
        </p:txBody>
      </p:sp>
      <p:sp>
        <p:nvSpPr>
          <p:cNvPr id="6" name="Slide Number Placeholder 5"/>
          <p:cNvSpPr>
            <a:spLocks noGrp="1"/>
          </p:cNvSpPr>
          <p:nvPr>
            <p:ph type="sldNum" sz="quarter" idx="4"/>
          </p:nvPr>
        </p:nvSpPr>
        <p:spPr>
          <a:xfrm>
            <a:off x="11391038" y="6356351"/>
            <a:ext cx="749300"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14B28EB2-3408-4757-A806-361BA67028B7}" type="slidenum">
              <a:rPr lang="es-EC" smtClean="0"/>
              <a:t>‹Nº›</a:t>
            </a:fld>
            <a:endParaRPr lang="es-EC"/>
          </a:p>
        </p:txBody>
      </p:sp>
      <p:sp>
        <p:nvSpPr>
          <p:cNvPr id="7" name="Oval 6"/>
          <p:cNvSpPr/>
          <p:nvPr/>
        </p:nvSpPr>
        <p:spPr>
          <a:xfrm>
            <a:off x="11277014"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758826"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2648205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1371237" y="2031002"/>
            <a:ext cx="3562424" cy="1296144"/>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8000" kern="120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MX" sz="2400" b="1" dirty="0">
                <a:effectLst/>
                <a:latin typeface="Arial" pitchFamily="34" charset="0"/>
                <a:cs typeface="Arial" pitchFamily="34" charset="0"/>
              </a:rPr>
              <a:t>CAPÍTULO 3 ALGORITMOS Y ESTRUCTURAS DE CONTROL SELECTIVAS EN LENGUAJE C/C++</a:t>
            </a:r>
            <a:endParaRPr lang="es-ES" sz="2400" b="1" dirty="0">
              <a:effectLst/>
              <a:latin typeface="Arial" pitchFamily="34" charset="0"/>
              <a:cs typeface="Arial" pitchFamily="34" charset="0"/>
            </a:endParaRPr>
          </a:p>
        </p:txBody>
      </p:sp>
      <p:sp>
        <p:nvSpPr>
          <p:cNvPr id="7" name="Rectangle 3"/>
          <p:cNvSpPr txBox="1">
            <a:spLocks noChangeArrowheads="1"/>
          </p:cNvSpPr>
          <p:nvPr/>
        </p:nvSpPr>
        <p:spPr>
          <a:xfrm>
            <a:off x="2065254" y="4149080"/>
            <a:ext cx="8280400" cy="2232248"/>
          </a:xfrm>
          <a:prstGeom prst="rect">
            <a:avLst/>
          </a:prstGeom>
        </p:spPr>
        <p:txBody>
          <a:bodyPr vert="horz" lIns="91440" tIns="45720" rIns="91440" bIns="45720" rtlCol="0">
            <a:normAutofit fontScale="85000" lnSpcReduction="20000"/>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nSpc>
                <a:spcPct val="80000"/>
              </a:lnSpc>
            </a:pPr>
            <a:r>
              <a:rPr lang="es-ES" dirty="0"/>
              <a:t>Margarita Zambrano, César Villacís, David Alvarado, Luis García, Kevin Topón, Margarita Villacís, Sofía Bayona, Luis Pastor  </a:t>
            </a:r>
            <a:endParaRPr lang="en-US" b="1" dirty="0">
              <a:solidFill>
                <a:schemeClr val="tx2"/>
              </a:solidFill>
            </a:endParaRPr>
          </a:p>
          <a:p>
            <a:pPr>
              <a:lnSpc>
                <a:spcPct val="80000"/>
              </a:lnSpc>
            </a:pPr>
            <a:endParaRPr lang="en-US" b="1" dirty="0">
              <a:solidFill>
                <a:schemeClr val="tx2"/>
              </a:solidFill>
            </a:endParaRPr>
          </a:p>
          <a:p>
            <a:r>
              <a:rPr lang="es-EC" sz="1800" dirty="0"/>
              <a:t>Universidad de las Fueras Armadas – ESPE</a:t>
            </a:r>
          </a:p>
          <a:p>
            <a:r>
              <a:rPr lang="es-ES" sz="1800" dirty="0"/>
              <a:t>Quito, Ecuador</a:t>
            </a:r>
          </a:p>
          <a:p>
            <a:r>
              <a:rPr lang="es-ES" sz="1800" dirty="0"/>
              <a:t>Universidad Politécnica Salesiana – UPS</a:t>
            </a:r>
          </a:p>
          <a:p>
            <a:r>
              <a:rPr lang="es-ES" sz="1800" dirty="0"/>
              <a:t>Quito, Ecuador</a:t>
            </a:r>
          </a:p>
          <a:p>
            <a:r>
              <a:rPr lang="es-ES" sz="1800" dirty="0"/>
              <a:t>Universidad Rey Juan Carlos – URJC</a:t>
            </a:r>
          </a:p>
          <a:p>
            <a:r>
              <a:rPr lang="es-ES" sz="1800" dirty="0"/>
              <a:t>Madrid, España </a:t>
            </a:r>
          </a:p>
          <a:p>
            <a:endParaRPr lang="es-EC" sz="1800" dirty="0"/>
          </a:p>
          <a:p>
            <a:pPr>
              <a:lnSpc>
                <a:spcPct val="80000"/>
              </a:lnSpc>
            </a:pPr>
            <a:endParaRPr lang="en-US" b="1" dirty="0">
              <a:solidFill>
                <a:schemeClr val="hlink"/>
              </a:solidFill>
            </a:endParaRPr>
          </a:p>
          <a:p>
            <a:pPr>
              <a:lnSpc>
                <a:spcPct val="80000"/>
              </a:lnSpc>
            </a:pPr>
            <a:endParaRPr lang="es-ES" b="1" dirty="0">
              <a:solidFill>
                <a:schemeClr val="hlink"/>
              </a:solidFill>
            </a:endParaRPr>
          </a:p>
          <a:p>
            <a:pPr>
              <a:lnSpc>
                <a:spcPct val="80000"/>
              </a:lnSpc>
            </a:pPr>
            <a:endParaRPr lang="es-ES" b="1" dirty="0"/>
          </a:p>
        </p:txBody>
      </p:sp>
      <p:sp>
        <p:nvSpPr>
          <p:cNvPr id="2" name="1 Marcador de fecha"/>
          <p:cNvSpPr>
            <a:spLocks noGrp="1"/>
          </p:cNvSpPr>
          <p:nvPr>
            <p:ph type="dt" sz="half" idx="10"/>
          </p:nvPr>
        </p:nvSpPr>
        <p:spPr/>
        <p:txBody>
          <a:bodyPr/>
          <a:lstStyle/>
          <a:p>
            <a:fld id="{CFABD442-A3C4-4850-B201-37432B5929C0}" type="datetime1">
              <a:rPr lang="es-EC" smtClean="0"/>
              <a:t>26/11/2025</a:t>
            </a:fld>
            <a:endParaRPr lang="es-EC"/>
          </a:p>
        </p:txBody>
      </p:sp>
      <p:sp>
        <p:nvSpPr>
          <p:cNvPr id="3" name="2 Marcador de número de diapositiva"/>
          <p:cNvSpPr>
            <a:spLocks noGrp="1"/>
          </p:cNvSpPr>
          <p:nvPr>
            <p:ph type="sldNum" sz="quarter" idx="11"/>
          </p:nvPr>
        </p:nvSpPr>
        <p:spPr/>
        <p:txBody>
          <a:bodyPr/>
          <a:lstStyle/>
          <a:p>
            <a:fld id="{14B28EB2-3408-4757-A806-361BA67028B7}" type="slidenum">
              <a:rPr lang="es-EC" smtClean="0"/>
              <a:t>1</a:t>
            </a:fld>
            <a:endParaRPr lang="es-EC"/>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7552" y="281472"/>
            <a:ext cx="2967310" cy="927596"/>
          </a:xfrm>
          <a:prstGeom prst="rect">
            <a:avLst/>
          </a:prstGeom>
        </p:spPr>
      </p:pic>
      <p:pic>
        <p:nvPicPr>
          <p:cNvPr id="12" name="Imagen 11">
            <a:extLst>
              <a:ext uri="{FF2B5EF4-FFF2-40B4-BE49-F238E27FC236}">
                <a16:creationId xmlns:a16="http://schemas.microsoft.com/office/drawing/2014/main" id="{771F6278-F22F-1B52-5B3D-9A53240E0CCC}"/>
              </a:ext>
            </a:extLst>
          </p:cNvPr>
          <p:cNvPicPr>
            <a:picLocks noChangeAspect="1"/>
          </p:cNvPicPr>
          <p:nvPr/>
        </p:nvPicPr>
        <p:blipFill>
          <a:blip r:embed="rId4"/>
          <a:stretch>
            <a:fillRect/>
          </a:stretch>
        </p:blipFill>
        <p:spPr>
          <a:xfrm>
            <a:off x="5375920" y="1178050"/>
            <a:ext cx="3366640" cy="2755007"/>
          </a:xfrm>
          <a:prstGeom prst="rect">
            <a:avLst/>
          </a:prstGeom>
        </p:spPr>
      </p:pic>
    </p:spTree>
    <p:extLst>
      <p:ext uri="{BB962C8B-B14F-4D97-AF65-F5344CB8AC3E}">
        <p14:creationId xmlns:p14="http://schemas.microsoft.com/office/powerpoint/2010/main" val="115869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3400" b="1" dirty="0">
                <a:solidFill>
                  <a:srgbClr val="FF0000"/>
                </a:solidFill>
              </a:rPr>
              <a:t>Sentencias if-else Anidadas </a:t>
            </a:r>
          </a:p>
          <a:p>
            <a:pPr lvl="1"/>
            <a:r>
              <a:rPr lang="es-MX" sz="2000" dirty="0"/>
              <a:t> Problema 3.5. (Aplicación del uso de las sentencias if-else anidadas) </a:t>
            </a:r>
          </a:p>
          <a:p>
            <a:pPr lvl="1"/>
            <a:r>
              <a:rPr lang="es-MX" sz="2000" dirty="0"/>
              <a:t> Problema 3.6. (Aplicación del uso de las sentencias if-else anidadas) </a:t>
            </a:r>
          </a:p>
          <a:p>
            <a:pPr lvl="1"/>
            <a:r>
              <a:rPr lang="es-MX" sz="2000" dirty="0"/>
              <a:t>Caso de Estudio 3.5: Evaluar una Función Definida por Partes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2</a:t>
            </a:fld>
            <a:endParaRPr lang="es-EC">
              <a:solidFill>
                <a:prstClr val="black">
                  <a:lumMod val="65000"/>
                  <a:lumOff val="35000"/>
                </a:prstClr>
              </a:solidFill>
            </a:endParaRPr>
          </a:p>
        </p:txBody>
      </p:sp>
    </p:spTree>
    <p:extLst>
      <p:ext uri="{BB962C8B-B14F-4D97-AF65-F5344CB8AC3E}">
        <p14:creationId xmlns:p14="http://schemas.microsoft.com/office/powerpoint/2010/main" val="3199492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80722" y="854126"/>
            <a:ext cx="10972800" cy="1600200"/>
          </a:xfrm>
        </p:spPr>
        <p:txBody>
          <a:bodyPr/>
          <a:lstStyle/>
          <a:p>
            <a:r>
              <a:rPr lang="es-MX" b="1" dirty="0"/>
              <a:t>Sentencias if-else Anidadas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2040366" y="1300480"/>
            <a:ext cx="3984514" cy="2997200"/>
          </a:xfrm>
        </p:spPr>
        <p:txBody>
          <a:bodyPr>
            <a:normAutofit fontScale="92500" lnSpcReduction="10000"/>
          </a:bodyPr>
          <a:lstStyle/>
          <a:p>
            <a:r>
              <a:rPr lang="es-MX" sz="2000" dirty="0"/>
              <a:t>La sentencia if-else anidada es la una sentencia if-else, pero se utiliza para elegir una única acción o instrucción entre más de dos posibles alternativas, por lo que esto constituye una elección múltiple con varias alternativas (Luna, F., 2004). El formato de esta sentencia tiene la siguiente sintaxis:</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3</a:t>
            </a:fld>
            <a:endParaRPr lang="es-EC"/>
          </a:p>
        </p:txBody>
      </p:sp>
      <p:pic>
        <p:nvPicPr>
          <p:cNvPr id="9" name="Imagen 8">
            <a:extLst>
              <a:ext uri="{FF2B5EF4-FFF2-40B4-BE49-F238E27FC236}">
                <a16:creationId xmlns:a16="http://schemas.microsoft.com/office/drawing/2014/main" id="{F41810D9-BA00-41A2-8FC3-BE6EED889CD7}"/>
              </a:ext>
            </a:extLst>
          </p:cNvPr>
          <p:cNvPicPr>
            <a:picLocks noChangeAspect="1"/>
          </p:cNvPicPr>
          <p:nvPr/>
        </p:nvPicPr>
        <p:blipFill>
          <a:blip r:embed="rId2"/>
          <a:stretch>
            <a:fillRect/>
          </a:stretch>
        </p:blipFill>
        <p:spPr>
          <a:xfrm>
            <a:off x="7231796" y="1300480"/>
            <a:ext cx="2206844" cy="1889760"/>
          </a:xfrm>
          <a:prstGeom prst="rect">
            <a:avLst/>
          </a:prstGeom>
        </p:spPr>
      </p:pic>
      <p:pic>
        <p:nvPicPr>
          <p:cNvPr id="11" name="Imagen 10">
            <a:extLst>
              <a:ext uri="{FF2B5EF4-FFF2-40B4-BE49-F238E27FC236}">
                <a16:creationId xmlns:a16="http://schemas.microsoft.com/office/drawing/2014/main" id="{4FF7BD1C-92F0-4778-92B0-B64DD1955540}"/>
              </a:ext>
            </a:extLst>
          </p:cNvPr>
          <p:cNvPicPr>
            <a:picLocks noChangeAspect="1"/>
          </p:cNvPicPr>
          <p:nvPr/>
        </p:nvPicPr>
        <p:blipFill>
          <a:blip r:embed="rId3"/>
          <a:stretch>
            <a:fillRect/>
          </a:stretch>
        </p:blipFill>
        <p:spPr>
          <a:xfrm>
            <a:off x="7333818" y="3296234"/>
            <a:ext cx="2104821" cy="910006"/>
          </a:xfrm>
          <a:prstGeom prst="rect">
            <a:avLst/>
          </a:prstGeom>
        </p:spPr>
      </p:pic>
      <p:pic>
        <p:nvPicPr>
          <p:cNvPr id="13" name="Imagen 12">
            <a:extLst>
              <a:ext uri="{FF2B5EF4-FFF2-40B4-BE49-F238E27FC236}">
                <a16:creationId xmlns:a16="http://schemas.microsoft.com/office/drawing/2014/main" id="{30C4521E-7801-450D-8BAF-F84DC9A2A2C4}"/>
              </a:ext>
            </a:extLst>
          </p:cNvPr>
          <p:cNvPicPr>
            <a:picLocks noChangeAspect="1"/>
          </p:cNvPicPr>
          <p:nvPr/>
        </p:nvPicPr>
        <p:blipFill rotWithShape="1">
          <a:blip r:embed="rId4"/>
          <a:srcRect t="7139"/>
          <a:stretch/>
        </p:blipFill>
        <p:spPr>
          <a:xfrm>
            <a:off x="2297469" y="4403674"/>
            <a:ext cx="6582371" cy="1422400"/>
          </a:xfrm>
          <a:prstGeom prst="rect">
            <a:avLst/>
          </a:prstGeom>
        </p:spPr>
      </p:pic>
      <p:sp>
        <p:nvSpPr>
          <p:cNvPr id="15" name="CuadroTexto 14">
            <a:extLst>
              <a:ext uri="{FF2B5EF4-FFF2-40B4-BE49-F238E27FC236}">
                <a16:creationId xmlns:a16="http://schemas.microsoft.com/office/drawing/2014/main" id="{CE70E575-F9AC-4CC2-89BF-7B75578E822D}"/>
              </a:ext>
            </a:extLst>
          </p:cNvPr>
          <p:cNvSpPr txBox="1"/>
          <p:nvPr/>
        </p:nvSpPr>
        <p:spPr>
          <a:xfrm>
            <a:off x="2540654" y="5798146"/>
            <a:ext cx="6096000" cy="830997"/>
          </a:xfrm>
          <a:prstGeom prst="rect">
            <a:avLst/>
          </a:prstGeom>
          <a:noFill/>
        </p:spPr>
        <p:txBody>
          <a:bodyPr wrap="square">
            <a:spAutoFit/>
          </a:bodyPr>
          <a:lstStyle/>
          <a:p>
            <a:r>
              <a:rPr lang="es-MX" sz="1600" b="1" dirty="0">
                <a:solidFill>
                  <a:schemeClr val="tx1">
                    <a:lumMod val="50000"/>
                    <a:lumOff val="50000"/>
                  </a:schemeClr>
                </a:solidFill>
                <a:latin typeface="+mj-lt"/>
              </a:rPr>
              <a:t>Nota: En esta sintaxis no es necesario utilizar llaves ya que se tiene una sola sentencia o instrucción, tanto en los ‘if’ como en los ‘else’. </a:t>
            </a:r>
            <a:endParaRPr lang="es-EC" sz="1600" b="1" dirty="0">
              <a:solidFill>
                <a:schemeClr val="tx1">
                  <a:lumMod val="50000"/>
                  <a:lumOff val="50000"/>
                </a:schemeClr>
              </a:solidFill>
              <a:latin typeface="+mj-lt"/>
            </a:endParaRPr>
          </a:p>
        </p:txBody>
      </p:sp>
    </p:spTree>
    <p:extLst>
      <p:ext uri="{BB962C8B-B14F-4D97-AF65-F5344CB8AC3E}">
        <p14:creationId xmlns:p14="http://schemas.microsoft.com/office/powerpoint/2010/main" val="408428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000" dirty="0"/>
              <a:t>Sentencias if-else Anidadas </a:t>
            </a:r>
          </a:p>
          <a:p>
            <a:pPr lvl="1"/>
            <a:r>
              <a:rPr lang="es-MX" sz="2000" dirty="0"/>
              <a:t> </a:t>
            </a:r>
            <a:r>
              <a:rPr lang="es-MX" sz="3400" b="1" dirty="0">
                <a:solidFill>
                  <a:srgbClr val="FF0000"/>
                </a:solidFill>
              </a:rPr>
              <a:t>Problema 3.5. (Aplicación del uso de las sentencias if-else anidadas) </a:t>
            </a:r>
          </a:p>
          <a:p>
            <a:pPr lvl="1"/>
            <a:r>
              <a:rPr lang="es-MX" sz="2000" dirty="0"/>
              <a:t> Problema 3.6. (Aplicación del uso de las sentencias if-else anidadas) </a:t>
            </a:r>
          </a:p>
          <a:p>
            <a:pPr lvl="1"/>
            <a:r>
              <a:rPr lang="es-MX" sz="2000" dirty="0"/>
              <a:t>Caso de Estudio 3.5: Evaluar una Función Definida por Partes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4</a:t>
            </a:fld>
            <a:endParaRPr lang="es-EC">
              <a:solidFill>
                <a:prstClr val="black">
                  <a:lumMod val="65000"/>
                  <a:lumOff val="35000"/>
                </a:prstClr>
              </a:solidFill>
            </a:endParaRPr>
          </a:p>
        </p:txBody>
      </p:sp>
    </p:spTree>
    <p:extLst>
      <p:ext uri="{BB962C8B-B14F-4D97-AF65-F5344CB8AC3E}">
        <p14:creationId xmlns:p14="http://schemas.microsoft.com/office/powerpoint/2010/main" val="4172099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904240" y="1457960"/>
            <a:ext cx="10972800" cy="1600200"/>
          </a:xfrm>
        </p:spPr>
        <p:txBody>
          <a:bodyPr/>
          <a:lstStyle/>
          <a:p>
            <a:r>
              <a:rPr lang="es-MX" b="1" dirty="0"/>
              <a:t>Problema 3.5. (Aplicación del uso de las sentencias if-else anidadas) </a:t>
            </a:r>
            <a:br>
              <a:rPr lang="es-MX" sz="5400" b="1" dirty="0">
                <a:solidFill>
                  <a:srgbClr val="FF0000"/>
                </a:solidFill>
              </a:rPr>
            </a:br>
            <a:br>
              <a:rPr lang="es-MX" sz="5400" b="1" dirty="0">
                <a:solidFill>
                  <a:srgbClr val="FF0000"/>
                </a:solidFill>
              </a:rPr>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150469" y="2561513"/>
            <a:ext cx="2998994" cy="1734974"/>
          </a:xfrm>
        </p:spPr>
        <p:txBody>
          <a:bodyPr>
            <a:normAutofit/>
          </a:bodyPr>
          <a:lstStyle/>
          <a:p>
            <a:pPr marL="0" indent="0">
              <a:buNone/>
            </a:pPr>
            <a:r>
              <a:rPr lang="es-MX" sz="1600" dirty="0"/>
              <a:t>Escribir un programa que permita analizar si un número leído desde el teclado es mayor que cero, es menor que cero, o es igual a cero. </a:t>
            </a:r>
            <a:endParaRPr lang="es-EC" sz="21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5</a:t>
            </a:fld>
            <a:endParaRPr lang="es-EC"/>
          </a:p>
        </p:txBody>
      </p:sp>
      <p:pic>
        <p:nvPicPr>
          <p:cNvPr id="11" name="Imagen 10">
            <a:extLst>
              <a:ext uri="{FF2B5EF4-FFF2-40B4-BE49-F238E27FC236}">
                <a16:creationId xmlns:a16="http://schemas.microsoft.com/office/drawing/2014/main" id="{9F4CB028-D843-4DEE-B0B6-C9B03733CADF}"/>
              </a:ext>
            </a:extLst>
          </p:cNvPr>
          <p:cNvPicPr>
            <a:picLocks noChangeAspect="1"/>
          </p:cNvPicPr>
          <p:nvPr/>
        </p:nvPicPr>
        <p:blipFill>
          <a:blip r:embed="rId2"/>
          <a:stretch>
            <a:fillRect/>
          </a:stretch>
        </p:blipFill>
        <p:spPr>
          <a:xfrm>
            <a:off x="4078343" y="2504440"/>
            <a:ext cx="6565895" cy="2895600"/>
          </a:xfrm>
          <a:prstGeom prst="rect">
            <a:avLst/>
          </a:prstGeom>
        </p:spPr>
      </p:pic>
    </p:spTree>
    <p:extLst>
      <p:ext uri="{BB962C8B-B14F-4D97-AF65-F5344CB8AC3E}">
        <p14:creationId xmlns:p14="http://schemas.microsoft.com/office/powerpoint/2010/main" val="1003723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6</a:t>
            </a:fld>
            <a:endParaRPr lang="es-EC"/>
          </a:p>
        </p:txBody>
      </p:sp>
      <p:pic>
        <p:nvPicPr>
          <p:cNvPr id="7" name="Imagen 6">
            <a:extLst>
              <a:ext uri="{FF2B5EF4-FFF2-40B4-BE49-F238E27FC236}">
                <a16:creationId xmlns:a16="http://schemas.microsoft.com/office/drawing/2014/main" id="{67A34170-5D5A-4D94-BF35-BC2A11250317}"/>
              </a:ext>
            </a:extLst>
          </p:cNvPr>
          <p:cNvPicPr>
            <a:picLocks noChangeAspect="1"/>
          </p:cNvPicPr>
          <p:nvPr/>
        </p:nvPicPr>
        <p:blipFill>
          <a:blip r:embed="rId2"/>
          <a:stretch>
            <a:fillRect/>
          </a:stretch>
        </p:blipFill>
        <p:spPr>
          <a:xfrm>
            <a:off x="2892012" y="371048"/>
            <a:ext cx="5763429" cy="3057952"/>
          </a:xfrm>
          <a:prstGeom prst="rect">
            <a:avLst/>
          </a:prstGeom>
        </p:spPr>
      </p:pic>
      <p:pic>
        <p:nvPicPr>
          <p:cNvPr id="9" name="Imagen 8">
            <a:extLst>
              <a:ext uri="{FF2B5EF4-FFF2-40B4-BE49-F238E27FC236}">
                <a16:creationId xmlns:a16="http://schemas.microsoft.com/office/drawing/2014/main" id="{A5B3C80B-7200-4A3E-BE93-283E31E7611A}"/>
              </a:ext>
            </a:extLst>
          </p:cNvPr>
          <p:cNvPicPr>
            <a:picLocks noChangeAspect="1"/>
          </p:cNvPicPr>
          <p:nvPr/>
        </p:nvPicPr>
        <p:blipFill rotWithShape="1">
          <a:blip r:embed="rId3"/>
          <a:srcRect b="5728"/>
          <a:stretch/>
        </p:blipFill>
        <p:spPr>
          <a:xfrm>
            <a:off x="2701981" y="3665377"/>
            <a:ext cx="5782482" cy="2254151"/>
          </a:xfrm>
          <a:prstGeom prst="rect">
            <a:avLst/>
          </a:prstGeom>
        </p:spPr>
      </p:pic>
      <p:sp>
        <p:nvSpPr>
          <p:cNvPr id="15" name="CuadroTexto 14">
            <a:extLst>
              <a:ext uri="{FF2B5EF4-FFF2-40B4-BE49-F238E27FC236}">
                <a16:creationId xmlns:a16="http://schemas.microsoft.com/office/drawing/2014/main" id="{200331C3-8B45-4596-94E3-1C4F9FBC2FCD}"/>
              </a:ext>
            </a:extLst>
          </p:cNvPr>
          <p:cNvSpPr txBox="1"/>
          <p:nvPr/>
        </p:nvSpPr>
        <p:spPr>
          <a:xfrm>
            <a:off x="2892012" y="6155905"/>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3.5</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713251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904240" y="1457960"/>
            <a:ext cx="10972800" cy="1600200"/>
          </a:xfrm>
        </p:spPr>
        <p:txBody>
          <a:bodyPr/>
          <a:lstStyle/>
          <a:p>
            <a:r>
              <a:rPr lang="es-MX" b="1" dirty="0"/>
              <a:t>Problema 3.5. (Aplicación del uso de las sentencias if-else anidadas) </a:t>
            </a:r>
            <a:br>
              <a:rPr lang="es-MX" sz="5400" b="1" dirty="0">
                <a:solidFill>
                  <a:srgbClr val="FF0000"/>
                </a:solidFill>
              </a:rPr>
            </a:br>
            <a:br>
              <a:rPr lang="es-MX" sz="5400" b="1" dirty="0">
                <a:solidFill>
                  <a:srgbClr val="FF0000"/>
                </a:solidFill>
              </a:rPr>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139114" y="1941156"/>
            <a:ext cx="9913772" cy="2234007"/>
          </a:xfrm>
        </p:spPr>
        <p:txBody>
          <a:bodyPr>
            <a:normAutofit/>
          </a:bodyPr>
          <a:lstStyle/>
          <a:p>
            <a:pPr marL="0" indent="0">
              <a:buNone/>
            </a:pPr>
            <a:r>
              <a:rPr lang="es-MX" sz="1600" dirty="0"/>
              <a:t>En la salida de la Ejecución 3.5.1 se puede ver que al ingresar el número 7, el programa indica que este número es mayor que cero. De manera similar, en la salida de la Ejecución 3.5.2 se puede ver que al ingresar el número -4, el programa indica que este número es menor que cero. Finalmente, en la salida de la Ejecución 3.5.3 se puede ver que al ingresar el número 0, el programa indica que este número es efectivamente el cero, por lo que el algoritmo del programa logra su propósito que es analizar si un número leído desde el teclado es mayor que cero, es menor que cero, o es igual a cero. </a:t>
            </a:r>
            <a:endParaRPr lang="es-EC" sz="21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7</a:t>
            </a:fld>
            <a:endParaRPr lang="es-EC"/>
          </a:p>
        </p:txBody>
      </p:sp>
      <p:pic>
        <p:nvPicPr>
          <p:cNvPr id="7" name="Imagen 6">
            <a:extLst>
              <a:ext uri="{FF2B5EF4-FFF2-40B4-BE49-F238E27FC236}">
                <a16:creationId xmlns:a16="http://schemas.microsoft.com/office/drawing/2014/main" id="{847153B7-DF1E-4565-9292-33371E3B75C5}"/>
              </a:ext>
            </a:extLst>
          </p:cNvPr>
          <p:cNvPicPr>
            <a:picLocks noChangeAspect="1"/>
          </p:cNvPicPr>
          <p:nvPr/>
        </p:nvPicPr>
        <p:blipFill>
          <a:blip r:embed="rId2"/>
          <a:stretch>
            <a:fillRect/>
          </a:stretch>
        </p:blipFill>
        <p:spPr>
          <a:xfrm>
            <a:off x="1085769" y="3969343"/>
            <a:ext cx="3687004" cy="931927"/>
          </a:xfrm>
          <a:prstGeom prst="rect">
            <a:avLst/>
          </a:prstGeom>
        </p:spPr>
      </p:pic>
      <p:pic>
        <p:nvPicPr>
          <p:cNvPr id="9" name="Imagen 8">
            <a:extLst>
              <a:ext uri="{FF2B5EF4-FFF2-40B4-BE49-F238E27FC236}">
                <a16:creationId xmlns:a16="http://schemas.microsoft.com/office/drawing/2014/main" id="{9D71A395-E529-4F37-9BB8-C852B26C9B64}"/>
              </a:ext>
            </a:extLst>
          </p:cNvPr>
          <p:cNvPicPr>
            <a:picLocks noChangeAspect="1"/>
          </p:cNvPicPr>
          <p:nvPr/>
        </p:nvPicPr>
        <p:blipFill rotWithShape="1">
          <a:blip r:embed="rId3"/>
          <a:srcRect t="10290"/>
          <a:stretch/>
        </p:blipFill>
        <p:spPr>
          <a:xfrm>
            <a:off x="4938954" y="3969343"/>
            <a:ext cx="3524326" cy="931927"/>
          </a:xfrm>
          <a:prstGeom prst="rect">
            <a:avLst/>
          </a:prstGeom>
        </p:spPr>
      </p:pic>
      <p:pic>
        <p:nvPicPr>
          <p:cNvPr id="12" name="Imagen 11">
            <a:extLst>
              <a:ext uri="{FF2B5EF4-FFF2-40B4-BE49-F238E27FC236}">
                <a16:creationId xmlns:a16="http://schemas.microsoft.com/office/drawing/2014/main" id="{F513F00A-A59C-4C32-9878-4BFE4C8FD99C}"/>
              </a:ext>
            </a:extLst>
          </p:cNvPr>
          <p:cNvPicPr>
            <a:picLocks noChangeAspect="1"/>
          </p:cNvPicPr>
          <p:nvPr/>
        </p:nvPicPr>
        <p:blipFill>
          <a:blip r:embed="rId4"/>
          <a:stretch>
            <a:fillRect/>
          </a:stretch>
        </p:blipFill>
        <p:spPr>
          <a:xfrm>
            <a:off x="8795642" y="3969343"/>
            <a:ext cx="2705478" cy="931927"/>
          </a:xfrm>
          <a:prstGeom prst="rect">
            <a:avLst/>
          </a:prstGeom>
        </p:spPr>
      </p:pic>
      <p:sp>
        <p:nvSpPr>
          <p:cNvPr id="13" name="CuadroTexto 12">
            <a:extLst>
              <a:ext uri="{FF2B5EF4-FFF2-40B4-BE49-F238E27FC236}">
                <a16:creationId xmlns:a16="http://schemas.microsoft.com/office/drawing/2014/main" id="{FC08D3EB-D95F-4BB7-BD12-B8567765D448}"/>
              </a:ext>
            </a:extLst>
          </p:cNvPr>
          <p:cNvSpPr txBox="1"/>
          <p:nvPr/>
        </p:nvSpPr>
        <p:spPr>
          <a:xfrm>
            <a:off x="975360" y="5020653"/>
            <a:ext cx="3281680" cy="523220"/>
          </a:xfrm>
          <a:prstGeom prst="rect">
            <a:avLst/>
          </a:prstGeom>
          <a:noFill/>
        </p:spPr>
        <p:txBody>
          <a:bodyPr wrap="square">
            <a:spAutoFit/>
          </a:bodyPr>
          <a:lstStyle/>
          <a:p>
            <a:pPr algn="just"/>
            <a:r>
              <a:rPr lang="es-MX" sz="1400" dirty="0">
                <a:solidFill>
                  <a:schemeClr val="tx1">
                    <a:lumMod val="50000"/>
                    <a:lumOff val="50000"/>
                  </a:schemeClr>
                </a:solidFill>
                <a:latin typeface="+mj-lt"/>
              </a:rPr>
              <a:t>La Ejecución 3.5.1, Salida del Programa</a:t>
            </a:r>
            <a:endParaRPr lang="es-EC" sz="1400" dirty="0">
              <a:solidFill>
                <a:schemeClr val="tx1">
                  <a:lumMod val="50000"/>
                  <a:lumOff val="50000"/>
                </a:schemeClr>
              </a:solidFill>
              <a:latin typeface="+mj-lt"/>
            </a:endParaRPr>
          </a:p>
        </p:txBody>
      </p:sp>
      <p:sp>
        <p:nvSpPr>
          <p:cNvPr id="14" name="CuadroTexto 13">
            <a:extLst>
              <a:ext uri="{FF2B5EF4-FFF2-40B4-BE49-F238E27FC236}">
                <a16:creationId xmlns:a16="http://schemas.microsoft.com/office/drawing/2014/main" id="{C128FFA6-4485-40C4-8081-31E55B60DE2C}"/>
              </a:ext>
            </a:extLst>
          </p:cNvPr>
          <p:cNvSpPr txBox="1"/>
          <p:nvPr/>
        </p:nvSpPr>
        <p:spPr>
          <a:xfrm>
            <a:off x="4925985" y="5086346"/>
            <a:ext cx="2929309" cy="523220"/>
          </a:xfrm>
          <a:prstGeom prst="rect">
            <a:avLst/>
          </a:prstGeom>
          <a:noFill/>
        </p:spPr>
        <p:txBody>
          <a:bodyPr wrap="square">
            <a:spAutoFit/>
          </a:bodyPr>
          <a:lstStyle/>
          <a:p>
            <a:pPr algn="just"/>
            <a:r>
              <a:rPr lang="es-MX" sz="1400" dirty="0">
                <a:solidFill>
                  <a:schemeClr val="tx1">
                    <a:lumMod val="50000"/>
                    <a:lumOff val="50000"/>
                  </a:schemeClr>
                </a:solidFill>
                <a:latin typeface="+mj-lt"/>
              </a:rPr>
              <a:t>La Ejecución 3.5.2, Salida del Programa</a:t>
            </a:r>
            <a:endParaRPr lang="es-EC" sz="1400" dirty="0">
              <a:solidFill>
                <a:schemeClr val="tx1">
                  <a:lumMod val="50000"/>
                  <a:lumOff val="50000"/>
                </a:schemeClr>
              </a:solidFill>
              <a:latin typeface="+mj-lt"/>
            </a:endParaRPr>
          </a:p>
        </p:txBody>
      </p:sp>
      <p:sp>
        <p:nvSpPr>
          <p:cNvPr id="15" name="CuadroTexto 14">
            <a:extLst>
              <a:ext uri="{FF2B5EF4-FFF2-40B4-BE49-F238E27FC236}">
                <a16:creationId xmlns:a16="http://schemas.microsoft.com/office/drawing/2014/main" id="{632C7699-7303-4E00-BEE5-126AA946D591}"/>
              </a:ext>
            </a:extLst>
          </p:cNvPr>
          <p:cNvSpPr txBox="1"/>
          <p:nvPr/>
        </p:nvSpPr>
        <p:spPr>
          <a:xfrm>
            <a:off x="8683726" y="5004147"/>
            <a:ext cx="2929309" cy="523220"/>
          </a:xfrm>
          <a:prstGeom prst="rect">
            <a:avLst/>
          </a:prstGeom>
          <a:noFill/>
        </p:spPr>
        <p:txBody>
          <a:bodyPr wrap="square">
            <a:spAutoFit/>
          </a:bodyPr>
          <a:lstStyle/>
          <a:p>
            <a:pPr algn="just"/>
            <a:r>
              <a:rPr lang="es-MX" sz="1400" dirty="0">
                <a:solidFill>
                  <a:schemeClr val="tx1">
                    <a:lumMod val="50000"/>
                    <a:lumOff val="50000"/>
                  </a:schemeClr>
                </a:solidFill>
                <a:latin typeface="+mj-lt"/>
              </a:rPr>
              <a:t>La Ejecución 3.5.2, Salida del Programa</a:t>
            </a:r>
            <a:endParaRPr lang="es-EC" sz="1400" dirty="0">
              <a:solidFill>
                <a:schemeClr val="tx1">
                  <a:lumMod val="50000"/>
                  <a:lumOff val="50000"/>
                </a:schemeClr>
              </a:solidFill>
              <a:latin typeface="+mj-lt"/>
            </a:endParaRPr>
          </a:p>
        </p:txBody>
      </p:sp>
    </p:spTree>
    <p:extLst>
      <p:ext uri="{BB962C8B-B14F-4D97-AF65-F5344CB8AC3E}">
        <p14:creationId xmlns:p14="http://schemas.microsoft.com/office/powerpoint/2010/main" val="3035590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000" dirty="0"/>
              <a:t>Sentencias if-else Anidadas </a:t>
            </a:r>
          </a:p>
          <a:p>
            <a:pPr lvl="1"/>
            <a:r>
              <a:rPr lang="es-MX" sz="2000" dirty="0"/>
              <a:t> Problema 3.5. (Aplicación del uso de las sentencias if-else anidadas) </a:t>
            </a:r>
          </a:p>
          <a:p>
            <a:pPr lvl="1"/>
            <a:r>
              <a:rPr lang="es-MX" sz="2000" dirty="0"/>
              <a:t> </a:t>
            </a:r>
            <a:r>
              <a:rPr lang="es-MX" sz="3400" b="1" dirty="0">
                <a:solidFill>
                  <a:srgbClr val="FF0000"/>
                </a:solidFill>
              </a:rPr>
              <a:t>Problema 3.6. (Aplicación del uso de las sentencias if-else anidadas) </a:t>
            </a:r>
          </a:p>
          <a:p>
            <a:pPr lvl="1"/>
            <a:r>
              <a:rPr lang="es-MX" sz="2000" dirty="0"/>
              <a:t>Caso de Estudio 3.5: Evaluar una Función Definida por Partes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8</a:t>
            </a:fld>
            <a:endParaRPr lang="es-EC">
              <a:solidFill>
                <a:prstClr val="black">
                  <a:lumMod val="65000"/>
                  <a:lumOff val="35000"/>
                </a:prstClr>
              </a:solidFill>
            </a:endParaRPr>
          </a:p>
        </p:txBody>
      </p:sp>
    </p:spTree>
    <p:extLst>
      <p:ext uri="{BB962C8B-B14F-4D97-AF65-F5344CB8AC3E}">
        <p14:creationId xmlns:p14="http://schemas.microsoft.com/office/powerpoint/2010/main" val="3177130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904240" y="1457960"/>
            <a:ext cx="10972800" cy="1600200"/>
          </a:xfrm>
        </p:spPr>
        <p:txBody>
          <a:bodyPr/>
          <a:lstStyle/>
          <a:p>
            <a:r>
              <a:rPr lang="es-MX" b="1" dirty="0"/>
              <a:t>Problema 3.6. (Aplicación del uso de las sentencias if-else anidadas)</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150469" y="2561512"/>
            <a:ext cx="2998994" cy="3158567"/>
          </a:xfrm>
        </p:spPr>
        <p:txBody>
          <a:bodyPr>
            <a:normAutofit/>
          </a:bodyPr>
          <a:lstStyle/>
          <a:p>
            <a:pPr marL="0" indent="0">
              <a:buNone/>
            </a:pPr>
            <a:r>
              <a:rPr lang="es-MX" sz="1600" dirty="0"/>
              <a:t>Escribir un programa que permita obtener el siguiente número de un número leído desde el teclado, bajo las siguientes condiciones: Si el número es positivo o negativo se debe obtener el siguiente número, pero si el número es cero se debe obtener tanto el siguiente número como el anterior.</a:t>
            </a:r>
            <a:endParaRPr lang="es-EC" sz="21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9</a:t>
            </a:fld>
            <a:endParaRPr lang="es-EC"/>
          </a:p>
        </p:txBody>
      </p:sp>
      <p:pic>
        <p:nvPicPr>
          <p:cNvPr id="7" name="Imagen 6">
            <a:extLst>
              <a:ext uri="{FF2B5EF4-FFF2-40B4-BE49-F238E27FC236}">
                <a16:creationId xmlns:a16="http://schemas.microsoft.com/office/drawing/2014/main" id="{2B7FFB9D-7F06-4222-A555-2630D160F368}"/>
              </a:ext>
            </a:extLst>
          </p:cNvPr>
          <p:cNvPicPr>
            <a:picLocks noChangeAspect="1"/>
          </p:cNvPicPr>
          <p:nvPr/>
        </p:nvPicPr>
        <p:blipFill>
          <a:blip r:embed="rId2"/>
          <a:stretch>
            <a:fillRect/>
          </a:stretch>
        </p:blipFill>
        <p:spPr>
          <a:xfrm>
            <a:off x="4500803" y="2342428"/>
            <a:ext cx="5649113" cy="1457413"/>
          </a:xfrm>
          <a:prstGeom prst="rect">
            <a:avLst/>
          </a:prstGeom>
        </p:spPr>
      </p:pic>
      <p:pic>
        <p:nvPicPr>
          <p:cNvPr id="9" name="Imagen 8">
            <a:extLst>
              <a:ext uri="{FF2B5EF4-FFF2-40B4-BE49-F238E27FC236}">
                <a16:creationId xmlns:a16="http://schemas.microsoft.com/office/drawing/2014/main" id="{1C8F16DA-BE3B-41BD-8FD8-1B74B147951B}"/>
              </a:ext>
            </a:extLst>
          </p:cNvPr>
          <p:cNvPicPr>
            <a:picLocks noChangeAspect="1"/>
          </p:cNvPicPr>
          <p:nvPr/>
        </p:nvPicPr>
        <p:blipFill>
          <a:blip r:embed="rId3"/>
          <a:stretch>
            <a:fillRect/>
          </a:stretch>
        </p:blipFill>
        <p:spPr>
          <a:xfrm>
            <a:off x="4500803" y="3799841"/>
            <a:ext cx="5620534" cy="2343477"/>
          </a:xfrm>
          <a:prstGeom prst="rect">
            <a:avLst/>
          </a:prstGeom>
        </p:spPr>
      </p:pic>
    </p:spTree>
    <p:extLst>
      <p:ext uri="{BB962C8B-B14F-4D97-AF65-F5344CB8AC3E}">
        <p14:creationId xmlns:p14="http://schemas.microsoft.com/office/powerpoint/2010/main" val="2658529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10</a:t>
            </a:fld>
            <a:endParaRPr lang="es-EC"/>
          </a:p>
        </p:txBody>
      </p:sp>
      <p:pic>
        <p:nvPicPr>
          <p:cNvPr id="11" name="Imagen 10">
            <a:extLst>
              <a:ext uri="{FF2B5EF4-FFF2-40B4-BE49-F238E27FC236}">
                <a16:creationId xmlns:a16="http://schemas.microsoft.com/office/drawing/2014/main" id="{8DB84253-F564-4510-A41E-28C6E94A7162}"/>
              </a:ext>
            </a:extLst>
          </p:cNvPr>
          <p:cNvPicPr>
            <a:picLocks noChangeAspect="1"/>
          </p:cNvPicPr>
          <p:nvPr/>
        </p:nvPicPr>
        <p:blipFill>
          <a:blip r:embed="rId2"/>
          <a:stretch>
            <a:fillRect/>
          </a:stretch>
        </p:blipFill>
        <p:spPr>
          <a:xfrm>
            <a:off x="2848198" y="286620"/>
            <a:ext cx="6813962" cy="6225939"/>
          </a:xfrm>
          <a:prstGeom prst="rect">
            <a:avLst/>
          </a:prstGeom>
        </p:spPr>
      </p:pic>
    </p:spTree>
    <p:extLst>
      <p:ext uri="{BB962C8B-B14F-4D97-AF65-F5344CB8AC3E}">
        <p14:creationId xmlns:p14="http://schemas.microsoft.com/office/powerpoint/2010/main" val="3750982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904240" y="1457960"/>
            <a:ext cx="10972800" cy="1600200"/>
          </a:xfrm>
        </p:spPr>
        <p:txBody>
          <a:bodyPr/>
          <a:lstStyle/>
          <a:p>
            <a:r>
              <a:rPr lang="es-MX" b="1" dirty="0"/>
              <a:t>Problema 3.6. (Aplicación del uso de las sentencias if-else anidadas)</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11</a:t>
            </a:fld>
            <a:endParaRPr lang="es-EC"/>
          </a:p>
        </p:txBody>
      </p:sp>
      <p:pic>
        <p:nvPicPr>
          <p:cNvPr id="11" name="Imagen 10">
            <a:extLst>
              <a:ext uri="{FF2B5EF4-FFF2-40B4-BE49-F238E27FC236}">
                <a16:creationId xmlns:a16="http://schemas.microsoft.com/office/drawing/2014/main" id="{909ED469-3521-4850-83BC-BB4A34B2DFDF}"/>
              </a:ext>
            </a:extLst>
          </p:cNvPr>
          <p:cNvPicPr>
            <a:picLocks noChangeAspect="1"/>
          </p:cNvPicPr>
          <p:nvPr/>
        </p:nvPicPr>
        <p:blipFill rotWithShape="1">
          <a:blip r:embed="rId2"/>
          <a:srcRect b="4011"/>
          <a:stretch/>
        </p:blipFill>
        <p:spPr>
          <a:xfrm>
            <a:off x="2245360" y="2044963"/>
            <a:ext cx="5506218" cy="2026394"/>
          </a:xfrm>
          <a:prstGeom prst="rect">
            <a:avLst/>
          </a:prstGeom>
        </p:spPr>
      </p:pic>
      <p:sp>
        <p:nvSpPr>
          <p:cNvPr id="12" name="CuadroTexto 11">
            <a:extLst>
              <a:ext uri="{FF2B5EF4-FFF2-40B4-BE49-F238E27FC236}">
                <a16:creationId xmlns:a16="http://schemas.microsoft.com/office/drawing/2014/main" id="{F26C679C-CA5E-4D2D-A440-984407BAB843}"/>
              </a:ext>
            </a:extLst>
          </p:cNvPr>
          <p:cNvSpPr txBox="1"/>
          <p:nvPr/>
        </p:nvSpPr>
        <p:spPr>
          <a:xfrm>
            <a:off x="2103120" y="4335194"/>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3.6</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644630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904240" y="1457960"/>
            <a:ext cx="10972800" cy="1600200"/>
          </a:xfrm>
        </p:spPr>
        <p:txBody>
          <a:bodyPr/>
          <a:lstStyle/>
          <a:p>
            <a:r>
              <a:rPr lang="es-MX" b="1" dirty="0"/>
              <a:t>Problema 3.6. (Aplicación del uso de las sentencias if-else anidadas)</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dirty="0"/>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12</a:t>
            </a:fld>
            <a:endParaRPr lang="es-EC"/>
          </a:p>
        </p:txBody>
      </p:sp>
      <p:sp>
        <p:nvSpPr>
          <p:cNvPr id="12" name="CuadroTexto 11">
            <a:extLst>
              <a:ext uri="{FF2B5EF4-FFF2-40B4-BE49-F238E27FC236}">
                <a16:creationId xmlns:a16="http://schemas.microsoft.com/office/drawing/2014/main" id="{F26C679C-CA5E-4D2D-A440-984407BAB843}"/>
              </a:ext>
            </a:extLst>
          </p:cNvPr>
          <p:cNvSpPr txBox="1"/>
          <p:nvPr/>
        </p:nvSpPr>
        <p:spPr>
          <a:xfrm>
            <a:off x="1920240" y="1613118"/>
            <a:ext cx="7843520" cy="1815882"/>
          </a:xfrm>
          <a:prstGeom prst="rect">
            <a:avLst/>
          </a:prstGeom>
          <a:noFill/>
        </p:spPr>
        <p:txBody>
          <a:bodyPr wrap="square">
            <a:spAutoFit/>
          </a:bodyPr>
          <a:lstStyle/>
          <a:p>
            <a:pPr algn="just"/>
            <a:r>
              <a:rPr lang="es-MX" sz="1600" dirty="0">
                <a:solidFill>
                  <a:schemeClr val="tx1">
                    <a:lumMod val="50000"/>
                    <a:lumOff val="50000"/>
                  </a:schemeClr>
                </a:solidFill>
                <a:latin typeface="+mj-lt"/>
              </a:rPr>
              <a:t>En la salida de la Ejecución 3.6.1 se puede ver que al ingresar el número 7, el programa indica que el número siguiente es el 8. De manera similar, en la salida de la Ejecución 3.6.2 se puede ver que al ingresar el número -4, el programa indica que el número siguiente es el -5. Finalmente, en la salida de la Ejecución 3.6.3 se puede ver que al ingresar el número 0, el programa indica que el número siguiente es el 1 y el número anterior es el -1, por lo que el algoritmo del programa logra su propósito</a:t>
            </a:r>
            <a:r>
              <a:rPr lang="es-MX" sz="1200" dirty="0"/>
              <a:t>. </a:t>
            </a:r>
            <a:endParaRPr lang="es-EC" sz="1200" dirty="0">
              <a:solidFill>
                <a:schemeClr val="tx1">
                  <a:lumMod val="50000"/>
                  <a:lumOff val="50000"/>
                </a:schemeClr>
              </a:solidFill>
              <a:latin typeface="+mj-lt"/>
            </a:endParaRPr>
          </a:p>
        </p:txBody>
      </p:sp>
      <p:pic>
        <p:nvPicPr>
          <p:cNvPr id="6" name="Imagen 5">
            <a:extLst>
              <a:ext uri="{FF2B5EF4-FFF2-40B4-BE49-F238E27FC236}">
                <a16:creationId xmlns:a16="http://schemas.microsoft.com/office/drawing/2014/main" id="{627DA2B6-9D26-4D7C-A46F-B4CB15FEA735}"/>
              </a:ext>
            </a:extLst>
          </p:cNvPr>
          <p:cNvPicPr>
            <a:picLocks noChangeAspect="1"/>
          </p:cNvPicPr>
          <p:nvPr/>
        </p:nvPicPr>
        <p:blipFill>
          <a:blip r:embed="rId2"/>
          <a:stretch>
            <a:fillRect/>
          </a:stretch>
        </p:blipFill>
        <p:spPr>
          <a:xfrm>
            <a:off x="2061865" y="3493254"/>
            <a:ext cx="6422598" cy="2863097"/>
          </a:xfrm>
          <a:prstGeom prst="rect">
            <a:avLst/>
          </a:prstGeom>
        </p:spPr>
      </p:pic>
      <p:sp>
        <p:nvSpPr>
          <p:cNvPr id="10" name="CuadroTexto 9">
            <a:extLst>
              <a:ext uri="{FF2B5EF4-FFF2-40B4-BE49-F238E27FC236}">
                <a16:creationId xmlns:a16="http://schemas.microsoft.com/office/drawing/2014/main" id="{6F9249C9-872E-43D8-B454-3C1D296C5834}"/>
              </a:ext>
            </a:extLst>
          </p:cNvPr>
          <p:cNvSpPr txBox="1"/>
          <p:nvPr/>
        </p:nvSpPr>
        <p:spPr>
          <a:xfrm>
            <a:off x="2194560" y="6420605"/>
            <a:ext cx="3281680" cy="523220"/>
          </a:xfrm>
          <a:prstGeom prst="rect">
            <a:avLst/>
          </a:prstGeom>
          <a:noFill/>
        </p:spPr>
        <p:txBody>
          <a:bodyPr wrap="square">
            <a:spAutoFit/>
          </a:bodyPr>
          <a:lstStyle/>
          <a:p>
            <a:pPr algn="just"/>
            <a:r>
              <a:rPr lang="es-MX" sz="1400" dirty="0">
                <a:solidFill>
                  <a:schemeClr val="tx1">
                    <a:lumMod val="50000"/>
                    <a:lumOff val="50000"/>
                  </a:schemeClr>
                </a:solidFill>
                <a:latin typeface="+mj-lt"/>
              </a:rPr>
              <a:t>Ejecuciones, Salida del Programa </a:t>
            </a:r>
            <a:r>
              <a:rPr lang="es-ES_tradnl" sz="1400" dirty="0">
                <a:solidFill>
                  <a:schemeClr val="tx1">
                    <a:lumMod val="50000"/>
                    <a:lumOff val="50000"/>
                  </a:schemeClr>
                </a:solidFill>
                <a:latin typeface="+mj-lt"/>
              </a:rPr>
              <a:t>Fuente: Zambrano M., et al., 2025.</a:t>
            </a:r>
            <a:endParaRPr lang="es-EC" sz="1400" dirty="0">
              <a:solidFill>
                <a:schemeClr val="tx1">
                  <a:lumMod val="50000"/>
                  <a:lumOff val="50000"/>
                </a:schemeClr>
              </a:solidFill>
              <a:latin typeface="+mj-lt"/>
            </a:endParaRPr>
          </a:p>
        </p:txBody>
      </p:sp>
    </p:spTree>
    <p:extLst>
      <p:ext uri="{BB962C8B-B14F-4D97-AF65-F5344CB8AC3E}">
        <p14:creationId xmlns:p14="http://schemas.microsoft.com/office/powerpoint/2010/main" val="1725193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000" dirty="0"/>
              <a:t>Sentencias if-else Anidadas </a:t>
            </a:r>
          </a:p>
          <a:p>
            <a:pPr lvl="1"/>
            <a:r>
              <a:rPr lang="es-MX" sz="2000" dirty="0"/>
              <a:t> Problema 3.5. (Aplicación del uso de las sentencias if-else anidadas) </a:t>
            </a:r>
          </a:p>
          <a:p>
            <a:pPr lvl="1"/>
            <a:r>
              <a:rPr lang="es-MX" sz="2000" dirty="0"/>
              <a:t> Problema 3.6. (Aplicación del uso de las sentencias if-else anidadas) </a:t>
            </a:r>
          </a:p>
          <a:p>
            <a:pPr lvl="1"/>
            <a:r>
              <a:rPr lang="es-MX" sz="3400" b="1" dirty="0">
                <a:solidFill>
                  <a:srgbClr val="FF0000"/>
                </a:solidFill>
              </a:rPr>
              <a:t>Caso de Estudio 3.5: Evaluar una Función Definida por Partes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13</a:t>
            </a:fld>
            <a:endParaRPr lang="es-EC">
              <a:solidFill>
                <a:prstClr val="black">
                  <a:lumMod val="65000"/>
                  <a:lumOff val="35000"/>
                </a:prstClr>
              </a:solidFill>
            </a:endParaRPr>
          </a:p>
        </p:txBody>
      </p:sp>
    </p:spTree>
    <p:extLst>
      <p:ext uri="{BB962C8B-B14F-4D97-AF65-F5344CB8AC3E}">
        <p14:creationId xmlns:p14="http://schemas.microsoft.com/office/powerpoint/2010/main" val="3642140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80722" y="854126"/>
            <a:ext cx="10972800" cy="1600200"/>
          </a:xfrm>
        </p:spPr>
        <p:txBody>
          <a:bodyPr/>
          <a:lstStyle/>
          <a:p>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2040366" y="1300480"/>
            <a:ext cx="4218194" cy="2468880"/>
          </a:xfrm>
        </p:spPr>
        <p:txBody>
          <a:bodyPr>
            <a:normAutofit fontScale="92500" lnSpcReduction="20000"/>
          </a:bodyPr>
          <a:lstStyle/>
          <a:p>
            <a:r>
              <a:rPr lang="es-MX" sz="2000" dirty="0"/>
              <a:t>A) Problema Dada la función definida por partes 𝑦 = 𝑓(𝑥), calcular el valor de ‘y’ para un valor dado de ‘x’ y visualizarlo en pantalla.</a:t>
            </a:r>
          </a:p>
          <a:p>
            <a:endParaRPr lang="es-MX" sz="2000" b="1" dirty="0"/>
          </a:p>
          <a:p>
            <a:r>
              <a:rPr lang="es-MX" sz="2000" dirty="0"/>
              <a:t>Los tres intervalos de la función se muestran en la Figura 3.5.1 que son: </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14</a:t>
            </a:fld>
            <a:endParaRPr lang="es-EC"/>
          </a:p>
        </p:txBody>
      </p:sp>
      <p:pic>
        <p:nvPicPr>
          <p:cNvPr id="7" name="Imagen 6">
            <a:extLst>
              <a:ext uri="{FF2B5EF4-FFF2-40B4-BE49-F238E27FC236}">
                <a16:creationId xmlns:a16="http://schemas.microsoft.com/office/drawing/2014/main" id="{907B2504-9713-41B8-84AB-64397F580714}"/>
              </a:ext>
            </a:extLst>
          </p:cNvPr>
          <p:cNvPicPr>
            <a:picLocks noChangeAspect="1"/>
          </p:cNvPicPr>
          <p:nvPr/>
        </p:nvPicPr>
        <p:blipFill>
          <a:blip r:embed="rId2"/>
          <a:stretch>
            <a:fillRect/>
          </a:stretch>
        </p:blipFill>
        <p:spPr>
          <a:xfrm>
            <a:off x="7003142" y="1167660"/>
            <a:ext cx="3148491" cy="1600200"/>
          </a:xfrm>
          <a:prstGeom prst="rect">
            <a:avLst/>
          </a:prstGeom>
        </p:spPr>
      </p:pic>
      <p:pic>
        <p:nvPicPr>
          <p:cNvPr id="10" name="Imagen 9">
            <a:extLst>
              <a:ext uri="{FF2B5EF4-FFF2-40B4-BE49-F238E27FC236}">
                <a16:creationId xmlns:a16="http://schemas.microsoft.com/office/drawing/2014/main" id="{484EB01B-F59B-405E-90AB-3B4257FD4390}"/>
              </a:ext>
            </a:extLst>
          </p:cNvPr>
          <p:cNvPicPr>
            <a:picLocks noChangeAspect="1"/>
          </p:cNvPicPr>
          <p:nvPr/>
        </p:nvPicPr>
        <p:blipFill>
          <a:blip r:embed="rId3"/>
          <a:stretch>
            <a:fillRect/>
          </a:stretch>
        </p:blipFill>
        <p:spPr>
          <a:xfrm>
            <a:off x="2461675" y="3682852"/>
            <a:ext cx="3939125" cy="1163467"/>
          </a:xfrm>
          <a:prstGeom prst="rect">
            <a:avLst/>
          </a:prstGeom>
        </p:spPr>
      </p:pic>
      <p:pic>
        <p:nvPicPr>
          <p:cNvPr id="14" name="Imagen 13">
            <a:extLst>
              <a:ext uri="{FF2B5EF4-FFF2-40B4-BE49-F238E27FC236}">
                <a16:creationId xmlns:a16="http://schemas.microsoft.com/office/drawing/2014/main" id="{7D0796B7-C3F3-412D-B4F0-1C1E89CF2153}"/>
              </a:ext>
            </a:extLst>
          </p:cNvPr>
          <p:cNvPicPr>
            <a:picLocks noChangeAspect="1"/>
          </p:cNvPicPr>
          <p:nvPr/>
        </p:nvPicPr>
        <p:blipFill>
          <a:blip r:embed="rId4"/>
          <a:stretch>
            <a:fillRect/>
          </a:stretch>
        </p:blipFill>
        <p:spPr>
          <a:xfrm>
            <a:off x="2580257" y="4728127"/>
            <a:ext cx="5487166" cy="1181265"/>
          </a:xfrm>
          <a:prstGeom prst="rect">
            <a:avLst/>
          </a:prstGeom>
        </p:spPr>
      </p:pic>
      <p:sp>
        <p:nvSpPr>
          <p:cNvPr id="16" name="CuadroTexto 15">
            <a:extLst>
              <a:ext uri="{FF2B5EF4-FFF2-40B4-BE49-F238E27FC236}">
                <a16:creationId xmlns:a16="http://schemas.microsoft.com/office/drawing/2014/main" id="{CA8E4788-F1A5-4B82-8A7C-6A30557ACCCF}"/>
              </a:ext>
            </a:extLst>
          </p:cNvPr>
          <p:cNvSpPr txBox="1"/>
          <p:nvPr/>
        </p:nvSpPr>
        <p:spPr>
          <a:xfrm>
            <a:off x="2891963" y="6300396"/>
            <a:ext cx="5052749" cy="461665"/>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3.5.1.</a:t>
            </a:r>
            <a:r>
              <a:rPr lang="es-ES" sz="1200" dirty="0">
                <a:solidFill>
                  <a:schemeClr val="tx1">
                    <a:lumMod val="50000"/>
                    <a:lumOff val="50000"/>
                  </a:schemeClr>
                </a:solidFill>
                <a:latin typeface="+mj-lt"/>
              </a:rPr>
              <a:t> Intervalo de Función</a:t>
            </a:r>
            <a:r>
              <a:rPr lang="es-ES_tradnl" sz="1200" dirty="0">
                <a:solidFill>
                  <a:schemeClr val="tx1">
                    <a:lumMod val="50000"/>
                    <a:lumOff val="50000"/>
                  </a:schemeClr>
                </a:solidFill>
                <a:latin typeface="+mj-lt"/>
              </a:rPr>
              <a:t>: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
        <p:nvSpPr>
          <p:cNvPr id="18" name="CuadroTexto 17">
            <a:extLst>
              <a:ext uri="{FF2B5EF4-FFF2-40B4-BE49-F238E27FC236}">
                <a16:creationId xmlns:a16="http://schemas.microsoft.com/office/drawing/2014/main" id="{8B069FFC-66AE-4667-B49E-EF9F9944AD4B}"/>
              </a:ext>
            </a:extLst>
          </p:cNvPr>
          <p:cNvSpPr txBox="1"/>
          <p:nvPr/>
        </p:nvSpPr>
        <p:spPr>
          <a:xfrm>
            <a:off x="1583283" y="167969"/>
            <a:ext cx="9682480" cy="954107"/>
          </a:xfrm>
          <a:prstGeom prst="rect">
            <a:avLst/>
          </a:prstGeom>
          <a:noFill/>
        </p:spPr>
        <p:txBody>
          <a:bodyPr wrap="square">
            <a:spAutoFit/>
          </a:bodyPr>
          <a:lstStyle/>
          <a:p>
            <a:pPr lvl="1"/>
            <a:r>
              <a:rPr lang="es-MX" sz="2800" b="1" dirty="0">
                <a:solidFill>
                  <a:schemeClr val="tx2"/>
                </a:solidFill>
                <a:effectLst>
                  <a:outerShdw blurRad="63500" dist="38100" dir="5400000" algn="t" rotWithShape="0">
                    <a:prstClr val="black">
                      <a:alpha val="25000"/>
                    </a:prstClr>
                  </a:outerShdw>
                </a:effectLst>
                <a:ea typeface="+mj-ea"/>
                <a:cs typeface="+mj-cs"/>
              </a:rPr>
              <a:t>Caso de Estudio 3.5: Evaluar una Función Definida por Partes  </a:t>
            </a:r>
          </a:p>
        </p:txBody>
      </p:sp>
    </p:spTree>
    <p:extLst>
      <p:ext uri="{BB962C8B-B14F-4D97-AF65-F5344CB8AC3E}">
        <p14:creationId xmlns:p14="http://schemas.microsoft.com/office/powerpoint/2010/main" val="3734750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80722" y="854126"/>
            <a:ext cx="10972800" cy="1600200"/>
          </a:xfrm>
        </p:spPr>
        <p:txBody>
          <a:bodyPr/>
          <a:lstStyle/>
          <a:p>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2040366" y="1300480"/>
            <a:ext cx="7885954" cy="2468880"/>
          </a:xfrm>
        </p:spPr>
        <p:txBody>
          <a:bodyPr>
            <a:normAutofit/>
          </a:bodyPr>
          <a:lstStyle/>
          <a:p>
            <a:r>
              <a:rPr lang="es-MX" sz="2000" dirty="0"/>
              <a:t>B) Análisis</a:t>
            </a:r>
          </a:p>
          <a:p>
            <a:pPr marL="0" indent="0">
              <a:buNone/>
            </a:pPr>
            <a:r>
              <a:rPr lang="es-MX" sz="2000" dirty="0"/>
              <a:t> Claramente, se puede ver que la entrada del problema es el valor de ‘x’. Hay una salida requerida: el valor de 𝑓(𝑥) = 𝑦. Partiendo de un conocimiento básico de Álgebra, se sabe que hay dos intervalos y dos funciones lineales sobre las cuales se va a evaluar en un punto a la función definida por partes. Las fórmulas requeridas se incluyen</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15</a:t>
            </a:fld>
            <a:endParaRPr lang="es-EC"/>
          </a:p>
        </p:txBody>
      </p:sp>
      <p:sp>
        <p:nvSpPr>
          <p:cNvPr id="18" name="CuadroTexto 17">
            <a:extLst>
              <a:ext uri="{FF2B5EF4-FFF2-40B4-BE49-F238E27FC236}">
                <a16:creationId xmlns:a16="http://schemas.microsoft.com/office/drawing/2014/main" id="{8B069FFC-66AE-4667-B49E-EF9F9944AD4B}"/>
              </a:ext>
            </a:extLst>
          </p:cNvPr>
          <p:cNvSpPr txBox="1"/>
          <p:nvPr/>
        </p:nvSpPr>
        <p:spPr>
          <a:xfrm>
            <a:off x="1583283" y="167969"/>
            <a:ext cx="9682480" cy="954107"/>
          </a:xfrm>
          <a:prstGeom prst="rect">
            <a:avLst/>
          </a:prstGeom>
          <a:noFill/>
        </p:spPr>
        <p:txBody>
          <a:bodyPr wrap="square">
            <a:spAutoFit/>
          </a:bodyPr>
          <a:lstStyle/>
          <a:p>
            <a:pPr lvl="1"/>
            <a:r>
              <a:rPr lang="es-MX" sz="2800" b="1" dirty="0">
                <a:solidFill>
                  <a:schemeClr val="tx2"/>
                </a:solidFill>
                <a:effectLst>
                  <a:outerShdw blurRad="63500" dist="38100" dir="5400000" algn="t" rotWithShape="0">
                    <a:prstClr val="black">
                      <a:alpha val="25000"/>
                    </a:prstClr>
                  </a:outerShdw>
                </a:effectLst>
                <a:ea typeface="+mj-ea"/>
                <a:cs typeface="+mj-cs"/>
              </a:rPr>
              <a:t>Caso de Estudio 3.5: Evaluar una Función Definida por Partes  </a:t>
            </a:r>
          </a:p>
        </p:txBody>
      </p:sp>
      <p:pic>
        <p:nvPicPr>
          <p:cNvPr id="8" name="Imagen 7">
            <a:extLst>
              <a:ext uri="{FF2B5EF4-FFF2-40B4-BE49-F238E27FC236}">
                <a16:creationId xmlns:a16="http://schemas.microsoft.com/office/drawing/2014/main" id="{672C5AB6-45E5-4C9A-9B5E-10BC64FEEADA}"/>
              </a:ext>
            </a:extLst>
          </p:cNvPr>
          <p:cNvPicPr>
            <a:picLocks noChangeAspect="1"/>
          </p:cNvPicPr>
          <p:nvPr/>
        </p:nvPicPr>
        <p:blipFill>
          <a:blip r:embed="rId2"/>
          <a:stretch>
            <a:fillRect/>
          </a:stretch>
        </p:blipFill>
        <p:spPr>
          <a:xfrm>
            <a:off x="2265680" y="3759200"/>
            <a:ext cx="6614160" cy="2468880"/>
          </a:xfrm>
          <a:prstGeom prst="rect">
            <a:avLst/>
          </a:prstGeom>
        </p:spPr>
      </p:pic>
    </p:spTree>
    <p:extLst>
      <p:ext uri="{BB962C8B-B14F-4D97-AF65-F5344CB8AC3E}">
        <p14:creationId xmlns:p14="http://schemas.microsoft.com/office/powerpoint/2010/main" val="101908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80722" y="854126"/>
            <a:ext cx="10972800" cy="1600200"/>
          </a:xfrm>
        </p:spPr>
        <p:txBody>
          <a:bodyPr/>
          <a:lstStyle/>
          <a:p>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2040366" y="1300480"/>
            <a:ext cx="7885954" cy="2468880"/>
          </a:xfrm>
        </p:spPr>
        <p:txBody>
          <a:bodyPr>
            <a:normAutofit/>
          </a:bodyPr>
          <a:lstStyle/>
          <a:p>
            <a:r>
              <a:rPr lang="es-EC" sz="2000" dirty="0"/>
              <a:t>B.2) Diagrama de Entrada y Salida</a:t>
            </a:r>
            <a:endParaRPr lang="es-EC" sz="2800" b="1" dirty="0"/>
          </a:p>
          <a:p>
            <a:pPr marL="0" indent="0">
              <a:buNone/>
            </a:pPr>
            <a:r>
              <a:rPr lang="es-MX" sz="2000" dirty="0"/>
              <a:t>En la Figura 3.5.2 se muestra el diagrama de Entrada-Salida del programa donde se identifican y se diagraman las entradas y salidas del problema como son: a) Entradas: la variable ‘x’ (variable independiente); b) Salidas: la variable ‘y’ (variable dependiente).</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16</a:t>
            </a:fld>
            <a:endParaRPr lang="es-EC"/>
          </a:p>
        </p:txBody>
      </p:sp>
      <p:sp>
        <p:nvSpPr>
          <p:cNvPr id="18" name="CuadroTexto 17">
            <a:extLst>
              <a:ext uri="{FF2B5EF4-FFF2-40B4-BE49-F238E27FC236}">
                <a16:creationId xmlns:a16="http://schemas.microsoft.com/office/drawing/2014/main" id="{8B069FFC-66AE-4667-B49E-EF9F9944AD4B}"/>
              </a:ext>
            </a:extLst>
          </p:cNvPr>
          <p:cNvSpPr txBox="1"/>
          <p:nvPr/>
        </p:nvSpPr>
        <p:spPr>
          <a:xfrm>
            <a:off x="1583283" y="167969"/>
            <a:ext cx="9682480" cy="954107"/>
          </a:xfrm>
          <a:prstGeom prst="rect">
            <a:avLst/>
          </a:prstGeom>
          <a:noFill/>
        </p:spPr>
        <p:txBody>
          <a:bodyPr wrap="square">
            <a:spAutoFit/>
          </a:bodyPr>
          <a:lstStyle/>
          <a:p>
            <a:pPr lvl="1"/>
            <a:r>
              <a:rPr lang="es-MX" sz="2800" b="1" dirty="0">
                <a:solidFill>
                  <a:schemeClr val="tx2"/>
                </a:solidFill>
                <a:effectLst>
                  <a:outerShdw blurRad="63500" dist="38100" dir="5400000" algn="t" rotWithShape="0">
                    <a:prstClr val="black">
                      <a:alpha val="25000"/>
                    </a:prstClr>
                  </a:outerShdw>
                </a:effectLst>
                <a:ea typeface="+mj-ea"/>
                <a:cs typeface="+mj-cs"/>
              </a:rPr>
              <a:t>Caso de Estudio 3.5: Evaluar una Función Definida por Partes  </a:t>
            </a:r>
          </a:p>
        </p:txBody>
      </p:sp>
      <p:pic>
        <p:nvPicPr>
          <p:cNvPr id="7" name="Imagen 6">
            <a:extLst>
              <a:ext uri="{FF2B5EF4-FFF2-40B4-BE49-F238E27FC236}">
                <a16:creationId xmlns:a16="http://schemas.microsoft.com/office/drawing/2014/main" id="{9D99345B-97D8-4909-B5A6-1EF1BBF177E3}"/>
              </a:ext>
            </a:extLst>
          </p:cNvPr>
          <p:cNvPicPr>
            <a:picLocks noChangeAspect="1"/>
          </p:cNvPicPr>
          <p:nvPr/>
        </p:nvPicPr>
        <p:blipFill>
          <a:blip r:embed="rId2"/>
          <a:stretch>
            <a:fillRect/>
          </a:stretch>
        </p:blipFill>
        <p:spPr>
          <a:xfrm>
            <a:off x="4358640" y="3429000"/>
            <a:ext cx="3836869" cy="1677721"/>
          </a:xfrm>
          <a:prstGeom prst="rect">
            <a:avLst/>
          </a:prstGeom>
        </p:spPr>
      </p:pic>
      <p:sp>
        <p:nvSpPr>
          <p:cNvPr id="10" name="CuadroTexto 9">
            <a:extLst>
              <a:ext uri="{FF2B5EF4-FFF2-40B4-BE49-F238E27FC236}">
                <a16:creationId xmlns:a16="http://schemas.microsoft.com/office/drawing/2014/main" id="{4895686D-38BA-4F55-B2C2-8870E8064078}"/>
              </a:ext>
            </a:extLst>
          </p:cNvPr>
          <p:cNvSpPr txBox="1"/>
          <p:nvPr/>
        </p:nvSpPr>
        <p:spPr>
          <a:xfrm>
            <a:off x="3750699" y="5680708"/>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3.5.2.</a:t>
            </a:r>
            <a:r>
              <a:rPr lang="es-ES" sz="1200" dirty="0">
                <a:solidFill>
                  <a:schemeClr val="tx1">
                    <a:lumMod val="50000"/>
                    <a:lumOff val="50000"/>
                  </a:schemeClr>
                </a:solidFill>
                <a:latin typeface="+mj-lt"/>
              </a:rPr>
              <a:t> Entrada y Salida del programa</a:t>
            </a:r>
            <a:r>
              <a:rPr lang="es-ES_tradnl" sz="1200" dirty="0">
                <a:solidFill>
                  <a:schemeClr val="tx1">
                    <a:lumMod val="50000"/>
                    <a:lumOff val="50000"/>
                  </a:schemeClr>
                </a:solidFill>
                <a:latin typeface="+mj-lt"/>
              </a:rPr>
              <a:t>: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408342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80722" y="854126"/>
            <a:ext cx="10972800" cy="1600200"/>
          </a:xfrm>
        </p:spPr>
        <p:txBody>
          <a:bodyPr/>
          <a:lstStyle/>
          <a:p>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2040366" y="1300480"/>
            <a:ext cx="7885954" cy="4703394"/>
          </a:xfrm>
        </p:spPr>
        <p:txBody>
          <a:bodyPr>
            <a:normAutofit fontScale="92500" lnSpcReduction="20000"/>
          </a:bodyPr>
          <a:lstStyle/>
          <a:p>
            <a:r>
              <a:rPr lang="es-MX" sz="2200" dirty="0"/>
              <a:t>C) Diseño </a:t>
            </a:r>
          </a:p>
          <a:p>
            <a:pPr marL="0" indent="0">
              <a:buNone/>
            </a:pPr>
            <a:r>
              <a:rPr lang="es-MX" sz="2200" dirty="0"/>
              <a:t>Una vez que se conoce las entradas y las salidas del problema, se deben listar los pasos necesarios para resolver el problema, es decir, el algoritmo. </a:t>
            </a:r>
          </a:p>
          <a:p>
            <a:pPr marL="0" indent="0">
              <a:buNone/>
            </a:pPr>
            <a:r>
              <a:rPr lang="es-MX" sz="2200" dirty="0"/>
              <a:t>Algoritmo </a:t>
            </a:r>
          </a:p>
          <a:p>
            <a:pPr marL="457200" indent="-457200">
              <a:buAutoNum type="arabicPeriod"/>
            </a:pPr>
            <a:r>
              <a:rPr lang="es-MX" sz="2200" b="1" dirty="0"/>
              <a:t>Leer el valor de ‘x’. </a:t>
            </a:r>
          </a:p>
          <a:p>
            <a:pPr marL="0" indent="0">
              <a:buNone/>
            </a:pPr>
            <a:r>
              <a:rPr lang="es-MX" sz="2200" b="1" dirty="0"/>
              <a:t>2. Si el valor de 'x' está dentro del intervalo I1: 𝑥 ≤ −1. </a:t>
            </a:r>
          </a:p>
          <a:p>
            <a:pPr marL="0" indent="0">
              <a:buNone/>
            </a:pPr>
            <a:r>
              <a:rPr lang="es-MX" sz="2200" b="1" dirty="0"/>
              <a:t>2.1. Evaluar a la función 𝑓(𝑥) = −𝑥 en un punto 'x’. </a:t>
            </a:r>
          </a:p>
          <a:p>
            <a:pPr marL="0" indent="0">
              <a:buNone/>
            </a:pPr>
            <a:r>
              <a:rPr lang="es-MX" sz="2200" b="1" dirty="0"/>
              <a:t>3. Caso contrario, si el valor de 'x' está dentro del intervalo I2: (−1 &lt; 𝑥) ∧ (𝑥 &lt; 1). 3.1. Evaluar a la función 𝑓(𝑥) = 𝑥2 en un punto 'x’. </a:t>
            </a:r>
          </a:p>
          <a:p>
            <a:pPr marL="0" indent="0">
              <a:buNone/>
            </a:pPr>
            <a:r>
              <a:rPr lang="es-MX" sz="2200" b="1" dirty="0"/>
              <a:t>4. Caso contrario, si el valor de 'x' está dentro del intervalo I3: 𝑥 ≥ 1.</a:t>
            </a:r>
          </a:p>
          <a:p>
            <a:pPr marL="0" indent="0">
              <a:buNone/>
            </a:pPr>
            <a:r>
              <a:rPr lang="es-MX" sz="2200" b="1" dirty="0"/>
              <a:t>4.1. Evaluar a la función 𝑓(𝑥)=𝑥 en un punto 'x’. </a:t>
            </a:r>
          </a:p>
          <a:p>
            <a:pPr marL="0" indent="0">
              <a:buNone/>
            </a:pPr>
            <a:r>
              <a:rPr lang="es-MX" sz="2200" b="1" dirty="0"/>
              <a:t>5. Imprimir el valor de la variable ‘x’ y de la variable ‘y</a:t>
            </a:r>
            <a:r>
              <a:rPr lang="es-MX" sz="2200" dirty="0"/>
              <a:t>’.</a:t>
            </a:r>
          </a:p>
          <a:p>
            <a:pPr marL="0" indent="0">
              <a:buNone/>
            </a:pPr>
            <a:endParaRPr lang="es-MX" sz="2000" dirty="0"/>
          </a:p>
          <a:p>
            <a:pPr marL="0" indent="0">
              <a:buNone/>
            </a:pP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17</a:t>
            </a:fld>
            <a:endParaRPr lang="es-EC"/>
          </a:p>
        </p:txBody>
      </p:sp>
      <p:sp>
        <p:nvSpPr>
          <p:cNvPr id="18" name="CuadroTexto 17">
            <a:extLst>
              <a:ext uri="{FF2B5EF4-FFF2-40B4-BE49-F238E27FC236}">
                <a16:creationId xmlns:a16="http://schemas.microsoft.com/office/drawing/2014/main" id="{8B069FFC-66AE-4667-B49E-EF9F9944AD4B}"/>
              </a:ext>
            </a:extLst>
          </p:cNvPr>
          <p:cNvSpPr txBox="1"/>
          <p:nvPr/>
        </p:nvSpPr>
        <p:spPr>
          <a:xfrm>
            <a:off x="1583283" y="167969"/>
            <a:ext cx="9682480" cy="954107"/>
          </a:xfrm>
          <a:prstGeom prst="rect">
            <a:avLst/>
          </a:prstGeom>
          <a:noFill/>
        </p:spPr>
        <p:txBody>
          <a:bodyPr wrap="square">
            <a:spAutoFit/>
          </a:bodyPr>
          <a:lstStyle/>
          <a:p>
            <a:pPr lvl="1"/>
            <a:r>
              <a:rPr lang="es-MX" sz="2800" b="1" dirty="0">
                <a:solidFill>
                  <a:schemeClr val="tx2"/>
                </a:solidFill>
                <a:effectLst>
                  <a:outerShdw blurRad="63500" dist="38100" dir="5400000" algn="t" rotWithShape="0">
                    <a:prstClr val="black">
                      <a:alpha val="25000"/>
                    </a:prstClr>
                  </a:outerShdw>
                </a:effectLst>
                <a:ea typeface="+mj-ea"/>
                <a:cs typeface="+mj-cs"/>
              </a:rPr>
              <a:t>Caso de Estudio 3.5: Evaluar una Función Definida por Partes  </a:t>
            </a:r>
          </a:p>
        </p:txBody>
      </p:sp>
    </p:spTree>
    <p:extLst>
      <p:ext uri="{BB962C8B-B14F-4D97-AF65-F5344CB8AC3E}">
        <p14:creationId xmlns:p14="http://schemas.microsoft.com/office/powerpoint/2010/main" val="26008410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80722" y="854126"/>
            <a:ext cx="10972800" cy="1600200"/>
          </a:xfrm>
        </p:spPr>
        <p:txBody>
          <a:bodyPr/>
          <a:lstStyle/>
          <a:p>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90239" y="1330960"/>
            <a:ext cx="3821954" cy="2519680"/>
          </a:xfrm>
        </p:spPr>
        <p:txBody>
          <a:bodyPr>
            <a:normAutofit fontScale="92500" lnSpcReduction="20000"/>
          </a:bodyPr>
          <a:lstStyle/>
          <a:p>
            <a:pPr marL="0" indent="0">
              <a:buNone/>
            </a:pPr>
            <a:r>
              <a:rPr lang="es-MX" sz="2000" dirty="0"/>
              <a:t>D) Implementación Para implementar la solución, se debe escribir el algoritmo como un programa de C/C++ que contenga toda la información necesaria para completar la traducción a lenguaje máquina. En la Tabla 3.5.1 se muestra el código del programa en C/C++. </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18</a:t>
            </a:fld>
            <a:endParaRPr lang="es-EC"/>
          </a:p>
        </p:txBody>
      </p:sp>
      <p:pic>
        <p:nvPicPr>
          <p:cNvPr id="7" name="Imagen 6">
            <a:extLst>
              <a:ext uri="{FF2B5EF4-FFF2-40B4-BE49-F238E27FC236}">
                <a16:creationId xmlns:a16="http://schemas.microsoft.com/office/drawing/2014/main" id="{607C5FAB-13C5-4098-88C4-E70A8205793F}"/>
              </a:ext>
            </a:extLst>
          </p:cNvPr>
          <p:cNvPicPr>
            <a:picLocks noChangeAspect="1"/>
          </p:cNvPicPr>
          <p:nvPr/>
        </p:nvPicPr>
        <p:blipFill>
          <a:blip r:embed="rId2"/>
          <a:stretch>
            <a:fillRect/>
          </a:stretch>
        </p:blipFill>
        <p:spPr>
          <a:xfrm>
            <a:off x="5037468" y="237679"/>
            <a:ext cx="6064293" cy="6382641"/>
          </a:xfrm>
          <a:prstGeom prst="rect">
            <a:avLst/>
          </a:prstGeom>
        </p:spPr>
      </p:pic>
    </p:spTree>
    <p:extLst>
      <p:ext uri="{BB962C8B-B14F-4D97-AF65-F5344CB8AC3E}">
        <p14:creationId xmlns:p14="http://schemas.microsoft.com/office/powerpoint/2010/main" val="2606679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80722" y="854126"/>
            <a:ext cx="10972800" cy="1600200"/>
          </a:xfrm>
        </p:spPr>
        <p:txBody>
          <a:bodyPr/>
          <a:lstStyle/>
          <a:p>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930283" y="1122076"/>
            <a:ext cx="8678434" cy="2926080"/>
          </a:xfrm>
        </p:spPr>
        <p:txBody>
          <a:bodyPr>
            <a:normAutofit/>
          </a:bodyPr>
          <a:lstStyle/>
          <a:p>
            <a:pPr marL="0" indent="0">
              <a:buNone/>
            </a:pPr>
            <a:r>
              <a:rPr lang="es-MX" sz="1600" dirty="0"/>
              <a:t>E) Pruebas </a:t>
            </a:r>
          </a:p>
          <a:p>
            <a:pPr marL="0" indent="0">
              <a:buNone/>
            </a:pPr>
            <a:r>
              <a:rPr lang="es-MX" sz="1600" dirty="0"/>
              <a:t>La Tabla 3.5.2, la Tabla 5.5.3 y la Tabla 3.5.4 muestran tres ejemplos de la salida del programa, donde se puede ver que los resultados del programa tienen sentido, comparando estos resultados con los datos devueltos por una calculadora. En la salida de la Tabla 3.5.2 se puede ver que, al ingresar el valor de -4 se evalúa la primera función cuyo valor resultante es 4. De manera similar, en la salida Tabla 3.5.3 se puede ver que, al ingresar el valor de 0.5 se evalúa la segunda función cuyo valor resultante es 0.25. Finalmente, en la salida Tabla 3.5.4 se puede ver que, al ingresar el valor de 4 se evalúa la tercera función cuyo valor resultante es 4.</a:t>
            </a:r>
            <a:endParaRPr lang="es-MX" sz="2000" dirty="0"/>
          </a:p>
          <a:p>
            <a:pPr marL="0" indent="0">
              <a:buNone/>
            </a:pP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19</a:t>
            </a:fld>
            <a:endParaRPr lang="es-EC"/>
          </a:p>
        </p:txBody>
      </p:sp>
      <p:sp>
        <p:nvSpPr>
          <p:cNvPr id="18" name="CuadroTexto 17">
            <a:extLst>
              <a:ext uri="{FF2B5EF4-FFF2-40B4-BE49-F238E27FC236}">
                <a16:creationId xmlns:a16="http://schemas.microsoft.com/office/drawing/2014/main" id="{8B069FFC-66AE-4667-B49E-EF9F9944AD4B}"/>
              </a:ext>
            </a:extLst>
          </p:cNvPr>
          <p:cNvSpPr txBox="1"/>
          <p:nvPr/>
        </p:nvSpPr>
        <p:spPr>
          <a:xfrm>
            <a:off x="1583283" y="167969"/>
            <a:ext cx="9682480" cy="954107"/>
          </a:xfrm>
          <a:prstGeom prst="rect">
            <a:avLst/>
          </a:prstGeom>
          <a:noFill/>
        </p:spPr>
        <p:txBody>
          <a:bodyPr wrap="square">
            <a:spAutoFit/>
          </a:bodyPr>
          <a:lstStyle/>
          <a:p>
            <a:pPr lvl="1"/>
            <a:r>
              <a:rPr lang="es-MX" sz="2800" b="1" dirty="0">
                <a:solidFill>
                  <a:schemeClr val="tx2"/>
                </a:solidFill>
                <a:effectLst>
                  <a:outerShdw blurRad="63500" dist="38100" dir="5400000" algn="t" rotWithShape="0">
                    <a:prstClr val="black">
                      <a:alpha val="25000"/>
                    </a:prstClr>
                  </a:outerShdw>
                </a:effectLst>
                <a:ea typeface="+mj-ea"/>
                <a:cs typeface="+mj-cs"/>
              </a:rPr>
              <a:t>Caso de Estudio 3.5: Evaluar una Función Definida por Partes  </a:t>
            </a:r>
          </a:p>
        </p:txBody>
      </p:sp>
      <p:pic>
        <p:nvPicPr>
          <p:cNvPr id="7" name="Imagen 6">
            <a:extLst>
              <a:ext uri="{FF2B5EF4-FFF2-40B4-BE49-F238E27FC236}">
                <a16:creationId xmlns:a16="http://schemas.microsoft.com/office/drawing/2014/main" id="{24E89020-ACF4-4694-AAE2-2FC11D04F809}"/>
              </a:ext>
            </a:extLst>
          </p:cNvPr>
          <p:cNvPicPr>
            <a:picLocks noChangeAspect="1"/>
          </p:cNvPicPr>
          <p:nvPr/>
        </p:nvPicPr>
        <p:blipFill>
          <a:blip r:embed="rId2"/>
          <a:stretch>
            <a:fillRect/>
          </a:stretch>
        </p:blipFill>
        <p:spPr>
          <a:xfrm>
            <a:off x="2826152" y="3472998"/>
            <a:ext cx="7090008" cy="3248478"/>
          </a:xfrm>
          <a:prstGeom prst="rect">
            <a:avLst/>
          </a:prstGeom>
        </p:spPr>
      </p:pic>
    </p:spTree>
    <p:extLst>
      <p:ext uri="{BB962C8B-B14F-4D97-AF65-F5344CB8AC3E}">
        <p14:creationId xmlns:p14="http://schemas.microsoft.com/office/powerpoint/2010/main" val="21214724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524001" y="-1"/>
            <a:ext cx="9105252" cy="954107"/>
          </a:xfrm>
        </p:spPr>
        <p:txBody>
          <a:bodyPr/>
          <a:lstStyle/>
          <a:p>
            <a:r>
              <a:rPr lang="es-ES" sz="4800" b="1" dirty="0"/>
              <a:t>Pensamiento</a:t>
            </a:r>
            <a:endParaRPr lang="en-US" sz="4800" b="1" dirty="0"/>
          </a:p>
        </p:txBody>
      </p:sp>
      <p:sp>
        <p:nvSpPr>
          <p:cNvPr id="5" name="4 Marcador de contenido"/>
          <p:cNvSpPr>
            <a:spLocks noGrp="1"/>
          </p:cNvSpPr>
          <p:nvPr>
            <p:ph idx="1"/>
          </p:nvPr>
        </p:nvSpPr>
        <p:spPr>
          <a:xfrm>
            <a:off x="1630385" y="3004126"/>
            <a:ext cx="4755908" cy="2459009"/>
          </a:xfrm>
        </p:spPr>
        <p:txBody>
          <a:bodyPr>
            <a:normAutofit/>
          </a:bodyPr>
          <a:lstStyle/>
          <a:p>
            <a:r>
              <a:rPr lang="es-EC" b="1" dirty="0"/>
              <a:t>“</a:t>
            </a:r>
            <a:r>
              <a:rPr lang="es-ES" b="1" dirty="0"/>
              <a:t>Todo el mundo debería saber programar”</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20</a:t>
            </a:fld>
            <a:endParaRPr lang="es-EC"/>
          </a:p>
        </p:txBody>
      </p:sp>
      <p:sp>
        <p:nvSpPr>
          <p:cNvPr id="8" name="7 CuadroTexto"/>
          <p:cNvSpPr txBox="1"/>
          <p:nvPr/>
        </p:nvSpPr>
        <p:spPr>
          <a:xfrm>
            <a:off x="1630385" y="1587689"/>
            <a:ext cx="9241702" cy="523220"/>
          </a:xfrm>
          <a:prstGeom prst="rect">
            <a:avLst/>
          </a:prstGeom>
          <a:noFill/>
        </p:spPr>
        <p:txBody>
          <a:bodyPr wrap="square" rtlCol="0">
            <a:spAutoFit/>
          </a:bodyPr>
          <a:lstStyle/>
          <a:p>
            <a:r>
              <a:rPr lang="es-EC" sz="2800" dirty="0">
                <a:solidFill>
                  <a:schemeClr val="bg1">
                    <a:lumMod val="50000"/>
                  </a:schemeClr>
                </a:solidFill>
              </a:rPr>
              <a:t>Científico de la Computación</a:t>
            </a:r>
          </a:p>
        </p:txBody>
      </p:sp>
      <p:sp>
        <p:nvSpPr>
          <p:cNvPr id="9" name="12 CuadroTexto"/>
          <p:cNvSpPr txBox="1"/>
          <p:nvPr/>
        </p:nvSpPr>
        <p:spPr>
          <a:xfrm>
            <a:off x="6096000" y="5105588"/>
            <a:ext cx="4264624" cy="646331"/>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32. </a:t>
            </a:r>
            <a:r>
              <a:rPr lang="es-EC" sz="1200" dirty="0">
                <a:solidFill>
                  <a:schemeClr val="tx1">
                    <a:lumMod val="50000"/>
                    <a:lumOff val="50000"/>
                  </a:schemeClr>
                </a:solidFill>
                <a:latin typeface="+mj-lt"/>
              </a:rPr>
              <a:t>Universidad de las Fuerzas Armadas - ESPE</a:t>
            </a:r>
            <a:r>
              <a:rPr lang="es-ES_tradnl" sz="1200" dirty="0">
                <a:solidFill>
                  <a:schemeClr val="tx1">
                    <a:lumMod val="50000"/>
                    <a:lumOff val="50000"/>
                  </a:schemeClr>
                </a:solidFill>
                <a:latin typeface="+mj-lt"/>
              </a:rPr>
              <a:t>. </a:t>
            </a:r>
          </a:p>
          <a:p>
            <a:r>
              <a:rPr lang="es-ES_tradnl" sz="1200" dirty="0">
                <a:solidFill>
                  <a:schemeClr val="tx1">
                    <a:lumMod val="50000"/>
                    <a:lumOff val="50000"/>
                  </a:schemeClr>
                </a:solidFill>
                <a:latin typeface="+mj-lt"/>
              </a:rPr>
              <a:t>Fuente: https://economipedia.com/definiciones/steve-jobs.html</a:t>
            </a:r>
            <a:endParaRPr lang="es-EC"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F0B58358-E067-4062-8B4C-9A21F6554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0878" y="2222286"/>
            <a:ext cx="4232938" cy="2638134"/>
          </a:xfrm>
          <a:prstGeom prst="rect">
            <a:avLst/>
          </a:prstGeom>
        </p:spPr>
      </p:pic>
    </p:spTree>
    <p:extLst>
      <p:ext uri="{BB962C8B-B14F-4D97-AF65-F5344CB8AC3E}">
        <p14:creationId xmlns:p14="http://schemas.microsoft.com/office/powerpoint/2010/main" val="10817259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63552" y="2060848"/>
            <a:ext cx="8229600" cy="836712"/>
          </a:xfrm>
        </p:spPr>
        <p:txBody>
          <a:bodyPr/>
          <a:lstStyle/>
          <a:p>
            <a:r>
              <a:rPr lang="en-US" b="1" dirty="0"/>
              <a:t>¿</a:t>
            </a:r>
            <a:r>
              <a:rPr lang="en-US" b="1" dirty="0" err="1"/>
              <a:t>Preguntas</a:t>
            </a:r>
            <a:r>
              <a:rPr lang="en-US" b="1" dirty="0"/>
              <a:t>?</a:t>
            </a:r>
          </a:p>
        </p:txBody>
      </p:sp>
      <p:sp>
        <p:nvSpPr>
          <p:cNvPr id="5" name="4 Marcador de contenido"/>
          <p:cNvSpPr>
            <a:spLocks noGrp="1"/>
          </p:cNvSpPr>
          <p:nvPr>
            <p:ph idx="1"/>
          </p:nvPr>
        </p:nvSpPr>
        <p:spPr>
          <a:xfrm>
            <a:off x="4295800" y="3501008"/>
            <a:ext cx="5760640" cy="792088"/>
          </a:xfrm>
        </p:spPr>
        <p:txBody>
          <a:bodyPr>
            <a:normAutofit/>
          </a:bodyPr>
          <a:lstStyle/>
          <a:p>
            <a:pPr marL="0" indent="0">
              <a:buNone/>
            </a:pPr>
            <a:r>
              <a:rPr lang="es-EC" sz="4000" dirty="0"/>
              <a:t>!Gracias!</a:t>
            </a:r>
          </a:p>
        </p:txBody>
      </p:sp>
      <p:sp>
        <p:nvSpPr>
          <p:cNvPr id="3" name="2 Marcador de fecha"/>
          <p:cNvSpPr>
            <a:spLocks noGrp="1"/>
          </p:cNvSpPr>
          <p:nvPr>
            <p:ph type="dt" sz="half" idx="10"/>
          </p:nvPr>
        </p:nvSpPr>
        <p:spPr/>
        <p:txBody>
          <a:bodyPr/>
          <a:lstStyle/>
          <a:p>
            <a:fld id="{EA350481-F057-463F-9522-14A55A4D5C62}" type="datetime1">
              <a:rPr lang="es-EC" smtClean="0"/>
              <a:t>26/11/2025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21</a:t>
            </a:fld>
            <a:endParaRPr lang="es-EC"/>
          </a:p>
        </p:txBody>
      </p:sp>
    </p:spTree>
    <p:extLst>
      <p:ext uri="{BB962C8B-B14F-4D97-AF65-F5344CB8AC3E}">
        <p14:creationId xmlns:p14="http://schemas.microsoft.com/office/powerpoint/2010/main" val="109347128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jecutivo">
  <a:themeElements>
    <a:clrScheme name="Ejecutivo">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jecutiv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jecutiv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6758</TotalTime>
  <Words>1534</Words>
  <Application>Microsoft Office PowerPoint</Application>
  <PresentationFormat>Panorámica</PresentationFormat>
  <Paragraphs>132</Paragraphs>
  <Slides>21</Slides>
  <Notes>1</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21</vt:i4>
      </vt:variant>
    </vt:vector>
  </HeadingPairs>
  <TitlesOfParts>
    <vt:vector size="29" baseType="lpstr">
      <vt:lpstr>Arial</vt:lpstr>
      <vt:lpstr>Calibri</vt:lpstr>
      <vt:lpstr>Calibri Light</vt:lpstr>
      <vt:lpstr>Century Gothic</vt:lpstr>
      <vt:lpstr>Courier New</vt:lpstr>
      <vt:lpstr>Palatino Linotype</vt:lpstr>
      <vt:lpstr>Tema de Office</vt:lpstr>
      <vt:lpstr>Ejecutivo</vt:lpstr>
      <vt:lpstr>Presentación de PowerPoint</vt:lpstr>
      <vt:lpstr>Contenido</vt:lpstr>
      <vt:lpstr>Sentencias if-else Anidadas   </vt:lpstr>
      <vt:lpstr>Contenido</vt:lpstr>
      <vt:lpstr>Problema 3.5. (Aplicación del uso de las sentencias if-else anidadas)   </vt:lpstr>
      <vt:lpstr>Presentación de PowerPoint</vt:lpstr>
      <vt:lpstr>Problema 3.5. (Aplicación del uso de las sentencias if-else anidadas)   </vt:lpstr>
      <vt:lpstr>Contenido</vt:lpstr>
      <vt:lpstr>Problema 3.6. (Aplicación del uso de las sentencias if-else anidadas)  </vt:lpstr>
      <vt:lpstr>Presentación de PowerPoint</vt:lpstr>
      <vt:lpstr>Problema 3.6. (Aplicación del uso de las sentencias if-else anidadas)  </vt:lpstr>
      <vt:lpstr>Problema 3.6. (Aplicación del uso de las sentencias if-else anidadas)  </vt:lpstr>
      <vt:lpstr>Contenido</vt:lpstr>
      <vt:lpstr>  </vt:lpstr>
      <vt:lpstr>  </vt:lpstr>
      <vt:lpstr>  </vt:lpstr>
      <vt:lpstr>  </vt:lpstr>
      <vt:lpstr>  </vt:lpstr>
      <vt:lpstr>  </vt:lpstr>
      <vt:lpstr>Pensamiento</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dc:creator>
  <cp:lastModifiedBy>Luis</cp:lastModifiedBy>
  <cp:revision>6</cp:revision>
  <dcterms:created xsi:type="dcterms:W3CDTF">2025-10-07T22:49:11Z</dcterms:created>
  <dcterms:modified xsi:type="dcterms:W3CDTF">2025-11-26T16:47:42Z</dcterms:modified>
</cp:coreProperties>
</file>