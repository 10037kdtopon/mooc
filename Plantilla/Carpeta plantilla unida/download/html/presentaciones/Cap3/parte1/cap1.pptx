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0"/>
  </p:notesMasterIdLst>
  <p:sldIdLst>
    <p:sldId id="311" r:id="rId3"/>
    <p:sldId id="257" r:id="rId4"/>
    <p:sldId id="436" r:id="rId5"/>
    <p:sldId id="437" r:id="rId6"/>
    <p:sldId id="438" r:id="rId7"/>
    <p:sldId id="278" r:id="rId8"/>
    <p:sldId id="439" r:id="rId9"/>
    <p:sldId id="441" r:id="rId10"/>
    <p:sldId id="440" r:id="rId11"/>
    <p:sldId id="442" r:id="rId12"/>
    <p:sldId id="443" r:id="rId13"/>
    <p:sldId id="444" r:id="rId14"/>
    <p:sldId id="445" r:id="rId15"/>
    <p:sldId id="446" r:id="rId16"/>
    <p:sldId id="448" r:id="rId17"/>
    <p:sldId id="449" r:id="rId18"/>
    <p:sldId id="450" r:id="rId19"/>
    <p:sldId id="451" r:id="rId20"/>
    <p:sldId id="452" r:id="rId21"/>
    <p:sldId id="453" r:id="rId22"/>
    <p:sldId id="454" r:id="rId23"/>
    <p:sldId id="455" r:id="rId24"/>
    <p:sldId id="456" r:id="rId25"/>
    <p:sldId id="457" r:id="rId26"/>
    <p:sldId id="458" r:id="rId27"/>
    <p:sldId id="393" r:id="rId28"/>
    <p:sldId id="275" r:id="rId29"/>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16" autoAdjust="0"/>
    <p:restoredTop sz="94660"/>
  </p:normalViewPr>
  <p:slideViewPr>
    <p:cSldViewPr snapToGrid="0">
      <p:cViewPr varScale="1">
        <p:scale>
          <a:sx n="114" d="100"/>
          <a:sy n="114" d="100"/>
        </p:scale>
        <p:origin x="5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26/11/2025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26/11/2025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26/11/2025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26/11/2025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26/11/2025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26/11/2025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26/11/2025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26/11/2025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26/11/2025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371237" y="2031002"/>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MX" sz="2400" b="1" dirty="0">
                <a:effectLst/>
                <a:latin typeface="Arial" pitchFamily="34" charset="0"/>
                <a:cs typeface="Arial" pitchFamily="34" charset="0"/>
              </a:rPr>
              <a:t>CAPÍTULO 3 ALGORITMOS Y ESTRUCTURAS DE CONTROL SELECTIVAS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26/11/2025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EC" sz="3400" b="1" dirty="0">
                <a:solidFill>
                  <a:srgbClr val="FF0000"/>
                </a:solidFill>
              </a:rPr>
              <a:t>Introducción </a:t>
            </a:r>
            <a:endParaRPr lang="es-MX" sz="3400" b="1" dirty="0">
              <a:solidFill>
                <a:srgbClr val="FF0000"/>
              </a:solidFill>
            </a:endParaRPr>
          </a:p>
          <a:p>
            <a:pPr lvl="1"/>
            <a:r>
              <a:rPr lang="es-MX" sz="2000" dirty="0"/>
              <a:t>Objetivos  </a:t>
            </a:r>
          </a:p>
          <a:p>
            <a:pPr lvl="1"/>
            <a:r>
              <a:rPr lang="es-MX" sz="2000" dirty="0"/>
              <a:t>Estructuras de Control de Selección </a:t>
            </a:r>
          </a:p>
          <a:p>
            <a:pPr lvl="1"/>
            <a:r>
              <a:rPr lang="es-MX" sz="2000" dirty="0"/>
              <a:t>La sentencia if</a:t>
            </a:r>
          </a:p>
          <a:p>
            <a:pPr lvl="1"/>
            <a:r>
              <a:rPr lang="es-MX" sz="2000" dirty="0"/>
              <a:t>Problema 3.1. (Aplicación del uso de la sentencia if)  </a:t>
            </a:r>
          </a:p>
          <a:p>
            <a:pPr lvl="1"/>
            <a:r>
              <a:rPr lang="es-MX" sz="2000" dirty="0"/>
              <a:t>Problema 3.2. (Aplicación del uso de la sentencia if)  </a:t>
            </a:r>
          </a:p>
          <a:p>
            <a:pPr lvl="1"/>
            <a:r>
              <a:rPr lang="es-MX" sz="2000" dirty="0"/>
              <a:t>Caso de Estudio 3.1: Divisibilidad entre dos Números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p:txBody>
          <a:bodyPr/>
          <a:lstStyle/>
          <a:p>
            <a:r>
              <a:rPr lang="es-EC" b="1" dirty="0"/>
              <a:t>Introducción</a:t>
            </a:r>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699247" y="2171700"/>
            <a:ext cx="4930588" cy="3924300"/>
          </a:xfrm>
        </p:spPr>
        <p:txBody>
          <a:bodyPr>
            <a:normAutofit fontScale="70000" lnSpcReduction="20000"/>
          </a:bodyPr>
          <a:lstStyle/>
          <a:p>
            <a:r>
              <a:rPr lang="es-MX" dirty="0"/>
              <a:t>En este capítulo se aprenderán a diseñar algoritmos y a utilizar la computadora como una herramienta para resolver problemas creando programas con estructuras de control de decisión en el lenguaje C/C++. El estudio de las estructuras de control de decisión se realiza en base al diseño de algoritmos y a la creación de programas en un lenguaje de programación estructurado como es el Lenguaje C/C++. Para la solución de problemas de programación se aplican aspectos de Ingeniería de Software y el método científico que permiten identificar a la programación con un enfoque sistemático. </a:t>
            </a:r>
            <a:endParaRPr lang="es-EC"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a:t>
            </a:fld>
            <a:endParaRPr lang="es-EC"/>
          </a:p>
        </p:txBody>
      </p:sp>
      <p:pic>
        <p:nvPicPr>
          <p:cNvPr id="6" name="Imagen 5">
            <a:extLst>
              <a:ext uri="{FF2B5EF4-FFF2-40B4-BE49-F238E27FC236}">
                <a16:creationId xmlns:a16="http://schemas.microsoft.com/office/drawing/2014/main" id="{352D4BAB-2703-43A2-80A5-96F5074963B2}"/>
              </a:ext>
            </a:extLst>
          </p:cNvPr>
          <p:cNvPicPr>
            <a:picLocks noChangeAspect="1"/>
          </p:cNvPicPr>
          <p:nvPr/>
        </p:nvPicPr>
        <p:blipFill>
          <a:blip r:embed="rId2"/>
          <a:stretch>
            <a:fillRect/>
          </a:stretch>
        </p:blipFill>
        <p:spPr>
          <a:xfrm>
            <a:off x="7174231" y="2171700"/>
            <a:ext cx="2700881" cy="2687171"/>
          </a:xfrm>
          <a:prstGeom prst="rect">
            <a:avLst/>
          </a:prstGeom>
        </p:spPr>
      </p:pic>
      <p:sp>
        <p:nvSpPr>
          <p:cNvPr id="7" name="12 CuadroTexto">
            <a:extLst>
              <a:ext uri="{FF2B5EF4-FFF2-40B4-BE49-F238E27FC236}">
                <a16:creationId xmlns:a16="http://schemas.microsoft.com/office/drawing/2014/main" id="{5F176352-EE53-45FE-9E2E-A17AA4B16701}"/>
              </a:ext>
            </a:extLst>
          </p:cNvPr>
          <p:cNvSpPr txBox="1"/>
          <p:nvPr/>
        </p:nvSpPr>
        <p:spPr>
          <a:xfrm>
            <a:off x="6346683" y="4961279"/>
            <a:ext cx="4355976"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1. La importancia de enseñar Lenguaje C y C++. </a:t>
            </a:r>
          </a:p>
          <a:p>
            <a:r>
              <a:rPr lang="es-ES_tradnl" sz="1200" dirty="0">
                <a:solidFill>
                  <a:schemeClr val="tx1">
                    <a:lumMod val="50000"/>
                    <a:lumOff val="50000"/>
                  </a:schemeClr>
                </a:solidFill>
                <a:latin typeface="+mj-lt"/>
              </a:rPr>
              <a:t>Fuente: https://www.iberestudios.com/noticias/por-que-las-universidades-siguen-ensenando-c-y-c/</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08428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p:txBody>
          <a:bodyPr/>
          <a:lstStyle/>
          <a:p>
            <a:r>
              <a:rPr lang="es-EC" b="1" dirty="0"/>
              <a:t>Introducción</a:t>
            </a:r>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699246" y="2171700"/>
            <a:ext cx="6517341" cy="4022912"/>
          </a:xfrm>
        </p:spPr>
        <p:txBody>
          <a:bodyPr>
            <a:normAutofit fontScale="70000" lnSpcReduction="20000"/>
          </a:bodyPr>
          <a:lstStyle/>
          <a:p>
            <a:r>
              <a:rPr lang="es-MX" dirty="0"/>
              <a:t>Los Sistemas Operativos (SO) son una de las áreas de aplicación fundamental de la programación, donde el alma o el núcleo (</a:t>
            </a:r>
            <a:r>
              <a:rPr lang="es-MX" dirty="0" err="1"/>
              <a:t>core</a:t>
            </a:r>
            <a:r>
              <a:rPr lang="es-MX" dirty="0"/>
              <a:t>) de los SO se programa en el Lenguaje Ensamblador (</a:t>
            </a:r>
            <a:r>
              <a:rPr lang="es-MX" dirty="0" err="1"/>
              <a:t>Assembler</a:t>
            </a:r>
            <a:r>
              <a:rPr lang="es-MX" dirty="0"/>
              <a:t>) y el Lenguaje C/C++. Dos de las empresas más importantes de los años 70s y 80s, en la fabricación de computadoras personales y sistemas operativos con interfaces gráficas de usuario (</a:t>
            </a:r>
            <a:r>
              <a:rPr lang="es-MX" dirty="0" err="1"/>
              <a:t>Graphic</a:t>
            </a:r>
            <a:r>
              <a:rPr lang="es-MX" dirty="0"/>
              <a:t> </a:t>
            </a:r>
            <a:r>
              <a:rPr lang="es-MX" dirty="0" err="1"/>
              <a:t>User</a:t>
            </a:r>
            <a:r>
              <a:rPr lang="es-MX" dirty="0"/>
              <a:t> Interface - GUI) fueron: a) Apple </a:t>
            </a:r>
            <a:r>
              <a:rPr lang="es-MX" dirty="0" err="1"/>
              <a:t>Inc</a:t>
            </a:r>
            <a:r>
              <a:rPr lang="es-MX" dirty="0"/>
              <a:t>, que fue fundada en 1976 por Steve Jobs y Steve Wozniak, lanzando al mercado en 1984 el Macintosh 128K que fue la primera computadora con </a:t>
            </a:r>
            <a:r>
              <a:rPr lang="es-MX" dirty="0" err="1"/>
              <a:t>GUIs</a:t>
            </a:r>
            <a:r>
              <a:rPr lang="es-MX" dirty="0"/>
              <a:t>, cuyo sistema operativo es el Mac OS que ha ido </a:t>
            </a:r>
            <a:r>
              <a:rPr lang="es-MX" dirty="0" err="1"/>
              <a:t>evlucionando</a:t>
            </a:r>
            <a:r>
              <a:rPr lang="es-MX" dirty="0"/>
              <a:t> con el tiempo; b) Microsoft </a:t>
            </a:r>
            <a:r>
              <a:rPr lang="es-MX" dirty="0" err="1"/>
              <a:t>Corporation</a:t>
            </a:r>
            <a:r>
              <a:rPr lang="es-MX" dirty="0"/>
              <a:t>, que fue fundada en 1975 por Bill Gates y Paul Allen, lanzando al mercado en 1985 el más famoso SO a nivel mundial que es el Microsoft Windows que se utiliza en la mayor parte de las computadoras de marca como IBM, HP, DELL, Toshiba, entre otras y computadoras tipo clon como el Clon Intel. </a:t>
            </a:r>
            <a:endParaRPr lang="es-EC"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4</a:t>
            </a:fld>
            <a:endParaRPr lang="es-EC"/>
          </a:p>
        </p:txBody>
      </p:sp>
      <p:pic>
        <p:nvPicPr>
          <p:cNvPr id="7" name="Imagen 6">
            <a:extLst>
              <a:ext uri="{FF2B5EF4-FFF2-40B4-BE49-F238E27FC236}">
                <a16:creationId xmlns:a16="http://schemas.microsoft.com/office/drawing/2014/main" id="{81DC0E75-5D11-4BD9-B78D-214289333682}"/>
              </a:ext>
            </a:extLst>
          </p:cNvPr>
          <p:cNvPicPr>
            <a:picLocks noChangeAspect="1"/>
          </p:cNvPicPr>
          <p:nvPr/>
        </p:nvPicPr>
        <p:blipFill>
          <a:blip r:embed="rId2"/>
          <a:stretch>
            <a:fillRect/>
          </a:stretch>
        </p:blipFill>
        <p:spPr>
          <a:xfrm>
            <a:off x="7243549" y="1526811"/>
            <a:ext cx="3677163" cy="4219566"/>
          </a:xfrm>
          <a:prstGeom prst="rect">
            <a:avLst/>
          </a:prstGeom>
        </p:spPr>
      </p:pic>
      <p:sp>
        <p:nvSpPr>
          <p:cNvPr id="10" name="CuadroTexto 9">
            <a:extLst>
              <a:ext uri="{FF2B5EF4-FFF2-40B4-BE49-F238E27FC236}">
                <a16:creationId xmlns:a16="http://schemas.microsoft.com/office/drawing/2014/main" id="{4CB5BC20-35AA-49CC-8181-55FF76463280}"/>
              </a:ext>
            </a:extLst>
          </p:cNvPr>
          <p:cNvSpPr txBox="1"/>
          <p:nvPr/>
        </p:nvSpPr>
        <p:spPr>
          <a:xfrm>
            <a:off x="7216587" y="5746377"/>
            <a:ext cx="5115975" cy="584775"/>
          </a:xfrm>
          <a:prstGeom prst="rect">
            <a:avLst/>
          </a:prstGeom>
          <a:noFill/>
        </p:spPr>
        <p:txBody>
          <a:bodyPr wrap="square">
            <a:spAutoFit/>
          </a:bodyPr>
          <a:lstStyle/>
          <a:p>
            <a:r>
              <a:rPr lang="es-EC" sz="800" dirty="0">
                <a:solidFill>
                  <a:schemeClr val="tx1">
                    <a:lumMod val="50000"/>
                    <a:lumOff val="50000"/>
                  </a:schemeClr>
                </a:solidFill>
                <a:latin typeface="+mj-lt"/>
              </a:rPr>
              <a:t>Figura 1.1 Pioneros de la computación personal:</a:t>
            </a:r>
            <a:br>
              <a:rPr lang="es-EC" sz="800" dirty="0">
                <a:solidFill>
                  <a:schemeClr val="tx1">
                    <a:lumMod val="50000"/>
                    <a:lumOff val="50000"/>
                  </a:schemeClr>
                </a:solidFill>
                <a:latin typeface="+mj-lt"/>
              </a:rPr>
            </a:br>
            <a:r>
              <a:rPr lang="es-EC" sz="800" dirty="0">
                <a:solidFill>
                  <a:schemeClr val="tx1">
                    <a:lumMod val="50000"/>
                    <a:lumOff val="50000"/>
                  </a:schemeClr>
                </a:solidFill>
                <a:latin typeface="+mj-lt"/>
              </a:rPr>
              <a:t>(a) Steve Wozniak y Steve Jobs.</a:t>
            </a:r>
            <a:br>
              <a:rPr lang="es-EC" sz="800" dirty="0">
                <a:solidFill>
                  <a:schemeClr val="tx1">
                    <a:lumMod val="50000"/>
                    <a:lumOff val="50000"/>
                  </a:schemeClr>
                </a:solidFill>
                <a:latin typeface="+mj-lt"/>
              </a:rPr>
            </a:br>
            <a:r>
              <a:rPr lang="es-EC" sz="800" dirty="0">
                <a:solidFill>
                  <a:schemeClr val="tx1">
                    <a:lumMod val="50000"/>
                    <a:lumOff val="50000"/>
                  </a:schemeClr>
                </a:solidFill>
                <a:latin typeface="+mj-lt"/>
              </a:rPr>
              <a:t>(b) Paul Allen y Bill Gates.</a:t>
            </a:r>
            <a:br>
              <a:rPr lang="es-EC" sz="800" dirty="0">
                <a:solidFill>
                  <a:schemeClr val="tx1">
                    <a:lumMod val="50000"/>
                    <a:lumOff val="50000"/>
                  </a:schemeClr>
                </a:solidFill>
                <a:latin typeface="+mj-lt"/>
              </a:rPr>
            </a:br>
            <a:r>
              <a:rPr lang="es-EC" sz="800" dirty="0">
                <a:solidFill>
                  <a:schemeClr val="tx1">
                    <a:lumMod val="50000"/>
                    <a:lumOff val="50000"/>
                  </a:schemeClr>
                </a:solidFill>
                <a:latin typeface="+mj-lt"/>
              </a:rPr>
              <a:t>Fuente: Apple Archives (1976) y Microsoft Archives (1975).</a:t>
            </a:r>
          </a:p>
        </p:txBody>
      </p:sp>
    </p:spTree>
    <p:extLst>
      <p:ext uri="{BB962C8B-B14F-4D97-AF65-F5344CB8AC3E}">
        <p14:creationId xmlns:p14="http://schemas.microsoft.com/office/powerpoint/2010/main" val="82177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EC" sz="2000" dirty="0"/>
              <a:t>Introducción </a:t>
            </a:r>
            <a:endParaRPr lang="es-MX" sz="2000" dirty="0"/>
          </a:p>
          <a:p>
            <a:pPr lvl="1"/>
            <a:r>
              <a:rPr lang="es-MX" sz="3400" b="1" dirty="0">
                <a:solidFill>
                  <a:srgbClr val="FF0000"/>
                </a:solidFill>
              </a:rPr>
              <a:t>Objetivos  </a:t>
            </a:r>
          </a:p>
          <a:p>
            <a:pPr lvl="1"/>
            <a:r>
              <a:rPr lang="es-MX" sz="2000" dirty="0"/>
              <a:t>Estructuras de Control de Selección </a:t>
            </a:r>
          </a:p>
          <a:p>
            <a:pPr lvl="1"/>
            <a:r>
              <a:rPr lang="es-MX" sz="2000" dirty="0"/>
              <a:t>La sentencia if</a:t>
            </a:r>
          </a:p>
          <a:p>
            <a:pPr lvl="1"/>
            <a:r>
              <a:rPr lang="es-MX" sz="2000" dirty="0"/>
              <a:t>Problema 3.1. (Aplicación del uso de la sentencia if)  </a:t>
            </a:r>
          </a:p>
          <a:p>
            <a:pPr lvl="1"/>
            <a:r>
              <a:rPr lang="es-MX" sz="2000" dirty="0"/>
              <a:t>Problema 3.2. (Aplicación del uso de la sentencia if)  </a:t>
            </a:r>
          </a:p>
          <a:p>
            <a:pPr lvl="1"/>
            <a:r>
              <a:rPr lang="es-MX" sz="2000" dirty="0"/>
              <a:t>Caso de Estudio 3.1: Divisibilidad entre dos Números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5</a:t>
            </a:fld>
            <a:endParaRPr lang="es-EC">
              <a:solidFill>
                <a:prstClr val="black">
                  <a:lumMod val="65000"/>
                  <a:lumOff val="35000"/>
                </a:prstClr>
              </a:solidFill>
            </a:endParaRPr>
          </a:p>
        </p:txBody>
      </p:sp>
    </p:spTree>
    <p:extLst>
      <p:ext uri="{BB962C8B-B14F-4D97-AF65-F5344CB8AC3E}">
        <p14:creationId xmlns:p14="http://schemas.microsoft.com/office/powerpoint/2010/main" val="2417725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0"/>
            <a:ext cx="8229600" cy="980728"/>
          </a:xfrm>
        </p:spPr>
        <p:txBody>
          <a:bodyPr/>
          <a:lstStyle/>
          <a:p>
            <a:r>
              <a:rPr lang="es-MX" b="1" dirty="0"/>
              <a:t>Objetivos</a:t>
            </a:r>
            <a:endParaRPr lang="en-US" b="1" dirty="0"/>
          </a:p>
        </p:txBody>
      </p:sp>
      <p:sp>
        <p:nvSpPr>
          <p:cNvPr id="5" name="4 Marcador de contenido"/>
          <p:cNvSpPr>
            <a:spLocks noGrp="1"/>
          </p:cNvSpPr>
          <p:nvPr>
            <p:ph idx="1"/>
          </p:nvPr>
        </p:nvSpPr>
        <p:spPr>
          <a:xfrm>
            <a:off x="1838532" y="1604682"/>
            <a:ext cx="7233749" cy="4351559"/>
          </a:xfrm>
        </p:spPr>
        <p:txBody>
          <a:bodyPr>
            <a:normAutofit lnSpcReduction="10000"/>
          </a:bodyPr>
          <a:lstStyle/>
          <a:p>
            <a:r>
              <a:rPr lang="es-MX" sz="1800" dirty="0"/>
              <a:t> Revisar los principales conceptos en torno a algoritmos y a estructuras de control de decisión.</a:t>
            </a:r>
          </a:p>
          <a:p>
            <a:pPr marL="0" indent="0">
              <a:buNone/>
            </a:pPr>
            <a:r>
              <a:rPr lang="es-MX" sz="1800" dirty="0"/>
              <a:t> </a:t>
            </a:r>
          </a:p>
          <a:p>
            <a:r>
              <a:rPr lang="es-MX" sz="1800" dirty="0"/>
              <a:t> Entender cómo trabajan los algoritmos y las estructuras de control de decisión y cómo se aplican con el lenguaje C/C++ en la construcción de programas.</a:t>
            </a:r>
          </a:p>
          <a:p>
            <a:pPr marL="0" indent="0">
              <a:buNone/>
            </a:pPr>
            <a:endParaRPr lang="es-MX" sz="1800" dirty="0"/>
          </a:p>
          <a:p>
            <a:r>
              <a:rPr lang="es-MX" sz="1800" dirty="0"/>
              <a:t> Aprender a crear algoritmos en Pseudocódigo y en Lenguaje C/C++ con estructuras de control de decisión. }</a:t>
            </a:r>
          </a:p>
          <a:p>
            <a:pPr marL="0" indent="0">
              <a:buNone/>
            </a:pPr>
            <a:endParaRPr lang="es-MX" sz="1800" dirty="0"/>
          </a:p>
          <a:p>
            <a:r>
              <a:rPr lang="es-MX" sz="1800" dirty="0"/>
              <a:t> Diseñar y crear programas en lenguaje C/C++ utilizando algoritmos y estructuras de control de decisión. </a:t>
            </a:r>
          </a:p>
          <a:p>
            <a:pPr marL="0" indent="0">
              <a:buNone/>
            </a:pPr>
            <a:endParaRPr lang="es-MX" sz="1800" dirty="0"/>
          </a:p>
          <a:p>
            <a:r>
              <a:rPr lang="es-MX" sz="1800" dirty="0"/>
              <a:t> Resolver casos de estudio con algoritmos y estructuras de control de decisión aplicadas al área Matemática y Física.</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a:t>
            </a:fld>
            <a:endParaRPr lang="es-EC"/>
          </a:p>
        </p:txBody>
      </p:sp>
    </p:spTree>
    <p:extLst>
      <p:ext uri="{BB962C8B-B14F-4D97-AF65-F5344CB8AC3E}">
        <p14:creationId xmlns:p14="http://schemas.microsoft.com/office/powerpoint/2010/main" val="1641893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EC" sz="2000" dirty="0"/>
              <a:t>Introducción</a:t>
            </a:r>
            <a:r>
              <a:rPr lang="es-EC" sz="3400" b="1" dirty="0">
                <a:solidFill>
                  <a:srgbClr val="FF0000"/>
                </a:solidFill>
              </a:rPr>
              <a:t> </a:t>
            </a:r>
            <a:endParaRPr lang="es-MX" sz="3400" b="1" dirty="0">
              <a:solidFill>
                <a:srgbClr val="FF0000"/>
              </a:solidFill>
            </a:endParaRPr>
          </a:p>
          <a:p>
            <a:pPr lvl="1"/>
            <a:r>
              <a:rPr lang="es-MX" sz="2000" dirty="0"/>
              <a:t>Objetivos  </a:t>
            </a:r>
          </a:p>
          <a:p>
            <a:pPr lvl="1"/>
            <a:r>
              <a:rPr lang="es-MX" sz="3400" b="1" dirty="0">
                <a:solidFill>
                  <a:srgbClr val="FF0000"/>
                </a:solidFill>
              </a:rPr>
              <a:t>Estructuras de Control de Selección </a:t>
            </a:r>
          </a:p>
          <a:p>
            <a:pPr lvl="1"/>
            <a:r>
              <a:rPr lang="es-MX" sz="2000" dirty="0"/>
              <a:t>La sentencia if</a:t>
            </a:r>
          </a:p>
          <a:p>
            <a:pPr lvl="1"/>
            <a:r>
              <a:rPr lang="es-MX" sz="2000" dirty="0"/>
              <a:t>Problema 3.1. (Aplicación del uso de la sentencia if)  </a:t>
            </a:r>
          </a:p>
          <a:p>
            <a:pPr lvl="1"/>
            <a:r>
              <a:rPr lang="es-MX" sz="2000" dirty="0"/>
              <a:t>Problema 3.2. (Aplicación del uso de la sentencia if)  </a:t>
            </a:r>
          </a:p>
          <a:p>
            <a:pPr lvl="1"/>
            <a:r>
              <a:rPr lang="es-MX" sz="2000" dirty="0"/>
              <a:t>Caso de Estudio 3.1: Divisibilidad entre dos Números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7</a:t>
            </a:fld>
            <a:endParaRPr lang="es-EC">
              <a:solidFill>
                <a:prstClr val="black">
                  <a:lumMod val="65000"/>
                  <a:lumOff val="35000"/>
                </a:prstClr>
              </a:solidFill>
            </a:endParaRPr>
          </a:p>
        </p:txBody>
      </p:sp>
    </p:spTree>
    <p:extLst>
      <p:ext uri="{BB962C8B-B14F-4D97-AF65-F5344CB8AC3E}">
        <p14:creationId xmlns:p14="http://schemas.microsoft.com/office/powerpoint/2010/main" val="1012270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p:txBody>
          <a:bodyPr/>
          <a:lstStyle/>
          <a:p>
            <a:r>
              <a:rPr lang="es-MX" sz="4800" b="1" dirty="0"/>
              <a:t>Estructuras de Control de Selección </a:t>
            </a: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79175" y="1203512"/>
            <a:ext cx="7871013" cy="4022912"/>
          </a:xfrm>
        </p:spPr>
        <p:txBody>
          <a:bodyPr>
            <a:normAutofit fontScale="92500" lnSpcReduction="10000"/>
          </a:bodyPr>
          <a:lstStyle/>
          <a:p>
            <a:r>
              <a:rPr lang="es-MX" dirty="0"/>
              <a:t>La estructura de control de selección o de decisión es aquella en la que las instrucciones se ejecutan entre acciones alternativas (Ceballos, F.J., 2007). Las principales sentencias de decisión son: </a:t>
            </a:r>
          </a:p>
          <a:p>
            <a:pPr marL="0" indent="0">
              <a:buNone/>
            </a:pPr>
            <a:endParaRPr lang="es-MX" dirty="0"/>
          </a:p>
          <a:p>
            <a:pPr marL="0" indent="0">
              <a:buNone/>
            </a:pPr>
            <a:r>
              <a:rPr lang="es-MX" dirty="0"/>
              <a:t>a) La sentencia if </a:t>
            </a:r>
          </a:p>
          <a:p>
            <a:pPr marL="0" indent="0">
              <a:buNone/>
            </a:pPr>
            <a:r>
              <a:rPr lang="es-MX" dirty="0"/>
              <a:t>b) La sentencia if-</a:t>
            </a:r>
            <a:r>
              <a:rPr lang="es-MX" dirty="0" err="1"/>
              <a:t>else</a:t>
            </a:r>
            <a:r>
              <a:rPr lang="es-MX" dirty="0"/>
              <a:t> </a:t>
            </a:r>
          </a:p>
          <a:p>
            <a:pPr marL="0" indent="0">
              <a:buNone/>
            </a:pPr>
            <a:r>
              <a:rPr lang="es-MX" dirty="0"/>
              <a:t>c) Sentencias if-</a:t>
            </a:r>
            <a:r>
              <a:rPr lang="es-MX" dirty="0" err="1"/>
              <a:t>else</a:t>
            </a:r>
            <a:r>
              <a:rPr lang="es-MX" dirty="0"/>
              <a:t> anidadas </a:t>
            </a:r>
          </a:p>
          <a:p>
            <a:pPr marL="0" indent="0">
              <a:buNone/>
            </a:pPr>
            <a:r>
              <a:rPr lang="es-MX" dirty="0"/>
              <a:t>d) Secuencia de Sentencias if </a:t>
            </a:r>
          </a:p>
          <a:p>
            <a:pPr marL="0" indent="0">
              <a:buNone/>
            </a:pPr>
            <a:r>
              <a:rPr lang="es-MX" dirty="0"/>
              <a:t>e) Secuencia de Sentencias if-</a:t>
            </a:r>
            <a:r>
              <a:rPr lang="es-MX" dirty="0" err="1"/>
              <a:t>else</a:t>
            </a:r>
            <a:r>
              <a:rPr lang="es-MX" dirty="0"/>
              <a:t> </a:t>
            </a:r>
          </a:p>
          <a:p>
            <a:pPr marL="0" indent="0">
              <a:buNone/>
            </a:pPr>
            <a:r>
              <a:rPr lang="es-MX" dirty="0"/>
              <a:t>f) Sentencia de control </a:t>
            </a:r>
            <a:r>
              <a:rPr lang="es-MX" dirty="0" err="1"/>
              <a:t>switch</a:t>
            </a:r>
            <a:r>
              <a:rPr lang="es-MX" dirty="0"/>
              <a:t> . </a:t>
            </a:r>
            <a:endParaRPr lang="es-EC"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8</a:t>
            </a:fld>
            <a:endParaRPr lang="es-EC"/>
          </a:p>
        </p:txBody>
      </p:sp>
    </p:spTree>
    <p:extLst>
      <p:ext uri="{BB962C8B-B14F-4D97-AF65-F5344CB8AC3E}">
        <p14:creationId xmlns:p14="http://schemas.microsoft.com/office/powerpoint/2010/main" val="835410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EC" sz="2000" dirty="0"/>
              <a:t>Introducción </a:t>
            </a:r>
            <a:endParaRPr lang="es-MX" sz="2000" dirty="0"/>
          </a:p>
          <a:p>
            <a:pPr lvl="1"/>
            <a:r>
              <a:rPr lang="es-MX" sz="2000" dirty="0"/>
              <a:t>Objetivos  </a:t>
            </a:r>
          </a:p>
          <a:p>
            <a:pPr lvl="1"/>
            <a:r>
              <a:rPr lang="es-MX" sz="2000" dirty="0"/>
              <a:t>Estructuras de Control de Selección </a:t>
            </a:r>
          </a:p>
          <a:p>
            <a:pPr lvl="1"/>
            <a:r>
              <a:rPr lang="es-MX" sz="3400" b="1" dirty="0">
                <a:solidFill>
                  <a:srgbClr val="FF0000"/>
                </a:solidFill>
              </a:rPr>
              <a:t>La sentencia if</a:t>
            </a:r>
          </a:p>
          <a:p>
            <a:pPr lvl="1"/>
            <a:r>
              <a:rPr lang="es-MX" sz="2000" dirty="0"/>
              <a:t>Problema 3.1. (Aplicación del uso de la sentencia if)  </a:t>
            </a:r>
          </a:p>
          <a:p>
            <a:pPr lvl="1"/>
            <a:r>
              <a:rPr lang="es-MX" sz="2000" dirty="0"/>
              <a:t>Problema 3.2. (Aplicación del uso de la sentencia if)  </a:t>
            </a:r>
          </a:p>
          <a:p>
            <a:pPr lvl="1"/>
            <a:r>
              <a:rPr lang="es-MX" sz="2000" dirty="0"/>
              <a:t>Caso de Estudio 3.1: Divisibilidad entre dos Números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9</a:t>
            </a:fld>
            <a:endParaRPr lang="es-EC">
              <a:solidFill>
                <a:prstClr val="black">
                  <a:lumMod val="65000"/>
                  <a:lumOff val="35000"/>
                </a:prstClr>
              </a:solidFill>
            </a:endParaRPr>
          </a:p>
        </p:txBody>
      </p:sp>
    </p:spTree>
    <p:extLst>
      <p:ext uri="{BB962C8B-B14F-4D97-AF65-F5344CB8AC3E}">
        <p14:creationId xmlns:p14="http://schemas.microsoft.com/office/powerpoint/2010/main" val="3639187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831476"/>
            <a:ext cx="10972800" cy="1600200"/>
          </a:xfrm>
        </p:spPr>
        <p:txBody>
          <a:bodyPr/>
          <a:lstStyle/>
          <a:p>
            <a:r>
              <a:rPr lang="es-MX" b="1" dirty="0"/>
              <a:t>La sentencia if</a:t>
            </a: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79175" y="1203512"/>
            <a:ext cx="9430872" cy="5089712"/>
          </a:xfrm>
        </p:spPr>
        <p:txBody>
          <a:bodyPr>
            <a:normAutofit fontScale="92500" lnSpcReduction="10000"/>
          </a:bodyPr>
          <a:lstStyle/>
          <a:p>
            <a:r>
              <a:rPr lang="es-MX" dirty="0"/>
              <a:t>La sentencia if permite escoger entre ejecutar una instrucción o no ejecutarla (Davies, P., 1995). El formato de esta sentencia tiene la siguiente sintaxis: </a:t>
            </a:r>
          </a:p>
          <a:p>
            <a:pPr marL="0" indent="0">
              <a:buNone/>
            </a:pPr>
            <a:r>
              <a:rPr lang="es-MX" dirty="0"/>
              <a:t>Sintaxis 1: if(expresión)</a:t>
            </a:r>
          </a:p>
          <a:p>
            <a:pPr marL="0" indent="0">
              <a:buNone/>
            </a:pPr>
            <a:r>
              <a:rPr lang="es-MX" dirty="0"/>
              <a:t>                 sentencia; </a:t>
            </a:r>
          </a:p>
          <a:p>
            <a:pPr marL="0" indent="0">
              <a:buNone/>
            </a:pPr>
            <a:endParaRPr lang="es-MX" dirty="0"/>
          </a:p>
          <a:p>
            <a:pPr marL="0" indent="0">
              <a:buNone/>
            </a:pPr>
            <a:endParaRPr lang="es-MX" dirty="0"/>
          </a:p>
          <a:p>
            <a:pPr marL="0" indent="0">
              <a:buNone/>
            </a:pPr>
            <a:r>
              <a:rPr lang="es-MX" dirty="0"/>
              <a:t>Expresión :  Expresión lógica que determina si la sentencia o acción se ha de ejecutar. </a:t>
            </a:r>
          </a:p>
          <a:p>
            <a:pPr marL="0" indent="0">
              <a:buNone/>
            </a:pPr>
            <a:r>
              <a:rPr lang="es-MX" dirty="0"/>
              <a:t>sentencia  : La sentencia o acción se ejecuta si la expresión lógica es verdadera.</a:t>
            </a:r>
          </a:p>
          <a:p>
            <a:pPr marL="0" indent="0">
              <a:buNone/>
            </a:pPr>
            <a:endParaRPr lang="es-MX" dirty="0"/>
          </a:p>
          <a:p>
            <a:pPr marL="0" indent="0">
              <a:buNone/>
            </a:pPr>
            <a:r>
              <a:rPr lang="es-MX" dirty="0"/>
              <a:t>Nota: En esta sintaxis no es necesario utilizar llaves ya que se tiene una sola sentencia o instrucción. </a:t>
            </a:r>
            <a:endParaRPr lang="es-EC"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10</a:t>
            </a:fld>
            <a:endParaRPr lang="es-EC"/>
          </a:p>
        </p:txBody>
      </p:sp>
    </p:spTree>
    <p:extLst>
      <p:ext uri="{BB962C8B-B14F-4D97-AF65-F5344CB8AC3E}">
        <p14:creationId xmlns:p14="http://schemas.microsoft.com/office/powerpoint/2010/main" val="1409515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831476"/>
            <a:ext cx="10972800" cy="1600200"/>
          </a:xfrm>
        </p:spPr>
        <p:txBody>
          <a:bodyPr/>
          <a:lstStyle/>
          <a:p>
            <a:r>
              <a:rPr lang="es-MX" b="1" dirty="0"/>
              <a:t>La sentencia if</a:t>
            </a: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79175" y="1203512"/>
            <a:ext cx="9430872" cy="5089712"/>
          </a:xfrm>
        </p:spPr>
        <p:txBody>
          <a:bodyPr>
            <a:normAutofit fontScale="85000" lnSpcReduction="20000"/>
          </a:bodyPr>
          <a:lstStyle/>
          <a:p>
            <a:r>
              <a:rPr lang="es-MX" dirty="0"/>
              <a:t>Sintaxis 2: </a:t>
            </a:r>
          </a:p>
          <a:p>
            <a:pPr marL="0" indent="0">
              <a:buNone/>
            </a:pPr>
            <a:r>
              <a:rPr lang="es-MX" dirty="0"/>
              <a:t>if(expresión) </a:t>
            </a:r>
          </a:p>
          <a:p>
            <a:pPr marL="0" indent="0">
              <a:buNone/>
            </a:pPr>
            <a:r>
              <a:rPr lang="es-MX" dirty="0"/>
              <a:t>{ </a:t>
            </a:r>
          </a:p>
          <a:p>
            <a:pPr marL="0" indent="0">
              <a:buNone/>
            </a:pPr>
            <a:r>
              <a:rPr lang="es-MX" dirty="0"/>
              <a:t>  sentencia1; </a:t>
            </a:r>
          </a:p>
          <a:p>
            <a:pPr marL="0" indent="0">
              <a:buNone/>
            </a:pPr>
            <a:r>
              <a:rPr lang="es-MX" dirty="0"/>
              <a:t>  sentencia2; </a:t>
            </a:r>
          </a:p>
          <a:p>
            <a:pPr marL="0" indent="0">
              <a:buNone/>
            </a:pPr>
            <a:r>
              <a:rPr lang="es-MX" dirty="0"/>
              <a:t>… </a:t>
            </a:r>
          </a:p>
          <a:p>
            <a:pPr marL="0" indent="0">
              <a:buNone/>
            </a:pPr>
            <a:r>
              <a:rPr lang="es-MX" dirty="0"/>
              <a:t>  sentencian; } </a:t>
            </a:r>
          </a:p>
          <a:p>
            <a:pPr marL="0" indent="0">
              <a:buNone/>
            </a:pPr>
            <a:endParaRPr lang="es-MX" dirty="0"/>
          </a:p>
          <a:p>
            <a:pPr marL="0" indent="0">
              <a:buNone/>
            </a:pPr>
            <a:r>
              <a:rPr lang="es-MX" dirty="0"/>
              <a:t>expresión : Expresión lógica que determina si la sentencia o acción se ha de ejecutar. </a:t>
            </a:r>
          </a:p>
          <a:p>
            <a:pPr marL="0" indent="0">
              <a:buNone/>
            </a:pPr>
            <a:endParaRPr lang="es-MX" dirty="0"/>
          </a:p>
          <a:p>
            <a:pPr marL="0" indent="0">
              <a:buNone/>
            </a:pPr>
            <a:r>
              <a:rPr lang="es-MX" dirty="0"/>
              <a:t>Sentencias:  Las acciones o sentencias se ejecutan si la expresión lógica es verdadera.</a:t>
            </a:r>
          </a:p>
          <a:p>
            <a:pPr marL="0" indent="0">
              <a:buNone/>
            </a:pPr>
            <a:endParaRPr lang="es-MX" dirty="0"/>
          </a:p>
          <a:p>
            <a:pPr marL="0" indent="0">
              <a:buNone/>
            </a:pPr>
            <a:endParaRPr lang="es-MX" dirty="0"/>
          </a:p>
          <a:p>
            <a:pPr marL="0" indent="0">
              <a:buNone/>
            </a:pPr>
            <a:r>
              <a:rPr lang="es-MX" dirty="0"/>
              <a:t>Nota: En esta sintaxis es necesario utilizar llaves ya que se tienen varias sentencias o instrucciones.</a:t>
            </a:r>
          </a:p>
          <a:p>
            <a:pPr marL="0" indent="0">
              <a:buNone/>
            </a:pPr>
            <a:endParaRPr lang="es-EC"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11</a:t>
            </a:fld>
            <a:endParaRPr lang="es-EC"/>
          </a:p>
        </p:txBody>
      </p:sp>
    </p:spTree>
    <p:extLst>
      <p:ext uri="{BB962C8B-B14F-4D97-AF65-F5344CB8AC3E}">
        <p14:creationId xmlns:p14="http://schemas.microsoft.com/office/powerpoint/2010/main" val="2519051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EC" sz="2000" dirty="0"/>
              <a:t>Introducción </a:t>
            </a:r>
            <a:endParaRPr lang="es-MX" sz="2000" dirty="0"/>
          </a:p>
          <a:p>
            <a:pPr lvl="1"/>
            <a:r>
              <a:rPr lang="es-MX" sz="2000" dirty="0"/>
              <a:t>Objetivos  </a:t>
            </a:r>
          </a:p>
          <a:p>
            <a:pPr lvl="1"/>
            <a:r>
              <a:rPr lang="es-MX" sz="2000" dirty="0"/>
              <a:t>Estructuras de Control de Selección </a:t>
            </a:r>
          </a:p>
          <a:p>
            <a:pPr lvl="1"/>
            <a:r>
              <a:rPr lang="es-MX" sz="2000" dirty="0"/>
              <a:t>La sentencia if</a:t>
            </a:r>
          </a:p>
          <a:p>
            <a:pPr lvl="1"/>
            <a:r>
              <a:rPr lang="es-MX" sz="3400" b="1" dirty="0">
                <a:solidFill>
                  <a:srgbClr val="FF0000"/>
                </a:solidFill>
              </a:rPr>
              <a:t>Problema 3.1. (Aplicación del uso de la sentencia if)  </a:t>
            </a:r>
          </a:p>
          <a:p>
            <a:pPr lvl="1"/>
            <a:r>
              <a:rPr lang="es-MX" sz="2000" dirty="0"/>
              <a:t>Problema 3.2. (Aplicación del uso de la sentencia if)  </a:t>
            </a:r>
          </a:p>
          <a:p>
            <a:pPr lvl="1"/>
            <a:r>
              <a:rPr lang="es-MX" sz="2000" dirty="0"/>
              <a:t>Caso de Estudio 3.1: Divisibilidad entre dos Números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12</a:t>
            </a:fld>
            <a:endParaRPr lang="es-EC">
              <a:solidFill>
                <a:prstClr val="black">
                  <a:lumMod val="65000"/>
                  <a:lumOff val="35000"/>
                </a:prstClr>
              </a:solidFill>
            </a:endParaRPr>
          </a:p>
        </p:txBody>
      </p:sp>
    </p:spTree>
    <p:extLst>
      <p:ext uri="{BB962C8B-B14F-4D97-AF65-F5344CB8AC3E}">
        <p14:creationId xmlns:p14="http://schemas.microsoft.com/office/powerpoint/2010/main" val="3366390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2254787"/>
            <a:ext cx="10972800" cy="1600200"/>
          </a:xfrm>
        </p:spPr>
        <p:txBody>
          <a:bodyPr/>
          <a:lstStyle/>
          <a:p>
            <a:r>
              <a:rPr lang="es-MX" b="1" dirty="0"/>
              <a:t>Problema 3.1. (Aplicación del uso de la sentencia if)  </a:t>
            </a:r>
            <a:br>
              <a:rPr lang="es-MX" sz="5400" b="1" dirty="0">
                <a:solidFill>
                  <a:srgbClr val="FF0000"/>
                </a:solidFill>
              </a:rPr>
            </a:b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57834" y="2028265"/>
            <a:ext cx="3711390" cy="1952064"/>
          </a:xfrm>
        </p:spPr>
        <p:txBody>
          <a:bodyPr>
            <a:normAutofit fontScale="85000" lnSpcReduction="20000"/>
          </a:bodyPr>
          <a:lstStyle/>
          <a:p>
            <a:pPr marL="0" indent="0">
              <a:buNone/>
            </a:pPr>
            <a:r>
              <a:rPr lang="es-MX" dirty="0"/>
              <a:t>Problema 3.1: Escribir un programa que permita ver si un número es par, para lo cual se debe utilizar el operador de módulo, que permite obtener el resto de una división entera.</a:t>
            </a:r>
            <a:endParaRPr lang="es-EC"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13</a:t>
            </a:fld>
            <a:endParaRPr lang="es-EC"/>
          </a:p>
        </p:txBody>
      </p:sp>
      <p:pic>
        <p:nvPicPr>
          <p:cNvPr id="7" name="Imagen 6">
            <a:extLst>
              <a:ext uri="{FF2B5EF4-FFF2-40B4-BE49-F238E27FC236}">
                <a16:creationId xmlns:a16="http://schemas.microsoft.com/office/drawing/2014/main" id="{814369C6-F997-4F16-8E25-A93552F4635A}"/>
              </a:ext>
            </a:extLst>
          </p:cNvPr>
          <p:cNvPicPr>
            <a:picLocks noChangeAspect="1"/>
          </p:cNvPicPr>
          <p:nvPr/>
        </p:nvPicPr>
        <p:blipFill>
          <a:blip r:embed="rId2"/>
          <a:stretch>
            <a:fillRect/>
          </a:stretch>
        </p:blipFill>
        <p:spPr>
          <a:xfrm>
            <a:off x="4504337" y="1761892"/>
            <a:ext cx="7078063" cy="2585990"/>
          </a:xfrm>
          <a:prstGeom prst="rect">
            <a:avLst/>
          </a:prstGeom>
        </p:spPr>
      </p:pic>
    </p:spTree>
    <p:extLst>
      <p:ext uri="{BB962C8B-B14F-4D97-AF65-F5344CB8AC3E}">
        <p14:creationId xmlns:p14="http://schemas.microsoft.com/office/powerpoint/2010/main" val="599076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831476"/>
            <a:ext cx="10972800" cy="1600200"/>
          </a:xfrm>
        </p:spPr>
        <p:txBody>
          <a:bodyPr/>
          <a:lstStyle/>
          <a:p>
            <a:br>
              <a:rPr lang="es-MX" sz="5400" b="1" dirty="0">
                <a:solidFill>
                  <a:srgbClr val="FF0000"/>
                </a:solidFill>
              </a:rPr>
            </a:br>
            <a:br>
              <a:rPr lang="es-MX" sz="5400" b="1" dirty="0">
                <a:solidFill>
                  <a:srgbClr val="FF0000"/>
                </a:solidFill>
              </a:rPr>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14</a:t>
            </a:fld>
            <a:endParaRPr lang="es-EC"/>
          </a:p>
        </p:txBody>
      </p:sp>
      <p:pic>
        <p:nvPicPr>
          <p:cNvPr id="10" name="Imagen 9">
            <a:extLst>
              <a:ext uri="{FF2B5EF4-FFF2-40B4-BE49-F238E27FC236}">
                <a16:creationId xmlns:a16="http://schemas.microsoft.com/office/drawing/2014/main" id="{BC8BC8CD-A679-4E3D-9EF4-50CC38381A6E}"/>
              </a:ext>
            </a:extLst>
          </p:cNvPr>
          <p:cNvPicPr>
            <a:picLocks noChangeAspect="1"/>
          </p:cNvPicPr>
          <p:nvPr/>
        </p:nvPicPr>
        <p:blipFill>
          <a:blip r:embed="rId2"/>
          <a:stretch>
            <a:fillRect/>
          </a:stretch>
        </p:blipFill>
        <p:spPr>
          <a:xfrm>
            <a:off x="1470212" y="1136545"/>
            <a:ext cx="9475693" cy="4827225"/>
          </a:xfrm>
          <a:prstGeom prst="rect">
            <a:avLst/>
          </a:prstGeom>
        </p:spPr>
      </p:pic>
      <p:sp>
        <p:nvSpPr>
          <p:cNvPr id="11" name="CuadroTexto 10">
            <a:extLst>
              <a:ext uri="{FF2B5EF4-FFF2-40B4-BE49-F238E27FC236}">
                <a16:creationId xmlns:a16="http://schemas.microsoft.com/office/drawing/2014/main" id="{599B1853-D002-40AB-B25E-587483D4BD1A}"/>
              </a:ext>
            </a:extLst>
          </p:cNvPr>
          <p:cNvSpPr txBox="1"/>
          <p:nvPr/>
        </p:nvSpPr>
        <p:spPr>
          <a:xfrm>
            <a:off x="1732503" y="6053793"/>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3.1</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4" name="CuadroTexto 13">
            <a:extLst>
              <a:ext uri="{FF2B5EF4-FFF2-40B4-BE49-F238E27FC236}">
                <a16:creationId xmlns:a16="http://schemas.microsoft.com/office/drawing/2014/main" id="{7A90F1EA-060F-43A0-B189-DD178022A2FC}"/>
              </a:ext>
            </a:extLst>
          </p:cNvPr>
          <p:cNvSpPr txBox="1"/>
          <p:nvPr/>
        </p:nvSpPr>
        <p:spPr>
          <a:xfrm>
            <a:off x="2026024" y="-17617"/>
            <a:ext cx="9018494" cy="1754326"/>
          </a:xfrm>
          <a:prstGeom prst="rect">
            <a:avLst/>
          </a:prstGeom>
          <a:noFill/>
        </p:spPr>
        <p:txBody>
          <a:bodyPr wrap="square">
            <a:spAutoFit/>
          </a:bodyPr>
          <a:lstStyle/>
          <a:p>
            <a:r>
              <a:rPr lang="es-MX" sz="3600" b="1" dirty="0">
                <a:solidFill>
                  <a:schemeClr val="tx2"/>
                </a:solidFill>
                <a:effectLst>
                  <a:outerShdw blurRad="63500" dist="38100" dir="5400000" algn="t" rotWithShape="0">
                    <a:prstClr val="black">
                      <a:alpha val="25000"/>
                    </a:prstClr>
                  </a:outerShdw>
                </a:effectLst>
                <a:ea typeface="+mj-ea"/>
                <a:cs typeface="+mj-cs"/>
              </a:rPr>
              <a:t>Problema 3.1. (Aplicación del uso de la sentencia if)  </a:t>
            </a:r>
            <a:br>
              <a:rPr lang="es-MX" sz="1800" b="1" dirty="0">
                <a:solidFill>
                  <a:srgbClr val="FF0000"/>
                </a:solidFill>
              </a:rPr>
            </a:br>
            <a:br>
              <a:rPr lang="es-MX" sz="1800" b="1" dirty="0">
                <a:solidFill>
                  <a:srgbClr val="FF0000"/>
                </a:solidFill>
              </a:rPr>
            </a:br>
            <a:endParaRPr lang="es-EC" dirty="0"/>
          </a:p>
        </p:txBody>
      </p:sp>
    </p:spTree>
    <p:extLst>
      <p:ext uri="{BB962C8B-B14F-4D97-AF65-F5344CB8AC3E}">
        <p14:creationId xmlns:p14="http://schemas.microsoft.com/office/powerpoint/2010/main" val="3952980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1620370"/>
            <a:ext cx="10972800" cy="1600200"/>
          </a:xfrm>
        </p:spPr>
        <p:txBody>
          <a:bodyPr/>
          <a:lstStyle/>
          <a:p>
            <a:r>
              <a:rPr lang="es-MX" b="1" dirty="0"/>
              <a:t>Problema 3.1. (Aplicación del uso de la sentencia if)  </a:t>
            </a:r>
            <a:br>
              <a:rPr lang="es-MX" sz="5400" b="1" dirty="0">
                <a:solidFill>
                  <a:srgbClr val="FF0000"/>
                </a:solidFill>
              </a:rPr>
            </a:br>
            <a:br>
              <a:rPr lang="es-MX" sz="5400" b="1" dirty="0">
                <a:solidFill>
                  <a:srgbClr val="FF0000"/>
                </a:solidFill>
              </a:rPr>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15</a:t>
            </a:fld>
            <a:endParaRPr lang="es-EC"/>
          </a:p>
        </p:txBody>
      </p:sp>
      <p:pic>
        <p:nvPicPr>
          <p:cNvPr id="6" name="Imagen 5">
            <a:extLst>
              <a:ext uri="{FF2B5EF4-FFF2-40B4-BE49-F238E27FC236}">
                <a16:creationId xmlns:a16="http://schemas.microsoft.com/office/drawing/2014/main" id="{08ADED5F-89DD-4D38-AE0B-A9AEB1FDD7A5}"/>
              </a:ext>
            </a:extLst>
          </p:cNvPr>
          <p:cNvPicPr>
            <a:picLocks noChangeAspect="1"/>
          </p:cNvPicPr>
          <p:nvPr/>
        </p:nvPicPr>
        <p:blipFill>
          <a:blip r:embed="rId2"/>
          <a:stretch>
            <a:fillRect/>
          </a:stretch>
        </p:blipFill>
        <p:spPr>
          <a:xfrm>
            <a:off x="1641196" y="2173877"/>
            <a:ext cx="6668431" cy="914528"/>
          </a:xfrm>
          <a:prstGeom prst="rect">
            <a:avLst/>
          </a:prstGeom>
        </p:spPr>
      </p:pic>
      <p:sp>
        <p:nvSpPr>
          <p:cNvPr id="9" name="CuadroTexto 8">
            <a:extLst>
              <a:ext uri="{FF2B5EF4-FFF2-40B4-BE49-F238E27FC236}">
                <a16:creationId xmlns:a16="http://schemas.microsoft.com/office/drawing/2014/main" id="{22BC5998-6CCE-4177-986D-0F5FEF2190E5}"/>
              </a:ext>
            </a:extLst>
          </p:cNvPr>
          <p:cNvSpPr txBox="1"/>
          <p:nvPr/>
        </p:nvSpPr>
        <p:spPr>
          <a:xfrm>
            <a:off x="1641196" y="3429000"/>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3.1.</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533968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EC" sz="2000" dirty="0"/>
              <a:t>Introducción </a:t>
            </a:r>
            <a:endParaRPr lang="es-MX" sz="2000" dirty="0"/>
          </a:p>
          <a:p>
            <a:pPr lvl="1"/>
            <a:r>
              <a:rPr lang="es-MX" sz="2000" dirty="0"/>
              <a:t>Objetivos  </a:t>
            </a:r>
          </a:p>
          <a:p>
            <a:pPr lvl="1"/>
            <a:r>
              <a:rPr lang="es-MX" sz="2000" dirty="0"/>
              <a:t>Estructuras de Control de Selección </a:t>
            </a:r>
          </a:p>
          <a:p>
            <a:pPr lvl="1"/>
            <a:r>
              <a:rPr lang="es-MX" sz="2000" dirty="0"/>
              <a:t>La sentencia if</a:t>
            </a:r>
          </a:p>
          <a:p>
            <a:pPr lvl="1"/>
            <a:r>
              <a:rPr lang="es-MX" sz="2000" dirty="0"/>
              <a:t>Problema 3.1. (Aplicación del uso de la sentencia if)  </a:t>
            </a:r>
          </a:p>
          <a:p>
            <a:pPr lvl="1"/>
            <a:r>
              <a:rPr lang="es-MX" sz="3400" b="1" dirty="0">
                <a:solidFill>
                  <a:srgbClr val="FF0000"/>
                </a:solidFill>
              </a:rPr>
              <a:t>Problema 3.2. (Aplicación del uso de la sentencia if)  </a:t>
            </a:r>
          </a:p>
          <a:p>
            <a:pPr lvl="1"/>
            <a:r>
              <a:rPr lang="es-MX" sz="2000" dirty="0"/>
              <a:t>Caso de Estudio 3.1: Divisibilidad entre dos Números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16</a:t>
            </a:fld>
            <a:endParaRPr lang="es-EC">
              <a:solidFill>
                <a:prstClr val="black">
                  <a:lumMod val="65000"/>
                  <a:lumOff val="35000"/>
                </a:prstClr>
              </a:solidFill>
            </a:endParaRPr>
          </a:p>
        </p:txBody>
      </p:sp>
    </p:spTree>
    <p:extLst>
      <p:ext uri="{BB962C8B-B14F-4D97-AF65-F5344CB8AC3E}">
        <p14:creationId xmlns:p14="http://schemas.microsoft.com/office/powerpoint/2010/main" val="1661475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2254787"/>
            <a:ext cx="10972800" cy="1600200"/>
          </a:xfrm>
        </p:spPr>
        <p:txBody>
          <a:bodyPr/>
          <a:lstStyle/>
          <a:p>
            <a:r>
              <a:rPr lang="es-MX" b="1" dirty="0"/>
              <a:t>Problema 3.2. (Aplicación del uso de la sentencia if)  </a:t>
            </a:r>
            <a:br>
              <a:rPr lang="es-MX" sz="5400" b="1" dirty="0">
                <a:solidFill>
                  <a:srgbClr val="FF0000"/>
                </a:solidFill>
              </a:rPr>
            </a:b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57834" y="2028265"/>
            <a:ext cx="3711390" cy="1952064"/>
          </a:xfrm>
        </p:spPr>
        <p:txBody>
          <a:bodyPr>
            <a:normAutofit fontScale="85000" lnSpcReduction="10000"/>
          </a:bodyPr>
          <a:lstStyle/>
          <a:p>
            <a:pPr marL="0" indent="0">
              <a:buNone/>
            </a:pPr>
            <a:r>
              <a:rPr lang="es-MX" dirty="0"/>
              <a:t>Escribir un programa que permita ver si una nota entre 0 y 10 ingresada por teclado es mayor o igual que siete y se imprima un mensaje de aprobado.</a:t>
            </a:r>
            <a:endParaRPr lang="es-EC"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17</a:t>
            </a:fld>
            <a:endParaRPr lang="es-EC"/>
          </a:p>
        </p:txBody>
      </p:sp>
      <p:pic>
        <p:nvPicPr>
          <p:cNvPr id="8" name="Imagen 7">
            <a:extLst>
              <a:ext uri="{FF2B5EF4-FFF2-40B4-BE49-F238E27FC236}">
                <a16:creationId xmlns:a16="http://schemas.microsoft.com/office/drawing/2014/main" id="{76733C18-8EA6-4E5D-B7EF-5215C02500E1}"/>
              </a:ext>
            </a:extLst>
          </p:cNvPr>
          <p:cNvPicPr>
            <a:picLocks noChangeAspect="1"/>
          </p:cNvPicPr>
          <p:nvPr/>
        </p:nvPicPr>
        <p:blipFill>
          <a:blip r:embed="rId2"/>
          <a:stretch>
            <a:fillRect/>
          </a:stretch>
        </p:blipFill>
        <p:spPr>
          <a:xfrm>
            <a:off x="4689694" y="2028265"/>
            <a:ext cx="7049484" cy="1826722"/>
          </a:xfrm>
          <a:prstGeom prst="rect">
            <a:avLst/>
          </a:prstGeom>
        </p:spPr>
      </p:pic>
    </p:spTree>
    <p:extLst>
      <p:ext uri="{BB962C8B-B14F-4D97-AF65-F5344CB8AC3E}">
        <p14:creationId xmlns:p14="http://schemas.microsoft.com/office/powerpoint/2010/main" val="3213392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792888" y="2254787"/>
            <a:ext cx="10972800" cy="1600200"/>
          </a:xfrm>
        </p:spPr>
        <p:txBody>
          <a:bodyPr/>
          <a:lstStyle/>
          <a:p>
            <a:r>
              <a:rPr lang="es-MX" b="1" dirty="0"/>
              <a:t>Problema 3.2. (Aplicación del uso de la sentencia if)  </a:t>
            </a:r>
            <a:br>
              <a:rPr lang="es-MX" sz="5400" b="1" dirty="0">
                <a:solidFill>
                  <a:srgbClr val="FF0000"/>
                </a:solidFill>
              </a:rPr>
            </a:br>
            <a:br>
              <a:rPr lang="es-MX" sz="5400" b="1" dirty="0">
                <a:solidFill>
                  <a:srgbClr val="FF0000"/>
                </a:solidFill>
              </a:rPr>
            </a:br>
            <a:br>
              <a:rPr lang="es-MX" sz="5400" b="1" dirty="0">
                <a:solidFill>
                  <a:srgbClr val="FF0000"/>
                </a:solidFill>
              </a:rPr>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18</a:t>
            </a:fld>
            <a:endParaRPr lang="es-EC"/>
          </a:p>
        </p:txBody>
      </p:sp>
      <p:pic>
        <p:nvPicPr>
          <p:cNvPr id="7" name="Imagen 6">
            <a:extLst>
              <a:ext uri="{FF2B5EF4-FFF2-40B4-BE49-F238E27FC236}">
                <a16:creationId xmlns:a16="http://schemas.microsoft.com/office/drawing/2014/main" id="{6017552E-7DE2-415B-B5EF-804B4ADCC553}"/>
              </a:ext>
            </a:extLst>
          </p:cNvPr>
          <p:cNvPicPr>
            <a:picLocks noChangeAspect="1"/>
          </p:cNvPicPr>
          <p:nvPr/>
        </p:nvPicPr>
        <p:blipFill>
          <a:blip r:embed="rId2"/>
          <a:stretch>
            <a:fillRect/>
          </a:stretch>
        </p:blipFill>
        <p:spPr>
          <a:xfrm>
            <a:off x="877112" y="1591979"/>
            <a:ext cx="6091093" cy="4620562"/>
          </a:xfrm>
          <a:prstGeom prst="rect">
            <a:avLst/>
          </a:prstGeom>
        </p:spPr>
      </p:pic>
      <p:sp>
        <p:nvSpPr>
          <p:cNvPr id="11" name="CuadroTexto 10">
            <a:extLst>
              <a:ext uri="{FF2B5EF4-FFF2-40B4-BE49-F238E27FC236}">
                <a16:creationId xmlns:a16="http://schemas.microsoft.com/office/drawing/2014/main" id="{BF5DACE7-47EA-4999-A9A5-6A0DD865A955}"/>
              </a:ext>
            </a:extLst>
          </p:cNvPr>
          <p:cNvSpPr txBox="1"/>
          <p:nvPr/>
        </p:nvSpPr>
        <p:spPr>
          <a:xfrm>
            <a:off x="1043251" y="6211669"/>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3.2</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13" name="Imagen 12">
            <a:extLst>
              <a:ext uri="{FF2B5EF4-FFF2-40B4-BE49-F238E27FC236}">
                <a16:creationId xmlns:a16="http://schemas.microsoft.com/office/drawing/2014/main" id="{B71815E0-5810-4C38-BFA0-B5910DC6F1B9}"/>
              </a:ext>
            </a:extLst>
          </p:cNvPr>
          <p:cNvPicPr>
            <a:picLocks noChangeAspect="1"/>
          </p:cNvPicPr>
          <p:nvPr/>
        </p:nvPicPr>
        <p:blipFill>
          <a:blip r:embed="rId3"/>
          <a:stretch>
            <a:fillRect/>
          </a:stretch>
        </p:blipFill>
        <p:spPr>
          <a:xfrm>
            <a:off x="7133424" y="3854987"/>
            <a:ext cx="3429479" cy="552527"/>
          </a:xfrm>
          <a:prstGeom prst="rect">
            <a:avLst/>
          </a:prstGeom>
        </p:spPr>
      </p:pic>
      <p:sp>
        <p:nvSpPr>
          <p:cNvPr id="14" name="CuadroTexto 13">
            <a:extLst>
              <a:ext uri="{FF2B5EF4-FFF2-40B4-BE49-F238E27FC236}">
                <a16:creationId xmlns:a16="http://schemas.microsoft.com/office/drawing/2014/main" id="{8BC42878-B4E6-42BB-A115-05CB3A03CD2B}"/>
              </a:ext>
            </a:extLst>
          </p:cNvPr>
          <p:cNvSpPr txBox="1"/>
          <p:nvPr/>
        </p:nvSpPr>
        <p:spPr>
          <a:xfrm>
            <a:off x="7133424" y="4583831"/>
            <a:ext cx="4257734"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032140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EC" sz="2000" dirty="0"/>
              <a:t>Introducción </a:t>
            </a:r>
            <a:endParaRPr lang="es-MX" sz="2000" dirty="0"/>
          </a:p>
          <a:p>
            <a:pPr lvl="1"/>
            <a:r>
              <a:rPr lang="es-MX" sz="2000" dirty="0"/>
              <a:t>Objetivos  </a:t>
            </a:r>
          </a:p>
          <a:p>
            <a:pPr lvl="1"/>
            <a:r>
              <a:rPr lang="es-MX" sz="2000" dirty="0"/>
              <a:t>Estructuras de Control de Selección </a:t>
            </a:r>
          </a:p>
          <a:p>
            <a:pPr lvl="1"/>
            <a:r>
              <a:rPr lang="es-MX" sz="2000" dirty="0"/>
              <a:t>La sentencia if</a:t>
            </a:r>
          </a:p>
          <a:p>
            <a:pPr lvl="1"/>
            <a:r>
              <a:rPr lang="es-MX" sz="2000" dirty="0"/>
              <a:t>Problema 3.1. (Aplicación del uso de la sentencia if)  </a:t>
            </a:r>
          </a:p>
          <a:p>
            <a:pPr lvl="1"/>
            <a:r>
              <a:rPr lang="es-MX" sz="2000" dirty="0"/>
              <a:t>Problema 3.2. (Aplicación del uso de la sentencia if)  </a:t>
            </a:r>
          </a:p>
          <a:p>
            <a:pPr lvl="1"/>
            <a:r>
              <a:rPr lang="es-MX" sz="3400" b="1" dirty="0">
                <a:solidFill>
                  <a:srgbClr val="FF0000"/>
                </a:solidFill>
              </a:rPr>
              <a:t>Caso de Estudio 3.1: Divisibilidad entre dos Números </a:t>
            </a:r>
            <a:endParaRPr lang="es-419" sz="3400" b="1" dirty="0">
              <a:solidFill>
                <a:srgbClr val="FF0000"/>
              </a:solidFill>
            </a:endParaRP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26/11/2025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19</a:t>
            </a:fld>
            <a:endParaRPr lang="es-EC">
              <a:solidFill>
                <a:prstClr val="black">
                  <a:lumMod val="65000"/>
                  <a:lumOff val="35000"/>
                </a:prstClr>
              </a:solidFill>
            </a:endParaRPr>
          </a:p>
        </p:txBody>
      </p:sp>
    </p:spTree>
    <p:extLst>
      <p:ext uri="{BB962C8B-B14F-4D97-AF65-F5344CB8AC3E}">
        <p14:creationId xmlns:p14="http://schemas.microsoft.com/office/powerpoint/2010/main" val="2961965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057834" y="3117558"/>
            <a:ext cx="10972800" cy="1600200"/>
          </a:xfrm>
        </p:spPr>
        <p:txBody>
          <a:bodyPr/>
          <a:lstStyle/>
          <a:p>
            <a:br>
              <a:rPr lang="es-MX" b="1" dirty="0"/>
            </a:br>
            <a:br>
              <a:rPr lang="es-MX" b="1" dirty="0"/>
            </a:br>
            <a:br>
              <a:rPr lang="es-MX" b="1" dirty="0"/>
            </a:br>
            <a:r>
              <a:rPr lang="es-MX" b="1" dirty="0"/>
              <a:t>Caso de Estudio 3.1: Divisibilidad </a:t>
            </a:r>
            <a:br>
              <a:rPr lang="es-MX" b="1" dirty="0"/>
            </a:br>
            <a:r>
              <a:rPr lang="es-MX" b="1" dirty="0"/>
              <a:t>entre dos Números </a:t>
            </a:r>
            <a:br>
              <a:rPr lang="es-419" b="1" dirty="0"/>
            </a:br>
            <a:br>
              <a:rPr lang="es-MX" b="1" dirty="0"/>
            </a:b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57833" y="2028264"/>
            <a:ext cx="9932896" cy="4264959"/>
          </a:xfrm>
        </p:spPr>
        <p:txBody>
          <a:bodyPr>
            <a:normAutofit fontScale="92500"/>
          </a:bodyPr>
          <a:lstStyle/>
          <a:p>
            <a:pPr marL="457200" indent="-457200">
              <a:buFont typeface="+mj-lt"/>
              <a:buAutoNum type="alphaUcPeriod"/>
            </a:pPr>
            <a:r>
              <a:rPr lang="es-MX" dirty="0"/>
              <a:t>Problema </a:t>
            </a:r>
          </a:p>
          <a:p>
            <a:pPr marL="0" indent="0">
              <a:buNone/>
            </a:pPr>
            <a:r>
              <a:rPr lang="es-MX" dirty="0"/>
              <a:t>Escribir un programa que permita ver si un número es divisible para otro. </a:t>
            </a:r>
          </a:p>
          <a:p>
            <a:pPr marL="0" indent="0">
              <a:buNone/>
            </a:pPr>
            <a:endParaRPr lang="es-MX" dirty="0"/>
          </a:p>
          <a:p>
            <a:pPr marL="0" indent="0">
              <a:buNone/>
            </a:pPr>
            <a:r>
              <a:rPr lang="es-MX" dirty="0"/>
              <a:t>B.   Análisis </a:t>
            </a:r>
          </a:p>
          <a:p>
            <a:pPr marL="0" indent="0">
              <a:buNone/>
            </a:pPr>
            <a:r>
              <a:rPr lang="es-MX" dirty="0"/>
              <a:t>Claramente, se puede ver que las entradas del problema son los dos números que se ingresan para analizar la divisibilidad entre ellos. Hay una variable auxiliar que se va a utilizar para calcular el módulo de la división entre los dos números ingresados, de tal manera que si el valor del módulo es cero los dos números son divisibles entre sí. La única salida requerida es un mensaje de impresión que indica si el primer número es divisible para el segundo número. </a:t>
            </a:r>
            <a:endParaRPr lang="es-EC"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20</a:t>
            </a:fld>
            <a:endParaRPr lang="es-EC"/>
          </a:p>
        </p:txBody>
      </p:sp>
    </p:spTree>
    <p:extLst>
      <p:ext uri="{BB962C8B-B14F-4D97-AF65-F5344CB8AC3E}">
        <p14:creationId xmlns:p14="http://schemas.microsoft.com/office/powerpoint/2010/main" val="344186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057834" y="3117558"/>
            <a:ext cx="10972800" cy="1600200"/>
          </a:xfrm>
        </p:spPr>
        <p:txBody>
          <a:bodyPr/>
          <a:lstStyle/>
          <a:p>
            <a:br>
              <a:rPr lang="es-MX" b="1" dirty="0"/>
            </a:br>
            <a:br>
              <a:rPr lang="es-MX" b="1" dirty="0"/>
            </a:br>
            <a:br>
              <a:rPr lang="es-MX" b="1" dirty="0"/>
            </a:br>
            <a:r>
              <a:rPr lang="es-MX" b="1" dirty="0"/>
              <a:t>Caso de Estudio 3.1: Divisibilidad </a:t>
            </a:r>
            <a:br>
              <a:rPr lang="es-MX" b="1" dirty="0"/>
            </a:br>
            <a:r>
              <a:rPr lang="es-MX" b="1" dirty="0"/>
              <a:t>entre dos Números </a:t>
            </a:r>
            <a:br>
              <a:rPr lang="es-419" b="1" dirty="0"/>
            </a:br>
            <a:br>
              <a:rPr lang="es-MX" b="1" dirty="0"/>
            </a:b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57833" y="2028264"/>
            <a:ext cx="9932896" cy="4264959"/>
          </a:xfrm>
        </p:spPr>
        <p:txBody>
          <a:bodyPr>
            <a:normAutofit/>
          </a:bodyPr>
          <a:lstStyle/>
          <a:p>
            <a:pPr marL="0" indent="0">
              <a:buNone/>
            </a:pPr>
            <a:r>
              <a:rPr lang="es-MX" sz="1600" dirty="0"/>
              <a:t>B.1) Requerimiento de los Datos </a:t>
            </a:r>
          </a:p>
          <a:p>
            <a:pPr marL="0" indent="0">
              <a:buNone/>
            </a:pPr>
            <a:r>
              <a:rPr lang="es-MX" sz="1600" dirty="0"/>
              <a:t>Entradas del Problema </a:t>
            </a:r>
          </a:p>
          <a:p>
            <a:pPr marL="0" indent="0">
              <a:buNone/>
            </a:pPr>
            <a:endParaRPr lang="es-MX" sz="1600" dirty="0"/>
          </a:p>
          <a:p>
            <a:pPr marL="0" indent="0">
              <a:buNone/>
            </a:pPr>
            <a:r>
              <a:rPr lang="es-MX" sz="1600" dirty="0"/>
              <a:t>num1 /* primer número */</a:t>
            </a:r>
          </a:p>
          <a:p>
            <a:pPr marL="0" indent="0">
              <a:buNone/>
            </a:pPr>
            <a:r>
              <a:rPr lang="es-MX" sz="1600" dirty="0"/>
              <a:t>num2 /* segundo número */ </a:t>
            </a:r>
          </a:p>
          <a:p>
            <a:pPr marL="0" indent="0">
              <a:buNone/>
            </a:pPr>
            <a:r>
              <a:rPr lang="es-MX" sz="1600" dirty="0"/>
              <a:t>Auxiliares del Problema</a:t>
            </a:r>
          </a:p>
          <a:p>
            <a:pPr marL="0" indent="0">
              <a:buNone/>
            </a:pPr>
            <a:r>
              <a:rPr lang="es-MX" sz="1600" dirty="0"/>
              <a:t>num3 /* módulo de la división */ </a:t>
            </a:r>
          </a:p>
          <a:p>
            <a:pPr marL="0" indent="0">
              <a:buNone/>
            </a:pPr>
            <a:endParaRPr lang="es-MX" sz="1600" dirty="0"/>
          </a:p>
          <a:p>
            <a:pPr marL="0" indent="0">
              <a:buNone/>
            </a:pPr>
            <a:r>
              <a:rPr lang="es-MX" sz="1600" dirty="0"/>
              <a:t>Salidas del Problema </a:t>
            </a:r>
          </a:p>
          <a:p>
            <a:pPr marL="0" indent="0">
              <a:buNone/>
            </a:pPr>
            <a:endParaRPr lang="es-MX" sz="1600" dirty="0"/>
          </a:p>
          <a:p>
            <a:pPr marL="0" indent="0">
              <a:buNone/>
            </a:pPr>
            <a:r>
              <a:rPr lang="es-MX" sz="1600" dirty="0"/>
              <a:t>Mensaje /* mensaje que indica que el primer número es divisible para el segundo número */ </a:t>
            </a:r>
          </a:p>
          <a:p>
            <a:pPr marL="0" indent="0">
              <a:buNone/>
            </a:pPr>
            <a:r>
              <a:rPr lang="es-MX" sz="1600" dirty="0"/>
              <a:t> Fórmulas Relevantes </a:t>
            </a:r>
          </a:p>
          <a:p>
            <a:pPr marL="0" indent="0">
              <a:buNone/>
            </a:pPr>
            <a:r>
              <a:rPr lang="es-MX" sz="1600" dirty="0"/>
              <a:t>n3  =𝑛1 𝑀𝑂𝐷 𝑛2 (1) /* Fórmula del módulo de una división entre dos números */</a:t>
            </a:r>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21</a:t>
            </a:fld>
            <a:endParaRPr lang="es-EC"/>
          </a:p>
        </p:txBody>
      </p:sp>
    </p:spTree>
    <p:extLst>
      <p:ext uri="{BB962C8B-B14F-4D97-AF65-F5344CB8AC3E}">
        <p14:creationId xmlns:p14="http://schemas.microsoft.com/office/powerpoint/2010/main" val="301951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057834" y="3117558"/>
            <a:ext cx="10972800" cy="1600200"/>
          </a:xfrm>
        </p:spPr>
        <p:txBody>
          <a:bodyPr/>
          <a:lstStyle/>
          <a:p>
            <a:br>
              <a:rPr lang="es-MX" b="1" dirty="0"/>
            </a:br>
            <a:br>
              <a:rPr lang="es-MX" b="1" dirty="0"/>
            </a:br>
            <a:br>
              <a:rPr lang="es-MX" b="1" dirty="0"/>
            </a:br>
            <a:r>
              <a:rPr lang="es-MX" b="1" dirty="0"/>
              <a:t>Caso de Estudio 3.1: Divisibilidad </a:t>
            </a:r>
            <a:br>
              <a:rPr lang="es-MX" b="1" dirty="0"/>
            </a:br>
            <a:r>
              <a:rPr lang="es-MX" b="1" dirty="0"/>
              <a:t>entre dos Números </a:t>
            </a:r>
            <a:br>
              <a:rPr lang="es-419" b="1" dirty="0"/>
            </a:br>
            <a:br>
              <a:rPr lang="es-MX" b="1" dirty="0"/>
            </a:b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751253" y="1973581"/>
            <a:ext cx="3491307" cy="2186940"/>
          </a:xfrm>
        </p:spPr>
        <p:txBody>
          <a:bodyPr>
            <a:normAutofit/>
          </a:bodyPr>
          <a:lstStyle/>
          <a:p>
            <a:pPr marL="0" indent="0">
              <a:buNone/>
            </a:pPr>
            <a:r>
              <a:rPr lang="es-MX" sz="1200" dirty="0"/>
              <a:t>B.2) Diagrama de Entrada-Salida </a:t>
            </a:r>
          </a:p>
          <a:p>
            <a:pPr marL="0" indent="0">
              <a:buNone/>
            </a:pPr>
            <a:endParaRPr lang="es-MX" sz="1200" dirty="0"/>
          </a:p>
          <a:p>
            <a:pPr marL="0" indent="0">
              <a:buNone/>
            </a:pPr>
            <a:r>
              <a:rPr lang="es-MX" sz="1200" dirty="0"/>
              <a:t>En la Figura 3.1.1 se muestra el diagrama de Entrada-Salida del programa donde se identifican y se diagraman las entradas, salidas y auxiliares del problema como son: a) Entradas: la variable ‘num1’ y la variable ‘num2’; b) Salidas: Un mensaje de información que indica q</a:t>
            </a:r>
            <a:endParaRPr lang="es-MX" sz="1600"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22</a:t>
            </a:fld>
            <a:endParaRPr lang="es-EC"/>
          </a:p>
        </p:txBody>
      </p:sp>
      <p:pic>
        <p:nvPicPr>
          <p:cNvPr id="7" name="Imagen 6">
            <a:extLst>
              <a:ext uri="{FF2B5EF4-FFF2-40B4-BE49-F238E27FC236}">
                <a16:creationId xmlns:a16="http://schemas.microsoft.com/office/drawing/2014/main" id="{23D7F468-B31C-4433-AAF8-6870235D565E}"/>
              </a:ext>
            </a:extLst>
          </p:cNvPr>
          <p:cNvPicPr>
            <a:picLocks noChangeAspect="1"/>
          </p:cNvPicPr>
          <p:nvPr/>
        </p:nvPicPr>
        <p:blipFill>
          <a:blip r:embed="rId2"/>
          <a:stretch>
            <a:fillRect/>
          </a:stretch>
        </p:blipFill>
        <p:spPr>
          <a:xfrm>
            <a:off x="5935979" y="1907708"/>
            <a:ext cx="3877216" cy="2143424"/>
          </a:xfrm>
          <a:prstGeom prst="rect">
            <a:avLst/>
          </a:prstGeom>
        </p:spPr>
      </p:pic>
      <p:sp>
        <p:nvSpPr>
          <p:cNvPr id="8" name="CuadroTexto 7">
            <a:extLst>
              <a:ext uri="{FF2B5EF4-FFF2-40B4-BE49-F238E27FC236}">
                <a16:creationId xmlns:a16="http://schemas.microsoft.com/office/drawing/2014/main" id="{BFE55508-FBF0-4B6F-B91A-8FA9B8AD37C1}"/>
              </a:ext>
            </a:extLst>
          </p:cNvPr>
          <p:cNvSpPr txBox="1"/>
          <p:nvPr/>
        </p:nvSpPr>
        <p:spPr>
          <a:xfrm>
            <a:off x="5721868" y="428919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3.1.1 </a:t>
            </a:r>
            <a:r>
              <a:rPr lang="es-EC" sz="1200" dirty="0">
                <a:solidFill>
                  <a:schemeClr val="tx1">
                    <a:lumMod val="50000"/>
                    <a:lumOff val="50000"/>
                  </a:schemeClr>
                </a:solidFill>
                <a:latin typeface="+mj-lt"/>
              </a:rPr>
              <a:t>Diagrama de Entrada-Salida del Programa</a:t>
            </a:r>
            <a:r>
              <a:rPr lang="es-ES"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633990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057834" y="3117558"/>
            <a:ext cx="10972800" cy="1600200"/>
          </a:xfrm>
        </p:spPr>
        <p:txBody>
          <a:bodyPr/>
          <a:lstStyle/>
          <a:p>
            <a:br>
              <a:rPr lang="es-MX" b="1" dirty="0"/>
            </a:br>
            <a:br>
              <a:rPr lang="es-MX" b="1" dirty="0"/>
            </a:br>
            <a:br>
              <a:rPr lang="es-MX" b="1" dirty="0"/>
            </a:br>
            <a:r>
              <a:rPr lang="es-MX" b="1" dirty="0"/>
              <a:t>Caso de Estudio 3.1: Divisibilidad </a:t>
            </a:r>
            <a:br>
              <a:rPr lang="es-MX" b="1" dirty="0"/>
            </a:br>
            <a:r>
              <a:rPr lang="es-MX" b="1" dirty="0"/>
              <a:t>entre dos Números </a:t>
            </a:r>
            <a:br>
              <a:rPr lang="es-419" b="1" dirty="0"/>
            </a:br>
            <a:br>
              <a:rPr lang="es-MX" b="1" dirty="0"/>
            </a:b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751253" y="1973580"/>
            <a:ext cx="8665287" cy="4122419"/>
          </a:xfrm>
        </p:spPr>
        <p:txBody>
          <a:bodyPr>
            <a:normAutofit/>
          </a:bodyPr>
          <a:lstStyle/>
          <a:p>
            <a:pPr marL="0" indent="0">
              <a:buNone/>
            </a:pPr>
            <a:r>
              <a:rPr lang="es-MX" sz="1600" dirty="0"/>
              <a:t>C) Diseño </a:t>
            </a:r>
          </a:p>
          <a:p>
            <a:pPr marL="0" indent="0">
              <a:buNone/>
            </a:pPr>
            <a:r>
              <a:rPr lang="es-MX" sz="1600" dirty="0"/>
              <a:t>Una vez que se conoce las entradas, las auxiliares y las salidas del problema, se deben listar los pasos necesarios para resolver el problema, es decir, el algoritmo. Algoritmo </a:t>
            </a:r>
          </a:p>
          <a:p>
            <a:pPr marL="228600" indent="-228600">
              <a:buAutoNum type="arabicPeriod"/>
            </a:pPr>
            <a:r>
              <a:rPr lang="es-MX" sz="1600" dirty="0"/>
              <a:t>Leer el primer número. </a:t>
            </a:r>
          </a:p>
          <a:p>
            <a:pPr marL="228600" indent="-228600">
              <a:buAutoNum type="arabicPeriod"/>
            </a:pPr>
            <a:r>
              <a:rPr lang="es-MX" sz="1600" dirty="0"/>
              <a:t>Leer el segundo número. </a:t>
            </a:r>
          </a:p>
          <a:p>
            <a:pPr marL="228600" indent="-228600">
              <a:buAutoNum type="arabicPeriod"/>
            </a:pPr>
            <a:r>
              <a:rPr lang="es-MX" sz="1600" dirty="0"/>
              <a:t>Leer el lado 3 del triángulo. </a:t>
            </a:r>
          </a:p>
          <a:p>
            <a:pPr marL="228600" indent="-228600">
              <a:buAutoNum type="arabicPeriod"/>
            </a:pPr>
            <a:r>
              <a:rPr lang="es-MX" sz="1600" dirty="0"/>
              <a:t>Calcular el módulo de la división entre los dos números ingresados, utilizando la ecuación (1), donde se asigna en la variable ‘num3’ el módulo de la división entre ‘num1’ y ‘num2’.</a:t>
            </a:r>
          </a:p>
          <a:p>
            <a:pPr marL="228600" indent="-228600">
              <a:buAutoNum type="arabicPeriod"/>
            </a:pPr>
            <a:r>
              <a:rPr lang="es-MX" sz="1600" dirty="0"/>
              <a:t> Si el valor de la variable ‘num3’ es igual a cero. </a:t>
            </a:r>
          </a:p>
          <a:p>
            <a:pPr marL="0" indent="0">
              <a:buNone/>
            </a:pPr>
            <a:r>
              <a:rPr lang="es-MX" sz="1600" dirty="0"/>
              <a:t>5.1. Imprimir el mensaje que el número 1 es divisible para el número 2.</a:t>
            </a:r>
            <a:endParaRPr lang="es-MX" sz="2000"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23</a:t>
            </a:fld>
            <a:endParaRPr lang="es-EC"/>
          </a:p>
        </p:txBody>
      </p:sp>
    </p:spTree>
    <p:extLst>
      <p:ext uri="{BB962C8B-B14F-4D97-AF65-F5344CB8AC3E}">
        <p14:creationId xmlns:p14="http://schemas.microsoft.com/office/powerpoint/2010/main" val="2551745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057834" y="3117558"/>
            <a:ext cx="10972800" cy="1600200"/>
          </a:xfrm>
        </p:spPr>
        <p:txBody>
          <a:bodyPr/>
          <a:lstStyle/>
          <a:p>
            <a:br>
              <a:rPr lang="es-MX" b="1" dirty="0"/>
            </a:br>
            <a:br>
              <a:rPr lang="es-MX" b="1" dirty="0"/>
            </a:br>
            <a:br>
              <a:rPr lang="es-MX" b="1" dirty="0"/>
            </a:br>
            <a:r>
              <a:rPr lang="es-MX" b="1" dirty="0"/>
              <a:t>Caso de Estudio 3.1: Divisibilidad </a:t>
            </a:r>
            <a:br>
              <a:rPr lang="es-MX" b="1" dirty="0"/>
            </a:br>
            <a:r>
              <a:rPr lang="es-MX" b="1" dirty="0"/>
              <a:t>entre dos Números </a:t>
            </a:r>
            <a:br>
              <a:rPr lang="es-419" b="1" dirty="0"/>
            </a:br>
            <a:br>
              <a:rPr lang="es-MX" b="1" dirty="0"/>
            </a:b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751253" y="1973581"/>
            <a:ext cx="3689427" cy="2278380"/>
          </a:xfrm>
        </p:spPr>
        <p:txBody>
          <a:bodyPr>
            <a:normAutofit lnSpcReduction="10000"/>
          </a:bodyPr>
          <a:lstStyle/>
          <a:p>
            <a:pPr marL="0" indent="0">
              <a:buNone/>
            </a:pPr>
            <a:r>
              <a:rPr lang="es-MX" sz="1600" dirty="0"/>
              <a:t>D) Implementación </a:t>
            </a:r>
          </a:p>
          <a:p>
            <a:pPr marL="0" indent="0">
              <a:buNone/>
            </a:pPr>
            <a:r>
              <a:rPr lang="es-MX" sz="1600" dirty="0"/>
              <a:t>Para implementar la solución, se debe escribir el algoritmo como un programa de C/C++ que contenga toda la información necesaria para completar la traducción a lenguaje máquina. En la Tabla 3.1.1 se muestra el código del programa en C/C++. </a:t>
            </a:r>
            <a:endParaRPr lang="es-MX" sz="2000"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24</a:t>
            </a:fld>
            <a:endParaRPr lang="es-EC"/>
          </a:p>
        </p:txBody>
      </p:sp>
      <p:pic>
        <p:nvPicPr>
          <p:cNvPr id="7" name="Imagen 6">
            <a:extLst>
              <a:ext uri="{FF2B5EF4-FFF2-40B4-BE49-F238E27FC236}">
                <a16:creationId xmlns:a16="http://schemas.microsoft.com/office/drawing/2014/main" id="{9331D8D1-36C9-4337-BB27-6E23DD7CA4CF}"/>
              </a:ext>
            </a:extLst>
          </p:cNvPr>
          <p:cNvPicPr>
            <a:picLocks noChangeAspect="1"/>
          </p:cNvPicPr>
          <p:nvPr/>
        </p:nvPicPr>
        <p:blipFill>
          <a:blip r:embed="rId2"/>
          <a:stretch>
            <a:fillRect/>
          </a:stretch>
        </p:blipFill>
        <p:spPr>
          <a:xfrm>
            <a:off x="5516879" y="1647235"/>
            <a:ext cx="5038763" cy="4495500"/>
          </a:xfrm>
          <a:prstGeom prst="rect">
            <a:avLst/>
          </a:prstGeom>
        </p:spPr>
      </p:pic>
      <p:sp>
        <p:nvSpPr>
          <p:cNvPr id="8" name="CuadroTexto 7">
            <a:extLst>
              <a:ext uri="{FF2B5EF4-FFF2-40B4-BE49-F238E27FC236}">
                <a16:creationId xmlns:a16="http://schemas.microsoft.com/office/drawing/2014/main" id="{69462837-16F0-40BD-AAC4-38EC799F7B70}"/>
              </a:ext>
            </a:extLst>
          </p:cNvPr>
          <p:cNvSpPr txBox="1"/>
          <p:nvPr/>
        </p:nvSpPr>
        <p:spPr>
          <a:xfrm>
            <a:off x="5066611" y="6215747"/>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3.1.1</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157542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057834" y="3117558"/>
            <a:ext cx="10972800" cy="1600200"/>
          </a:xfrm>
        </p:spPr>
        <p:txBody>
          <a:bodyPr/>
          <a:lstStyle/>
          <a:p>
            <a:br>
              <a:rPr lang="es-MX" b="1" dirty="0"/>
            </a:br>
            <a:br>
              <a:rPr lang="es-MX" b="1" dirty="0"/>
            </a:br>
            <a:br>
              <a:rPr lang="es-MX" b="1" dirty="0"/>
            </a:br>
            <a:r>
              <a:rPr lang="es-MX" b="1" dirty="0"/>
              <a:t>Caso de Estudio 3.1: Divisibilidad </a:t>
            </a:r>
            <a:br>
              <a:rPr lang="es-MX" b="1" dirty="0"/>
            </a:br>
            <a:r>
              <a:rPr lang="es-MX" b="1" dirty="0"/>
              <a:t>entre dos Números </a:t>
            </a:r>
            <a:br>
              <a:rPr lang="es-419" b="1" dirty="0"/>
            </a:br>
            <a:br>
              <a:rPr lang="es-MX" b="1" dirty="0"/>
            </a:br>
            <a:br>
              <a:rPr lang="es-MX" sz="5400" b="1" dirty="0">
                <a:solidFill>
                  <a:srgbClr val="FF0000"/>
                </a:solidFill>
              </a:rPr>
            </a:br>
            <a:br>
              <a:rPr lang="es-MX" sz="5400" b="1" dirty="0">
                <a:solidFill>
                  <a:srgbClr val="FF0000"/>
                </a:solidFill>
              </a:rPr>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751253" y="1973581"/>
            <a:ext cx="3689427" cy="2278380"/>
          </a:xfrm>
        </p:spPr>
        <p:txBody>
          <a:bodyPr>
            <a:normAutofit lnSpcReduction="10000"/>
          </a:bodyPr>
          <a:lstStyle/>
          <a:p>
            <a:pPr marL="0" indent="0">
              <a:buNone/>
            </a:pPr>
            <a:r>
              <a:rPr lang="es-MX" sz="1600" dirty="0"/>
              <a:t>E) Pruebas </a:t>
            </a:r>
          </a:p>
          <a:p>
            <a:pPr marL="0" indent="0">
              <a:buNone/>
            </a:pPr>
            <a:r>
              <a:rPr lang="es-MX" sz="1600" dirty="0"/>
              <a:t>La Tabla 3.1.2 muestra un ejemplo de la salida del programa, donde se puede ver que los resultados del programa tienen sentido, comparando estos resultados con un análisis manual de datos aplicando conceptos de divisibilidad. </a:t>
            </a:r>
            <a:endParaRPr lang="es-MX" sz="2000"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26/11/2025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25</a:t>
            </a:fld>
            <a:endParaRPr lang="es-EC"/>
          </a:p>
        </p:txBody>
      </p:sp>
      <p:sp>
        <p:nvSpPr>
          <p:cNvPr id="8" name="CuadroTexto 7">
            <a:extLst>
              <a:ext uri="{FF2B5EF4-FFF2-40B4-BE49-F238E27FC236}">
                <a16:creationId xmlns:a16="http://schemas.microsoft.com/office/drawing/2014/main" id="{69462837-16F0-40BD-AAC4-38EC799F7B70}"/>
              </a:ext>
            </a:extLst>
          </p:cNvPr>
          <p:cNvSpPr txBox="1"/>
          <p:nvPr/>
        </p:nvSpPr>
        <p:spPr>
          <a:xfrm>
            <a:off x="5066611" y="6215747"/>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3.1.1</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9" name="Imagen 8">
            <a:extLst>
              <a:ext uri="{FF2B5EF4-FFF2-40B4-BE49-F238E27FC236}">
                <a16:creationId xmlns:a16="http://schemas.microsoft.com/office/drawing/2014/main" id="{B28C5F70-2CD0-443D-85C0-66D3C034F4EC}"/>
              </a:ext>
            </a:extLst>
          </p:cNvPr>
          <p:cNvPicPr>
            <a:picLocks noChangeAspect="1"/>
          </p:cNvPicPr>
          <p:nvPr/>
        </p:nvPicPr>
        <p:blipFill>
          <a:blip r:embed="rId2"/>
          <a:stretch>
            <a:fillRect/>
          </a:stretch>
        </p:blipFill>
        <p:spPr>
          <a:xfrm>
            <a:off x="5971923" y="2183058"/>
            <a:ext cx="3600953" cy="1600200"/>
          </a:xfrm>
          <a:prstGeom prst="rect">
            <a:avLst/>
          </a:prstGeom>
        </p:spPr>
      </p:pic>
      <p:sp>
        <p:nvSpPr>
          <p:cNvPr id="10" name="CuadroTexto 9">
            <a:extLst>
              <a:ext uri="{FF2B5EF4-FFF2-40B4-BE49-F238E27FC236}">
                <a16:creationId xmlns:a16="http://schemas.microsoft.com/office/drawing/2014/main" id="{F428A1D7-76A8-4D72-B2D5-EB117BFC2F26}"/>
              </a:ext>
            </a:extLst>
          </p:cNvPr>
          <p:cNvSpPr txBox="1"/>
          <p:nvPr/>
        </p:nvSpPr>
        <p:spPr>
          <a:xfrm>
            <a:off x="5861626" y="3917658"/>
            <a:ext cx="4257734"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3.1.2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90898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26</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26/11/2025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6371</TotalTime>
  <Words>2030</Words>
  <Application>Microsoft Office PowerPoint</Application>
  <PresentationFormat>Panorámica</PresentationFormat>
  <Paragraphs>235</Paragraphs>
  <Slides>27</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27</vt:i4>
      </vt:variant>
    </vt:vector>
  </HeadingPairs>
  <TitlesOfParts>
    <vt:vector size="35"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Introducción</vt:lpstr>
      <vt:lpstr>Introducción</vt:lpstr>
      <vt:lpstr>Contenido</vt:lpstr>
      <vt:lpstr>Objetivos</vt:lpstr>
      <vt:lpstr>Contenido</vt:lpstr>
      <vt:lpstr>Estructuras de Control de Selección  </vt:lpstr>
      <vt:lpstr>Contenido</vt:lpstr>
      <vt:lpstr>La sentencia if  </vt:lpstr>
      <vt:lpstr>La sentencia if  </vt:lpstr>
      <vt:lpstr>Contenido</vt:lpstr>
      <vt:lpstr>Problema 3.1. (Aplicación del uso de la sentencia if)     </vt:lpstr>
      <vt:lpstr>  </vt:lpstr>
      <vt:lpstr>Problema 3.1. (Aplicación del uso de la sentencia if)    </vt:lpstr>
      <vt:lpstr>Contenido</vt:lpstr>
      <vt:lpstr>Problema 3.2. (Aplicación del uso de la sentencia if)     </vt:lpstr>
      <vt:lpstr>Problema 3.2. (Aplicación del uso de la sentencia if)     </vt:lpstr>
      <vt:lpstr>Contenido</vt:lpstr>
      <vt:lpstr>   Caso de Estudio 3.1: Divisibilidad  entre dos Números     </vt:lpstr>
      <vt:lpstr>   Caso de Estudio 3.1: Divisibilidad  entre dos Números     </vt:lpstr>
      <vt:lpstr>   Caso de Estudio 3.1: Divisibilidad  entre dos Números     </vt:lpstr>
      <vt:lpstr>   Caso de Estudio 3.1: Divisibilidad  entre dos Números     </vt:lpstr>
      <vt:lpstr>   Caso de Estudio 3.1: Divisibilidad  entre dos Números     </vt:lpstr>
      <vt:lpstr>   Caso de Estudio 3.1: Divisibilidad  entre dos Números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Luis</cp:lastModifiedBy>
  <cp:revision>4</cp:revision>
  <dcterms:created xsi:type="dcterms:W3CDTF">2025-10-07T22:49:11Z</dcterms:created>
  <dcterms:modified xsi:type="dcterms:W3CDTF">2025-11-26T16:45:42Z</dcterms:modified>
</cp:coreProperties>
</file>