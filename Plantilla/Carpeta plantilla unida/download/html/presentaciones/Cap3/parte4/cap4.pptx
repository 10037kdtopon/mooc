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311" r:id="rId3"/>
    <p:sldId id="257" r:id="rId4"/>
    <p:sldId id="436" r:id="rId5"/>
    <p:sldId id="512" r:id="rId6"/>
    <p:sldId id="513" r:id="rId7"/>
    <p:sldId id="514" r:id="rId8"/>
    <p:sldId id="515" r:id="rId9"/>
    <p:sldId id="516" r:id="rId10"/>
    <p:sldId id="517" r:id="rId11"/>
    <p:sldId id="518" r:id="rId12"/>
    <p:sldId id="519" r:id="rId13"/>
    <p:sldId id="520" r:id="rId14"/>
    <p:sldId id="521" r:id="rId15"/>
    <p:sldId id="522" r:id="rId16"/>
    <p:sldId id="393" r:id="rId17"/>
    <p:sldId id="275" r:id="rId18"/>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11" autoAdjust="0"/>
    <p:restoredTop sz="94660"/>
  </p:normalViewPr>
  <p:slideViewPr>
    <p:cSldViewPr snapToGrid="0">
      <p:cViewPr varScale="1">
        <p:scale>
          <a:sx n="114" d="100"/>
          <a:sy n="114" d="100"/>
        </p:scale>
        <p:origin x="51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26/11/2025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26/11/2025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26/11/2025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26/11/2025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26/11/2025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26/11/2025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3 ALGORITMOS Y ESTRUCTURAS DE CONTROL SELECTIVAS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26/11/2025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3400" b="1" dirty="0">
                <a:solidFill>
                  <a:srgbClr val="FF0000"/>
                </a:solidFill>
              </a:rPr>
              <a:t>Secuencia de Sentencias if </a:t>
            </a:r>
          </a:p>
          <a:p>
            <a:pPr lvl="1"/>
            <a:r>
              <a:rPr lang="es-MX" sz="2800" dirty="0"/>
              <a:t>Problema 3.7. (Aplicación del uso de la secuencia de sentencias if) </a:t>
            </a:r>
          </a:p>
          <a:p>
            <a:pPr lvl="1"/>
            <a:r>
              <a:rPr lang="es-MX" sz="2800" dirty="0"/>
              <a:t> Caso de Estudio 3.7: Evaluar una Función Definida por Partes </a:t>
            </a:r>
          </a:p>
          <a:p>
            <a:pPr lvl="1"/>
            <a:r>
              <a:rPr lang="es-MX" sz="2800" dirty="0"/>
              <a:t> Caso de Estudio 3.8: Calcular el Consumo Eléctrico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1498600"/>
            <a:ext cx="10972800" cy="1600200"/>
          </a:xfrm>
        </p:spPr>
        <p:txBody>
          <a:bodyPr/>
          <a:lstStyle/>
          <a:p>
            <a:r>
              <a:rPr lang="es-MX" b="1" dirty="0"/>
              <a:t>Secuencia de Sentencias if </a:t>
            </a: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5569474" cy="3037840"/>
          </a:xfrm>
        </p:spPr>
        <p:txBody>
          <a:bodyPr>
            <a:normAutofit/>
          </a:bodyPr>
          <a:lstStyle/>
          <a:p>
            <a:r>
              <a:rPr lang="es-MX" sz="2000" dirty="0"/>
              <a:t>Solo en ciertos casos se puede utilizar una secuencia de sentencias if (Granizo, E., 2016), lo cual no es tan legible ni eficiente y se podría reemplazar por sentencias if-else anidadas que resulta mucho más eficiente ya que se ejecutan más rápidamente (ver Sección 3.1.3). El formato de esta sentencia tiene la siguiente sintaxis: </a:t>
            </a:r>
          </a:p>
          <a:p>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17" name="Imagen 16">
            <a:extLst>
              <a:ext uri="{FF2B5EF4-FFF2-40B4-BE49-F238E27FC236}">
                <a16:creationId xmlns:a16="http://schemas.microsoft.com/office/drawing/2014/main" id="{2185E2CC-FAB1-48F4-8B03-BDF582A94B30}"/>
              </a:ext>
            </a:extLst>
          </p:cNvPr>
          <p:cNvPicPr>
            <a:picLocks noChangeAspect="1"/>
          </p:cNvPicPr>
          <p:nvPr/>
        </p:nvPicPr>
        <p:blipFill>
          <a:blip r:embed="rId2"/>
          <a:stretch>
            <a:fillRect/>
          </a:stretch>
        </p:blipFill>
        <p:spPr>
          <a:xfrm>
            <a:off x="8198478" y="1300480"/>
            <a:ext cx="2781299" cy="2936240"/>
          </a:xfrm>
          <a:prstGeom prst="rect">
            <a:avLst/>
          </a:prstGeom>
        </p:spPr>
      </p:pic>
      <p:pic>
        <p:nvPicPr>
          <p:cNvPr id="19" name="Imagen 18">
            <a:extLst>
              <a:ext uri="{FF2B5EF4-FFF2-40B4-BE49-F238E27FC236}">
                <a16:creationId xmlns:a16="http://schemas.microsoft.com/office/drawing/2014/main" id="{E2C21BDD-059D-442C-B1E3-41E635DC9957}"/>
              </a:ext>
            </a:extLst>
          </p:cNvPr>
          <p:cNvPicPr>
            <a:picLocks noChangeAspect="1"/>
          </p:cNvPicPr>
          <p:nvPr/>
        </p:nvPicPr>
        <p:blipFill rotWithShape="1">
          <a:blip r:embed="rId3"/>
          <a:srcRect t="12253"/>
          <a:stretch/>
        </p:blipFill>
        <p:spPr>
          <a:xfrm>
            <a:off x="2387438" y="4236720"/>
            <a:ext cx="5658640" cy="1224280"/>
          </a:xfrm>
          <a:prstGeom prst="rect">
            <a:avLst/>
          </a:prstGeom>
        </p:spPr>
      </p:pic>
      <p:pic>
        <p:nvPicPr>
          <p:cNvPr id="23" name="Imagen 22">
            <a:extLst>
              <a:ext uri="{FF2B5EF4-FFF2-40B4-BE49-F238E27FC236}">
                <a16:creationId xmlns:a16="http://schemas.microsoft.com/office/drawing/2014/main" id="{2C743818-F871-4665-9D96-C0CE12E80A55}"/>
              </a:ext>
            </a:extLst>
          </p:cNvPr>
          <p:cNvPicPr>
            <a:picLocks noChangeAspect="1"/>
          </p:cNvPicPr>
          <p:nvPr/>
        </p:nvPicPr>
        <p:blipFill>
          <a:blip r:embed="rId4"/>
          <a:stretch>
            <a:fillRect/>
          </a:stretch>
        </p:blipFill>
        <p:spPr>
          <a:xfrm>
            <a:off x="2420780" y="5400335"/>
            <a:ext cx="5591955" cy="512785"/>
          </a:xfrm>
          <a:prstGeom prst="rect">
            <a:avLst/>
          </a:prstGeom>
        </p:spPr>
      </p:pic>
      <p:sp>
        <p:nvSpPr>
          <p:cNvPr id="25" name="CuadroTexto 24">
            <a:extLst>
              <a:ext uri="{FF2B5EF4-FFF2-40B4-BE49-F238E27FC236}">
                <a16:creationId xmlns:a16="http://schemas.microsoft.com/office/drawing/2014/main" id="{228D6A76-502E-4776-B8BF-D3DDF907E3ED}"/>
              </a:ext>
            </a:extLst>
          </p:cNvPr>
          <p:cNvSpPr txBox="1"/>
          <p:nvPr/>
        </p:nvSpPr>
        <p:spPr>
          <a:xfrm>
            <a:off x="2387438" y="5832177"/>
            <a:ext cx="6096000" cy="1015663"/>
          </a:xfrm>
          <a:prstGeom prst="rect">
            <a:avLst/>
          </a:prstGeom>
          <a:noFill/>
        </p:spPr>
        <p:txBody>
          <a:bodyPr wrap="square">
            <a:spAutoFit/>
          </a:bodyPr>
          <a:lstStyle/>
          <a:p>
            <a:r>
              <a:rPr lang="es-MX" sz="2000" b="1" dirty="0">
                <a:solidFill>
                  <a:schemeClr val="tx1">
                    <a:lumMod val="50000"/>
                    <a:lumOff val="50000"/>
                  </a:schemeClr>
                </a:solidFill>
                <a:latin typeface="+mj-lt"/>
              </a:rPr>
              <a:t>Nota: En esta sintaxis no es necesario utilizar llaves ya que se tiene una sola sentencia o instrucción, en todos los ‘if’.</a:t>
            </a:r>
            <a:endParaRPr lang="es-EC" sz="2000" b="1" dirty="0">
              <a:solidFill>
                <a:schemeClr val="tx1">
                  <a:lumMod val="50000"/>
                  <a:lumOff val="50000"/>
                </a:schemeClr>
              </a:solidFill>
              <a:latin typeface="+mj-lt"/>
            </a:endParaRPr>
          </a:p>
        </p:txBody>
      </p:sp>
    </p:spTree>
    <p:extLst>
      <p:ext uri="{BB962C8B-B14F-4D97-AF65-F5344CB8AC3E}">
        <p14:creationId xmlns:p14="http://schemas.microsoft.com/office/powerpoint/2010/main" val="408428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800" dirty="0"/>
              <a:t>Secuencia de Sentencias if </a:t>
            </a:r>
          </a:p>
          <a:p>
            <a:pPr lvl="1"/>
            <a:r>
              <a:rPr lang="es-MX" sz="3400" b="1" dirty="0">
                <a:solidFill>
                  <a:srgbClr val="FF0000"/>
                </a:solidFill>
              </a:rPr>
              <a:t>Problema 3.7. (Aplicación del uso de la secuencia de sentencias if) </a:t>
            </a:r>
          </a:p>
          <a:p>
            <a:pPr lvl="1"/>
            <a:r>
              <a:rPr lang="es-MX" sz="2800" dirty="0"/>
              <a:t> Caso de Estudio 3.7: Evaluar una Función Definida por Partes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a:t>
            </a:fld>
            <a:endParaRPr lang="es-EC">
              <a:solidFill>
                <a:prstClr val="black">
                  <a:lumMod val="65000"/>
                  <a:lumOff val="35000"/>
                </a:prstClr>
              </a:solidFill>
            </a:endParaRPr>
          </a:p>
        </p:txBody>
      </p:sp>
    </p:spTree>
    <p:extLst>
      <p:ext uri="{BB962C8B-B14F-4D97-AF65-F5344CB8AC3E}">
        <p14:creationId xmlns:p14="http://schemas.microsoft.com/office/powerpoint/2010/main" val="1266812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699702"/>
            <a:ext cx="10972800" cy="1600200"/>
          </a:xfrm>
        </p:spPr>
        <p:txBody>
          <a:bodyPr/>
          <a:lstStyle/>
          <a:p>
            <a:r>
              <a:rPr lang="es-MX" sz="3600" b="1" dirty="0"/>
              <a:t>Problema 3.7. (Aplicación del uso de la secuencia de sentencias if) </a:t>
            </a:r>
            <a:br>
              <a:rPr lang="es-MX" sz="3600" b="1" dirty="0">
                <a:solidFill>
                  <a:srgbClr val="FF0000"/>
                </a:solidFill>
              </a:rPr>
            </a:br>
            <a:br>
              <a:rPr lang="es-MX" sz="36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40366" y="1300480"/>
            <a:ext cx="4329954" cy="2225040"/>
          </a:xfrm>
        </p:spPr>
        <p:txBody>
          <a:bodyPr>
            <a:normAutofit/>
          </a:bodyPr>
          <a:lstStyle/>
          <a:p>
            <a:r>
              <a:rPr lang="es-MX" sz="2000" dirty="0"/>
              <a:t>Escribir un programa que permita analizar si un número leído desde el teclado es mayor que cero, es menor que cero, o es igual a cero.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5</a:t>
            </a:fld>
            <a:endParaRPr lang="es-EC"/>
          </a:p>
        </p:txBody>
      </p:sp>
      <p:pic>
        <p:nvPicPr>
          <p:cNvPr id="7" name="Imagen 6">
            <a:extLst>
              <a:ext uri="{FF2B5EF4-FFF2-40B4-BE49-F238E27FC236}">
                <a16:creationId xmlns:a16="http://schemas.microsoft.com/office/drawing/2014/main" id="{C30DC542-C9D2-4363-94F3-2C9D063637AC}"/>
              </a:ext>
            </a:extLst>
          </p:cNvPr>
          <p:cNvPicPr>
            <a:picLocks noChangeAspect="1"/>
          </p:cNvPicPr>
          <p:nvPr/>
        </p:nvPicPr>
        <p:blipFill>
          <a:blip r:embed="rId2"/>
          <a:stretch>
            <a:fillRect/>
          </a:stretch>
        </p:blipFill>
        <p:spPr>
          <a:xfrm>
            <a:off x="2352914" y="2971844"/>
            <a:ext cx="6587886" cy="2809196"/>
          </a:xfrm>
          <a:prstGeom prst="rect">
            <a:avLst/>
          </a:prstGeom>
        </p:spPr>
      </p:pic>
    </p:spTree>
    <p:extLst>
      <p:ext uri="{BB962C8B-B14F-4D97-AF65-F5344CB8AC3E}">
        <p14:creationId xmlns:p14="http://schemas.microsoft.com/office/powerpoint/2010/main" val="4140139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699702"/>
            <a:ext cx="10972800" cy="1600200"/>
          </a:xfrm>
        </p:spPr>
        <p:txBody>
          <a:bodyPr/>
          <a:lstStyle/>
          <a:p>
            <a:r>
              <a:rPr lang="es-MX" sz="3600" b="1" dirty="0"/>
              <a:t>Problema 3.7. (Aplicación del uso de la secuencia de sentencias if) </a:t>
            </a:r>
            <a:br>
              <a:rPr lang="es-MX" sz="3600" b="1" dirty="0">
                <a:solidFill>
                  <a:srgbClr val="FF0000"/>
                </a:solidFill>
              </a:rPr>
            </a:br>
            <a:br>
              <a:rPr lang="es-MX" sz="36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6</a:t>
            </a:fld>
            <a:endParaRPr lang="es-EC"/>
          </a:p>
        </p:txBody>
      </p:sp>
      <p:pic>
        <p:nvPicPr>
          <p:cNvPr id="8" name="Imagen 7">
            <a:extLst>
              <a:ext uri="{FF2B5EF4-FFF2-40B4-BE49-F238E27FC236}">
                <a16:creationId xmlns:a16="http://schemas.microsoft.com/office/drawing/2014/main" id="{BBA2A6B7-4A0B-45E4-A3F3-CD3A41D490E0}"/>
              </a:ext>
            </a:extLst>
          </p:cNvPr>
          <p:cNvPicPr>
            <a:picLocks noChangeAspect="1"/>
          </p:cNvPicPr>
          <p:nvPr/>
        </p:nvPicPr>
        <p:blipFill>
          <a:blip r:embed="rId2"/>
          <a:stretch>
            <a:fillRect/>
          </a:stretch>
        </p:blipFill>
        <p:spPr>
          <a:xfrm>
            <a:off x="1752512" y="1290321"/>
            <a:ext cx="5801535" cy="4003040"/>
          </a:xfrm>
          <a:prstGeom prst="rect">
            <a:avLst/>
          </a:prstGeom>
        </p:spPr>
      </p:pic>
      <p:pic>
        <p:nvPicPr>
          <p:cNvPr id="12" name="Imagen 11">
            <a:extLst>
              <a:ext uri="{FF2B5EF4-FFF2-40B4-BE49-F238E27FC236}">
                <a16:creationId xmlns:a16="http://schemas.microsoft.com/office/drawing/2014/main" id="{516A7C2F-0C3B-4DAA-A3F0-2643BF7340D5}"/>
              </a:ext>
            </a:extLst>
          </p:cNvPr>
          <p:cNvPicPr>
            <a:picLocks noChangeAspect="1"/>
          </p:cNvPicPr>
          <p:nvPr/>
        </p:nvPicPr>
        <p:blipFill>
          <a:blip r:embed="rId3"/>
          <a:stretch>
            <a:fillRect/>
          </a:stretch>
        </p:blipFill>
        <p:spPr>
          <a:xfrm>
            <a:off x="1973974" y="5461432"/>
            <a:ext cx="3448531" cy="657317"/>
          </a:xfrm>
          <a:prstGeom prst="rect">
            <a:avLst/>
          </a:prstGeom>
        </p:spPr>
      </p:pic>
      <p:sp>
        <p:nvSpPr>
          <p:cNvPr id="13" name="CuadroTexto 12">
            <a:extLst>
              <a:ext uri="{FF2B5EF4-FFF2-40B4-BE49-F238E27FC236}">
                <a16:creationId xmlns:a16="http://schemas.microsoft.com/office/drawing/2014/main" id="{2C95B849-F637-45DF-9A58-E12875E58259}"/>
              </a:ext>
            </a:extLst>
          </p:cNvPr>
          <p:cNvSpPr txBox="1"/>
          <p:nvPr/>
        </p:nvSpPr>
        <p:spPr>
          <a:xfrm>
            <a:off x="1973974" y="621166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3.7</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712768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699702"/>
            <a:ext cx="10972800" cy="1600200"/>
          </a:xfrm>
        </p:spPr>
        <p:txBody>
          <a:bodyPr/>
          <a:lstStyle/>
          <a:p>
            <a:r>
              <a:rPr lang="es-MX" sz="3600" b="1" dirty="0"/>
              <a:t>Problema 3.7. (Aplicación del uso de la secuencia de sentencias if) </a:t>
            </a:r>
            <a:br>
              <a:rPr lang="es-MX" sz="3600" b="1" dirty="0">
                <a:solidFill>
                  <a:srgbClr val="FF0000"/>
                </a:solidFill>
              </a:rPr>
            </a:br>
            <a:br>
              <a:rPr lang="es-MX" sz="36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7</a:t>
            </a:fld>
            <a:endParaRPr lang="es-EC"/>
          </a:p>
        </p:txBody>
      </p:sp>
      <p:sp>
        <p:nvSpPr>
          <p:cNvPr id="9" name="CuadroTexto 8">
            <a:extLst>
              <a:ext uri="{FF2B5EF4-FFF2-40B4-BE49-F238E27FC236}">
                <a16:creationId xmlns:a16="http://schemas.microsoft.com/office/drawing/2014/main" id="{5E57D02A-196F-42AE-8ED1-9590056639C3}"/>
              </a:ext>
            </a:extLst>
          </p:cNvPr>
          <p:cNvSpPr txBox="1"/>
          <p:nvPr/>
        </p:nvSpPr>
        <p:spPr>
          <a:xfrm>
            <a:off x="1131114" y="1302830"/>
            <a:ext cx="10209123" cy="1815882"/>
          </a:xfrm>
          <a:prstGeom prst="rect">
            <a:avLst/>
          </a:prstGeom>
          <a:noFill/>
        </p:spPr>
        <p:txBody>
          <a:bodyPr wrap="square">
            <a:spAutoFit/>
          </a:bodyPr>
          <a:lstStyle/>
          <a:p>
            <a:r>
              <a:rPr lang="es-MX" sz="1600" dirty="0">
                <a:solidFill>
                  <a:schemeClr val="tx1">
                    <a:lumMod val="50000"/>
                    <a:lumOff val="50000"/>
                  </a:schemeClr>
                </a:solidFill>
                <a:latin typeface="+mj-lt"/>
              </a:rPr>
              <a:t>En la salida de la Ejecución 3.7.1 se puede ver que al ingresar el número 7, el programa indica que este número es mayor que cero. De manera similar, en la salida de la Ejecución 3.7.2 se puede ver que al ingresar el número -4, el programa indica que este número es menor que cero. Finalmente, en la salida de la Ejecución 3.7.3 se puede ver que al ingresar el número 0, el programa indica que este número es efectivamente el cero, por lo que el algoritmo del programa logra su propósito que es analizar si un número leído desde el teclado es mayor que cero, es menor que cero, o es igual a cero. </a:t>
            </a:r>
            <a:endParaRPr lang="es-EC" sz="16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938C4A15-D667-4C0D-9ABA-8DF9EF4BF955}"/>
              </a:ext>
            </a:extLst>
          </p:cNvPr>
          <p:cNvPicPr>
            <a:picLocks noChangeAspect="1"/>
          </p:cNvPicPr>
          <p:nvPr/>
        </p:nvPicPr>
        <p:blipFill>
          <a:blip r:embed="rId2"/>
          <a:stretch>
            <a:fillRect/>
          </a:stretch>
        </p:blipFill>
        <p:spPr>
          <a:xfrm>
            <a:off x="3231288" y="2911094"/>
            <a:ext cx="6096000" cy="3509511"/>
          </a:xfrm>
          <a:prstGeom prst="rect">
            <a:avLst/>
          </a:prstGeom>
        </p:spPr>
      </p:pic>
      <p:sp>
        <p:nvSpPr>
          <p:cNvPr id="14" name="CuadroTexto 13">
            <a:extLst>
              <a:ext uri="{FF2B5EF4-FFF2-40B4-BE49-F238E27FC236}">
                <a16:creationId xmlns:a16="http://schemas.microsoft.com/office/drawing/2014/main" id="{4F06936C-A063-4953-A51B-77D598EBBA2F}"/>
              </a:ext>
            </a:extLst>
          </p:cNvPr>
          <p:cNvSpPr txBox="1"/>
          <p:nvPr/>
        </p:nvSpPr>
        <p:spPr>
          <a:xfrm>
            <a:off x="3373120" y="6386316"/>
            <a:ext cx="3281680" cy="523220"/>
          </a:xfrm>
          <a:prstGeom prst="rect">
            <a:avLst/>
          </a:prstGeom>
          <a:noFill/>
        </p:spPr>
        <p:txBody>
          <a:bodyPr wrap="square">
            <a:spAutoFit/>
          </a:bodyPr>
          <a:lstStyle/>
          <a:p>
            <a:pPr algn="just"/>
            <a:r>
              <a:rPr lang="es-MX" sz="1400" dirty="0">
                <a:solidFill>
                  <a:schemeClr val="tx1">
                    <a:lumMod val="50000"/>
                    <a:lumOff val="50000"/>
                  </a:schemeClr>
                </a:solidFill>
                <a:latin typeface="+mj-lt"/>
              </a:rPr>
              <a:t>Ejecuciones, Salida del Programa </a:t>
            </a:r>
            <a:r>
              <a:rPr lang="es-ES_tradnl" sz="1400" dirty="0">
                <a:solidFill>
                  <a:schemeClr val="tx1">
                    <a:lumMod val="50000"/>
                    <a:lumOff val="50000"/>
                  </a:schemeClr>
                </a:solidFill>
                <a:latin typeface="+mj-lt"/>
              </a:rPr>
              <a:t>Fuente: Zambrano M., et al., 2025.</a:t>
            </a:r>
            <a:endParaRPr lang="es-EC" sz="1400" dirty="0">
              <a:solidFill>
                <a:schemeClr val="tx1">
                  <a:lumMod val="50000"/>
                  <a:lumOff val="50000"/>
                </a:schemeClr>
              </a:solidFill>
              <a:latin typeface="+mj-lt"/>
            </a:endParaRPr>
          </a:p>
        </p:txBody>
      </p:sp>
    </p:spTree>
    <p:extLst>
      <p:ext uri="{BB962C8B-B14F-4D97-AF65-F5344CB8AC3E}">
        <p14:creationId xmlns:p14="http://schemas.microsoft.com/office/powerpoint/2010/main" val="131342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800" dirty="0"/>
              <a:t>Secuencia de Sentencias if </a:t>
            </a:r>
          </a:p>
          <a:p>
            <a:pPr lvl="1"/>
            <a:r>
              <a:rPr lang="es-MX" sz="2800" dirty="0"/>
              <a:t>Problema 3.7. (Aplicación del uso de la secuencia de sentencias if) </a:t>
            </a:r>
          </a:p>
          <a:p>
            <a:pPr lvl="1"/>
            <a:r>
              <a:rPr lang="es-MX" sz="2800" dirty="0"/>
              <a:t> </a:t>
            </a:r>
            <a:r>
              <a:rPr lang="es-MX" sz="3400" b="1" dirty="0">
                <a:solidFill>
                  <a:srgbClr val="FF0000"/>
                </a:solidFill>
              </a:rPr>
              <a:t>Caso de Estudio 3.7: Evaluar una Función Definida por Partes </a:t>
            </a:r>
          </a:p>
          <a:p>
            <a:pPr lvl="1"/>
            <a:endParaRPr lang="es-MX" sz="2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8</a:t>
            </a:fld>
            <a:endParaRPr lang="es-EC">
              <a:solidFill>
                <a:prstClr val="black">
                  <a:lumMod val="65000"/>
                  <a:lumOff val="35000"/>
                </a:prstClr>
              </a:solidFill>
            </a:endParaRPr>
          </a:p>
        </p:txBody>
      </p:sp>
    </p:spTree>
    <p:extLst>
      <p:ext uri="{BB962C8B-B14F-4D97-AF65-F5344CB8AC3E}">
        <p14:creationId xmlns:p14="http://schemas.microsoft.com/office/powerpoint/2010/main" val="1665675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4328" y="3553142"/>
            <a:ext cx="10972800" cy="1600200"/>
          </a:xfrm>
        </p:spPr>
        <p:txBody>
          <a:bodyPr/>
          <a:lstStyle/>
          <a:p>
            <a:r>
              <a:rPr lang="es-MX" sz="3200" dirty="0"/>
              <a:t> </a:t>
            </a:r>
            <a:r>
              <a:rPr lang="es-MX" sz="3600" b="1" dirty="0"/>
              <a:t>Caso de Estudio 3.7: Evaluar una Función Definida por Partes </a:t>
            </a:r>
            <a:br>
              <a:rPr lang="es-MX" sz="3600" b="1" dirty="0"/>
            </a:br>
            <a:br>
              <a:rPr lang="es-MX" sz="1600" dirty="0">
                <a:solidFill>
                  <a:schemeClr val="tx1">
                    <a:lumMod val="50000"/>
                    <a:lumOff val="50000"/>
                  </a:schemeClr>
                </a:solidFill>
                <a:latin typeface="+mj-lt"/>
                <a:ea typeface="+mn-ea"/>
                <a:cs typeface="+mn-cs"/>
              </a:rPr>
            </a:br>
            <a:br>
              <a:rPr lang="es-MX" sz="36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9</a:t>
            </a:fld>
            <a:endParaRPr lang="es-EC"/>
          </a:p>
        </p:txBody>
      </p:sp>
      <p:sp>
        <p:nvSpPr>
          <p:cNvPr id="9" name="CuadroTexto 8">
            <a:extLst>
              <a:ext uri="{FF2B5EF4-FFF2-40B4-BE49-F238E27FC236}">
                <a16:creationId xmlns:a16="http://schemas.microsoft.com/office/drawing/2014/main" id="{A9468653-4BDB-4AF2-80DE-6F0AA471D870}"/>
              </a:ext>
            </a:extLst>
          </p:cNvPr>
          <p:cNvSpPr txBox="1"/>
          <p:nvPr/>
        </p:nvSpPr>
        <p:spPr>
          <a:xfrm>
            <a:off x="1483360" y="1704658"/>
            <a:ext cx="4429760" cy="1107996"/>
          </a:xfrm>
          <a:prstGeom prst="rect">
            <a:avLst/>
          </a:prstGeom>
          <a:noFill/>
        </p:spPr>
        <p:txBody>
          <a:bodyPr wrap="square">
            <a:spAutoFit/>
          </a:bodyPr>
          <a:lstStyle/>
          <a:p>
            <a:pPr marL="342900" indent="-342900">
              <a:buAutoNum type="alphaUcParenR"/>
            </a:pPr>
            <a:r>
              <a:rPr lang="es-MX" sz="1600" dirty="0">
                <a:solidFill>
                  <a:schemeClr val="tx1">
                    <a:lumMod val="50000"/>
                    <a:lumOff val="50000"/>
                  </a:schemeClr>
                </a:solidFill>
                <a:latin typeface="+mj-lt"/>
              </a:rPr>
              <a:t>Problema </a:t>
            </a:r>
          </a:p>
          <a:p>
            <a:r>
              <a:rPr lang="es-MX" sz="1600" dirty="0">
                <a:solidFill>
                  <a:schemeClr val="tx1">
                    <a:lumMod val="50000"/>
                    <a:lumOff val="50000"/>
                  </a:schemeClr>
                </a:solidFill>
                <a:latin typeface="+mj-lt"/>
              </a:rPr>
              <a:t>Dada la función definida por partes 𝑦 = 𝑓(𝑥), calcular el valor de ‘y’ para un valor dado de ‘x’ y visualizarlo en pantalla</a:t>
            </a:r>
            <a:r>
              <a:rPr lang="es-MX" dirty="0"/>
              <a:t>.</a:t>
            </a:r>
            <a:endParaRPr lang="es-EC" dirty="0"/>
          </a:p>
        </p:txBody>
      </p:sp>
      <p:pic>
        <p:nvPicPr>
          <p:cNvPr id="7" name="Imagen 6">
            <a:extLst>
              <a:ext uri="{FF2B5EF4-FFF2-40B4-BE49-F238E27FC236}">
                <a16:creationId xmlns:a16="http://schemas.microsoft.com/office/drawing/2014/main" id="{DA46E0CF-9D23-4B2E-9D24-A453526EF2EE}"/>
              </a:ext>
            </a:extLst>
          </p:cNvPr>
          <p:cNvPicPr>
            <a:picLocks noChangeAspect="1"/>
          </p:cNvPicPr>
          <p:nvPr/>
        </p:nvPicPr>
        <p:blipFill>
          <a:blip r:embed="rId2"/>
          <a:stretch>
            <a:fillRect/>
          </a:stretch>
        </p:blipFill>
        <p:spPr>
          <a:xfrm>
            <a:off x="6909633" y="1711209"/>
            <a:ext cx="3534847" cy="1235191"/>
          </a:xfrm>
          <a:prstGeom prst="rect">
            <a:avLst/>
          </a:prstGeom>
        </p:spPr>
      </p:pic>
      <p:sp>
        <p:nvSpPr>
          <p:cNvPr id="14" name="CuadroTexto 13">
            <a:extLst>
              <a:ext uri="{FF2B5EF4-FFF2-40B4-BE49-F238E27FC236}">
                <a16:creationId xmlns:a16="http://schemas.microsoft.com/office/drawing/2014/main" id="{B05D7B90-C46A-4A14-9990-38E6729A6E16}"/>
              </a:ext>
            </a:extLst>
          </p:cNvPr>
          <p:cNvSpPr txBox="1"/>
          <p:nvPr/>
        </p:nvSpPr>
        <p:spPr>
          <a:xfrm>
            <a:off x="1564640" y="3265270"/>
            <a:ext cx="6096000" cy="584775"/>
          </a:xfrm>
          <a:prstGeom prst="rect">
            <a:avLst/>
          </a:prstGeom>
          <a:noFill/>
        </p:spPr>
        <p:txBody>
          <a:bodyPr wrap="square">
            <a:spAutoFit/>
          </a:bodyPr>
          <a:lstStyle/>
          <a:p>
            <a:r>
              <a:rPr lang="es-MX" sz="1600" dirty="0">
                <a:solidFill>
                  <a:schemeClr val="tx1">
                    <a:lumMod val="50000"/>
                    <a:lumOff val="50000"/>
                  </a:schemeClr>
                </a:solidFill>
                <a:latin typeface="+mj-lt"/>
              </a:rPr>
              <a:t>Los tres intervalos de la función se muestran en la Figura 3.7.1 que son: </a:t>
            </a:r>
            <a:endParaRPr lang="es-EC" sz="1600" dirty="0">
              <a:solidFill>
                <a:schemeClr val="tx1">
                  <a:lumMod val="50000"/>
                  <a:lumOff val="50000"/>
                </a:schemeClr>
              </a:solidFill>
              <a:latin typeface="+mj-lt"/>
            </a:endParaRPr>
          </a:p>
        </p:txBody>
      </p:sp>
      <p:pic>
        <p:nvPicPr>
          <p:cNvPr id="15" name="Imagen 14">
            <a:extLst>
              <a:ext uri="{FF2B5EF4-FFF2-40B4-BE49-F238E27FC236}">
                <a16:creationId xmlns:a16="http://schemas.microsoft.com/office/drawing/2014/main" id="{20378F19-ED04-47E3-BFF6-E14509907161}"/>
              </a:ext>
            </a:extLst>
          </p:cNvPr>
          <p:cNvPicPr>
            <a:picLocks noChangeAspect="1"/>
          </p:cNvPicPr>
          <p:nvPr/>
        </p:nvPicPr>
        <p:blipFill>
          <a:blip r:embed="rId3"/>
          <a:stretch>
            <a:fillRect/>
          </a:stretch>
        </p:blipFill>
        <p:spPr>
          <a:xfrm>
            <a:off x="7393116" y="3091129"/>
            <a:ext cx="2991267" cy="1191517"/>
          </a:xfrm>
          <a:prstGeom prst="rect">
            <a:avLst/>
          </a:prstGeom>
        </p:spPr>
      </p:pic>
      <p:pic>
        <p:nvPicPr>
          <p:cNvPr id="17" name="Imagen 16">
            <a:extLst>
              <a:ext uri="{FF2B5EF4-FFF2-40B4-BE49-F238E27FC236}">
                <a16:creationId xmlns:a16="http://schemas.microsoft.com/office/drawing/2014/main" id="{223CF91B-D121-4DE3-A1CA-CDCDF7A06E40}"/>
              </a:ext>
            </a:extLst>
          </p:cNvPr>
          <p:cNvPicPr>
            <a:picLocks noChangeAspect="1"/>
          </p:cNvPicPr>
          <p:nvPr/>
        </p:nvPicPr>
        <p:blipFill>
          <a:blip r:embed="rId4"/>
          <a:stretch>
            <a:fillRect/>
          </a:stretch>
        </p:blipFill>
        <p:spPr>
          <a:xfrm>
            <a:off x="1598485" y="4565685"/>
            <a:ext cx="5591955" cy="1162212"/>
          </a:xfrm>
          <a:prstGeom prst="rect">
            <a:avLst/>
          </a:prstGeom>
        </p:spPr>
      </p:pic>
      <p:sp>
        <p:nvSpPr>
          <p:cNvPr id="18" name="CuadroTexto 17">
            <a:extLst>
              <a:ext uri="{FF2B5EF4-FFF2-40B4-BE49-F238E27FC236}">
                <a16:creationId xmlns:a16="http://schemas.microsoft.com/office/drawing/2014/main" id="{E0E6BF33-4111-4187-A5CF-175CA3757CB0}"/>
              </a:ext>
            </a:extLst>
          </p:cNvPr>
          <p:cNvSpPr txBox="1"/>
          <p:nvPr/>
        </p:nvSpPr>
        <p:spPr>
          <a:xfrm>
            <a:off x="1868087" y="5981872"/>
            <a:ext cx="5052749" cy="461665"/>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3.7.1.</a:t>
            </a:r>
            <a:r>
              <a:rPr lang="es-ES" sz="1200" dirty="0">
                <a:solidFill>
                  <a:schemeClr val="tx1">
                    <a:lumMod val="50000"/>
                    <a:lumOff val="50000"/>
                  </a:schemeClr>
                </a:solidFill>
                <a:latin typeface="+mj-lt"/>
              </a:rPr>
              <a:t> Intervalo de Función</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110395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4328" y="3553142"/>
            <a:ext cx="10972800" cy="1600200"/>
          </a:xfrm>
        </p:spPr>
        <p:txBody>
          <a:bodyPr/>
          <a:lstStyle/>
          <a:p>
            <a:r>
              <a:rPr lang="es-MX" sz="3200" dirty="0"/>
              <a:t> </a:t>
            </a:r>
            <a:r>
              <a:rPr lang="es-MX" sz="3600" b="1" dirty="0"/>
              <a:t>Caso de Estudio 3.7: Evaluar una Función Definida por Partes </a:t>
            </a:r>
            <a:br>
              <a:rPr lang="es-MX" sz="3600" b="1" dirty="0"/>
            </a:br>
            <a:br>
              <a:rPr lang="es-MX" sz="1600" dirty="0">
                <a:solidFill>
                  <a:schemeClr val="tx1">
                    <a:lumMod val="50000"/>
                    <a:lumOff val="50000"/>
                  </a:schemeClr>
                </a:solidFill>
                <a:latin typeface="+mj-lt"/>
                <a:ea typeface="+mn-ea"/>
                <a:cs typeface="+mn-cs"/>
              </a:rPr>
            </a:br>
            <a:br>
              <a:rPr lang="es-MX" sz="36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sp>
        <p:nvSpPr>
          <p:cNvPr id="12" name="CuadroTexto 11">
            <a:extLst>
              <a:ext uri="{FF2B5EF4-FFF2-40B4-BE49-F238E27FC236}">
                <a16:creationId xmlns:a16="http://schemas.microsoft.com/office/drawing/2014/main" id="{9243D59B-5F6F-4A9C-86A0-B8BAD3464DF0}"/>
              </a:ext>
            </a:extLst>
          </p:cNvPr>
          <p:cNvSpPr txBox="1"/>
          <p:nvPr/>
        </p:nvSpPr>
        <p:spPr>
          <a:xfrm>
            <a:off x="1524000" y="1620858"/>
            <a:ext cx="6096000" cy="2062103"/>
          </a:xfrm>
          <a:prstGeom prst="rect">
            <a:avLst/>
          </a:prstGeom>
          <a:noFill/>
        </p:spPr>
        <p:txBody>
          <a:bodyPr wrap="square">
            <a:spAutoFit/>
          </a:bodyPr>
          <a:lstStyle/>
          <a:p>
            <a:r>
              <a:rPr lang="es-MX" sz="1600" dirty="0">
                <a:solidFill>
                  <a:schemeClr val="tx1">
                    <a:lumMod val="50000"/>
                    <a:lumOff val="50000"/>
                  </a:schemeClr>
                </a:solidFill>
                <a:latin typeface="+mj-lt"/>
              </a:rPr>
              <a:t>B) Análisis </a:t>
            </a:r>
          </a:p>
          <a:p>
            <a:r>
              <a:rPr lang="es-MX" sz="1600" dirty="0">
                <a:solidFill>
                  <a:schemeClr val="tx1">
                    <a:lumMod val="50000"/>
                    <a:lumOff val="50000"/>
                  </a:schemeClr>
                </a:solidFill>
                <a:latin typeface="+mj-lt"/>
              </a:rPr>
              <a:t>Claramente, se puede ver que la entrada del problema es el valor de ‘x’. Hay una salida requerida: el valor de 𝑓(𝑥) = 𝑦. Partiendo de un conocimiento básico de Álgebra, se sabe que hay dos intervalos y dos funciones lineales sobre las cuales se va a evaluar en un punto a la función definida por partes. Las fórmulas requeridas se incluyen en el requerimiento de los datos.</a:t>
            </a:r>
            <a:endParaRPr lang="es-EC" sz="1600" dirty="0">
              <a:solidFill>
                <a:schemeClr val="tx1">
                  <a:lumMod val="50000"/>
                  <a:lumOff val="50000"/>
                </a:schemeClr>
              </a:solidFill>
              <a:latin typeface="+mj-lt"/>
            </a:endParaRPr>
          </a:p>
        </p:txBody>
      </p:sp>
      <p:pic>
        <p:nvPicPr>
          <p:cNvPr id="8" name="Imagen 7">
            <a:extLst>
              <a:ext uri="{FF2B5EF4-FFF2-40B4-BE49-F238E27FC236}">
                <a16:creationId xmlns:a16="http://schemas.microsoft.com/office/drawing/2014/main" id="{FFAEEC2C-472D-48B4-80AF-DE8993A9A615}"/>
              </a:ext>
            </a:extLst>
          </p:cNvPr>
          <p:cNvPicPr>
            <a:picLocks noChangeAspect="1"/>
          </p:cNvPicPr>
          <p:nvPr/>
        </p:nvPicPr>
        <p:blipFill>
          <a:blip r:embed="rId2"/>
          <a:stretch>
            <a:fillRect/>
          </a:stretch>
        </p:blipFill>
        <p:spPr>
          <a:xfrm>
            <a:off x="1524000" y="3682961"/>
            <a:ext cx="5353797" cy="2381582"/>
          </a:xfrm>
          <a:prstGeom prst="rect">
            <a:avLst/>
          </a:prstGeom>
        </p:spPr>
      </p:pic>
    </p:spTree>
    <p:extLst>
      <p:ext uri="{BB962C8B-B14F-4D97-AF65-F5344CB8AC3E}">
        <p14:creationId xmlns:p14="http://schemas.microsoft.com/office/powerpoint/2010/main" val="3545104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4328" y="3553142"/>
            <a:ext cx="10972800" cy="1600200"/>
          </a:xfrm>
        </p:spPr>
        <p:txBody>
          <a:bodyPr/>
          <a:lstStyle/>
          <a:p>
            <a:r>
              <a:rPr lang="es-MX" sz="3200" dirty="0"/>
              <a:t> </a:t>
            </a:r>
            <a:r>
              <a:rPr lang="es-MX" sz="3600" b="1" dirty="0"/>
              <a:t>Caso de Estudio 3.7: Evaluar una Función Definida por Partes </a:t>
            </a:r>
            <a:br>
              <a:rPr lang="es-MX" sz="3600" b="1" dirty="0"/>
            </a:br>
            <a:br>
              <a:rPr lang="es-MX" sz="1600" dirty="0">
                <a:solidFill>
                  <a:schemeClr val="tx1">
                    <a:lumMod val="50000"/>
                    <a:lumOff val="50000"/>
                  </a:schemeClr>
                </a:solidFill>
                <a:latin typeface="+mj-lt"/>
                <a:ea typeface="+mn-ea"/>
                <a:cs typeface="+mn-cs"/>
              </a:rPr>
            </a:br>
            <a:br>
              <a:rPr lang="es-MX" sz="36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11</a:t>
            </a:fld>
            <a:endParaRPr lang="es-EC"/>
          </a:p>
        </p:txBody>
      </p:sp>
      <p:sp>
        <p:nvSpPr>
          <p:cNvPr id="12" name="CuadroTexto 11">
            <a:extLst>
              <a:ext uri="{FF2B5EF4-FFF2-40B4-BE49-F238E27FC236}">
                <a16:creationId xmlns:a16="http://schemas.microsoft.com/office/drawing/2014/main" id="{9243D59B-5F6F-4A9C-86A0-B8BAD3464DF0}"/>
              </a:ext>
            </a:extLst>
          </p:cNvPr>
          <p:cNvSpPr txBox="1"/>
          <p:nvPr/>
        </p:nvSpPr>
        <p:spPr>
          <a:xfrm>
            <a:off x="1524000" y="1620858"/>
            <a:ext cx="3698240" cy="2800767"/>
          </a:xfrm>
          <a:prstGeom prst="rect">
            <a:avLst/>
          </a:prstGeom>
          <a:noFill/>
        </p:spPr>
        <p:txBody>
          <a:bodyPr wrap="square">
            <a:spAutoFit/>
          </a:bodyPr>
          <a:lstStyle/>
          <a:p>
            <a:r>
              <a:rPr lang="es-EC" sz="1600" dirty="0">
                <a:solidFill>
                  <a:schemeClr val="tx1">
                    <a:lumMod val="50000"/>
                    <a:lumOff val="50000"/>
                  </a:schemeClr>
                </a:solidFill>
                <a:latin typeface="+mj-lt"/>
              </a:rPr>
              <a:t>B.2) Diagrama de Entrada-Salida </a:t>
            </a:r>
          </a:p>
          <a:p>
            <a:endParaRPr lang="es-MX" sz="1600" dirty="0">
              <a:solidFill>
                <a:schemeClr val="tx1">
                  <a:lumMod val="50000"/>
                  <a:lumOff val="50000"/>
                </a:schemeClr>
              </a:solidFill>
              <a:latin typeface="+mj-lt"/>
            </a:endParaRPr>
          </a:p>
          <a:p>
            <a:r>
              <a:rPr lang="es-MX" sz="1600" dirty="0">
                <a:solidFill>
                  <a:schemeClr val="tx1">
                    <a:lumMod val="50000"/>
                    <a:lumOff val="50000"/>
                  </a:schemeClr>
                </a:solidFill>
                <a:latin typeface="+mj-lt"/>
              </a:rPr>
              <a:t>En la Figura 3.7.2 se muestra el diagrama de Entrada-Salida del programa donde se identifican y se diagraman las entradas y salidas del problema como son: a) Entradas: la variable ‘x’ (variable independiente); b) Salidas: la variable ‘y’ (variable dependiente).</a:t>
            </a:r>
          </a:p>
        </p:txBody>
      </p:sp>
      <p:pic>
        <p:nvPicPr>
          <p:cNvPr id="6" name="Imagen 5">
            <a:extLst>
              <a:ext uri="{FF2B5EF4-FFF2-40B4-BE49-F238E27FC236}">
                <a16:creationId xmlns:a16="http://schemas.microsoft.com/office/drawing/2014/main" id="{47434F1B-D02B-4467-A1DA-4640640DF12B}"/>
              </a:ext>
            </a:extLst>
          </p:cNvPr>
          <p:cNvPicPr>
            <a:picLocks noChangeAspect="1"/>
          </p:cNvPicPr>
          <p:nvPr/>
        </p:nvPicPr>
        <p:blipFill>
          <a:blip r:embed="rId2"/>
          <a:stretch>
            <a:fillRect/>
          </a:stretch>
        </p:blipFill>
        <p:spPr>
          <a:xfrm>
            <a:off x="5994187" y="2167801"/>
            <a:ext cx="4206453" cy="1706879"/>
          </a:xfrm>
          <a:prstGeom prst="rect">
            <a:avLst/>
          </a:prstGeom>
        </p:spPr>
      </p:pic>
      <p:sp>
        <p:nvSpPr>
          <p:cNvPr id="9" name="CuadroTexto 8">
            <a:extLst>
              <a:ext uri="{FF2B5EF4-FFF2-40B4-BE49-F238E27FC236}">
                <a16:creationId xmlns:a16="http://schemas.microsoft.com/office/drawing/2014/main" id="{A52A3646-2886-444E-8FCB-4C95BD8244DF}"/>
              </a:ext>
            </a:extLst>
          </p:cNvPr>
          <p:cNvSpPr txBox="1"/>
          <p:nvPr/>
        </p:nvSpPr>
        <p:spPr>
          <a:xfrm>
            <a:off x="5571038" y="419084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3.7.2.</a:t>
            </a:r>
            <a:r>
              <a:rPr lang="es-ES" sz="1200" dirty="0">
                <a:solidFill>
                  <a:schemeClr val="tx1">
                    <a:lumMod val="50000"/>
                    <a:lumOff val="50000"/>
                  </a:schemeClr>
                </a:solidFill>
                <a:latin typeface="+mj-lt"/>
              </a:rPr>
              <a:t> Entrada y Salida del programa</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336979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4328" y="3553142"/>
            <a:ext cx="10972800" cy="1600200"/>
          </a:xfrm>
        </p:spPr>
        <p:txBody>
          <a:bodyPr/>
          <a:lstStyle/>
          <a:p>
            <a:r>
              <a:rPr lang="es-MX" sz="3200" dirty="0"/>
              <a:t> </a:t>
            </a:r>
            <a:r>
              <a:rPr lang="es-MX" sz="3600" b="1" dirty="0"/>
              <a:t>Caso de Estudio 3.7: Evaluar una Función Definida por Partes </a:t>
            </a:r>
            <a:br>
              <a:rPr lang="es-MX" sz="3600" b="1" dirty="0"/>
            </a:br>
            <a:br>
              <a:rPr lang="es-MX" sz="1600" dirty="0">
                <a:solidFill>
                  <a:schemeClr val="tx1">
                    <a:lumMod val="50000"/>
                    <a:lumOff val="50000"/>
                  </a:schemeClr>
                </a:solidFill>
                <a:latin typeface="+mj-lt"/>
                <a:ea typeface="+mn-ea"/>
                <a:cs typeface="+mn-cs"/>
              </a:rPr>
            </a:br>
            <a:br>
              <a:rPr lang="es-MX" sz="36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sp>
        <p:nvSpPr>
          <p:cNvPr id="12" name="CuadroTexto 11">
            <a:extLst>
              <a:ext uri="{FF2B5EF4-FFF2-40B4-BE49-F238E27FC236}">
                <a16:creationId xmlns:a16="http://schemas.microsoft.com/office/drawing/2014/main" id="{9243D59B-5F6F-4A9C-86A0-B8BAD3464DF0}"/>
              </a:ext>
            </a:extLst>
          </p:cNvPr>
          <p:cNvSpPr txBox="1"/>
          <p:nvPr/>
        </p:nvSpPr>
        <p:spPr>
          <a:xfrm>
            <a:off x="427128" y="2011579"/>
            <a:ext cx="3698240" cy="338554"/>
          </a:xfrm>
          <a:prstGeom prst="rect">
            <a:avLst/>
          </a:prstGeom>
          <a:noFill/>
        </p:spPr>
        <p:txBody>
          <a:bodyPr wrap="square">
            <a:spAutoFit/>
          </a:bodyPr>
          <a:lstStyle/>
          <a:p>
            <a:endParaRPr lang="es-MX" sz="1600" dirty="0">
              <a:solidFill>
                <a:schemeClr val="tx1">
                  <a:lumMod val="50000"/>
                  <a:lumOff val="50000"/>
                </a:schemeClr>
              </a:solidFill>
              <a:latin typeface="+mj-lt"/>
            </a:endParaRPr>
          </a:p>
        </p:txBody>
      </p:sp>
      <p:sp>
        <p:nvSpPr>
          <p:cNvPr id="10" name="CuadroTexto 9">
            <a:extLst>
              <a:ext uri="{FF2B5EF4-FFF2-40B4-BE49-F238E27FC236}">
                <a16:creationId xmlns:a16="http://schemas.microsoft.com/office/drawing/2014/main" id="{317A5F14-E7DD-4BAD-AD1C-69B1782C3460}"/>
              </a:ext>
            </a:extLst>
          </p:cNvPr>
          <p:cNvSpPr txBox="1"/>
          <p:nvPr/>
        </p:nvSpPr>
        <p:spPr>
          <a:xfrm>
            <a:off x="1635760" y="2095699"/>
            <a:ext cx="9133840" cy="3785652"/>
          </a:xfrm>
          <a:prstGeom prst="rect">
            <a:avLst/>
          </a:prstGeom>
          <a:noFill/>
        </p:spPr>
        <p:txBody>
          <a:bodyPr wrap="square">
            <a:spAutoFit/>
          </a:bodyPr>
          <a:lstStyle/>
          <a:p>
            <a:r>
              <a:rPr lang="es-MX" sz="2000" dirty="0">
                <a:solidFill>
                  <a:schemeClr val="tx1">
                    <a:lumMod val="50000"/>
                    <a:lumOff val="50000"/>
                  </a:schemeClr>
                </a:solidFill>
                <a:latin typeface="+mj-lt"/>
              </a:rPr>
              <a:t>C) Diseño </a:t>
            </a:r>
          </a:p>
          <a:p>
            <a:r>
              <a:rPr lang="es-MX" sz="2000" dirty="0">
                <a:solidFill>
                  <a:schemeClr val="tx1">
                    <a:lumMod val="50000"/>
                    <a:lumOff val="50000"/>
                  </a:schemeClr>
                </a:solidFill>
                <a:latin typeface="+mj-lt"/>
              </a:rPr>
              <a:t>Una vez que se conoce las entradas y las salidas del problema, se deben listar los pasos necesarios para resolver el problema, es decir, el algoritmo. Algoritmo </a:t>
            </a:r>
          </a:p>
          <a:p>
            <a:pPr marL="342900" indent="-342900">
              <a:buAutoNum type="arabicPeriod"/>
            </a:pPr>
            <a:r>
              <a:rPr lang="es-MX" sz="2000" dirty="0">
                <a:solidFill>
                  <a:schemeClr val="tx1">
                    <a:lumMod val="50000"/>
                    <a:lumOff val="50000"/>
                  </a:schemeClr>
                </a:solidFill>
                <a:latin typeface="+mj-lt"/>
              </a:rPr>
              <a:t>Leer el valor de ‘x’. </a:t>
            </a:r>
          </a:p>
          <a:p>
            <a:pPr marL="342900" indent="-342900">
              <a:buAutoNum type="arabicPeriod"/>
            </a:pPr>
            <a:r>
              <a:rPr lang="es-MX" sz="2000" dirty="0">
                <a:solidFill>
                  <a:schemeClr val="tx1">
                    <a:lumMod val="50000"/>
                    <a:lumOff val="50000"/>
                  </a:schemeClr>
                </a:solidFill>
                <a:latin typeface="+mj-lt"/>
              </a:rPr>
              <a:t>Si el valor de 'x' está dentro del intervalo I1: 𝑥 ≤ −1. 2.1. Evaluar a la función 𝑓(𝑥) = −𝑥 en un punto 'x’. </a:t>
            </a:r>
          </a:p>
          <a:p>
            <a:pPr marL="342900" indent="-342900">
              <a:buAutoNum type="arabicPeriod"/>
            </a:pPr>
            <a:r>
              <a:rPr lang="es-MX" sz="2000" dirty="0">
                <a:solidFill>
                  <a:schemeClr val="tx1">
                    <a:lumMod val="50000"/>
                    <a:lumOff val="50000"/>
                  </a:schemeClr>
                </a:solidFill>
                <a:latin typeface="+mj-lt"/>
              </a:rPr>
              <a:t>Si el valor de 'x' está dentro del intervalo I2: (−1 &lt; 𝑥) ∧ (𝑥 &lt; 1). 3.1. Evaluar a la función 𝑓(𝑥) = 𝑥2 en un punto 'x’. </a:t>
            </a:r>
          </a:p>
          <a:p>
            <a:pPr marL="342900" indent="-342900">
              <a:buAutoNum type="arabicPeriod"/>
            </a:pPr>
            <a:r>
              <a:rPr lang="es-MX" sz="2000" dirty="0">
                <a:solidFill>
                  <a:schemeClr val="tx1">
                    <a:lumMod val="50000"/>
                    <a:lumOff val="50000"/>
                  </a:schemeClr>
                </a:solidFill>
                <a:latin typeface="+mj-lt"/>
              </a:rPr>
              <a:t>Si el valor de 'x' está dentro del intervalo I3: 𝑥 ≥ 1. 4.1. Evaluar a la función 𝑓(𝑥) = 𝑥 en un punto 'x’.</a:t>
            </a:r>
          </a:p>
          <a:p>
            <a:pPr marL="342900" indent="-342900">
              <a:buAutoNum type="arabicPeriod"/>
            </a:pPr>
            <a:r>
              <a:rPr lang="es-MX" sz="2000" dirty="0">
                <a:solidFill>
                  <a:schemeClr val="tx1">
                    <a:lumMod val="50000"/>
                    <a:lumOff val="50000"/>
                  </a:schemeClr>
                </a:solidFill>
                <a:latin typeface="+mj-lt"/>
              </a:rPr>
              <a:t>Imprimir el valor de la variable ‘x’ y de la variable ‘y’.</a:t>
            </a:r>
            <a:endParaRPr lang="es-EC" sz="2000" dirty="0">
              <a:solidFill>
                <a:schemeClr val="tx1">
                  <a:lumMod val="50000"/>
                  <a:lumOff val="50000"/>
                </a:schemeClr>
              </a:solidFill>
              <a:latin typeface="+mj-lt"/>
            </a:endParaRPr>
          </a:p>
        </p:txBody>
      </p:sp>
    </p:spTree>
    <p:extLst>
      <p:ext uri="{BB962C8B-B14F-4D97-AF65-F5344CB8AC3E}">
        <p14:creationId xmlns:p14="http://schemas.microsoft.com/office/powerpoint/2010/main" val="1684295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4328" y="3553142"/>
            <a:ext cx="10972800" cy="1600200"/>
          </a:xfrm>
        </p:spPr>
        <p:txBody>
          <a:bodyPr/>
          <a:lstStyle/>
          <a:p>
            <a:r>
              <a:rPr lang="es-MX" sz="3200" dirty="0"/>
              <a:t> </a:t>
            </a:r>
            <a:r>
              <a:rPr lang="es-MX" sz="3600" b="1" dirty="0"/>
              <a:t>Caso de Estudio 3.7: Evaluar una Función Definida por Partes </a:t>
            </a:r>
            <a:br>
              <a:rPr lang="es-MX" sz="3600" b="1" dirty="0"/>
            </a:br>
            <a:br>
              <a:rPr lang="es-MX" sz="1600" dirty="0">
                <a:solidFill>
                  <a:schemeClr val="tx1">
                    <a:lumMod val="50000"/>
                    <a:lumOff val="50000"/>
                  </a:schemeClr>
                </a:solidFill>
                <a:latin typeface="+mj-lt"/>
                <a:ea typeface="+mn-ea"/>
                <a:cs typeface="+mn-cs"/>
              </a:rPr>
            </a:br>
            <a:br>
              <a:rPr lang="es-MX" sz="36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13</a:t>
            </a:fld>
            <a:endParaRPr lang="es-EC"/>
          </a:p>
        </p:txBody>
      </p:sp>
      <p:sp>
        <p:nvSpPr>
          <p:cNvPr id="12" name="CuadroTexto 11">
            <a:extLst>
              <a:ext uri="{FF2B5EF4-FFF2-40B4-BE49-F238E27FC236}">
                <a16:creationId xmlns:a16="http://schemas.microsoft.com/office/drawing/2014/main" id="{9243D59B-5F6F-4A9C-86A0-B8BAD3464DF0}"/>
              </a:ext>
            </a:extLst>
          </p:cNvPr>
          <p:cNvSpPr txBox="1"/>
          <p:nvPr/>
        </p:nvSpPr>
        <p:spPr>
          <a:xfrm>
            <a:off x="427128" y="2011579"/>
            <a:ext cx="3698240" cy="338554"/>
          </a:xfrm>
          <a:prstGeom prst="rect">
            <a:avLst/>
          </a:prstGeom>
          <a:noFill/>
        </p:spPr>
        <p:txBody>
          <a:bodyPr wrap="square">
            <a:spAutoFit/>
          </a:bodyPr>
          <a:lstStyle/>
          <a:p>
            <a:endParaRPr lang="es-MX" sz="1600" dirty="0">
              <a:solidFill>
                <a:schemeClr val="tx1">
                  <a:lumMod val="50000"/>
                  <a:lumOff val="50000"/>
                </a:schemeClr>
              </a:solidFill>
              <a:latin typeface="+mj-lt"/>
            </a:endParaRPr>
          </a:p>
        </p:txBody>
      </p:sp>
      <p:sp>
        <p:nvSpPr>
          <p:cNvPr id="10" name="CuadroTexto 9">
            <a:extLst>
              <a:ext uri="{FF2B5EF4-FFF2-40B4-BE49-F238E27FC236}">
                <a16:creationId xmlns:a16="http://schemas.microsoft.com/office/drawing/2014/main" id="{317A5F14-E7DD-4BAD-AD1C-69B1782C3460}"/>
              </a:ext>
            </a:extLst>
          </p:cNvPr>
          <p:cNvSpPr txBox="1"/>
          <p:nvPr/>
        </p:nvSpPr>
        <p:spPr>
          <a:xfrm>
            <a:off x="1635760" y="2095699"/>
            <a:ext cx="4094480" cy="4093428"/>
          </a:xfrm>
          <a:prstGeom prst="rect">
            <a:avLst/>
          </a:prstGeom>
          <a:noFill/>
        </p:spPr>
        <p:txBody>
          <a:bodyPr wrap="square">
            <a:spAutoFit/>
          </a:bodyPr>
          <a:lstStyle/>
          <a:p>
            <a:r>
              <a:rPr lang="es-MX" sz="2000" dirty="0">
                <a:solidFill>
                  <a:schemeClr val="tx1">
                    <a:lumMod val="50000"/>
                    <a:lumOff val="50000"/>
                  </a:schemeClr>
                </a:solidFill>
                <a:latin typeface="+mj-lt"/>
              </a:rPr>
              <a:t>D)   Implementación </a:t>
            </a:r>
          </a:p>
          <a:p>
            <a:r>
              <a:rPr lang="es-MX" sz="2000" dirty="0">
                <a:solidFill>
                  <a:schemeClr val="tx1">
                    <a:lumMod val="50000"/>
                    <a:lumOff val="50000"/>
                  </a:schemeClr>
                </a:solidFill>
                <a:latin typeface="+mj-lt"/>
              </a:rPr>
              <a:t> </a:t>
            </a:r>
          </a:p>
          <a:p>
            <a:r>
              <a:rPr lang="es-MX" sz="2000" dirty="0">
                <a:solidFill>
                  <a:schemeClr val="tx1">
                    <a:lumMod val="50000"/>
                    <a:lumOff val="50000"/>
                  </a:schemeClr>
                </a:solidFill>
                <a:latin typeface="+mj-lt"/>
              </a:rPr>
              <a:t>Para implementar la solución, se debe escribir el algoritmo como un programa de C/C++ que </a:t>
            </a:r>
          </a:p>
          <a:p>
            <a:r>
              <a:rPr lang="es-MX" sz="2000" dirty="0">
                <a:solidFill>
                  <a:schemeClr val="tx1">
                    <a:lumMod val="50000"/>
                    <a:lumOff val="50000"/>
                  </a:schemeClr>
                </a:solidFill>
                <a:latin typeface="+mj-lt"/>
              </a:rPr>
              <a:t>contenga toda la información necesaria para completar la traducción a lenguaje máquina. En la </a:t>
            </a:r>
          </a:p>
          <a:p>
            <a:r>
              <a:rPr lang="es-MX" sz="2000" dirty="0">
                <a:solidFill>
                  <a:schemeClr val="tx1">
                    <a:lumMod val="50000"/>
                    <a:lumOff val="50000"/>
                  </a:schemeClr>
                </a:solidFill>
                <a:latin typeface="+mj-lt"/>
              </a:rPr>
              <a:t>Tabla 3.7.1 se muestra el código del programa en C/C++.</a:t>
            </a:r>
            <a:endParaRPr lang="es-EC" sz="20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8BFF4AF6-F803-4357-8DA7-90B529DF9AEF}"/>
              </a:ext>
            </a:extLst>
          </p:cNvPr>
          <p:cNvPicPr>
            <a:picLocks noChangeAspect="1"/>
          </p:cNvPicPr>
          <p:nvPr/>
        </p:nvPicPr>
        <p:blipFill>
          <a:blip r:embed="rId2"/>
          <a:stretch>
            <a:fillRect/>
          </a:stretch>
        </p:blipFill>
        <p:spPr>
          <a:xfrm>
            <a:off x="6178703" y="1632777"/>
            <a:ext cx="5087060" cy="4906136"/>
          </a:xfrm>
          <a:prstGeom prst="rect">
            <a:avLst/>
          </a:prstGeom>
        </p:spPr>
      </p:pic>
    </p:spTree>
    <p:extLst>
      <p:ext uri="{BB962C8B-B14F-4D97-AF65-F5344CB8AC3E}">
        <p14:creationId xmlns:p14="http://schemas.microsoft.com/office/powerpoint/2010/main" val="4207426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4328" y="3553142"/>
            <a:ext cx="10972800" cy="1600200"/>
          </a:xfrm>
        </p:spPr>
        <p:txBody>
          <a:bodyPr/>
          <a:lstStyle/>
          <a:p>
            <a:r>
              <a:rPr lang="es-MX" sz="3200" dirty="0"/>
              <a:t> </a:t>
            </a:r>
            <a:r>
              <a:rPr lang="es-MX" sz="3600" b="1" dirty="0"/>
              <a:t>Caso de Estudio 3.7: Evaluar una Función Definida por Partes </a:t>
            </a:r>
            <a:br>
              <a:rPr lang="es-MX" sz="3600" b="1" dirty="0"/>
            </a:br>
            <a:br>
              <a:rPr lang="es-MX" sz="1600" dirty="0">
                <a:solidFill>
                  <a:schemeClr val="tx1">
                    <a:lumMod val="50000"/>
                    <a:lumOff val="50000"/>
                  </a:schemeClr>
                </a:solidFill>
                <a:latin typeface="+mj-lt"/>
                <a:ea typeface="+mn-ea"/>
                <a:cs typeface="+mn-cs"/>
              </a:rPr>
            </a:br>
            <a:br>
              <a:rPr lang="es-MX" sz="36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sp>
        <p:nvSpPr>
          <p:cNvPr id="12" name="CuadroTexto 11">
            <a:extLst>
              <a:ext uri="{FF2B5EF4-FFF2-40B4-BE49-F238E27FC236}">
                <a16:creationId xmlns:a16="http://schemas.microsoft.com/office/drawing/2014/main" id="{9243D59B-5F6F-4A9C-86A0-B8BAD3464DF0}"/>
              </a:ext>
            </a:extLst>
          </p:cNvPr>
          <p:cNvSpPr txBox="1"/>
          <p:nvPr/>
        </p:nvSpPr>
        <p:spPr>
          <a:xfrm>
            <a:off x="427128" y="2011579"/>
            <a:ext cx="3698240" cy="338554"/>
          </a:xfrm>
          <a:prstGeom prst="rect">
            <a:avLst/>
          </a:prstGeom>
          <a:noFill/>
        </p:spPr>
        <p:txBody>
          <a:bodyPr wrap="square">
            <a:spAutoFit/>
          </a:bodyPr>
          <a:lstStyle/>
          <a:p>
            <a:endParaRPr lang="es-MX" sz="1600" dirty="0">
              <a:solidFill>
                <a:schemeClr val="tx1">
                  <a:lumMod val="50000"/>
                  <a:lumOff val="50000"/>
                </a:schemeClr>
              </a:solidFill>
              <a:latin typeface="+mj-lt"/>
            </a:endParaRPr>
          </a:p>
        </p:txBody>
      </p:sp>
      <p:sp>
        <p:nvSpPr>
          <p:cNvPr id="10" name="CuadroTexto 9">
            <a:extLst>
              <a:ext uri="{FF2B5EF4-FFF2-40B4-BE49-F238E27FC236}">
                <a16:creationId xmlns:a16="http://schemas.microsoft.com/office/drawing/2014/main" id="{317A5F14-E7DD-4BAD-AD1C-69B1782C3460}"/>
              </a:ext>
            </a:extLst>
          </p:cNvPr>
          <p:cNvSpPr txBox="1"/>
          <p:nvPr/>
        </p:nvSpPr>
        <p:spPr>
          <a:xfrm>
            <a:off x="1484276" y="1049219"/>
            <a:ext cx="4459324" cy="5355312"/>
          </a:xfrm>
          <a:prstGeom prst="rect">
            <a:avLst/>
          </a:prstGeom>
          <a:noFill/>
        </p:spPr>
        <p:txBody>
          <a:bodyPr wrap="square">
            <a:spAutoFit/>
          </a:bodyPr>
          <a:lstStyle/>
          <a:p>
            <a:r>
              <a:rPr lang="es-MX" dirty="0">
                <a:solidFill>
                  <a:schemeClr val="tx1">
                    <a:lumMod val="50000"/>
                    <a:lumOff val="50000"/>
                  </a:schemeClr>
                </a:solidFill>
                <a:latin typeface="+mj-lt"/>
              </a:rPr>
              <a:t>E) Pruebas</a:t>
            </a:r>
          </a:p>
          <a:p>
            <a:r>
              <a:rPr lang="es-MX" dirty="0">
                <a:solidFill>
                  <a:schemeClr val="tx1">
                    <a:lumMod val="50000"/>
                    <a:lumOff val="50000"/>
                  </a:schemeClr>
                </a:solidFill>
                <a:latin typeface="+mj-lt"/>
              </a:rPr>
              <a:t> La Tabla 3.7.2, la Tabla 3.7.3 y la Tabla 3.7.4 muestran tres ejemplos de la salida del programa, donde se puede ver que los resultados del programa tienen sentido, comparando estos resultados con los datos devueltos por una calculadora. En la salida de la Tabla 3.7.2 se puede ver que, al ingresar el valor de -4 se evalúa la primera función cuyo valor resultante es 4. De manera similar, en la salida Tabla 3.7.3 se puede ver que, al ingresar el valor de 0.5 se evalúa la segunda función cuyo valor resultante es 0.25. Finalmente, en la salida Tabla 3.7.4 se puede ver que, al ingresar el valor de 4 se evalúa la tercera función cuyo valor resultante es 4.</a:t>
            </a:r>
            <a:endParaRPr lang="es-EC"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52282D6E-F52F-43FE-8782-16E97C0C9C1D}"/>
              </a:ext>
            </a:extLst>
          </p:cNvPr>
          <p:cNvPicPr>
            <a:picLocks noChangeAspect="1"/>
          </p:cNvPicPr>
          <p:nvPr/>
        </p:nvPicPr>
        <p:blipFill>
          <a:blip r:embed="rId2"/>
          <a:stretch>
            <a:fillRect/>
          </a:stretch>
        </p:blipFill>
        <p:spPr>
          <a:xfrm>
            <a:off x="5943600" y="1472648"/>
            <a:ext cx="5620534" cy="3680693"/>
          </a:xfrm>
          <a:prstGeom prst="rect">
            <a:avLst/>
          </a:prstGeom>
        </p:spPr>
      </p:pic>
      <p:sp>
        <p:nvSpPr>
          <p:cNvPr id="11" name="CuadroTexto 10">
            <a:extLst>
              <a:ext uri="{FF2B5EF4-FFF2-40B4-BE49-F238E27FC236}">
                <a16:creationId xmlns:a16="http://schemas.microsoft.com/office/drawing/2014/main" id="{78C2ACEA-CEAF-47FB-A4AB-F952EE441B39}"/>
              </a:ext>
            </a:extLst>
          </p:cNvPr>
          <p:cNvSpPr txBox="1"/>
          <p:nvPr/>
        </p:nvSpPr>
        <p:spPr>
          <a:xfrm>
            <a:off x="6096000" y="5123742"/>
            <a:ext cx="3281680" cy="523220"/>
          </a:xfrm>
          <a:prstGeom prst="rect">
            <a:avLst/>
          </a:prstGeom>
          <a:noFill/>
        </p:spPr>
        <p:txBody>
          <a:bodyPr wrap="square">
            <a:spAutoFit/>
          </a:bodyPr>
          <a:lstStyle/>
          <a:p>
            <a:pPr algn="just"/>
            <a:r>
              <a:rPr lang="es-MX" sz="1400" dirty="0">
                <a:solidFill>
                  <a:schemeClr val="tx1">
                    <a:lumMod val="50000"/>
                    <a:lumOff val="50000"/>
                  </a:schemeClr>
                </a:solidFill>
                <a:latin typeface="+mj-lt"/>
              </a:rPr>
              <a:t>Ejecuciones, Salida del Programa </a:t>
            </a:r>
            <a:r>
              <a:rPr lang="es-ES_tradnl" sz="1400" dirty="0">
                <a:solidFill>
                  <a:schemeClr val="tx1">
                    <a:lumMod val="50000"/>
                    <a:lumOff val="50000"/>
                  </a:schemeClr>
                </a:solidFill>
                <a:latin typeface="+mj-lt"/>
              </a:rPr>
              <a:t>Fuente: Zambrano M., et al., 2025.</a:t>
            </a:r>
            <a:endParaRPr lang="es-EC" sz="1400" dirty="0">
              <a:solidFill>
                <a:schemeClr val="tx1">
                  <a:lumMod val="50000"/>
                  <a:lumOff val="50000"/>
                </a:schemeClr>
              </a:solidFill>
              <a:latin typeface="+mj-lt"/>
            </a:endParaRPr>
          </a:p>
        </p:txBody>
      </p:sp>
    </p:spTree>
    <p:extLst>
      <p:ext uri="{BB962C8B-B14F-4D97-AF65-F5344CB8AC3E}">
        <p14:creationId xmlns:p14="http://schemas.microsoft.com/office/powerpoint/2010/main" val="3725870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6788</TotalTime>
  <Words>1285</Words>
  <Application>Microsoft Office PowerPoint</Application>
  <PresentationFormat>Panorámica</PresentationFormat>
  <Paragraphs>105</Paragraphs>
  <Slides>16</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16</vt:i4>
      </vt:variant>
    </vt:vector>
  </HeadingPairs>
  <TitlesOfParts>
    <vt:vector size="24"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Secuencia de Sentencias if     </vt:lpstr>
      <vt:lpstr>Contenido</vt:lpstr>
      <vt:lpstr>Problema 3.7. (Aplicación del uso de la secuencia de sentencias if)      </vt:lpstr>
      <vt:lpstr>Problema 3.7. (Aplicación del uso de la secuencia de sentencias if)      </vt:lpstr>
      <vt:lpstr>Problema 3.7. (Aplicación del uso de la secuencia de sentencias if)      </vt:lpstr>
      <vt:lpstr>Contenido</vt:lpstr>
      <vt:lpstr> Caso de Estudio 3.7: Evaluar una Función Definida por Partes       </vt:lpstr>
      <vt:lpstr> Caso de Estudio 3.7: Evaluar una Función Definida por Partes       </vt:lpstr>
      <vt:lpstr> Caso de Estudio 3.7: Evaluar una Función Definida por Partes       </vt:lpstr>
      <vt:lpstr> Caso de Estudio 3.7: Evaluar una Función Definida por Partes       </vt:lpstr>
      <vt:lpstr> Caso de Estudio 3.7: Evaluar una Función Definida por Partes       </vt:lpstr>
      <vt:lpstr> Caso de Estudio 3.7: Evaluar una Función Definida por Partes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Luis</cp:lastModifiedBy>
  <cp:revision>7</cp:revision>
  <dcterms:created xsi:type="dcterms:W3CDTF">2025-10-07T22:49:11Z</dcterms:created>
  <dcterms:modified xsi:type="dcterms:W3CDTF">2025-11-26T16:48:35Z</dcterms:modified>
</cp:coreProperties>
</file>