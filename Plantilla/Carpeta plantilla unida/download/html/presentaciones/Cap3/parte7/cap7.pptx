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311" r:id="rId3"/>
    <p:sldId id="257" r:id="rId4"/>
    <p:sldId id="436" r:id="rId5"/>
    <p:sldId id="523" r:id="rId6"/>
    <p:sldId id="524" r:id="rId7"/>
    <p:sldId id="525" r:id="rId8"/>
    <p:sldId id="526" r:id="rId9"/>
    <p:sldId id="527" r:id="rId10"/>
    <p:sldId id="528" r:id="rId11"/>
    <p:sldId id="529" r:id="rId12"/>
    <p:sldId id="530" r:id="rId13"/>
    <p:sldId id="531" r:id="rId14"/>
    <p:sldId id="532" r:id="rId15"/>
    <p:sldId id="533" r:id="rId16"/>
    <p:sldId id="534" r:id="rId17"/>
    <p:sldId id="536" r:id="rId18"/>
    <p:sldId id="535" r:id="rId19"/>
    <p:sldId id="275" r:id="rId20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8CED94-31AE-4F5B-8709-9EE6847871F2}" type="datetimeFigureOut">
              <a:rPr lang="es-EC" smtClean="0"/>
              <a:t>26/11/2025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BA548-DDEF-4F9F-BFB7-376C64D66F2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09746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DD2930-2CA9-432A-8292-C602BD3CCB94}" type="slidenum">
              <a:rPr lang="es-EC" smtClean="0"/>
              <a:t>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91200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C7BAC-9B27-4D41-86D4-17A64712F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696901-9D51-4ACB-9E52-138A646487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075C9-5BD9-48BE-81D8-A5DF89ABA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26/11/2025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ECE3FF-9B3C-41FF-83A3-DC301E164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98DD64-4C4C-4CF0-A1D8-548C6B21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4331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EE04A-1464-495C-AB23-285481F20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481BAA-B5E0-4A42-AF73-DB646109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73864D-1BB6-4970-9FB2-EB9CA1DB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26/11/2025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6A309E-8B6C-45EC-B2E1-135D1A67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D73BB0-43D6-4B2D-BD1C-5F0348B12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37653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7563C-A255-4CD0-8382-6E01E1F46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AFCB1D-B223-406D-A214-6CD8AB31E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76DDE4-9972-40A9-A47B-3D4CBAD96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26/11/2025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9A76B5-F295-4F9F-80F2-EC5028095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7B0CCA-DE77-47E7-A59A-1281E1CE2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92325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126A1-7217-4B36-B0F6-288496E6B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30F61E-D05E-4EBC-8B4B-561FDC242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A476B6-B707-426F-92C5-8F60BFE3E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A9A5C4-7E4F-4960-ADF2-B6951DA38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26/11/2025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0DBC4A-7F24-4081-8A6F-9AE898709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5C1AA0-F3EF-4089-BFCB-19B079F2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55837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B7D27-2A46-4305-8297-59313B85C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D0EBF5-B590-4168-BED4-66F925641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D4FE9B-C326-4DC1-AB58-21F1EDC59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2F17B3-3B22-4F98-8253-500EC862C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3688F30-BBAE-45ED-B913-16C24B962E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3A608A7-9040-40F4-B5EA-1D2D8CB7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26/11/2025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7A38726-DB7C-44CF-B16C-2888FBD9D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0B4177-927B-4311-A099-B44A80BD6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23832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0FC75-39D0-4202-A6B1-79DF445FA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B9B2927-2C29-42B9-B6B7-532F994F9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26/11/2025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767A9B8-F1F2-48F4-8337-7213ADA9A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CAA39B-47A9-42F8-AF68-918C7624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57490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35E7371-5007-49B8-BC47-82F085CFF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26/11/2025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AC35D8D-0DAD-4CED-92DE-176A44D4E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9B3E97-5178-4E8E-B020-BEB305CEC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59116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7FC53-94F8-46E4-BE28-1CCD91A03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BA8FA-B313-4758-B5BD-CFF2B223A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ECB238-ADE5-4692-B4CB-1954DD868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66E361-51AF-4218-B415-4DF9B992E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26/11/2025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920A1D-C77C-46B8-A93E-1A94C322D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B09875-3881-4056-A249-3703AD0D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06432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2669C0-7E62-4710-9299-9DAEA5985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789536F-D1A6-46F1-AAF0-27332E602B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E2D8E19-F8EC-41F6-822A-E695A5664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A9895B-A707-4856-84F8-F69C2A6A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26/11/2025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480D8A-AF65-456F-A70D-211912A47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1C41D0-AA19-4C22-B342-F300AC925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4868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7A592-EC17-498E-B4F1-021D1F61D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73E03F-3E04-4E93-9716-43891DFDD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9CF76E-E651-44FB-9C3E-080B77E5E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26/11/2025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5F4A3C-030C-4F53-9297-A01107A12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7AF58D-F9FF-4406-84AD-DCDE23E78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71106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8E5DA3-0A5E-4689-8CFF-0CED113D3E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0C7386-FCE4-40EC-9309-6F13FC225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D68580-0F33-46AF-AA4D-41AD3A71C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26/11/2025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4F2A89-7C20-4F42-B541-94E08BC4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A7B955-7AEE-4F7E-8B16-8780283F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67920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E607-19DA-460D-873F-2665A632EB4B}" type="datetime1">
              <a:rPr lang="es-EC" smtClean="0"/>
              <a:t>26/11/2025</a:t>
            </a:fld>
            <a:endParaRPr lang="es-EC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45790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26/11/2025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80367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71601"/>
            <a:ext cx="103632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68764"/>
            <a:ext cx="103632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038A-D817-4671-8CB8-0981B299E92B}" type="datetime1">
              <a:rPr lang="es-EC" smtClean="0"/>
              <a:t>26/11/2025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  <p:sp>
        <p:nvSpPr>
          <p:cNvPr id="7" name="Oval 6"/>
          <p:cNvSpPr/>
          <p:nvPr/>
        </p:nvSpPr>
        <p:spPr>
          <a:xfrm>
            <a:off x="59944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>
          <a:xfrm>
            <a:off x="62611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>
          <a:xfrm>
            <a:off x="5728971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057881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ADFD-670B-42AB-AA2D-8905C1A1B3E7}" type="datetime1">
              <a:rPr lang="es-EC" smtClean="0"/>
              <a:t>26/11/2025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87680" y="1600200"/>
            <a:ext cx="5388864" cy="452628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84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5386917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1" y="1600200"/>
            <a:ext cx="5389033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E5A2-5B64-4460-A741-AB3873F3AED1}" type="datetime1">
              <a:rPr lang="es-EC" smtClean="0"/>
              <a:t>26/11/2025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12848"/>
            <a:ext cx="5388864" cy="391363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230112" y="2212849"/>
            <a:ext cx="5388864" cy="391318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8601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40B2-0BA1-4127-9E25-74D449B7ADFD}" type="datetime1">
              <a:rPr lang="es-EC" smtClean="0"/>
              <a:t>26/11/2025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228857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0FE62-E592-4B65-AFBD-C1CCC30A5FE7}" type="datetime1">
              <a:rPr lang="es-EC" smtClean="0"/>
              <a:t>26/11/2025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044298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117" y="266700"/>
            <a:ext cx="4011084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0" y="273051"/>
            <a:ext cx="66611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6117" y="2438401"/>
            <a:ext cx="4011084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15ACB-451F-4A5F-BEC9-AE2F848845F3}" type="datetime1">
              <a:rPr lang="es-EC" smtClean="0"/>
              <a:t>26/11/2025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98081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5" y="228600"/>
            <a:ext cx="7615765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0835" y="1143000"/>
            <a:ext cx="8072965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5" y="5810250"/>
            <a:ext cx="7615765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22F84-0CF5-40B2-88A0-C1094D415436}" type="datetime1">
              <a:rPr lang="es-EC" smtClean="0"/>
              <a:t>26/11/2025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423480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23C0-6495-45E5-AD9B-690C29EB2D28}" type="datetime1">
              <a:rPr lang="es-EC" smtClean="0"/>
              <a:t>26/11/2025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409558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8EE3C-3A2D-421B-8BCE-DCA3638F2800}" type="datetime1">
              <a:rPr lang="es-EC" smtClean="0"/>
              <a:t>26/11/2025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32420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EA5EB9-22C8-48CC-B673-E9C9F408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272E61-B9B7-40DF-800F-CC8677E06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85FAC1-C067-4AAB-8D19-E96E83F31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F178F-13A3-4925-8B54-73919CC619DE}" type="datetimeFigureOut">
              <a:rPr lang="es-EC" smtClean="0"/>
              <a:t>26/11/2025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B0AB3B-8269-400B-BFAF-4F88BCEB8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B75696-BDD5-4991-809C-CDE0AB212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2762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14FB16F-AFAA-44A5-84B2-773ABBFEBDB3}" type="datetime1">
              <a:rPr lang="es-EC" smtClean="0"/>
              <a:t>26/11/2025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  <p:sp>
        <p:nvSpPr>
          <p:cNvPr id="7" name="Oval 6"/>
          <p:cNvSpPr/>
          <p:nvPr/>
        </p:nvSpPr>
        <p:spPr>
          <a:xfrm>
            <a:off x="11277014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758826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64820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371237" y="2031002"/>
            <a:ext cx="3562424" cy="12961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0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s-MX" sz="2400" b="1" dirty="0">
                <a:effectLst/>
                <a:latin typeface="Arial" pitchFamily="34" charset="0"/>
                <a:cs typeface="Arial" pitchFamily="34" charset="0"/>
              </a:rPr>
              <a:t>CAPÍTULO 3 ALGORITMOS Y ESTRUCTURAS DE CONTROL SELECTIVAS EN LENGUAJE C/C++</a:t>
            </a:r>
            <a:endParaRPr lang="es-ES" sz="2400" b="1" dirty="0"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065254" y="4149080"/>
            <a:ext cx="8280400" cy="223224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s-ES" dirty="0"/>
              <a:t>Margarita Zambrano, César Villacís, David Alvarado, Luis García, Kevin Topón, Margarita Villacís, Sofía Bayona, Luis Pastor  </a:t>
            </a:r>
            <a:endParaRPr lang="en-US" b="1" dirty="0">
              <a:solidFill>
                <a:schemeClr val="tx2"/>
              </a:solidFill>
            </a:endParaRPr>
          </a:p>
          <a:p>
            <a:pPr>
              <a:lnSpc>
                <a:spcPct val="80000"/>
              </a:lnSpc>
            </a:pPr>
            <a:endParaRPr lang="en-US" b="1" dirty="0">
              <a:solidFill>
                <a:schemeClr val="tx2"/>
              </a:solidFill>
            </a:endParaRPr>
          </a:p>
          <a:p>
            <a:r>
              <a:rPr lang="es-EC" sz="1800" dirty="0"/>
              <a:t>Universidad de las Fueras Armadas – ESPE</a:t>
            </a:r>
          </a:p>
          <a:p>
            <a:r>
              <a:rPr lang="es-ES" sz="1800" dirty="0"/>
              <a:t>Quito, Ecuador</a:t>
            </a:r>
          </a:p>
          <a:p>
            <a:r>
              <a:rPr lang="es-ES" sz="1800" dirty="0"/>
              <a:t>Universidad Politécnica Salesiana – UPS</a:t>
            </a:r>
          </a:p>
          <a:p>
            <a:r>
              <a:rPr lang="es-ES" sz="1800" dirty="0"/>
              <a:t>Quito, Ecuador</a:t>
            </a:r>
          </a:p>
          <a:p>
            <a:r>
              <a:rPr lang="es-ES" sz="1800" dirty="0"/>
              <a:t>Universidad Rey Juan Carlos – URJC</a:t>
            </a:r>
          </a:p>
          <a:p>
            <a:r>
              <a:rPr lang="es-ES" sz="1800" dirty="0"/>
              <a:t>Madrid, España </a:t>
            </a:r>
          </a:p>
          <a:p>
            <a:endParaRPr lang="es-EC" sz="1800" dirty="0"/>
          </a:p>
          <a:p>
            <a:pPr>
              <a:lnSpc>
                <a:spcPct val="80000"/>
              </a:lnSpc>
            </a:pPr>
            <a:endParaRPr lang="en-US" b="1" dirty="0">
              <a:solidFill>
                <a:schemeClr val="hlink"/>
              </a:solidFill>
            </a:endParaRPr>
          </a:p>
          <a:p>
            <a:pPr>
              <a:lnSpc>
                <a:spcPct val="80000"/>
              </a:lnSpc>
            </a:pPr>
            <a:endParaRPr lang="es-ES" b="1" dirty="0">
              <a:solidFill>
                <a:schemeClr val="hlink"/>
              </a:solidFill>
            </a:endParaRPr>
          </a:p>
          <a:p>
            <a:pPr>
              <a:lnSpc>
                <a:spcPct val="80000"/>
              </a:lnSpc>
            </a:pPr>
            <a:endParaRPr lang="es-ES" b="1" dirty="0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BD442-A3C4-4850-B201-37432B5929C0}" type="datetime1">
              <a:rPr lang="es-EC" smtClean="0"/>
              <a:t>26/11/2025</a:t>
            </a:fld>
            <a:endParaRPr lang="es-EC"/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1</a:t>
            </a:fld>
            <a:endParaRPr lang="es-EC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552" y="281472"/>
            <a:ext cx="2967310" cy="92759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71F6278-F22F-1B52-5B3D-9A53240E0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920" y="1178050"/>
            <a:ext cx="3366640" cy="275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97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Contenido</a:t>
            </a:r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s-MX" sz="3400" b="1" dirty="0">
                <a:solidFill>
                  <a:srgbClr val="FF0000"/>
                </a:solidFill>
              </a:rPr>
              <a:t>Resumen . </a:t>
            </a:r>
          </a:p>
          <a:p>
            <a:pPr lvl="1"/>
            <a:r>
              <a:rPr lang="es-MX" sz="3200" dirty="0"/>
              <a:t>Problemas Propuestos . </a:t>
            </a:r>
          </a:p>
          <a:p>
            <a:pPr lvl="1"/>
            <a:r>
              <a:rPr lang="es-MX" sz="3200" dirty="0"/>
              <a:t>Casos Propuestos.</a:t>
            </a:r>
            <a:endParaRPr lang="es-MX" sz="2800" dirty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4E129-A937-4BEE-8A17-D7969DFE55C2}" type="datetime1">
              <a:rPr lang="es-EC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26/11/2025</a:t>
            </a:fld>
            <a:endParaRPr lang="es-EC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</a:t>
            </a:fld>
            <a:endParaRPr lang="es-EC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492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36313-92ED-4C4E-A167-C43C9A51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2" y="1498600"/>
            <a:ext cx="10972800" cy="1600200"/>
          </a:xfrm>
        </p:spPr>
        <p:txBody>
          <a:bodyPr/>
          <a:lstStyle/>
          <a:p>
            <a:r>
              <a:rPr lang="es-MX" b="1" dirty="0"/>
              <a:t>RESUMEN</a:t>
            </a:r>
            <a:br>
              <a:rPr lang="es-MX" sz="5400" b="1" dirty="0">
                <a:solidFill>
                  <a:srgbClr val="FF0000"/>
                </a:solidFill>
              </a:rPr>
            </a:br>
            <a:r>
              <a:rPr lang="es-MX" b="1" dirty="0"/>
              <a:t> </a:t>
            </a:r>
            <a:br>
              <a:rPr lang="es-MX" b="1" dirty="0"/>
            </a:br>
            <a:br>
              <a:rPr lang="es-MX" b="1" dirty="0"/>
            </a:br>
            <a:endParaRPr lang="es-EC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9ABCB5-E55E-4A8D-9660-6AA9CFC7E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0366" y="1300480"/>
            <a:ext cx="8576834" cy="4947920"/>
          </a:xfrm>
        </p:spPr>
        <p:txBody>
          <a:bodyPr>
            <a:normAutofit fontScale="85000" lnSpcReduction="10000"/>
          </a:bodyPr>
          <a:lstStyle/>
          <a:p>
            <a:r>
              <a:rPr lang="es-MX" sz="2000" dirty="0"/>
              <a:t>La estructura de control de selección es aquella en la que las instrucciones se ejecutan entre acciones alternativas. Las principales sentencias de decisión son: a) La sentencia if; b) La sentencia if-else; c) Sentencias if-else anidadas; d) Secuencia de Sentencias if; e) Secuencia de Sentencias if-else; f) Sentencia de control </a:t>
            </a:r>
            <a:r>
              <a:rPr lang="es-MX" sz="2000" dirty="0" err="1"/>
              <a:t>switch</a:t>
            </a:r>
            <a:r>
              <a:rPr lang="es-MX" sz="2000" dirty="0"/>
              <a:t>. </a:t>
            </a:r>
          </a:p>
          <a:p>
            <a:r>
              <a:rPr lang="es-MX" sz="2000" dirty="0"/>
              <a:t>La sentencia if-else permite escoger entre dos instrucciones o acciones diferentes, es decir, se elige una sentencia y la otra no se la toma en cuenta. El caso contrario está implícito en la instrucción else, por lo que se cumple lo siguiente: a) El operador relacional contrario al mayor que es </a:t>
            </a:r>
            <a:r>
              <a:rPr lang="es-MX" sz="2000" dirty="0" err="1"/>
              <a:t>es</a:t>
            </a:r>
            <a:r>
              <a:rPr lang="es-MX" sz="2000" dirty="0"/>
              <a:t> el menor o igual que; b) El operador relacional contrario al menor que es el mayor o igual que; c) El operador relacional contrario al igual es el desigual o el diferente; d) El operador relacional contrario de una expresión cualquiera es la negación de la expresión. </a:t>
            </a:r>
          </a:p>
          <a:p>
            <a:r>
              <a:rPr lang="es-MX" sz="2000" dirty="0"/>
              <a:t>La sentencia if-else anidada es la una sentencia if-else, pero se utiliza para elegir una única acción o instrucción entre más de dos posibles alternativas, por lo que esto constituye una elección múltiple con varias alternativas. Cabe notar que en las sentencias if-else anidadas, si se cumple la primera expresión lógica se ejecutan sus sentencias y no se evalúan el resto de expresiones lógicas de las otras sentencias if else. </a:t>
            </a:r>
            <a:endParaRPr lang="es-EC" sz="2800" b="1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F89B3-60A2-4AFE-9923-63D421F6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26/11/2025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0CB84-C1F0-4115-B843-9CB9B8AF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3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8428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36313-92ED-4C4E-A167-C43C9A51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2" y="1498600"/>
            <a:ext cx="10972800" cy="1600200"/>
          </a:xfrm>
        </p:spPr>
        <p:txBody>
          <a:bodyPr/>
          <a:lstStyle/>
          <a:p>
            <a:r>
              <a:rPr lang="es-MX" b="1" dirty="0"/>
              <a:t>RESUMEN</a:t>
            </a:r>
            <a:br>
              <a:rPr lang="es-MX" sz="5400" b="1" dirty="0">
                <a:solidFill>
                  <a:srgbClr val="FF0000"/>
                </a:solidFill>
              </a:rPr>
            </a:br>
            <a:r>
              <a:rPr lang="es-MX" b="1" dirty="0"/>
              <a:t> </a:t>
            </a:r>
            <a:br>
              <a:rPr lang="es-MX" b="1" dirty="0"/>
            </a:br>
            <a:br>
              <a:rPr lang="es-MX" b="1" dirty="0"/>
            </a:br>
            <a:endParaRPr lang="es-EC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9ABCB5-E55E-4A8D-9660-6AA9CFC7E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720" y="1300480"/>
            <a:ext cx="8920480" cy="542099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s-MX" sz="1700" dirty="0"/>
              <a:t>La secuencia de sentencias if solo en ciertos casos se puede utilizar, lo cual no es tan legible ni eficiente y se podría reemplazar por sentencias if-else anidadas que resulta mucho más eficiente ya que se ejecutan más rápidamente. Cabe notar que en </a:t>
            </a:r>
            <a:r>
              <a:rPr lang="es-MX" sz="1700" dirty="0" err="1"/>
              <a:t>en</a:t>
            </a:r>
            <a:r>
              <a:rPr lang="es-MX" sz="1700" dirty="0"/>
              <a:t> un grupo de secuencia de sentencias if, si se cumple la primera expresión lógica se ejecutan sus sentencias y luego continúa evaluando el resto de expresiones lógicas así sean falsas. </a:t>
            </a:r>
          </a:p>
          <a:p>
            <a:pPr>
              <a:lnSpc>
                <a:spcPct val="110000"/>
              </a:lnSpc>
            </a:pPr>
            <a:r>
              <a:rPr lang="es-MX" sz="1700" dirty="0"/>
              <a:t>Solo en ciertos casos se puede utilizar una secuencia de sentencias if-else, cuando se requiere manejar combinaciones y permutaciones de objetos. En una combinación no importa el orden de los objetos seleccionados, mientras que en una permutación sí es importante el orden. </a:t>
            </a:r>
          </a:p>
          <a:p>
            <a:pPr>
              <a:lnSpc>
                <a:spcPct val="110000"/>
              </a:lnSpc>
            </a:pPr>
            <a:r>
              <a:rPr lang="es-MX" sz="1700" dirty="0"/>
              <a:t>La sentencia </a:t>
            </a:r>
            <a:r>
              <a:rPr lang="es-MX" sz="1700" dirty="0" err="1"/>
              <a:t>switch</a:t>
            </a:r>
            <a:r>
              <a:rPr lang="es-MX" sz="1700" dirty="0"/>
              <a:t> se la utiliza cuando se necesita elegir una o varias acciones entre algunas alternativas, por lo tanto, esta sentencia no es excluyente. La sentencia </a:t>
            </a:r>
            <a:r>
              <a:rPr lang="es-MX" sz="1700" dirty="0" err="1"/>
              <a:t>switch</a:t>
            </a:r>
            <a:r>
              <a:rPr lang="es-MX" sz="1700" dirty="0"/>
              <a:t> es especialmente útil cuando la selección se basa en el valor de una variable simple o de una expresión simple denominada expresión de control o selector. El valor de esta expresión puede ser de tipo </a:t>
            </a:r>
            <a:r>
              <a:rPr lang="es-MX" sz="1700" dirty="0" err="1"/>
              <a:t>int</a:t>
            </a:r>
            <a:r>
              <a:rPr lang="es-MX" sz="1700" dirty="0"/>
              <a:t> o </a:t>
            </a:r>
            <a:r>
              <a:rPr lang="es-MX" sz="1700" dirty="0" err="1"/>
              <a:t>char</a:t>
            </a:r>
            <a:r>
              <a:rPr lang="es-MX" sz="1700" dirty="0"/>
              <a:t>, pero no de tipo </a:t>
            </a:r>
            <a:r>
              <a:rPr lang="es-MX" sz="1700" dirty="0" err="1"/>
              <a:t>float</a:t>
            </a:r>
            <a:r>
              <a:rPr lang="es-MX" sz="1700" dirty="0"/>
              <a:t> ni </a:t>
            </a:r>
            <a:r>
              <a:rPr lang="es-MX" sz="1700" dirty="0" err="1"/>
              <a:t>double</a:t>
            </a:r>
            <a:r>
              <a:rPr lang="es-MX" sz="1700" dirty="0"/>
              <a:t>. Cabe notar que se puede reemplazar una sentencia </a:t>
            </a:r>
            <a:r>
              <a:rPr lang="es-MX" sz="1700" dirty="0" err="1"/>
              <a:t>switch</a:t>
            </a:r>
            <a:r>
              <a:rPr lang="es-MX" sz="1700" dirty="0"/>
              <a:t>() con sentencias if-else anidadas dentro de un programa. La sentencia break y default son opcionales en la sentencia </a:t>
            </a:r>
            <a:r>
              <a:rPr lang="es-MX" sz="1700" dirty="0" err="1"/>
              <a:t>switch</a:t>
            </a:r>
            <a:r>
              <a:rPr lang="es-MX" sz="1700" dirty="0"/>
              <a:t>. La sentencia break es una sentencia de salto que hace que el control del programa se salga de la sentencia </a:t>
            </a:r>
            <a:r>
              <a:rPr lang="es-MX" sz="1700" dirty="0" err="1"/>
              <a:t>switch</a:t>
            </a:r>
            <a:r>
              <a:rPr lang="es-MX" sz="1700" dirty="0"/>
              <a:t> y se dirija a la sentencia situada inmediatamente después de la misma. La sentencia default también es una sentencia opcional donde si no existe un valor específico en la lista del </a:t>
            </a:r>
            <a:r>
              <a:rPr lang="es-MX" sz="1700" dirty="0" err="1"/>
              <a:t>switch</a:t>
            </a:r>
            <a:r>
              <a:rPr lang="es-MX" sz="1700" dirty="0"/>
              <a:t>, se transfiere el control del programa a la sentencia default.</a:t>
            </a:r>
            <a:endParaRPr lang="es-EC" sz="170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F89B3-60A2-4AFE-9923-63D421F6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26/11/2025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0CB84-C1F0-4115-B843-9CB9B8AF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4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57224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Contenido</a:t>
            </a:r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s-MX" sz="3200" dirty="0"/>
              <a:t>Resumen . </a:t>
            </a:r>
          </a:p>
          <a:p>
            <a:pPr lvl="1"/>
            <a:r>
              <a:rPr lang="es-MX" sz="3400" b="1" dirty="0">
                <a:solidFill>
                  <a:srgbClr val="FF0000"/>
                </a:solidFill>
              </a:rPr>
              <a:t>Problemas Propuestos . </a:t>
            </a:r>
          </a:p>
          <a:p>
            <a:pPr lvl="1"/>
            <a:r>
              <a:rPr lang="es-MX" sz="3200" dirty="0"/>
              <a:t>Casos Propuestos.</a:t>
            </a:r>
            <a:endParaRPr lang="es-MX" sz="2800" dirty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4E129-A937-4BEE-8A17-D7969DFE55C2}" type="datetime1">
              <a:rPr lang="es-EC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26/11/2025</a:t>
            </a:fld>
            <a:endParaRPr lang="es-EC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5</a:t>
            </a:fld>
            <a:endParaRPr lang="es-EC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86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36313-92ED-4C4E-A167-C43C9A51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2" y="1498600"/>
            <a:ext cx="10972800" cy="1600200"/>
          </a:xfrm>
        </p:spPr>
        <p:txBody>
          <a:bodyPr/>
          <a:lstStyle/>
          <a:p>
            <a:r>
              <a:rPr lang="es-MX" sz="5400" dirty="0"/>
              <a:t>Problemas Propuestos</a:t>
            </a:r>
            <a:br>
              <a:rPr lang="es-MX" sz="5400" b="1" dirty="0">
                <a:solidFill>
                  <a:srgbClr val="FF0000"/>
                </a:solidFill>
              </a:rPr>
            </a:br>
            <a:r>
              <a:rPr lang="es-MX" b="1" dirty="0"/>
              <a:t> </a:t>
            </a:r>
            <a:br>
              <a:rPr lang="es-MX" b="1" dirty="0"/>
            </a:br>
            <a:br>
              <a:rPr lang="es-MX" b="1" dirty="0"/>
            </a:br>
            <a:endParaRPr lang="es-EC" b="1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F89B3-60A2-4AFE-9923-63D421F6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26/11/2025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0CB84-C1F0-4115-B843-9CB9B8AF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6</a:t>
            </a:fld>
            <a:endParaRPr lang="es-EC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E78E8CD-5524-49EB-96D1-CDE2A584A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502" y="834618"/>
            <a:ext cx="7650995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796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36313-92ED-4C4E-A167-C43C9A51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2" y="1498600"/>
            <a:ext cx="10972800" cy="1600200"/>
          </a:xfrm>
        </p:spPr>
        <p:txBody>
          <a:bodyPr/>
          <a:lstStyle/>
          <a:p>
            <a:r>
              <a:rPr lang="es-MX" sz="5400" dirty="0"/>
              <a:t>Problemas Propuestos</a:t>
            </a:r>
            <a:br>
              <a:rPr lang="es-MX" sz="5400" b="1" dirty="0">
                <a:solidFill>
                  <a:srgbClr val="FF0000"/>
                </a:solidFill>
              </a:rPr>
            </a:br>
            <a:r>
              <a:rPr lang="es-MX" b="1" dirty="0"/>
              <a:t> </a:t>
            </a:r>
            <a:br>
              <a:rPr lang="es-MX" b="1" dirty="0"/>
            </a:br>
            <a:br>
              <a:rPr lang="es-MX" b="1" dirty="0"/>
            </a:br>
            <a:endParaRPr lang="es-EC" b="1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F89B3-60A2-4AFE-9923-63D421F6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26/11/2025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0CB84-C1F0-4115-B843-9CB9B8AF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7</a:t>
            </a:fld>
            <a:endParaRPr lang="es-EC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1645110-E954-477A-B687-8E782FD47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090" y="1007538"/>
            <a:ext cx="8420510" cy="37676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F3F7526-E3FF-4149-8C58-015235245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162" y="4824822"/>
            <a:ext cx="2762636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873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36313-92ED-4C4E-A167-C43C9A51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2" y="1498600"/>
            <a:ext cx="10972800" cy="1600200"/>
          </a:xfrm>
        </p:spPr>
        <p:txBody>
          <a:bodyPr/>
          <a:lstStyle/>
          <a:p>
            <a:r>
              <a:rPr lang="es-MX" sz="5400" dirty="0"/>
              <a:t>Problemas Propuestos</a:t>
            </a:r>
            <a:br>
              <a:rPr lang="es-MX" sz="5400" b="1" dirty="0">
                <a:solidFill>
                  <a:srgbClr val="FF0000"/>
                </a:solidFill>
              </a:rPr>
            </a:br>
            <a:r>
              <a:rPr lang="es-MX" b="1" dirty="0"/>
              <a:t> </a:t>
            </a:r>
            <a:br>
              <a:rPr lang="es-MX" b="1" dirty="0"/>
            </a:br>
            <a:br>
              <a:rPr lang="es-MX" b="1" dirty="0"/>
            </a:br>
            <a:endParaRPr lang="es-EC" b="1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F89B3-60A2-4AFE-9923-63D421F6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26/11/2025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0CB84-C1F0-4115-B843-9CB9B8AF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8</a:t>
            </a:fld>
            <a:endParaRPr lang="es-EC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1A1081C-1E94-4FD0-9DC4-31E8596DC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491" y="731520"/>
            <a:ext cx="7620709" cy="562483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A785A74-0537-4719-B653-4C2982D332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069"/>
          <a:stretch/>
        </p:blipFill>
        <p:spPr>
          <a:xfrm>
            <a:off x="3134549" y="6413471"/>
            <a:ext cx="1838582" cy="28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753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36313-92ED-4C4E-A167-C43C9A51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2" y="1498600"/>
            <a:ext cx="10972800" cy="1600200"/>
          </a:xfrm>
        </p:spPr>
        <p:txBody>
          <a:bodyPr/>
          <a:lstStyle/>
          <a:p>
            <a:r>
              <a:rPr lang="es-MX" sz="5400" dirty="0"/>
              <a:t>Problemas Propuestos</a:t>
            </a:r>
            <a:br>
              <a:rPr lang="es-MX" sz="5400" b="1" dirty="0">
                <a:solidFill>
                  <a:srgbClr val="FF0000"/>
                </a:solidFill>
              </a:rPr>
            </a:br>
            <a:r>
              <a:rPr lang="es-MX" b="1" dirty="0"/>
              <a:t> </a:t>
            </a:r>
            <a:br>
              <a:rPr lang="es-MX" b="1" dirty="0"/>
            </a:br>
            <a:br>
              <a:rPr lang="es-MX" b="1" dirty="0"/>
            </a:br>
            <a:endParaRPr lang="es-EC" b="1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F89B3-60A2-4AFE-9923-63D421F6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26/11/2025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0CB84-C1F0-4115-B843-9CB9B8AF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9</a:t>
            </a:fld>
            <a:endParaRPr lang="es-EC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5554EFF-B65D-416F-96B5-E02FFFA66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636" y="1118553"/>
            <a:ext cx="7090524" cy="535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880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36313-92ED-4C4E-A167-C43C9A51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2" y="1498600"/>
            <a:ext cx="10972800" cy="1600200"/>
          </a:xfrm>
        </p:spPr>
        <p:txBody>
          <a:bodyPr/>
          <a:lstStyle/>
          <a:p>
            <a:r>
              <a:rPr lang="es-MX" sz="5400" dirty="0"/>
              <a:t>Problemas Propuestos</a:t>
            </a:r>
            <a:br>
              <a:rPr lang="es-MX" sz="5400" b="1" dirty="0">
                <a:solidFill>
                  <a:srgbClr val="FF0000"/>
                </a:solidFill>
              </a:rPr>
            </a:br>
            <a:r>
              <a:rPr lang="es-MX" b="1" dirty="0"/>
              <a:t> </a:t>
            </a:r>
            <a:br>
              <a:rPr lang="es-MX" b="1" dirty="0"/>
            </a:br>
            <a:br>
              <a:rPr lang="es-MX" b="1" dirty="0"/>
            </a:br>
            <a:endParaRPr lang="es-EC" b="1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F89B3-60A2-4AFE-9923-63D421F6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26/11/2025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0CB84-C1F0-4115-B843-9CB9B8AF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10</a:t>
            </a:fld>
            <a:endParaRPr lang="es-EC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D29EA64-6F57-436D-96B5-D7807121B7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39"/>
          <a:stretch/>
        </p:blipFill>
        <p:spPr>
          <a:xfrm>
            <a:off x="2731696" y="1063104"/>
            <a:ext cx="5611008" cy="16002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20C8418-6966-458C-B591-FA6B51D30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696" y="3246231"/>
            <a:ext cx="6182588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230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36313-92ED-4C4E-A167-C43C9A51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2" y="1498600"/>
            <a:ext cx="10972800" cy="1600200"/>
          </a:xfrm>
        </p:spPr>
        <p:txBody>
          <a:bodyPr/>
          <a:lstStyle/>
          <a:p>
            <a:r>
              <a:rPr lang="es-MX" sz="5400" dirty="0"/>
              <a:t>Problemas Propuestos</a:t>
            </a:r>
            <a:br>
              <a:rPr lang="es-MX" sz="5400" b="1" dirty="0">
                <a:solidFill>
                  <a:srgbClr val="FF0000"/>
                </a:solidFill>
              </a:rPr>
            </a:br>
            <a:r>
              <a:rPr lang="es-MX" b="1" dirty="0"/>
              <a:t> </a:t>
            </a:r>
            <a:br>
              <a:rPr lang="es-MX" b="1" dirty="0"/>
            </a:br>
            <a:br>
              <a:rPr lang="es-MX" b="1" dirty="0"/>
            </a:br>
            <a:endParaRPr lang="es-EC" b="1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F89B3-60A2-4AFE-9923-63D421F6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26/11/2025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0CB84-C1F0-4115-B843-9CB9B8AF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11</a:t>
            </a:fld>
            <a:endParaRPr lang="es-EC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86A750D-B204-464F-95FD-568F00629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732" y="973975"/>
            <a:ext cx="6344535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13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36313-92ED-4C4E-A167-C43C9A51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2" y="1498600"/>
            <a:ext cx="10972800" cy="1600200"/>
          </a:xfrm>
        </p:spPr>
        <p:txBody>
          <a:bodyPr/>
          <a:lstStyle/>
          <a:p>
            <a:r>
              <a:rPr lang="es-MX" sz="5400" dirty="0"/>
              <a:t>Problemas Propuestos</a:t>
            </a:r>
            <a:br>
              <a:rPr lang="es-MX" sz="5400" b="1" dirty="0">
                <a:solidFill>
                  <a:srgbClr val="FF0000"/>
                </a:solidFill>
              </a:rPr>
            </a:br>
            <a:r>
              <a:rPr lang="es-MX" b="1" dirty="0"/>
              <a:t> </a:t>
            </a:r>
            <a:br>
              <a:rPr lang="es-MX" b="1" dirty="0"/>
            </a:br>
            <a:br>
              <a:rPr lang="es-MX" b="1" dirty="0"/>
            </a:br>
            <a:endParaRPr lang="es-EC" b="1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F89B3-60A2-4AFE-9923-63D421F6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26/11/2025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0CB84-C1F0-4115-B843-9CB9B8AF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12</a:t>
            </a:fld>
            <a:endParaRPr lang="es-EC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30DA5AD-9FBF-4217-A61A-AD5B2CA2B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506" y="1132824"/>
            <a:ext cx="5665534" cy="73155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8804E84-BE46-4E82-9A19-4668F59AA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388" y="1760170"/>
            <a:ext cx="6630732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126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36313-92ED-4C4E-A167-C43C9A51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2" y="1498600"/>
            <a:ext cx="10972800" cy="1600200"/>
          </a:xfrm>
        </p:spPr>
        <p:txBody>
          <a:bodyPr/>
          <a:lstStyle/>
          <a:p>
            <a:r>
              <a:rPr lang="es-MX" sz="5400" dirty="0"/>
              <a:t>Problemas Propuestos</a:t>
            </a:r>
            <a:br>
              <a:rPr lang="es-MX" sz="5400" b="1" dirty="0">
                <a:solidFill>
                  <a:srgbClr val="FF0000"/>
                </a:solidFill>
              </a:rPr>
            </a:br>
            <a:r>
              <a:rPr lang="es-MX" b="1" dirty="0"/>
              <a:t> </a:t>
            </a:r>
            <a:br>
              <a:rPr lang="es-MX" b="1" dirty="0"/>
            </a:br>
            <a:br>
              <a:rPr lang="es-MX" b="1" dirty="0"/>
            </a:br>
            <a:endParaRPr lang="es-EC" b="1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F89B3-60A2-4AFE-9923-63D421F6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26/11/2025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0CB84-C1F0-4115-B843-9CB9B8AF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13</a:t>
            </a:fld>
            <a:endParaRPr lang="es-EC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30DA5AD-9FBF-4217-A61A-AD5B2CA2B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506" y="1132824"/>
            <a:ext cx="5665534" cy="73155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8804E84-BE46-4E82-9A19-4668F59AA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388" y="1760170"/>
            <a:ext cx="6630732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243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Contenido</a:t>
            </a:r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s-MX" sz="3200" dirty="0"/>
              <a:t>Resumen . </a:t>
            </a:r>
          </a:p>
          <a:p>
            <a:pPr lvl="1"/>
            <a:r>
              <a:rPr lang="es-MX" sz="3200" dirty="0"/>
              <a:t>Problemas Propuestos . </a:t>
            </a:r>
          </a:p>
          <a:p>
            <a:pPr lvl="1"/>
            <a:r>
              <a:rPr lang="es-MX" sz="3400" b="1" dirty="0">
                <a:solidFill>
                  <a:srgbClr val="FF0000"/>
                </a:solidFill>
              </a:rPr>
              <a:t>Casos Propuestos.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4E129-A937-4BEE-8A17-D7969DFE55C2}" type="datetime1">
              <a:rPr lang="es-EC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26/11/2025</a:t>
            </a:fld>
            <a:endParaRPr lang="es-EC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14</a:t>
            </a:fld>
            <a:endParaRPr lang="es-EC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422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36313-92ED-4C4E-A167-C43C9A51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0200"/>
            <a:ext cx="10972800" cy="1600200"/>
          </a:xfrm>
        </p:spPr>
        <p:txBody>
          <a:bodyPr/>
          <a:lstStyle/>
          <a:p>
            <a:r>
              <a:rPr lang="es-MX" b="1" dirty="0"/>
              <a:t>Casos Propuestos</a:t>
            </a:r>
            <a:br>
              <a:rPr lang="es-MX" sz="5400" b="1" dirty="0">
                <a:solidFill>
                  <a:srgbClr val="FF0000"/>
                </a:solidFill>
              </a:rPr>
            </a:br>
            <a:endParaRPr lang="es-EC" b="1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F89B3-60A2-4AFE-9923-63D421F6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26/11/2025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0CB84-C1F0-4115-B843-9CB9B8AF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15</a:t>
            </a:fld>
            <a:endParaRPr lang="es-EC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6053869-2B91-46A5-86A6-AFA6CFB57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551" y="1700995"/>
            <a:ext cx="5925377" cy="352474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6CF7D1F-6FB9-4B14-81D1-94C8697FB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522" y="1653363"/>
            <a:ext cx="5849166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63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36313-92ED-4C4E-A167-C43C9A51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0200"/>
            <a:ext cx="10972800" cy="1600200"/>
          </a:xfrm>
        </p:spPr>
        <p:txBody>
          <a:bodyPr/>
          <a:lstStyle/>
          <a:p>
            <a:r>
              <a:rPr lang="es-MX" b="1" dirty="0"/>
              <a:t>Casos Propuestos</a:t>
            </a:r>
            <a:br>
              <a:rPr lang="es-MX" sz="5400" b="1" dirty="0">
                <a:solidFill>
                  <a:srgbClr val="FF0000"/>
                </a:solidFill>
              </a:rPr>
            </a:br>
            <a:endParaRPr lang="es-EC" b="1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F89B3-60A2-4AFE-9923-63D421F6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26/11/2025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0CB84-C1F0-4115-B843-9CB9B8AF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16</a:t>
            </a:fld>
            <a:endParaRPr lang="es-EC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6053869-2B91-46A5-86A6-AFA6CFB57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551" y="1700994"/>
            <a:ext cx="8032529" cy="457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485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36313-92ED-4C4E-A167-C43C9A51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0200"/>
            <a:ext cx="10972800" cy="1600200"/>
          </a:xfrm>
        </p:spPr>
        <p:txBody>
          <a:bodyPr/>
          <a:lstStyle/>
          <a:p>
            <a:r>
              <a:rPr lang="es-MX" b="1" dirty="0"/>
              <a:t>Casos Propuestos</a:t>
            </a:r>
            <a:br>
              <a:rPr lang="es-MX" sz="5400" b="1" dirty="0">
                <a:solidFill>
                  <a:srgbClr val="FF0000"/>
                </a:solidFill>
              </a:rPr>
            </a:br>
            <a:endParaRPr lang="es-EC" b="1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F89B3-60A2-4AFE-9923-63D421F6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26/11/2025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0CB84-C1F0-4115-B843-9CB9B8AF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17</a:t>
            </a:fld>
            <a:endParaRPr lang="es-EC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6CF7D1F-6FB9-4B14-81D1-94C8697FB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296" y="1744802"/>
            <a:ext cx="7628663" cy="434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622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063552" y="2060848"/>
            <a:ext cx="8229600" cy="836712"/>
          </a:xfrm>
        </p:spPr>
        <p:txBody>
          <a:bodyPr/>
          <a:lstStyle/>
          <a:p>
            <a:r>
              <a:rPr lang="en-US" b="1" dirty="0"/>
              <a:t>¿</a:t>
            </a:r>
            <a:r>
              <a:rPr lang="en-US" b="1" dirty="0" err="1"/>
              <a:t>Preguntas</a:t>
            </a:r>
            <a:r>
              <a:rPr lang="en-US" b="1" dirty="0"/>
              <a:t>?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295800" y="3501008"/>
            <a:ext cx="5760640" cy="792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4000" dirty="0"/>
              <a:t>!Gracias!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50481-F057-463F-9522-14A55A4D5C62}" type="datetime1">
              <a:rPr lang="es-EC" smtClean="0"/>
              <a:t>26/11/2025</a:t>
            </a:fld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18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9347128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jecutivo">
  <a:themeElements>
    <a:clrScheme name="Ejecutivo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jecutivo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jecutiv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6807</TotalTime>
  <Words>753</Words>
  <Application>Microsoft Office PowerPoint</Application>
  <PresentationFormat>Panorámica</PresentationFormat>
  <Paragraphs>81</Paragraphs>
  <Slides>18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Century Gothic</vt:lpstr>
      <vt:lpstr>Courier New</vt:lpstr>
      <vt:lpstr>Palatino Linotype</vt:lpstr>
      <vt:lpstr>Tema de Office</vt:lpstr>
      <vt:lpstr>Ejecutivo</vt:lpstr>
      <vt:lpstr>Presentación de PowerPoint</vt:lpstr>
      <vt:lpstr>Contenido</vt:lpstr>
      <vt:lpstr>RESUMEN    </vt:lpstr>
      <vt:lpstr>RESUMEN    </vt:lpstr>
      <vt:lpstr>Contenido</vt:lpstr>
      <vt:lpstr>Problemas Propuestos    </vt:lpstr>
      <vt:lpstr>Problemas Propuestos    </vt:lpstr>
      <vt:lpstr>Problemas Propuestos    </vt:lpstr>
      <vt:lpstr>Problemas Propuestos    </vt:lpstr>
      <vt:lpstr>Problemas Propuestos    </vt:lpstr>
      <vt:lpstr>Problemas Propuestos    </vt:lpstr>
      <vt:lpstr>Problemas Propuestos    </vt:lpstr>
      <vt:lpstr>Problemas Propuestos    </vt:lpstr>
      <vt:lpstr>Contenido</vt:lpstr>
      <vt:lpstr>Casos Propuestos </vt:lpstr>
      <vt:lpstr>Casos Propuestos </vt:lpstr>
      <vt:lpstr>Casos Propuestos </vt:lpstr>
      <vt:lpstr>¿Preguntas?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</dc:creator>
  <cp:lastModifiedBy>Luis</cp:lastModifiedBy>
  <cp:revision>8</cp:revision>
  <dcterms:created xsi:type="dcterms:W3CDTF">2025-10-07T22:49:11Z</dcterms:created>
  <dcterms:modified xsi:type="dcterms:W3CDTF">2025-11-26T16:49:24Z</dcterms:modified>
</cp:coreProperties>
</file>